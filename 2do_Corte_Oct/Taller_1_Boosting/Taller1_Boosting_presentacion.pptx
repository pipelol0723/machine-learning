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1 · Boosting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548640"/>
            <a:ext cx="310896" cy="310896"/>
          </a:xfrm>
          <a:prstGeom prst="roundRect">
            <a:avLst>
              <a:gd name="adj" fmla="val 4000"/>
            </a:avLst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5669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6E9EF"/>
                </a:solidFill>
                <a:latin typeface="Segoe UI Semibold"/>
              </a:rPr>
              <a:t>Shiro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6035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7787"/>
                </a:solidFill>
                <a:latin typeface="Consolas"/>
              </a:rPr>
              <a:t>Aprendizaje de Máquina · Corte 2 · Taller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710A"/>
                </a:solidFill>
                <a:latin typeface="Consolas"/>
              </a:rPr>
              <a:t>EL HALLAZGO DE ESTE TALLER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107899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>
                <a:solidFill>
                  <a:srgbClr val="E6E9EF"/>
                </a:solidFill>
                <a:latin typeface="Segoe UI Semibold"/>
              </a:rPr>
              <a:t>El boosting gana la tabla del curso.</a:t>
            </a:r>
          </a:p>
          <a:p>
            <a:pPr algn="l">
              <a:lnSpc>
                <a:spcPct val="100000"/>
              </a:lnSpc>
            </a:pPr>
            <a:r>
              <a:rPr sz="4200" b="0">
                <a:solidFill>
                  <a:srgbClr val="E6E9EF"/>
                </a:solidFill>
                <a:latin typeface="Segoe UI Semibold"/>
              </a:rPr>
              <a:t>Shiro no cambia — y ahora sabe por qué.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6908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AA3B2"/>
                </a:solidFill>
                <a:latin typeface="Segoe UI"/>
              </a:rPr>
              <a:t>AdaBoost, GBM, XGBoost, LightGBM y CatBoost contra el simulador y el detector que dejó el parcial, bajo la partición que decide. Ninguno los reemplaza, y en el camino apareció la causa del colapso temporal de los árboles.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257800"/>
            <a:ext cx="10820095" cy="9525"/>
          </a:xfrm>
          <a:prstGeom prst="rect">
            <a:avLst/>
          </a:prstGeom>
          <a:solidFill>
            <a:srgbClr val="23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4406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D1DE"/>
                </a:solidFill>
                <a:latin typeface="Segoe UI Semibold"/>
              </a:rPr>
              <a:t>Jose Leonardo Diazgranados · Sofía Londoño · Andrés Felipe Céspedes Rondón · Alex Duran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4243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7787"/>
                </a:solidFill>
                <a:latin typeface="Consolas"/>
              </a:rPr>
              <a:t>Universidad Sergio Arboleda · Semestre 26-2 · Docente: Hernán Darío Cruz Bueno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8295" y="54406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7787"/>
                </a:solidFill>
                <a:latin typeface="Consolas"/>
              </a:rPr>
              <a:t>Appliances Energy Prediction · UCI #374</a:t>
            </a:r>
          </a:p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7787"/>
                </a:solidFill>
                <a:latin typeface="Consolas"/>
              </a:rPr>
              <a:t>random_state = 42 · 23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1 · Boosting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ENCUADRE · QUÉ DECIDE ESTE TALLER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Dos piezas de Shiro con dueño. ¿Algún boosting las reemplaza?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PIEZA DE SHIRO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828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MODELO VIGENTE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0" y="18288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CIFRA A SUPERAR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21408"/>
            <a:ext cx="10607040" cy="9525"/>
          </a:xfrm>
          <a:prstGeom prst="rect">
            <a:avLst/>
          </a:prstGeom>
          <a:solidFill>
            <a:srgbClr val="2C3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57984"/>
            <a:ext cx="4096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Segoe UI"/>
              </a:rPr>
              <a:t>Simulador (función de transición)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157984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Lineal + retardos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157984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R² 0,557 en mayo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15184"/>
            <a:ext cx="4096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Segoe UI"/>
              </a:rPr>
              <a:t>Detector de anomalías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615184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Random Forest + retardos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615184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86,9 % a 3 avisos/día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29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B877"/>
                </a:solidFill>
                <a:latin typeface="Consolas"/>
              </a:rPr>
              <a:t>TRES HIPÓTESIS, ANTES DE MIRAR LOS RESULTADOS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BD992"/>
                </a:solidFill>
                <a:latin typeface="Consolas"/>
              </a:rPr>
              <a:t>H1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813048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9D1DE"/>
                </a:solidFill>
                <a:latin typeface="Segoe UI"/>
              </a:rPr>
              <a:t>Los boostings de árboles no extrapolarán: fallarán en mayo, como el bosque.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6168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BD992"/>
                </a:solidFill>
                <a:latin typeface="Consolas"/>
              </a:rPr>
              <a:t>H2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37997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9D1DE"/>
                </a:solidFill>
                <a:latin typeface="Segoe UI"/>
              </a:rPr>
              <a:t>LightGBM con hojas lineales sí podría: el mejor candidato a simulador.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92861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BD992"/>
                </a:solidFill>
                <a:latin typeface="Consolas"/>
              </a:rPr>
              <a:t>H3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946904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9D1DE"/>
                </a:solidFill>
                <a:latin typeface="Segoe UI"/>
              </a:rPr>
              <a:t>AdaBoost será el más frágil: repondera los picos más difíciles.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1 · Boosting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LOS CINCO MÉTODOS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Todos encadenan árboles; difieren en qué corrige cada uno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MÉTODO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7830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QUÉ CORRIGE CADA ÁRBOL NUEVO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7830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LO QUE LO DISTINGUE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75688"/>
            <a:ext cx="10607040" cy="9525"/>
          </a:xfrm>
          <a:prstGeom prst="rect">
            <a:avLst/>
          </a:prstGeom>
          <a:solidFill>
            <a:srgbClr val="2C3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12264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Segoe UI"/>
              </a:rPr>
              <a:t>AdaBoost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112264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los datos, reponderados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112264"/>
            <a:ext cx="43708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el primero; persigue los extremos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69464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Segoe UI"/>
              </a:rPr>
              <a:t>GBM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569464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los residuos (gradiente)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569464"/>
            <a:ext cx="43708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cualquier pérdida; secuencial y lento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26664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Segoe UI"/>
              </a:rPr>
              <a:t>XGBoost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026664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residuos + segunda derivada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026664"/>
            <a:ext cx="43708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regularización y paralelismo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83864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Segoe UI"/>
              </a:rPr>
              <a:t>LightGBM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483864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residuos, hoja a hoja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483864"/>
            <a:ext cx="43708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el más rápido; admite hojas lineales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41064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Segoe UI"/>
              </a:rPr>
              <a:t>CatBoost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941064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residuos, boosting ordenado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941064"/>
            <a:ext cx="43708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Consolas"/>
              </a:rPr>
              <a:t>categóricas nativas sin fuga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846320"/>
            <a:ext cx="10607040" cy="109728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846320"/>
            <a:ext cx="54864" cy="109728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5029200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9EF"/>
                </a:solidFill>
                <a:latin typeface="Segoe UI"/>
              </a:rPr>
              <a:t>Frente a Random Forest.</a:t>
            </a:r>
            <a:r>
              <a:rPr sz="1300" b="0">
                <a:solidFill>
                  <a:srgbClr val="C9D1DE"/>
                </a:solidFill>
                <a:latin typeface="Segoe UI"/>
              </a:rPr>
              <a:t> El bosque </a:t>
            </a:r>
            <a:r>
              <a:rPr sz="1300" b="1">
                <a:solidFill>
                  <a:srgbClr val="E6E9EF"/>
                </a:solidFill>
                <a:latin typeface="Segoe UI"/>
              </a:rPr>
              <a:t>reduce varianza</a:t>
            </a:r>
            <a:r>
              <a:rPr sz="1300" b="0">
                <a:solidFill>
                  <a:srgbClr val="C9D1DE"/>
                </a:solidFill>
                <a:latin typeface="Segoe UI"/>
              </a:rPr>
              <a:t>: promedia árboles profundos e independientes. El boosting </a:t>
            </a:r>
            <a:r>
              <a:rPr sz="1300" b="1">
                <a:solidFill>
                  <a:srgbClr val="E6E9EF"/>
                </a:solidFill>
                <a:latin typeface="Segoe UI"/>
              </a:rPr>
              <a:t>reduce sesgo</a:t>
            </a:r>
            <a:r>
              <a:rPr sz="1300" b="0">
                <a:solidFill>
                  <a:srgbClr val="C9D1DE"/>
                </a:solidFill>
                <a:latin typeface="Segoe UI"/>
              </a:rPr>
              <a:t>: suma árboles poco profundos que se corrigen entre sí — y por eso puede sobreajustar si no se detiene a tiempo. Aquí se detiene con una validación sacada del entrenamiento: el último 15 % cronológico en la partición temporal.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1 · Boosting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REGRESIÓN · ¿CAMBIA EL SIMULADOR?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Gana la aleatoria, empata en la temporal, no reemplaza a la lineal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8340" y="1655064"/>
            <a:ext cx="10224839" cy="3364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1_r2_e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36" y="1737360"/>
            <a:ext cx="10060247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1663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E9EF"/>
                </a:solidFill>
                <a:latin typeface="Consolas"/>
              </a:rPr>
              <a:t>0,598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2472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LightGBM en la partición aleatoria: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el mejor del proyecto (RF 0,567)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516636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7BD992"/>
                </a:solidFill>
                <a:latin typeface="Consolas"/>
              </a:rPr>
              <a:t>0,554 · 0,557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5824728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LightGBM frente a la lineal, temporal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con retardos: empate, no victoria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51663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B877"/>
                </a:solidFill>
                <a:latin typeface="Consolas"/>
              </a:rPr>
              <a:t>+9 · +0,5 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582472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sesgo sobre mayo: LightGBM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frente a la lineal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1 · Boosting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REGRESIÓN · VEREDICTO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Una hipótesis a medias, una refutada, una confirmada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977640" y="1828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VEREDICTO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8288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EVIDENCIA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21408"/>
            <a:ext cx="10607040" cy="9525"/>
          </a:xfrm>
          <a:prstGeom prst="rect">
            <a:avLst/>
          </a:prstGeom>
          <a:solidFill>
            <a:srgbClr val="2C3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57984"/>
            <a:ext cx="31821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H1 · los árboles no extrapolan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157984"/>
            <a:ext cx="14447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B877"/>
                </a:solidFill>
                <a:latin typeface="Consolas"/>
              </a:rPr>
              <a:t>a medias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157984"/>
            <a:ext cx="565099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con retardos LightGBM se acerca; todos sobreestiman mayo (+9 a +64 Wh)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24912"/>
            <a:ext cx="31821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H2 · las hojas lineales sí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724912"/>
            <a:ext cx="14447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28B82"/>
                </a:solidFill>
                <a:latin typeface="Consolas"/>
              </a:rPr>
              <a:t>refutada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724912"/>
            <a:ext cx="565099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empeoran: 0,426 frente a 0,554; sin retardos, −2,553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291840"/>
            <a:ext cx="31821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H3 · AdaBoost, el más frágil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291840"/>
            <a:ext cx="14447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7BD992"/>
                </a:solidFill>
                <a:latin typeface="Consolas"/>
              </a:rPr>
              <a:t>confirmada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291840"/>
            <a:ext cx="565099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la validación elige 14, 1 y 14 árboles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343400"/>
            <a:ext cx="5120640" cy="160020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343400"/>
            <a:ext cx="54864" cy="160020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52628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Segoe UI"/>
              </a:rPr>
              <a:t>El síntoma de la autocorrelación.</a:t>
            </a:r>
            <a:r>
              <a:rPr sz="1250" b="0">
                <a:solidFill>
                  <a:srgbClr val="C9D1DE"/>
                </a:solidFill>
                <a:latin typeface="Segoe UI"/>
              </a:rPr>
              <a:t> En la partición aleatoria XGBoost, LightGBM y CatBoost llegaron al tope de 3.000 árboles sin que la validación dejara de mejorar: sus vecinos de 10 minutos están en el entrenamiento. En la temporal, la misma parada corta entre 1 y 180 árboles.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343400"/>
            <a:ext cx="5120640" cy="160020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4343400"/>
            <a:ext cx="54864" cy="160020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452628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Segoe UI"/>
              </a:rPr>
              <a:t>La hora como categórica no aporta.</a:t>
            </a:r>
            <a:r>
              <a:rPr sz="1250" b="0">
                <a:solidFill>
                  <a:srgbClr val="C9D1DE"/>
                </a:solidFill>
                <a:latin typeface="Segoe UI"/>
              </a:rPr>
              <a:t> CatBoost con hora y día categóricos: 0,518 frente a 0,516, y mucho más lento. Los árboles ya cortan la hora donde conviene: codificarla solo importa en KNN.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1 · Boosting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EL SESGO DE LOS ÁRBOLES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Todos los árboles sobreestiman mayo; la lineal, 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8615" y="1655064"/>
            <a:ext cx="10564290" cy="34564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2_sesgo_ma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911" y="1737360"/>
            <a:ext cx="10399698" cy="3291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5257800"/>
            <a:ext cx="10607040" cy="91440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5257800"/>
            <a:ext cx="54864" cy="91440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5440680"/>
            <a:ext cx="10149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9EF"/>
                </a:solidFill>
                <a:latin typeface="Segoe UI"/>
              </a:rPr>
              <a:t>Anclados al invierno, pero no a su promedio.</a:t>
            </a:r>
            <a:r>
              <a:rPr sz="1300" b="0">
                <a:solidFill>
                  <a:srgbClr val="C9D1DE"/>
                </a:solidFill>
                <a:latin typeface="Segoe UI"/>
              </a:rPr>
              <a:t> La media del entrenamiento ronda los 98 Wh y la de mayo, 96; los árboles predicen entre 105 y 160 Wh. No repiten el promedio del invierno: aplican a mayo una regla aprendida en invierno que ya no vale. ¿Cuál? La diapositiva siguiente.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1 · Boosting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FFB877"/>
                </a:solidFill>
                <a:latin typeface="Consolas"/>
              </a:rPr>
              <a:t>LA CAUSA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La temperatura interior cambia de significado con la estación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815774"/>
            <a:ext cx="7022592" cy="22206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5_tempera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98070"/>
            <a:ext cx="6858000" cy="20560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7830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B877"/>
                </a:solidFill>
                <a:latin typeface="Consolas"/>
              </a:rPr>
              <a:t>71,9 %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44144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de las lecturas de mayo, más cálidas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que la más cálida del invierno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7BD992"/>
                </a:solidFill>
                <a:latin typeface="Consolas"/>
              </a:rPr>
              <a:t>+47 → +3,8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67588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sesgo de LightGBM (Wh) al quitar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las temperaturas: el colapso desaparece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389120"/>
            <a:ext cx="6949440" cy="160020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389120"/>
            <a:ext cx="54864" cy="160020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572000"/>
            <a:ext cx="6492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Segoe UI"/>
              </a:rPr>
              <a:t>Por qué.</a:t>
            </a:r>
            <a:r>
              <a:rPr sz="1250" b="0">
                <a:solidFill>
                  <a:srgbClr val="C9D1DE"/>
                </a:solidFill>
                <a:latin typeface="Segoe UI"/>
              </a:rPr>
              <a:t> En invierno, la casa más cálida era la que más consumía (113,9 frente a 87,8 Wh): parte del calor venía de los aparatos — secadora, horno. Coherente con la lavandería a 26,2 °C del Caso C y con RH_3 en K-Means. En mayo la casa está cálida por el clima. Misma variable, otro significado.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4389120"/>
            <a:ext cx="3291840" cy="160020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4389120"/>
            <a:ext cx="54864" cy="160020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457200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Segoe UI"/>
              </a:rPr>
              <a:t>Qué cambia en Shiro.</a:t>
            </a:r>
            <a:r>
              <a:rPr sz="1250" b="0">
                <a:solidFill>
                  <a:srgbClr val="C9D1DE"/>
                </a:solidFill>
                <a:latin typeface="Segoe UI"/>
              </a:rPr>
              <a:t> El simulador no predice consumo desde la temperatura interior con modelos que no extrapolan. La temperatura sigue en el estado del MDP, para el confort.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1 · Boosting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CLASIFICACIÓN · MÉTRICAS DEL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Por lectura, el boosting ordena mejor que el bosque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TEMPORAL + RETARDOS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783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783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83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075688"/>
            <a:ext cx="7498079" cy="9525"/>
          </a:xfrm>
          <a:prstGeom prst="rect">
            <a:avLst/>
          </a:prstGeom>
          <a:solidFill>
            <a:srgbClr val="2C3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12264"/>
            <a:ext cx="29992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CatBoost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112264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0,617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112264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0,937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112264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0,715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514600"/>
            <a:ext cx="29992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XGBoost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514600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0,674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514600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0,929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514600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0,703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916936"/>
            <a:ext cx="29992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AdaBoost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916936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0,614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916936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0,930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916936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0,682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319272"/>
            <a:ext cx="29992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LightGBM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319272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0,647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319272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0,924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319272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0,670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721608"/>
            <a:ext cx="29992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7BD992"/>
                </a:solidFill>
                <a:latin typeface="Segoe UI"/>
              </a:rPr>
              <a:t>Random Forest (ref.)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721608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0,569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3721608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0,911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721608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0,605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123944"/>
            <a:ext cx="29992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GBM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123944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0,399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4123944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0,850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123944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0,425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1783080"/>
            <a:ext cx="2743200" cy="210312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49640" y="1783080"/>
            <a:ext cx="54864" cy="2103120"/>
          </a:xfrm>
          <a:prstGeom prst="rect">
            <a:avLst/>
          </a:prstGeom>
          <a:solidFill>
            <a:srgbClr val="6F7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05672" y="1965960"/>
            <a:ext cx="22860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9EF"/>
                </a:solidFill>
                <a:latin typeface="Segoe UI"/>
              </a:rPr>
              <a:t>Una corrección que se declara.</a:t>
            </a:r>
            <a:r>
              <a:rPr sz="1200" b="0">
                <a:solidFill>
                  <a:srgbClr val="C9D1DE"/>
                </a:solidFill>
                <a:latin typeface="Segoe UI"/>
              </a:rPr>
              <a:t> La primera versión detenía por log-loss y LightGBM se paró a los 5 árboles con F1 = 0,000: el balanceo empeora el log-loss sobre una validación sin pesos. Artefacto del protocolo, corregido con average precision.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49640" y="4069080"/>
            <a:ext cx="2743200" cy="146304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49640" y="4069080"/>
            <a:ext cx="54864" cy="146304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05672" y="4251960"/>
            <a:ext cx="2286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Por las métricas del curso, el boosting ganaría el puesto de detector. La pregunta es si eso se traduce en lo que vive la persona.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1 · Boosting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CLASIFICACIÓN · COMO LO USARÍA SHIRO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Con el mismo tiempo en alerta, el bosque molesta menos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53896" y="1655064"/>
            <a:ext cx="9253728" cy="3182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3_det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92" y="1737360"/>
            <a:ext cx="9089136" cy="3017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4983480"/>
            <a:ext cx="5120640" cy="118872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4864" cy="118872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516636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9EF"/>
                </a:solidFill>
                <a:latin typeface="Segoe UI"/>
              </a:rPr>
              <a:t>Corrección al parcial.</a:t>
            </a:r>
            <a:r>
              <a:rPr sz="1200" b="0">
                <a:solidFill>
                  <a:srgbClr val="C9D1DE"/>
                </a:solidFill>
                <a:latin typeface="Segoe UI"/>
              </a:rPr>
              <a:t> Comparar con el mismo número de avisos por día se gana con trampa: un GBM a umbral 0,05 «detecta» el 98,8 % con 3 avisos diarios de 5 horas — en alerta el 67,5 % del tiempo, 62 % falsos. Se compara con el mismo tiempo en alerta.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4983480"/>
            <a:ext cx="5120640" cy="118872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4983480"/>
            <a:ext cx="54864" cy="118872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516636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9EF"/>
                </a:solidFill>
                <a:latin typeface="Segoe UI"/>
              </a:rPr>
              <a:t>Al 21 % del tiempo en alerta</a:t>
            </a:r>
            <a:r>
              <a:rPr sz="1200" b="0">
                <a:solidFill>
                  <a:srgbClr val="C9D1DE"/>
                </a:solidFill>
                <a:latin typeface="Segoe UI"/>
              </a:rPr>
              <a:t> (el punto del parcial) todos detectan 84–88 % de los episodios; el bosque con </a:t>
            </a:r>
            <a:r>
              <a:rPr sz="1200" b="1">
                <a:solidFill>
                  <a:srgbClr val="E6E9EF"/>
                </a:solidFill>
                <a:latin typeface="Segoe UI"/>
              </a:rPr>
              <a:t>3,0 avisos al día y 37 % falsos</a:t>
            </a:r>
            <a:r>
              <a:rPr sz="1200" b="0">
                <a:solidFill>
                  <a:srgbClr val="C9D1DE"/>
                </a:solidFill>
                <a:latin typeface="Segoe UI"/>
              </a:rPr>
              <a:t> — el mínimo en ambos. Avisos de 100 minutos de media.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1 · Boosting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DE QUÉ APRENDE EL MEJOR BOOSTING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LightGBM aprende casi lo mismo que la regresión lineal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886510"/>
            <a:ext cx="6199632" cy="25363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4_importa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8806"/>
            <a:ext cx="6035040" cy="23717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82880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7BD992"/>
                </a:solidFill>
                <a:latin typeface="Consolas"/>
              </a:rPr>
              <a:t>86,5 %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487168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de la ganancia viene de los retardos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(74,9 % solo de lag1)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15468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B877"/>
                </a:solidFill>
                <a:latin typeface="Consolas"/>
              </a:rPr>
              <a:t>8,9 %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3813048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de los sensores interiores: justo el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bloque que trae el sesgo estacional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846320"/>
            <a:ext cx="10607040" cy="91440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846320"/>
            <a:ext cx="54864" cy="91440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029200"/>
            <a:ext cx="10149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Segoe UI"/>
              </a:rPr>
              <a:t>Por eso empata con la lineal y no la supera: comparte su información y le añade lo que no generaliza. A igual rendimiento, la lineal gana por interpretabilidad, velocidad y ausencia de sesgo.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1 · Boosting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CIERRE · QUÉ CAMBIA EN SHIRO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Lo que Shiro se lleva de este taller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7451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El simulador no cambia.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8599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Lineal + retardos: LightGBM la iguala sin superarla.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7451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87451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El detector no cambia.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28599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RF + retardos: mismo alcance, menos avisos, menos falsos.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0039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0039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La causa del colapso temporal.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1187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La temperatura interior: 71,9 % de mayo, fuera de rango.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20039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20039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Nueva regla de evaluación.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61187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El detector se compara con igual tiempo en alerta.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2627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52627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La interfaz debe mostrarlo.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93775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El punto del parcial: 21 % del día en alerta.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52627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2627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La métrica del curso no decide.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93775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AP y AUC eligen boosting; el producto, el bosque.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