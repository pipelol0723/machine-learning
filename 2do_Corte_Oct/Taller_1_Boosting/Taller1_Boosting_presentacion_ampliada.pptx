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7" r:id="rId18"/>
    <p:sldId id="268" r:id="rId19"/>
    <p:sldId id="260" r:id="rId11"/>
    <p:sldId id="261" r:id="rId12"/>
    <p:sldId id="262" r:id="rId13"/>
    <p:sldId id="269" r:id="rId20"/>
    <p:sldId id="263" r:id="rId14"/>
    <p:sldId id="270" r:id="rId21"/>
    <p:sldId id="264" r:id="rId15"/>
    <p:sldId id="271" r:id="rId22"/>
    <p:sldId id="272" r:id="rId23"/>
    <p:sldId id="273" r:id="rId24"/>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taller pone a prueba cinco métodos de boosting contra los dos modelos que el parcial ya dejó en producción: la regresión lineal con retardos (simulador) y Random Forest (detector). La pregunta no es cuál algoritmo saca la mejor métrica, sino si alguno debería reemplazar lo que Shiro ya tiene funcionando. Ninguno lo hace, pero el camino revela por qué los árboles fallan en el tiempo.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Dos piezas de Shiro tienen dueño desde el parcial, con una cifra concreta que cualquier candidato debe superar: R²=0,557 para el simulador, 86,9 % de episodios a 3 avisos/día para el detector. Formulamos tres hipótesis ANTES de correr nada: que los árboles no van a extrapolar a mayo igual que falló Random Forest; que LightGBM con hojas lineales podría ser la excepción; y que AdaBoost será el más frágil.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cinco métodos son variaciones sobre la misma idea —encadenar árboles que se corrigen entre sí— pero difieren en qué corrigen. Frente a Random Forest la diferencia de fondo es varianza contra sesgo: el bosque promedia árboles independientes; el boosting suma árboles poco profundos que se corrigen entre sí, más preciso pero más propenso a sobreajustar si no se detiene a tiempo.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la partición aleatoria el boosting gana como se esperaba: LightGBM y XGBoost superan a Random Forest. Pero hay una señal de alarma: tres modelos llegaron al tope de 3.000 árboles sin que la validación dejara de mejorar — la autocorrelación del proyecto haciendo trampa, porque los vecinos de 10 minutos de cada punto de test están en el entrenamiento. En la partición que decide (temporal con retardos), LightGBM empata con la lineal pero no la supera.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las tres hipótesis: H1 se cumple a medias (los árboles sobreestiman mayo pero LightGBM con retardos se acerca); H2 se refuta limpiamente, las hojas lineales empeoran; H3 se confirma con evidencia concreta — la validación eligió apenas 14, 1 y 14 árboles para AdaBoost, señal de que cada árbol adicional lo empeoraba.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Todos los modelos de árboles sobreestiman mayo, pero no repitiendo el promedio del invierno — predicen valores más altos que cualquier promedio visto (105 a 160 Wh, cuando el promedio ronda 96-98 Wh). Eso descarta la explicación más simple ('el árbol solo promedia') y obliga a buscar una causa más específica, que es lo que sigue.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hallazgo más importante del taller: la temperatura interior de mayo es tan alta (23,4 °C de media, contra 20,2 °C en invierno) que el 71,9 % de sus lecturas caen fuera de cualquier hoja vista en invierno. En invierno, 'casa más cálida' significaba 'consumo alto' porque el calor extra venía de aparatos. El árbol aplica esa asociación a un mayo donde el calor viene del clima, no de los aparatos.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se corrige un error real de una versión anterior del cuaderno: detener por log-loss hacía que LightGBM se detuviera a los 5 árboles con F1=0 — el balanceo de clases empeora el log-loss sobre una validación sin pesos, un artefacto del protocolo. Con average precision, que no depende de la calibración, desaparece.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corrección metodológica más importante del taller: comparar detectores por avisos-por-día se puede ganar con trampa (el GBM con umbral 0,05 'detecta' 98,8 % pero pasa 67,5 % del tiempo en alerta). Lo justo es fijar el tiempo en alerta igual para todos. Con el 21,1 % del parcial, todos detectan un rango similar, pero Random Forest lo hace con menos avisos y menos falsos.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gráfico explica POR QUÉ LightGBM empata con la lineal sin superarla: el 86,5 % de su capacidad predictiva viene de los mismos retardos que usa la lineal (74,9 % solo de lag1). Lo poco que añade —8,9 % de sensores interiores— es justo el bloque que introduce el sesgo estacional: aprendió casi lo mismo que la lineal, más un poco de ruido perjudicial.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Seis conclusiones: ni el simulador ni el detector cambian; se identificó la causa exacta del colapso temporal (temperatura interior fuera de rango); se propone una corrección metodológica para producción (mismo tiempo en alerta); las métricas del curso favorecen al boosting mientras el producto favorece al bosque; y se descartan dos ideas puntuales (hojas lineales, hora categórica) con evidencia.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no estaba en ninguna diapositiva anterior — es el tablero completo de nueve modelos por tres particiones. Vale la pena mostrarla completa porque no se están seleccionando solo los números favorables: se ve que Random Forest es el PEOR regresor temporal de toda la tabla, un dato incómodo para el modelo que sigue siendo el detector vigente, pero es honesto mostrarlo.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código muestra que ningún modelo se ajustó mirando los datos de mayo — la validación siempre sale de una porción del propio entrenamiento (85/15), nunca del conjunto de prueba real. Es la base de por qué se puede confiar en la tabla anterior: cada número de árboles fue una decisión tomada a ciegas respecto al resultado final.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de ablación es el experimento causal que sostiene el hallazgo anterior: comparar sistemáticamente quitar las 29 variables de temperatura versus quitar el mes. Solo quitar las temperaturas arregla el sesgo; quitar el mes no. Convierte una hipótesis plausible en una conclusión respaldada por un experimento de eliminación de variables, no solo por correlación.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están las cinco métricas de clasificación completas, sin recortar. En las cinco columnas Random Forest pierde frente a CatBoost y XGBoost. Si nos quedáramos solo con estas métricas la conclusión sería 'cambien el detector' — por eso la siguiente sección pregunta qué pasa cuando se mide diferente.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código es la evidencia de la corrección metodológica más importante del taller: un umbral muy bajo en el GBM genera un número de avisos por día razonable, pero cada aviso dura más de 5 horas. evaluar_alertas() mide tiempo en alerta explícitamente, no solo cuenta avisos — ese es el cambio de protocolo que se propone para producción.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completa al presupuesto real que usó el parcial (21,1 % del tiempo en alerta). Random Forest iguala el alcance de XGBoost pero con casi 14 puntos porcentuales menos de avisos falsos — la evidencia cuantitativa detrás de 'el bosque molesta menos'.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existe para ser honestos con una excepción real: a un presupuesto igual a la tasa real de anomalías (8,2 %), XGBoost sí supera a Random Forest, aunque por muy poco. No se esconde — se muestra junto a los otros dos presupuestos para que quede claro que es una excepción puntual y que la conclusión de cierre no depende de ocultarla.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01</a:t>
            </a:r>
          </a:p>
        </p:txBody>
      </p:sp>
      <p:sp>
        <p:nvSpPr>
          <p:cNvPr id="4" name="Rounded Rectangle 3"/>
          <p:cNvSpPr/>
          <p:nvPr/>
        </p:nvSpPr>
        <p:spPr>
          <a:xfrm>
            <a:off x="685800" y="548640"/>
            <a:ext cx="310896" cy="310896"/>
          </a:xfrm>
          <a:prstGeom prst="roundRect">
            <a:avLst>
              <a:gd name="adj" fmla="val 4000"/>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548640"/>
            <a:ext cx="310896" cy="310896"/>
          </a:xfrm>
          <a:prstGeom prst="rect">
            <a:avLst/>
          </a:prstGeom>
          <a:noFill/>
        </p:spPr>
        <p:txBody>
          <a:bodyPr wrap="square" lIns="0" rIns="0" tIns="0" bIns="0" anchor="ctr">
            <a:spAutoFit/>
          </a:bodyPr>
          <a:lstStyle/>
          <a:p>
            <a:pPr algn="ctr">
              <a:lnSpc>
                <a:spcPct val="115000"/>
              </a:lnSpc>
            </a:pPr>
            <a:r>
              <a:rPr sz="1300" b="1">
                <a:solidFill>
                  <a:srgbClr val="FFFFFF"/>
                </a:solidFill>
                <a:latin typeface="Consolas"/>
              </a:rPr>
              <a:t>S</a:t>
            </a:r>
          </a:p>
        </p:txBody>
      </p:sp>
      <p:sp>
        <p:nvSpPr>
          <p:cNvPr id="6" name="TextBox 5"/>
          <p:cNvSpPr txBox="1"/>
          <p:nvPr/>
        </p:nvSpPr>
        <p:spPr>
          <a:xfrm>
            <a:off x="1124712" y="566928"/>
            <a:ext cx="1828800" cy="274320"/>
          </a:xfrm>
          <a:prstGeom prst="rect">
            <a:avLst/>
          </a:prstGeom>
          <a:noFill/>
        </p:spPr>
        <p:txBody>
          <a:bodyPr wrap="square" lIns="0" rIns="0" tIns="0" bIns="0" anchor="t">
            <a:spAutoFit/>
          </a:bodyPr>
          <a:lstStyle/>
          <a:p>
            <a:pPr algn="l">
              <a:lnSpc>
                <a:spcPct val="115000"/>
              </a:lnSpc>
            </a:pPr>
            <a:r>
              <a:rPr sz="1300" b="0">
                <a:solidFill>
                  <a:srgbClr val="E6E9EF"/>
                </a:solidFill>
                <a:latin typeface="Segoe UI Semibold"/>
              </a:rPr>
              <a:t>Shiro Twin</a:t>
            </a:r>
          </a:p>
        </p:txBody>
      </p:sp>
      <p:sp>
        <p:nvSpPr>
          <p:cNvPr id="7" name="TextBox 6"/>
          <p:cNvSpPr txBox="1"/>
          <p:nvPr/>
        </p:nvSpPr>
        <p:spPr>
          <a:xfrm>
            <a:off x="2697480" y="603504"/>
            <a:ext cx="5486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Aprendizaje de Máquina · Corte 2 · Taller 1</a:t>
            </a:r>
          </a:p>
        </p:txBody>
      </p:sp>
      <p:sp>
        <p:nvSpPr>
          <p:cNvPr id="8" name="TextBox 7"/>
          <p:cNvSpPr txBox="1"/>
          <p:nvPr/>
        </p:nvSpPr>
        <p:spPr>
          <a:xfrm>
            <a:off x="685800" y="1874519"/>
            <a:ext cx="7315200" cy="274320"/>
          </a:xfrm>
          <a:prstGeom prst="rect">
            <a:avLst/>
          </a:prstGeom>
          <a:noFill/>
        </p:spPr>
        <p:txBody>
          <a:bodyPr wrap="square" lIns="0" rIns="0" tIns="0" bIns="0" anchor="t">
            <a:spAutoFit/>
          </a:bodyPr>
          <a:lstStyle/>
          <a:p>
            <a:pPr algn="l">
              <a:lnSpc>
                <a:spcPct val="115000"/>
              </a:lnSpc>
            </a:pPr>
            <a:r>
              <a:rPr sz="1100" b="0">
                <a:solidFill>
                  <a:srgbClr val="E8710A"/>
                </a:solidFill>
                <a:latin typeface="Consolas"/>
              </a:rPr>
              <a:t>EL HALLAZGO DE ESTE TALLER</a:t>
            </a:r>
          </a:p>
        </p:txBody>
      </p:sp>
      <p:sp>
        <p:nvSpPr>
          <p:cNvPr id="9" name="TextBox 8"/>
          <p:cNvSpPr txBox="1"/>
          <p:nvPr/>
        </p:nvSpPr>
        <p:spPr>
          <a:xfrm>
            <a:off x="685800" y="2240280"/>
            <a:ext cx="10789920" cy="1645920"/>
          </a:xfrm>
          <a:prstGeom prst="rect">
            <a:avLst/>
          </a:prstGeom>
          <a:noFill/>
        </p:spPr>
        <p:txBody>
          <a:bodyPr wrap="square" lIns="0" rIns="0" tIns="0" bIns="0" anchor="t">
            <a:spAutoFit/>
          </a:bodyPr>
          <a:lstStyle/>
          <a:p>
            <a:pPr algn="l">
              <a:lnSpc>
                <a:spcPct val="100000"/>
              </a:lnSpc>
            </a:pPr>
            <a:r>
              <a:rPr sz="4200" b="0">
                <a:solidFill>
                  <a:srgbClr val="E6E9EF"/>
                </a:solidFill>
                <a:latin typeface="Segoe UI Semibold"/>
              </a:rPr>
              <a:t>El boosting gana la tabla del curso.</a:t>
            </a:r>
          </a:p>
          <a:p>
            <a:pPr algn="l">
              <a:lnSpc>
                <a:spcPct val="100000"/>
              </a:lnSpc>
            </a:pPr>
            <a:r>
              <a:rPr sz="4200" b="0">
                <a:solidFill>
                  <a:srgbClr val="E6E9EF"/>
                </a:solidFill>
                <a:latin typeface="Segoe UI Semibold"/>
              </a:rPr>
              <a:t>Shiro no cambia — y ahora sabe por qué.</a:t>
            </a:r>
          </a:p>
        </p:txBody>
      </p:sp>
      <p:sp>
        <p:nvSpPr>
          <p:cNvPr id="10" name="TextBox 9"/>
          <p:cNvSpPr txBox="1"/>
          <p:nvPr/>
        </p:nvSpPr>
        <p:spPr>
          <a:xfrm>
            <a:off x="685800" y="4069080"/>
            <a:ext cx="8778240" cy="822960"/>
          </a:xfrm>
          <a:prstGeom prst="rect">
            <a:avLst/>
          </a:prstGeom>
          <a:noFill/>
        </p:spPr>
        <p:txBody>
          <a:bodyPr wrap="square" lIns="0" rIns="0" tIns="0" bIns="0" anchor="t">
            <a:spAutoFit/>
          </a:bodyPr>
          <a:lstStyle/>
          <a:p>
            <a:pPr algn="l">
              <a:lnSpc>
                <a:spcPct val="115000"/>
              </a:lnSpc>
            </a:pPr>
            <a:r>
              <a:rPr sz="1600" b="0">
                <a:solidFill>
                  <a:srgbClr val="9AA3B2"/>
                </a:solidFill>
                <a:latin typeface="Segoe UI"/>
              </a:rPr>
              <a:t>AdaBoost, GBM, XGBoost, LightGBM y CatBoost contra el simulador y el detector que dejó el parcial, bajo la partición que decide. Ninguno los reemplaza, y en el camino apareció la causa del colapso temporal de los árboles.</a:t>
            </a:r>
          </a:p>
        </p:txBody>
      </p:sp>
      <p:sp>
        <p:nvSpPr>
          <p:cNvPr id="11" name="Rectangle 10"/>
          <p:cNvSpPr/>
          <p:nvPr/>
        </p:nvSpPr>
        <p:spPr>
          <a:xfrm>
            <a:off x="685800" y="5257800"/>
            <a:ext cx="10820095" cy="9525"/>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440680"/>
            <a:ext cx="7772400" cy="274320"/>
          </a:xfrm>
          <a:prstGeom prst="rect">
            <a:avLst/>
          </a:prstGeom>
          <a:noFill/>
        </p:spPr>
        <p:txBody>
          <a:bodyPr wrap="square" lIns="0" rIns="0" tIns="0" bIns="0" anchor="t">
            <a:spAutoFit/>
          </a:bodyPr>
          <a:lstStyle/>
          <a:p>
            <a:pPr algn="l">
              <a:lnSpc>
                <a:spcPct val="115000"/>
              </a:lnSpc>
            </a:pPr>
            <a:r>
              <a:rPr sz="1100" b="0">
                <a:solidFill>
                  <a:srgbClr val="C9D1DE"/>
                </a:solidFill>
                <a:latin typeface="Segoe UI Semibold"/>
              </a:rPr>
              <a:t>Jose Leonardo Diazgranados · Sofía Londoño · Andrés Felipe Céspedes Rondón · Alex Duran</a:t>
            </a:r>
          </a:p>
        </p:txBody>
      </p:sp>
      <p:sp>
        <p:nvSpPr>
          <p:cNvPr id="13" name="TextBox 12"/>
          <p:cNvSpPr txBox="1"/>
          <p:nvPr/>
        </p:nvSpPr>
        <p:spPr>
          <a:xfrm>
            <a:off x="685800" y="5742432"/>
            <a:ext cx="7772400" cy="274320"/>
          </a:xfrm>
          <a:prstGeom prst="rect">
            <a:avLst/>
          </a:prstGeom>
          <a:noFill/>
        </p:spPr>
        <p:txBody>
          <a:bodyPr wrap="square" lIns="0" rIns="0" tIns="0" bIns="0" anchor="t">
            <a:spAutoFit/>
          </a:bodyPr>
          <a:lstStyle/>
          <a:p>
            <a:pPr algn="l">
              <a:lnSpc>
                <a:spcPct val="115000"/>
              </a:lnSpc>
            </a:pPr>
            <a:r>
              <a:rPr sz="1000" b="0">
                <a:solidFill>
                  <a:srgbClr val="6F7787"/>
                </a:solidFill>
                <a:latin typeface="Consolas"/>
              </a:rPr>
              <a:t>Universidad Sergio Arboleda · Semestre 26-2 · Docente: Hernán Darío Cruz Bueno</a:t>
            </a:r>
          </a:p>
        </p:txBody>
      </p:sp>
      <p:sp>
        <p:nvSpPr>
          <p:cNvPr id="14" name="TextBox 13"/>
          <p:cNvSpPr txBox="1"/>
          <p:nvPr/>
        </p:nvSpPr>
        <p:spPr>
          <a:xfrm>
            <a:off x="7848295" y="5440680"/>
            <a:ext cx="3657600" cy="548640"/>
          </a:xfrm>
          <a:prstGeom prst="rect">
            <a:avLst/>
          </a:prstGeom>
          <a:noFill/>
        </p:spPr>
        <p:txBody>
          <a:bodyPr wrap="square" lIns="0" rIns="0" tIns="0" bIns="0" anchor="t">
            <a:spAutoFit/>
          </a:bodyPr>
          <a:lstStyle/>
          <a:p>
            <a:pPr algn="r">
              <a:lnSpc>
                <a:spcPct val="115000"/>
              </a:lnSpc>
            </a:pPr>
            <a:r>
              <a:rPr sz="1000" b="0">
                <a:solidFill>
                  <a:srgbClr val="6F7787"/>
                </a:solidFill>
                <a:latin typeface="Consolas"/>
              </a:rPr>
              <a:t>Appliances Energy Prediction · UCI #374</a:t>
            </a:r>
          </a:p>
          <a:p>
            <a:pPr algn="r">
              <a:lnSpc>
                <a:spcPct val="115000"/>
              </a:lnSpc>
            </a:pPr>
            <a:r>
              <a:rPr sz="1000" b="0">
                <a:solidFill>
                  <a:srgbClr val="6F7787"/>
                </a:solidFill>
                <a:latin typeface="Consolas"/>
              </a:rPr>
              <a:t>random_state = 42 · 23 sep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02</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ENCUADRE · QUÉ DECIDE ESTE TALLER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Dos piezas de Shiro con dueño. ¿Algún boosting las reemplaza?</a:t>
            </a:r>
          </a:p>
        </p:txBody>
      </p:sp>
      <p:sp>
        <p:nvSpPr>
          <p:cNvPr id="6" name="TextBox 5"/>
          <p:cNvSpPr txBox="1"/>
          <p:nvPr/>
        </p:nvSpPr>
        <p:spPr>
          <a:xfrm>
            <a:off x="685800" y="1828800"/>
            <a:ext cx="42062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PIEZA DE SHIRO</a:t>
            </a:r>
          </a:p>
        </p:txBody>
      </p:sp>
      <p:sp>
        <p:nvSpPr>
          <p:cNvPr id="7" name="TextBox 6"/>
          <p:cNvSpPr txBox="1"/>
          <p:nvPr/>
        </p:nvSpPr>
        <p:spPr>
          <a:xfrm>
            <a:off x="4892040" y="1828800"/>
            <a:ext cx="329184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MODELO VIGENTE</a:t>
            </a:r>
          </a:p>
        </p:txBody>
      </p:sp>
      <p:sp>
        <p:nvSpPr>
          <p:cNvPr id="8" name="TextBox 7"/>
          <p:cNvSpPr txBox="1"/>
          <p:nvPr/>
        </p:nvSpPr>
        <p:spPr>
          <a:xfrm>
            <a:off x="8183880" y="1828800"/>
            <a:ext cx="310896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CIFRA A SUPERAR</a:t>
            </a:r>
          </a:p>
        </p:txBody>
      </p:sp>
      <p:sp>
        <p:nvSpPr>
          <p:cNvPr id="9" name="Rectangle 8"/>
          <p:cNvSpPr/>
          <p:nvPr/>
        </p:nvSpPr>
        <p:spPr>
          <a:xfrm>
            <a:off x="685800" y="2121408"/>
            <a:ext cx="106070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57984"/>
            <a:ext cx="409651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Simulador (función de transición)</a:t>
            </a:r>
          </a:p>
        </p:txBody>
      </p:sp>
      <p:sp>
        <p:nvSpPr>
          <p:cNvPr id="11" name="TextBox 10"/>
          <p:cNvSpPr txBox="1"/>
          <p:nvPr/>
        </p:nvSpPr>
        <p:spPr>
          <a:xfrm>
            <a:off x="4983480" y="2157984"/>
            <a:ext cx="318211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Lineal + retardos</a:t>
            </a:r>
          </a:p>
        </p:txBody>
      </p:sp>
      <p:sp>
        <p:nvSpPr>
          <p:cNvPr id="12" name="TextBox 11"/>
          <p:cNvSpPr txBox="1"/>
          <p:nvPr/>
        </p:nvSpPr>
        <p:spPr>
          <a:xfrm>
            <a:off x="8183880" y="2157984"/>
            <a:ext cx="299923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R² 0,557 en mayo</a:t>
            </a:r>
          </a:p>
        </p:txBody>
      </p:sp>
      <p:sp>
        <p:nvSpPr>
          <p:cNvPr id="13" name="TextBox 12"/>
          <p:cNvSpPr txBox="1"/>
          <p:nvPr/>
        </p:nvSpPr>
        <p:spPr>
          <a:xfrm>
            <a:off x="777240" y="2615184"/>
            <a:ext cx="409651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Detector de anomalías</a:t>
            </a:r>
          </a:p>
        </p:txBody>
      </p:sp>
      <p:sp>
        <p:nvSpPr>
          <p:cNvPr id="14" name="TextBox 13"/>
          <p:cNvSpPr txBox="1"/>
          <p:nvPr/>
        </p:nvSpPr>
        <p:spPr>
          <a:xfrm>
            <a:off x="4983480" y="2615184"/>
            <a:ext cx="318211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Random Forest + retardos</a:t>
            </a:r>
          </a:p>
        </p:txBody>
      </p:sp>
      <p:sp>
        <p:nvSpPr>
          <p:cNvPr id="15" name="TextBox 14"/>
          <p:cNvSpPr txBox="1"/>
          <p:nvPr/>
        </p:nvSpPr>
        <p:spPr>
          <a:xfrm>
            <a:off x="8183880" y="2615184"/>
            <a:ext cx="2999232" cy="457200"/>
          </a:xfrm>
          <a:prstGeom prst="rect">
            <a:avLst/>
          </a:prstGeom>
          <a:noFill/>
        </p:spPr>
        <p:txBody>
          <a:bodyPr wrap="square" lIns="0" rIns="0" tIns="0" bIns="0" anchor="ctr">
            <a:spAutoFit/>
          </a:bodyPr>
          <a:lstStyle/>
          <a:p>
            <a:pPr algn="r">
              <a:lnSpc>
                <a:spcPct val="115000"/>
              </a:lnSpc>
            </a:pPr>
            <a:r>
              <a:rPr sz="1300" b="0">
                <a:solidFill>
                  <a:srgbClr val="C9D1DE"/>
                </a:solidFill>
                <a:latin typeface="Consolas"/>
              </a:rPr>
              <a:t>86,9 % a 3 avisos/día</a:t>
            </a:r>
          </a:p>
        </p:txBody>
      </p:sp>
      <p:sp>
        <p:nvSpPr>
          <p:cNvPr id="16" name="TextBox 15"/>
          <p:cNvSpPr txBox="1"/>
          <p:nvPr/>
        </p:nvSpPr>
        <p:spPr>
          <a:xfrm>
            <a:off x="685800" y="3429000"/>
            <a:ext cx="7315200" cy="274320"/>
          </a:xfrm>
          <a:prstGeom prst="rect">
            <a:avLst/>
          </a:prstGeom>
          <a:noFill/>
        </p:spPr>
        <p:txBody>
          <a:bodyPr wrap="square" lIns="0" rIns="0" tIns="0" bIns="0" anchor="t">
            <a:spAutoFit/>
          </a:bodyPr>
          <a:lstStyle/>
          <a:p>
            <a:pPr algn="l">
              <a:lnSpc>
                <a:spcPct val="115000"/>
              </a:lnSpc>
            </a:pPr>
            <a:r>
              <a:rPr sz="1000" b="0">
                <a:solidFill>
                  <a:srgbClr val="FFB877"/>
                </a:solidFill>
                <a:latin typeface="Consolas"/>
              </a:rPr>
              <a:t>TRES HIPÓTESIS, ANTES DE MIRAR LOS RESULTADOS</a:t>
            </a:r>
          </a:p>
        </p:txBody>
      </p:sp>
      <p:sp>
        <p:nvSpPr>
          <p:cNvPr id="17" name="TextBox 16"/>
          <p:cNvSpPr txBox="1"/>
          <p:nvPr/>
        </p:nvSpPr>
        <p:spPr>
          <a:xfrm>
            <a:off x="685800" y="3794760"/>
            <a:ext cx="548640" cy="365760"/>
          </a:xfrm>
          <a:prstGeom prst="rect">
            <a:avLst/>
          </a:prstGeom>
          <a:noFill/>
        </p:spPr>
        <p:txBody>
          <a:bodyPr wrap="square" lIns="0" rIns="0" tIns="0" bIns="0" anchor="t">
            <a:spAutoFit/>
          </a:bodyPr>
          <a:lstStyle/>
          <a:p>
            <a:pPr algn="l">
              <a:lnSpc>
                <a:spcPct val="115000"/>
              </a:lnSpc>
            </a:pPr>
            <a:r>
              <a:rPr sz="1500" b="1">
                <a:solidFill>
                  <a:srgbClr val="7BD992"/>
                </a:solidFill>
                <a:latin typeface="Consolas"/>
              </a:rPr>
              <a:t>H1</a:t>
            </a:r>
          </a:p>
        </p:txBody>
      </p:sp>
      <p:sp>
        <p:nvSpPr>
          <p:cNvPr id="18" name="TextBox 17"/>
          <p:cNvSpPr txBox="1"/>
          <p:nvPr/>
        </p:nvSpPr>
        <p:spPr>
          <a:xfrm>
            <a:off x="1325880" y="3813048"/>
            <a:ext cx="9875520" cy="457200"/>
          </a:xfrm>
          <a:prstGeom prst="rect">
            <a:avLst/>
          </a:prstGeom>
          <a:noFill/>
        </p:spPr>
        <p:txBody>
          <a:bodyPr wrap="square" lIns="0" rIns="0" tIns="0" bIns="0" anchor="t">
            <a:spAutoFit/>
          </a:bodyPr>
          <a:lstStyle/>
          <a:p>
            <a:pPr algn="l">
              <a:lnSpc>
                <a:spcPct val="115000"/>
              </a:lnSpc>
            </a:pPr>
            <a:r>
              <a:rPr sz="1500" b="0">
                <a:solidFill>
                  <a:srgbClr val="C9D1DE"/>
                </a:solidFill>
                <a:latin typeface="Segoe UI"/>
              </a:rPr>
              <a:t>Los boostings de árboles no extrapolarán: fallarán en mayo, como el bosque.</a:t>
            </a:r>
          </a:p>
        </p:txBody>
      </p:sp>
      <p:sp>
        <p:nvSpPr>
          <p:cNvPr id="19" name="TextBox 18"/>
          <p:cNvSpPr txBox="1"/>
          <p:nvPr/>
        </p:nvSpPr>
        <p:spPr>
          <a:xfrm>
            <a:off x="685800" y="4361688"/>
            <a:ext cx="548640" cy="365760"/>
          </a:xfrm>
          <a:prstGeom prst="rect">
            <a:avLst/>
          </a:prstGeom>
          <a:noFill/>
        </p:spPr>
        <p:txBody>
          <a:bodyPr wrap="square" lIns="0" rIns="0" tIns="0" bIns="0" anchor="t">
            <a:spAutoFit/>
          </a:bodyPr>
          <a:lstStyle/>
          <a:p>
            <a:pPr algn="l">
              <a:lnSpc>
                <a:spcPct val="115000"/>
              </a:lnSpc>
            </a:pPr>
            <a:r>
              <a:rPr sz="1500" b="1">
                <a:solidFill>
                  <a:srgbClr val="7BD992"/>
                </a:solidFill>
                <a:latin typeface="Consolas"/>
              </a:rPr>
              <a:t>H2</a:t>
            </a:r>
          </a:p>
        </p:txBody>
      </p:sp>
      <p:sp>
        <p:nvSpPr>
          <p:cNvPr id="20" name="TextBox 19"/>
          <p:cNvSpPr txBox="1"/>
          <p:nvPr/>
        </p:nvSpPr>
        <p:spPr>
          <a:xfrm>
            <a:off x="1325880" y="4379976"/>
            <a:ext cx="9875520" cy="457200"/>
          </a:xfrm>
          <a:prstGeom prst="rect">
            <a:avLst/>
          </a:prstGeom>
          <a:noFill/>
        </p:spPr>
        <p:txBody>
          <a:bodyPr wrap="square" lIns="0" rIns="0" tIns="0" bIns="0" anchor="t">
            <a:spAutoFit/>
          </a:bodyPr>
          <a:lstStyle/>
          <a:p>
            <a:pPr algn="l">
              <a:lnSpc>
                <a:spcPct val="115000"/>
              </a:lnSpc>
            </a:pPr>
            <a:r>
              <a:rPr sz="1500" b="0">
                <a:solidFill>
                  <a:srgbClr val="C9D1DE"/>
                </a:solidFill>
                <a:latin typeface="Segoe UI"/>
              </a:rPr>
              <a:t>LightGBM con hojas lineales sí podría: el mejor candidato a simulador.</a:t>
            </a:r>
          </a:p>
        </p:txBody>
      </p:sp>
      <p:sp>
        <p:nvSpPr>
          <p:cNvPr id="21" name="TextBox 20"/>
          <p:cNvSpPr txBox="1"/>
          <p:nvPr/>
        </p:nvSpPr>
        <p:spPr>
          <a:xfrm>
            <a:off x="685800" y="4928616"/>
            <a:ext cx="548640" cy="365760"/>
          </a:xfrm>
          <a:prstGeom prst="rect">
            <a:avLst/>
          </a:prstGeom>
          <a:noFill/>
        </p:spPr>
        <p:txBody>
          <a:bodyPr wrap="square" lIns="0" rIns="0" tIns="0" bIns="0" anchor="t">
            <a:spAutoFit/>
          </a:bodyPr>
          <a:lstStyle/>
          <a:p>
            <a:pPr algn="l">
              <a:lnSpc>
                <a:spcPct val="115000"/>
              </a:lnSpc>
            </a:pPr>
            <a:r>
              <a:rPr sz="1500" b="1">
                <a:solidFill>
                  <a:srgbClr val="7BD992"/>
                </a:solidFill>
                <a:latin typeface="Consolas"/>
              </a:rPr>
              <a:t>H3</a:t>
            </a:r>
          </a:p>
        </p:txBody>
      </p:sp>
      <p:sp>
        <p:nvSpPr>
          <p:cNvPr id="22" name="TextBox 21"/>
          <p:cNvSpPr txBox="1"/>
          <p:nvPr/>
        </p:nvSpPr>
        <p:spPr>
          <a:xfrm>
            <a:off x="1325880" y="4946904"/>
            <a:ext cx="9875520" cy="457200"/>
          </a:xfrm>
          <a:prstGeom prst="rect">
            <a:avLst/>
          </a:prstGeom>
          <a:noFill/>
        </p:spPr>
        <p:txBody>
          <a:bodyPr wrap="square" lIns="0" rIns="0" tIns="0" bIns="0" anchor="t">
            <a:spAutoFit/>
          </a:bodyPr>
          <a:lstStyle/>
          <a:p>
            <a:pPr algn="l">
              <a:lnSpc>
                <a:spcPct val="115000"/>
              </a:lnSpc>
            </a:pPr>
            <a:r>
              <a:rPr sz="1500" b="0">
                <a:solidFill>
                  <a:srgbClr val="C9D1DE"/>
                </a:solidFill>
                <a:latin typeface="Segoe UI"/>
              </a:rPr>
              <a:t>AdaBoost será el más frágil: repondera los picos más difíciles.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LOS CINCO MÉTODOS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Todos encadenan árboles; difieren en qué corrige cada uno</a:t>
            </a:r>
          </a:p>
        </p:txBody>
      </p:sp>
      <p:sp>
        <p:nvSpPr>
          <p:cNvPr id="6" name="TextBox 5"/>
          <p:cNvSpPr txBox="1"/>
          <p:nvPr/>
        </p:nvSpPr>
        <p:spPr>
          <a:xfrm>
            <a:off x="685800" y="1783080"/>
            <a:ext cx="21031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MÉTODO</a:t>
            </a:r>
          </a:p>
        </p:txBody>
      </p:sp>
      <p:sp>
        <p:nvSpPr>
          <p:cNvPr id="7" name="TextBox 6"/>
          <p:cNvSpPr txBox="1"/>
          <p:nvPr/>
        </p:nvSpPr>
        <p:spPr>
          <a:xfrm>
            <a:off x="2788920" y="1783080"/>
            <a:ext cx="40233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QUÉ CORRIGE CADA ÁRBOL NUEVO</a:t>
            </a:r>
          </a:p>
        </p:txBody>
      </p:sp>
      <p:sp>
        <p:nvSpPr>
          <p:cNvPr id="8" name="TextBox 7"/>
          <p:cNvSpPr txBox="1"/>
          <p:nvPr/>
        </p:nvSpPr>
        <p:spPr>
          <a:xfrm>
            <a:off x="6812280" y="1783080"/>
            <a:ext cx="44805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LO QUE LO DISTINGUE</a:t>
            </a:r>
          </a:p>
        </p:txBody>
      </p:sp>
      <p:sp>
        <p:nvSpPr>
          <p:cNvPr id="9" name="Rectangle 8"/>
          <p:cNvSpPr/>
          <p:nvPr/>
        </p:nvSpPr>
        <p:spPr>
          <a:xfrm>
            <a:off x="685800" y="2075688"/>
            <a:ext cx="106070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12264"/>
            <a:ext cx="199339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AdaBoost</a:t>
            </a:r>
          </a:p>
        </p:txBody>
      </p:sp>
      <p:sp>
        <p:nvSpPr>
          <p:cNvPr id="11" name="TextBox 10"/>
          <p:cNvSpPr txBox="1"/>
          <p:nvPr/>
        </p:nvSpPr>
        <p:spPr>
          <a:xfrm>
            <a:off x="2880360" y="2112264"/>
            <a:ext cx="39136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los datos, reponderados</a:t>
            </a:r>
          </a:p>
        </p:txBody>
      </p:sp>
      <p:sp>
        <p:nvSpPr>
          <p:cNvPr id="12" name="TextBox 11"/>
          <p:cNvSpPr txBox="1"/>
          <p:nvPr/>
        </p:nvSpPr>
        <p:spPr>
          <a:xfrm>
            <a:off x="6903720" y="2112264"/>
            <a:ext cx="43708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el primero; persigue los extremos</a:t>
            </a:r>
          </a:p>
        </p:txBody>
      </p:sp>
      <p:sp>
        <p:nvSpPr>
          <p:cNvPr id="13" name="TextBox 12"/>
          <p:cNvSpPr txBox="1"/>
          <p:nvPr/>
        </p:nvSpPr>
        <p:spPr>
          <a:xfrm>
            <a:off x="777240" y="2569464"/>
            <a:ext cx="199339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GBM</a:t>
            </a:r>
          </a:p>
        </p:txBody>
      </p:sp>
      <p:sp>
        <p:nvSpPr>
          <p:cNvPr id="14" name="TextBox 13"/>
          <p:cNvSpPr txBox="1"/>
          <p:nvPr/>
        </p:nvSpPr>
        <p:spPr>
          <a:xfrm>
            <a:off x="2880360" y="2569464"/>
            <a:ext cx="39136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los residuos (gradiente)</a:t>
            </a:r>
          </a:p>
        </p:txBody>
      </p:sp>
      <p:sp>
        <p:nvSpPr>
          <p:cNvPr id="15" name="TextBox 14"/>
          <p:cNvSpPr txBox="1"/>
          <p:nvPr/>
        </p:nvSpPr>
        <p:spPr>
          <a:xfrm>
            <a:off x="6903720" y="2569464"/>
            <a:ext cx="43708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cualquier pérdida; secuencial y lento</a:t>
            </a:r>
          </a:p>
        </p:txBody>
      </p:sp>
      <p:sp>
        <p:nvSpPr>
          <p:cNvPr id="16" name="TextBox 15"/>
          <p:cNvSpPr txBox="1"/>
          <p:nvPr/>
        </p:nvSpPr>
        <p:spPr>
          <a:xfrm>
            <a:off x="777240" y="3026664"/>
            <a:ext cx="199339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XGBoost</a:t>
            </a:r>
          </a:p>
        </p:txBody>
      </p:sp>
      <p:sp>
        <p:nvSpPr>
          <p:cNvPr id="17" name="TextBox 16"/>
          <p:cNvSpPr txBox="1"/>
          <p:nvPr/>
        </p:nvSpPr>
        <p:spPr>
          <a:xfrm>
            <a:off x="2880360" y="3026664"/>
            <a:ext cx="39136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residuos + segunda derivada</a:t>
            </a:r>
          </a:p>
        </p:txBody>
      </p:sp>
      <p:sp>
        <p:nvSpPr>
          <p:cNvPr id="18" name="TextBox 17"/>
          <p:cNvSpPr txBox="1"/>
          <p:nvPr/>
        </p:nvSpPr>
        <p:spPr>
          <a:xfrm>
            <a:off x="6903720" y="3026664"/>
            <a:ext cx="43708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regularización y paralelismo</a:t>
            </a:r>
          </a:p>
        </p:txBody>
      </p:sp>
      <p:sp>
        <p:nvSpPr>
          <p:cNvPr id="19" name="TextBox 18"/>
          <p:cNvSpPr txBox="1"/>
          <p:nvPr/>
        </p:nvSpPr>
        <p:spPr>
          <a:xfrm>
            <a:off x="777240" y="3483864"/>
            <a:ext cx="199339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LightGBM</a:t>
            </a:r>
          </a:p>
        </p:txBody>
      </p:sp>
      <p:sp>
        <p:nvSpPr>
          <p:cNvPr id="20" name="TextBox 19"/>
          <p:cNvSpPr txBox="1"/>
          <p:nvPr/>
        </p:nvSpPr>
        <p:spPr>
          <a:xfrm>
            <a:off x="2880360" y="3483864"/>
            <a:ext cx="39136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residuos, hoja a hoja</a:t>
            </a:r>
          </a:p>
        </p:txBody>
      </p:sp>
      <p:sp>
        <p:nvSpPr>
          <p:cNvPr id="21" name="TextBox 20"/>
          <p:cNvSpPr txBox="1"/>
          <p:nvPr/>
        </p:nvSpPr>
        <p:spPr>
          <a:xfrm>
            <a:off x="6903720" y="3483864"/>
            <a:ext cx="43708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el más rápido; admite hojas lineales</a:t>
            </a:r>
          </a:p>
        </p:txBody>
      </p:sp>
      <p:sp>
        <p:nvSpPr>
          <p:cNvPr id="22" name="TextBox 21"/>
          <p:cNvSpPr txBox="1"/>
          <p:nvPr/>
        </p:nvSpPr>
        <p:spPr>
          <a:xfrm>
            <a:off x="777240" y="3941064"/>
            <a:ext cx="199339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Segoe UI"/>
              </a:rPr>
              <a:t>CatBoost</a:t>
            </a:r>
          </a:p>
        </p:txBody>
      </p:sp>
      <p:sp>
        <p:nvSpPr>
          <p:cNvPr id="23" name="TextBox 22"/>
          <p:cNvSpPr txBox="1"/>
          <p:nvPr/>
        </p:nvSpPr>
        <p:spPr>
          <a:xfrm>
            <a:off x="2880360" y="3941064"/>
            <a:ext cx="39136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residuos, boosting ordenado</a:t>
            </a:r>
          </a:p>
        </p:txBody>
      </p:sp>
      <p:sp>
        <p:nvSpPr>
          <p:cNvPr id="24" name="TextBox 23"/>
          <p:cNvSpPr txBox="1"/>
          <p:nvPr/>
        </p:nvSpPr>
        <p:spPr>
          <a:xfrm>
            <a:off x="6903720" y="3941064"/>
            <a:ext cx="4370832" cy="457200"/>
          </a:xfrm>
          <a:prstGeom prst="rect">
            <a:avLst/>
          </a:prstGeom>
          <a:noFill/>
        </p:spPr>
        <p:txBody>
          <a:bodyPr wrap="square" lIns="0" rIns="0" tIns="0" bIns="0" anchor="ctr">
            <a:spAutoFit/>
          </a:bodyPr>
          <a:lstStyle/>
          <a:p>
            <a:pPr algn="l">
              <a:lnSpc>
                <a:spcPct val="115000"/>
              </a:lnSpc>
            </a:pPr>
            <a:r>
              <a:rPr sz="1300" b="0">
                <a:solidFill>
                  <a:srgbClr val="C9D1DE"/>
                </a:solidFill>
                <a:latin typeface="Consolas"/>
              </a:rPr>
              <a:t>categóricas nativas sin fuga</a:t>
            </a:r>
          </a:p>
        </p:txBody>
      </p:sp>
      <p:sp>
        <p:nvSpPr>
          <p:cNvPr id="25" name="Rectangle 24"/>
          <p:cNvSpPr/>
          <p:nvPr/>
        </p:nvSpPr>
        <p:spPr>
          <a:xfrm>
            <a:off x="685800" y="4846320"/>
            <a:ext cx="10607040" cy="109728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85800" y="4846320"/>
            <a:ext cx="54864" cy="109728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41832" y="5029200"/>
            <a:ext cx="10149840" cy="77724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Frente a Random Forest.</a:t>
            </a:r>
            <a:r>
              <a:rPr sz="1300" b="0">
                <a:solidFill>
                  <a:srgbClr val="C9D1DE"/>
                </a:solidFill>
                <a:latin typeface="Segoe UI"/>
              </a:rPr>
              <a:t> El bosque </a:t>
            </a:r>
            <a:r>
              <a:rPr sz="1300" b="1">
                <a:solidFill>
                  <a:srgbClr val="E6E9EF"/>
                </a:solidFill>
                <a:latin typeface="Segoe UI"/>
              </a:rPr>
              <a:t>reduce varianza</a:t>
            </a:r>
            <a:r>
              <a:rPr sz="1300" b="0">
                <a:solidFill>
                  <a:srgbClr val="C9D1DE"/>
                </a:solidFill>
                <a:latin typeface="Segoe UI"/>
              </a:rPr>
              <a:t>: promedia árboles profundos e independientes. El boosting </a:t>
            </a:r>
            <a:r>
              <a:rPr sz="1300" b="1">
                <a:solidFill>
                  <a:srgbClr val="E6E9EF"/>
                </a:solidFill>
                <a:latin typeface="Segoe UI"/>
              </a:rPr>
              <a:t>reduce sesgo</a:t>
            </a:r>
            <a:r>
              <a:rPr sz="1300" b="0">
                <a:solidFill>
                  <a:srgbClr val="C9D1DE"/>
                </a:solidFill>
                <a:latin typeface="Segoe UI"/>
              </a:rPr>
              <a:t>: suma árboles poco profundos que se corrigen entre sí — y por eso puede sobreajustar si no se detiene a tiempo. Aquí se detiene con una validación sacada del entrenamiento: el último 15 % cronológico en la partición temporal.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04</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REGRESIÓN · ¿CAMBIA EL SIMULADOR?</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Gana la aleatoria, empata en la temporal, no reemplaza a la lineal</a:t>
            </a:r>
          </a:p>
        </p:txBody>
      </p:sp>
      <p:sp>
        <p:nvSpPr>
          <p:cNvPr id="6" name="Rounded Rectangle 5"/>
          <p:cNvSpPr/>
          <p:nvPr/>
        </p:nvSpPr>
        <p:spPr>
          <a:xfrm>
            <a:off x="968340" y="1655064"/>
            <a:ext cx="10224839" cy="336499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1_r2_escenarios.png"/>
          <p:cNvPicPr>
            <a:picLocks noChangeAspect="1"/>
          </p:cNvPicPr>
          <p:nvPr/>
        </p:nvPicPr>
        <p:blipFill>
          <a:blip r:embed="rId2"/>
          <a:stretch>
            <a:fillRect/>
          </a:stretch>
        </p:blipFill>
        <p:spPr>
          <a:xfrm>
            <a:off x="1050636" y="1737360"/>
            <a:ext cx="10060247" cy="3200400"/>
          </a:xfrm>
          <a:prstGeom prst="rect">
            <a:avLst/>
          </a:prstGeom>
        </p:spPr>
      </p:pic>
      <p:sp>
        <p:nvSpPr>
          <p:cNvPr id="8" name="TextBox 7"/>
          <p:cNvSpPr txBox="1"/>
          <p:nvPr/>
        </p:nvSpPr>
        <p:spPr>
          <a:xfrm>
            <a:off x="685800" y="5166360"/>
            <a:ext cx="3291840" cy="640080"/>
          </a:xfrm>
          <a:prstGeom prst="rect">
            <a:avLst/>
          </a:prstGeom>
          <a:noFill/>
        </p:spPr>
        <p:txBody>
          <a:bodyPr wrap="square" lIns="0" rIns="0" tIns="0" bIns="0" anchor="t">
            <a:spAutoFit/>
          </a:bodyPr>
          <a:lstStyle/>
          <a:p>
            <a:pPr algn="l">
              <a:lnSpc>
                <a:spcPct val="115000"/>
              </a:lnSpc>
            </a:pPr>
            <a:r>
              <a:rPr sz="2800" b="1">
                <a:solidFill>
                  <a:srgbClr val="E6E9EF"/>
                </a:solidFill>
                <a:latin typeface="Consolas"/>
              </a:rPr>
              <a:t>0,598</a:t>
            </a:r>
          </a:p>
        </p:txBody>
      </p:sp>
      <p:sp>
        <p:nvSpPr>
          <p:cNvPr id="9" name="TextBox 8"/>
          <p:cNvSpPr txBox="1"/>
          <p:nvPr/>
        </p:nvSpPr>
        <p:spPr>
          <a:xfrm>
            <a:off x="685800" y="582472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LightGBM en la partición aleatoria:</a:t>
            </a:r>
          </a:p>
          <a:p>
            <a:pPr algn="l">
              <a:lnSpc>
                <a:spcPct val="115000"/>
              </a:lnSpc>
            </a:pPr>
            <a:r>
              <a:rPr sz="1150" b="0">
                <a:solidFill>
                  <a:srgbClr val="9AA3B2"/>
                </a:solidFill>
                <a:latin typeface="Segoe UI"/>
              </a:rPr>
              <a:t>el mejor del proyecto (RF 0,567)</a:t>
            </a:r>
          </a:p>
        </p:txBody>
      </p:sp>
      <p:sp>
        <p:nvSpPr>
          <p:cNvPr id="10" name="TextBox 9"/>
          <p:cNvSpPr txBox="1"/>
          <p:nvPr/>
        </p:nvSpPr>
        <p:spPr>
          <a:xfrm>
            <a:off x="4251960" y="5166360"/>
            <a:ext cx="3566160" cy="640080"/>
          </a:xfrm>
          <a:prstGeom prst="rect">
            <a:avLst/>
          </a:prstGeom>
          <a:noFill/>
        </p:spPr>
        <p:txBody>
          <a:bodyPr wrap="square" lIns="0" rIns="0" tIns="0" bIns="0" anchor="t">
            <a:spAutoFit/>
          </a:bodyPr>
          <a:lstStyle/>
          <a:p>
            <a:pPr algn="l">
              <a:lnSpc>
                <a:spcPct val="115000"/>
              </a:lnSpc>
            </a:pPr>
            <a:r>
              <a:rPr sz="2800" b="1">
                <a:solidFill>
                  <a:srgbClr val="7BD992"/>
                </a:solidFill>
                <a:latin typeface="Consolas"/>
              </a:rPr>
              <a:t>0,554 · 0,557</a:t>
            </a:r>
          </a:p>
        </p:txBody>
      </p:sp>
      <p:sp>
        <p:nvSpPr>
          <p:cNvPr id="11" name="TextBox 10"/>
          <p:cNvSpPr txBox="1"/>
          <p:nvPr/>
        </p:nvSpPr>
        <p:spPr>
          <a:xfrm>
            <a:off x="4251960" y="5824728"/>
            <a:ext cx="356616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LightGBM frente a la lineal, temporal</a:t>
            </a:r>
          </a:p>
          <a:p>
            <a:pPr algn="l">
              <a:lnSpc>
                <a:spcPct val="115000"/>
              </a:lnSpc>
            </a:pPr>
            <a:r>
              <a:rPr sz="1150" b="0">
                <a:solidFill>
                  <a:srgbClr val="9AA3B2"/>
                </a:solidFill>
                <a:latin typeface="Segoe UI"/>
              </a:rPr>
              <a:t>con retardos: empate, no victoria</a:t>
            </a:r>
          </a:p>
        </p:txBody>
      </p:sp>
      <p:sp>
        <p:nvSpPr>
          <p:cNvPr id="12" name="TextBox 11"/>
          <p:cNvSpPr txBox="1"/>
          <p:nvPr/>
        </p:nvSpPr>
        <p:spPr>
          <a:xfrm>
            <a:off x="8092440" y="5166360"/>
            <a:ext cx="3291840" cy="640080"/>
          </a:xfrm>
          <a:prstGeom prst="rect">
            <a:avLst/>
          </a:prstGeom>
          <a:noFill/>
        </p:spPr>
        <p:txBody>
          <a:bodyPr wrap="square" lIns="0" rIns="0" tIns="0" bIns="0" anchor="t">
            <a:spAutoFit/>
          </a:bodyPr>
          <a:lstStyle/>
          <a:p>
            <a:pPr algn="l">
              <a:lnSpc>
                <a:spcPct val="115000"/>
              </a:lnSpc>
            </a:pPr>
            <a:r>
              <a:rPr sz="2800" b="1">
                <a:solidFill>
                  <a:srgbClr val="FFB877"/>
                </a:solidFill>
                <a:latin typeface="Consolas"/>
              </a:rPr>
              <a:t>+9 · +0,5 Wh</a:t>
            </a:r>
          </a:p>
        </p:txBody>
      </p:sp>
      <p:sp>
        <p:nvSpPr>
          <p:cNvPr id="13" name="TextBox 12"/>
          <p:cNvSpPr txBox="1"/>
          <p:nvPr/>
        </p:nvSpPr>
        <p:spPr>
          <a:xfrm>
            <a:off x="8092440" y="582472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sesgo sobre mayo: LightGBM</a:t>
            </a:r>
          </a:p>
          <a:p>
            <a:pPr algn="l">
              <a:lnSpc>
                <a:spcPct val="115000"/>
              </a:lnSpc>
            </a:pPr>
            <a:r>
              <a:rPr sz="1150" b="0">
                <a:solidFill>
                  <a:srgbClr val="9AA3B2"/>
                </a:solidFill>
                <a:latin typeface="Segoe UI"/>
              </a:rPr>
              <a:t>frente a la lineal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REGRESIÓN · VEREDICTO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Una hipótesis a medias, una refutada, una confirmada</a:t>
            </a:r>
          </a:p>
        </p:txBody>
      </p:sp>
      <p:sp>
        <p:nvSpPr>
          <p:cNvPr id="6" name="TextBox 5"/>
          <p:cNvSpPr txBox="1"/>
          <p:nvPr/>
        </p:nvSpPr>
        <p:spPr>
          <a:xfrm>
            <a:off x="685800" y="1828800"/>
            <a:ext cx="3291840" cy="274320"/>
          </a:xfrm>
          <a:prstGeom prst="rect">
            <a:avLst/>
          </a:prstGeom>
          <a:noFill/>
        </p:spPr>
        <p:txBody>
          <a:bodyPr wrap="square" lIns="0" rIns="0" tIns="0" bIns="0" anchor="t">
            <a:spAutoFit/>
          </a:bodyPr>
          <a:lstStyle/>
          <a:p>
            <a:pPr algn="l">
              <a:lnSpc>
                <a:spcPct val="115000"/>
              </a:lnSpc>
            </a:pPr>
          </a:p>
        </p:txBody>
      </p:sp>
      <p:sp>
        <p:nvSpPr>
          <p:cNvPr id="7" name="TextBox 6"/>
          <p:cNvSpPr txBox="1"/>
          <p:nvPr/>
        </p:nvSpPr>
        <p:spPr>
          <a:xfrm>
            <a:off x="3977640" y="1828800"/>
            <a:ext cx="155448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VEREDICTO</a:t>
            </a:r>
          </a:p>
        </p:txBody>
      </p:sp>
      <p:sp>
        <p:nvSpPr>
          <p:cNvPr id="8" name="TextBox 7"/>
          <p:cNvSpPr txBox="1"/>
          <p:nvPr/>
        </p:nvSpPr>
        <p:spPr>
          <a:xfrm>
            <a:off x="5532120" y="1828800"/>
            <a:ext cx="576072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EVIDENCIA</a:t>
            </a:r>
          </a:p>
        </p:txBody>
      </p:sp>
      <p:sp>
        <p:nvSpPr>
          <p:cNvPr id="9" name="Rectangle 8"/>
          <p:cNvSpPr/>
          <p:nvPr/>
        </p:nvSpPr>
        <p:spPr>
          <a:xfrm>
            <a:off x="685800" y="2121408"/>
            <a:ext cx="10607040"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157984"/>
            <a:ext cx="318211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H1 · los árboles no extrapolan</a:t>
            </a:r>
          </a:p>
        </p:txBody>
      </p:sp>
      <p:sp>
        <p:nvSpPr>
          <p:cNvPr id="11" name="TextBox 10"/>
          <p:cNvSpPr txBox="1"/>
          <p:nvPr/>
        </p:nvSpPr>
        <p:spPr>
          <a:xfrm>
            <a:off x="4069080" y="2157984"/>
            <a:ext cx="1444752" cy="566928"/>
          </a:xfrm>
          <a:prstGeom prst="rect">
            <a:avLst/>
          </a:prstGeom>
          <a:noFill/>
        </p:spPr>
        <p:txBody>
          <a:bodyPr wrap="square" lIns="0" rIns="0" tIns="0" bIns="0" anchor="ctr">
            <a:spAutoFit/>
          </a:bodyPr>
          <a:lstStyle/>
          <a:p>
            <a:pPr algn="l">
              <a:lnSpc>
                <a:spcPct val="115000"/>
              </a:lnSpc>
            </a:pPr>
            <a:r>
              <a:rPr sz="1250" b="0">
                <a:solidFill>
                  <a:srgbClr val="FFB877"/>
                </a:solidFill>
                <a:latin typeface="Consolas"/>
              </a:rPr>
              <a:t>a medias</a:t>
            </a:r>
          </a:p>
        </p:txBody>
      </p:sp>
      <p:sp>
        <p:nvSpPr>
          <p:cNvPr id="12" name="TextBox 11"/>
          <p:cNvSpPr txBox="1"/>
          <p:nvPr/>
        </p:nvSpPr>
        <p:spPr>
          <a:xfrm>
            <a:off x="5623560" y="2157984"/>
            <a:ext cx="565099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con retardos LightGBM se acerca; todos sobreestiman mayo (+9 a +64 Wh)</a:t>
            </a:r>
          </a:p>
        </p:txBody>
      </p:sp>
      <p:sp>
        <p:nvSpPr>
          <p:cNvPr id="13" name="TextBox 12"/>
          <p:cNvSpPr txBox="1"/>
          <p:nvPr/>
        </p:nvSpPr>
        <p:spPr>
          <a:xfrm>
            <a:off x="777240" y="2724912"/>
            <a:ext cx="318211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H2 · las hojas lineales sí</a:t>
            </a:r>
          </a:p>
        </p:txBody>
      </p:sp>
      <p:sp>
        <p:nvSpPr>
          <p:cNvPr id="14" name="TextBox 13"/>
          <p:cNvSpPr txBox="1"/>
          <p:nvPr/>
        </p:nvSpPr>
        <p:spPr>
          <a:xfrm>
            <a:off x="4069080" y="2724912"/>
            <a:ext cx="1444752" cy="566928"/>
          </a:xfrm>
          <a:prstGeom prst="rect">
            <a:avLst/>
          </a:prstGeom>
          <a:noFill/>
        </p:spPr>
        <p:txBody>
          <a:bodyPr wrap="square" lIns="0" rIns="0" tIns="0" bIns="0" anchor="ctr">
            <a:spAutoFit/>
          </a:bodyPr>
          <a:lstStyle/>
          <a:p>
            <a:pPr algn="l">
              <a:lnSpc>
                <a:spcPct val="115000"/>
              </a:lnSpc>
            </a:pPr>
            <a:r>
              <a:rPr sz="1250" b="0">
                <a:solidFill>
                  <a:srgbClr val="F28B82"/>
                </a:solidFill>
                <a:latin typeface="Consolas"/>
              </a:rPr>
              <a:t>refutada</a:t>
            </a:r>
          </a:p>
        </p:txBody>
      </p:sp>
      <p:sp>
        <p:nvSpPr>
          <p:cNvPr id="15" name="TextBox 14"/>
          <p:cNvSpPr txBox="1"/>
          <p:nvPr/>
        </p:nvSpPr>
        <p:spPr>
          <a:xfrm>
            <a:off x="5623560" y="2724912"/>
            <a:ext cx="565099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empeoran: 0,426 frente a 0,554; sin retardos, −2,553</a:t>
            </a:r>
          </a:p>
        </p:txBody>
      </p:sp>
      <p:sp>
        <p:nvSpPr>
          <p:cNvPr id="16" name="TextBox 15"/>
          <p:cNvSpPr txBox="1"/>
          <p:nvPr/>
        </p:nvSpPr>
        <p:spPr>
          <a:xfrm>
            <a:off x="777240" y="3291840"/>
            <a:ext cx="318211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H3 · AdaBoost, el más frágil</a:t>
            </a:r>
          </a:p>
        </p:txBody>
      </p:sp>
      <p:sp>
        <p:nvSpPr>
          <p:cNvPr id="17" name="TextBox 16"/>
          <p:cNvSpPr txBox="1"/>
          <p:nvPr/>
        </p:nvSpPr>
        <p:spPr>
          <a:xfrm>
            <a:off x="4069080" y="3291840"/>
            <a:ext cx="1444752" cy="566928"/>
          </a:xfrm>
          <a:prstGeom prst="rect">
            <a:avLst/>
          </a:prstGeom>
          <a:noFill/>
        </p:spPr>
        <p:txBody>
          <a:bodyPr wrap="square" lIns="0" rIns="0" tIns="0" bIns="0" anchor="ctr">
            <a:spAutoFit/>
          </a:bodyPr>
          <a:lstStyle/>
          <a:p>
            <a:pPr algn="l">
              <a:lnSpc>
                <a:spcPct val="115000"/>
              </a:lnSpc>
            </a:pPr>
            <a:r>
              <a:rPr sz="1250" b="0">
                <a:solidFill>
                  <a:srgbClr val="7BD992"/>
                </a:solidFill>
                <a:latin typeface="Consolas"/>
              </a:rPr>
              <a:t>confirmada</a:t>
            </a:r>
          </a:p>
        </p:txBody>
      </p:sp>
      <p:sp>
        <p:nvSpPr>
          <p:cNvPr id="18" name="TextBox 17"/>
          <p:cNvSpPr txBox="1"/>
          <p:nvPr/>
        </p:nvSpPr>
        <p:spPr>
          <a:xfrm>
            <a:off x="5623560" y="3291840"/>
            <a:ext cx="5650992" cy="566928"/>
          </a:xfrm>
          <a:prstGeom prst="rect">
            <a:avLst/>
          </a:prstGeom>
          <a:noFill/>
        </p:spPr>
        <p:txBody>
          <a:bodyPr wrap="square" lIns="0" rIns="0" tIns="0" bIns="0" anchor="ctr">
            <a:spAutoFit/>
          </a:bodyPr>
          <a:lstStyle/>
          <a:p>
            <a:pPr algn="l">
              <a:lnSpc>
                <a:spcPct val="115000"/>
              </a:lnSpc>
            </a:pPr>
            <a:r>
              <a:rPr sz="1250" b="0">
                <a:solidFill>
                  <a:srgbClr val="C9D1DE"/>
                </a:solidFill>
                <a:latin typeface="Consolas"/>
              </a:rPr>
              <a:t>la validación elige 14, 1 y 14 árboles</a:t>
            </a:r>
          </a:p>
        </p:txBody>
      </p:sp>
      <p:sp>
        <p:nvSpPr>
          <p:cNvPr id="19" name="Rectangle 18"/>
          <p:cNvSpPr/>
          <p:nvPr/>
        </p:nvSpPr>
        <p:spPr>
          <a:xfrm>
            <a:off x="685800" y="4343400"/>
            <a:ext cx="51206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4343400"/>
            <a:ext cx="54864" cy="16002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1832" y="4526280"/>
            <a:ext cx="4663440" cy="12801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El síntoma de la autocorrelación.</a:t>
            </a:r>
            <a:r>
              <a:rPr sz="1250" b="0">
                <a:solidFill>
                  <a:srgbClr val="C9D1DE"/>
                </a:solidFill>
                <a:latin typeface="Segoe UI"/>
              </a:rPr>
              <a:t> En la partición aleatoria XGBoost, LightGBM y CatBoost llegaron al tope de 3.000 árboles sin que la validación dejara de mejorar: sus vecinos de 10 minutos están en el entrenamiento. En la temporal, la misma parada corta entre 1 y 180 árboles.</a:t>
            </a:r>
          </a:p>
        </p:txBody>
      </p:sp>
      <p:sp>
        <p:nvSpPr>
          <p:cNvPr id="22" name="Rectangle 21"/>
          <p:cNvSpPr/>
          <p:nvPr/>
        </p:nvSpPr>
        <p:spPr>
          <a:xfrm>
            <a:off x="6172200" y="4343400"/>
            <a:ext cx="51206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72200" y="434340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28232" y="4526280"/>
            <a:ext cx="4663440" cy="12801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La hora como categórica no aporta.</a:t>
            </a:r>
            <a:r>
              <a:rPr sz="1250" b="0">
                <a:solidFill>
                  <a:srgbClr val="C9D1DE"/>
                </a:solidFill>
                <a:latin typeface="Segoe UI"/>
              </a:rPr>
              <a:t> CatBoost con hora y día categóricos: 0,518 frente a 0,516, y mucho más lento. Los árboles ya cortan la hora donde conviene: codificarla solo importa en KNN.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EL SESGO DE LOS ÁRBOLES</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Todos los árboles sobreestiman mayo; la lineal, no</a:t>
            </a:r>
          </a:p>
        </p:txBody>
      </p:sp>
      <p:sp>
        <p:nvSpPr>
          <p:cNvPr id="6" name="Rounded Rectangle 5"/>
          <p:cNvSpPr/>
          <p:nvPr/>
        </p:nvSpPr>
        <p:spPr>
          <a:xfrm>
            <a:off x="798615" y="1655064"/>
            <a:ext cx="10564290" cy="345643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2_sesgo_mayo.png"/>
          <p:cNvPicPr>
            <a:picLocks noChangeAspect="1"/>
          </p:cNvPicPr>
          <p:nvPr/>
        </p:nvPicPr>
        <p:blipFill>
          <a:blip r:embed="rId2"/>
          <a:stretch>
            <a:fillRect/>
          </a:stretch>
        </p:blipFill>
        <p:spPr>
          <a:xfrm>
            <a:off x="880911" y="1737360"/>
            <a:ext cx="10399698" cy="3291840"/>
          </a:xfrm>
          <a:prstGeom prst="rect">
            <a:avLst/>
          </a:prstGeom>
        </p:spPr>
      </p:pic>
      <p:sp>
        <p:nvSpPr>
          <p:cNvPr id="8" name="Rectangle 7"/>
          <p:cNvSpPr/>
          <p:nvPr/>
        </p:nvSpPr>
        <p:spPr>
          <a:xfrm>
            <a:off x="685800" y="5257800"/>
            <a:ext cx="10607040"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257800"/>
            <a:ext cx="54864" cy="91440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440680"/>
            <a:ext cx="10149840" cy="594360"/>
          </a:xfrm>
          <a:prstGeom prst="rect">
            <a:avLst/>
          </a:prstGeom>
          <a:noFill/>
        </p:spPr>
        <p:txBody>
          <a:bodyPr wrap="square" lIns="0" rIns="0" tIns="0" bIns="0" anchor="t">
            <a:spAutoFit/>
          </a:bodyPr>
          <a:lstStyle/>
          <a:p>
            <a:pPr algn="l">
              <a:lnSpc>
                <a:spcPct val="115000"/>
              </a:lnSpc>
            </a:pPr>
            <a:r>
              <a:rPr sz="1300" b="1">
                <a:solidFill>
                  <a:srgbClr val="E6E9EF"/>
                </a:solidFill>
                <a:latin typeface="Segoe UI"/>
              </a:rPr>
              <a:t>Anclados al invierno, pero no a su promedio.</a:t>
            </a:r>
            <a:r>
              <a:rPr sz="1300" b="0">
                <a:solidFill>
                  <a:srgbClr val="C9D1DE"/>
                </a:solidFill>
                <a:latin typeface="Segoe UI"/>
              </a:rPr>
              <a:t> La media del entrenamiento ronda los 98 Wh y la de mayo, 96; los árboles predicen entre 105 y 160 Wh. No repiten el promedio del invierno: aplican a mayo una regla aprendida en invierno que ya no vale. ¿Cuál? La diapositiva siguiente.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09</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FFB877"/>
                </a:solidFill>
                <a:latin typeface="Consolas"/>
              </a:rPr>
              <a:t>LA CAUSA</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La temperatura interior cambia de significado con la estación</a:t>
            </a:r>
          </a:p>
        </p:txBody>
      </p:sp>
      <p:sp>
        <p:nvSpPr>
          <p:cNvPr id="6" name="Rounded Rectangle 5"/>
          <p:cNvSpPr/>
          <p:nvPr/>
        </p:nvSpPr>
        <p:spPr>
          <a:xfrm>
            <a:off x="694944" y="1815774"/>
            <a:ext cx="7022592" cy="22206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5_temperatura.png"/>
          <p:cNvPicPr>
            <a:picLocks noChangeAspect="1"/>
          </p:cNvPicPr>
          <p:nvPr/>
        </p:nvPicPr>
        <p:blipFill>
          <a:blip r:embed="rId2"/>
          <a:stretch>
            <a:fillRect/>
          </a:stretch>
        </p:blipFill>
        <p:spPr>
          <a:xfrm>
            <a:off x="777240" y="1898070"/>
            <a:ext cx="6858000" cy="2056020"/>
          </a:xfrm>
          <a:prstGeom prst="rect">
            <a:avLst/>
          </a:prstGeom>
        </p:spPr>
      </p:pic>
      <p:sp>
        <p:nvSpPr>
          <p:cNvPr id="8" name="TextBox 7"/>
          <p:cNvSpPr txBox="1"/>
          <p:nvPr/>
        </p:nvSpPr>
        <p:spPr>
          <a:xfrm>
            <a:off x="8046720" y="1783080"/>
            <a:ext cx="3291840" cy="640080"/>
          </a:xfrm>
          <a:prstGeom prst="rect">
            <a:avLst/>
          </a:prstGeom>
          <a:noFill/>
        </p:spPr>
        <p:txBody>
          <a:bodyPr wrap="square" lIns="0" rIns="0" tIns="0" bIns="0" anchor="t">
            <a:spAutoFit/>
          </a:bodyPr>
          <a:lstStyle/>
          <a:p>
            <a:pPr algn="l">
              <a:lnSpc>
                <a:spcPct val="115000"/>
              </a:lnSpc>
            </a:pPr>
            <a:r>
              <a:rPr sz="2800" b="1">
                <a:solidFill>
                  <a:srgbClr val="FFB877"/>
                </a:solidFill>
                <a:latin typeface="Consolas"/>
              </a:rPr>
              <a:t>71,9 %</a:t>
            </a:r>
          </a:p>
        </p:txBody>
      </p:sp>
      <p:sp>
        <p:nvSpPr>
          <p:cNvPr id="9" name="TextBox 8"/>
          <p:cNvSpPr txBox="1"/>
          <p:nvPr/>
        </p:nvSpPr>
        <p:spPr>
          <a:xfrm>
            <a:off x="8046720" y="244144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las lecturas de mayo, más cálidas</a:t>
            </a:r>
          </a:p>
          <a:p>
            <a:pPr algn="l">
              <a:lnSpc>
                <a:spcPct val="115000"/>
              </a:lnSpc>
            </a:pPr>
            <a:r>
              <a:rPr sz="1150" b="0">
                <a:solidFill>
                  <a:srgbClr val="9AA3B2"/>
                </a:solidFill>
                <a:latin typeface="Segoe UI"/>
              </a:rPr>
              <a:t>que la más cálida del invierno</a:t>
            </a:r>
          </a:p>
        </p:txBody>
      </p:sp>
      <p:sp>
        <p:nvSpPr>
          <p:cNvPr id="10" name="TextBox 9"/>
          <p:cNvSpPr txBox="1"/>
          <p:nvPr/>
        </p:nvSpPr>
        <p:spPr>
          <a:xfrm>
            <a:off x="8046720" y="3017520"/>
            <a:ext cx="3291840" cy="640080"/>
          </a:xfrm>
          <a:prstGeom prst="rect">
            <a:avLst/>
          </a:prstGeom>
          <a:noFill/>
        </p:spPr>
        <p:txBody>
          <a:bodyPr wrap="square" lIns="0" rIns="0" tIns="0" bIns="0" anchor="t">
            <a:spAutoFit/>
          </a:bodyPr>
          <a:lstStyle/>
          <a:p>
            <a:pPr algn="l">
              <a:lnSpc>
                <a:spcPct val="115000"/>
              </a:lnSpc>
            </a:pPr>
            <a:r>
              <a:rPr sz="2600" b="1">
                <a:solidFill>
                  <a:srgbClr val="7BD992"/>
                </a:solidFill>
                <a:latin typeface="Consolas"/>
              </a:rPr>
              <a:t>+47 → +3,8</a:t>
            </a:r>
          </a:p>
        </p:txBody>
      </p:sp>
      <p:sp>
        <p:nvSpPr>
          <p:cNvPr id="11" name="TextBox 10"/>
          <p:cNvSpPr txBox="1"/>
          <p:nvPr/>
        </p:nvSpPr>
        <p:spPr>
          <a:xfrm>
            <a:off x="8046720" y="3675888"/>
            <a:ext cx="329184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sesgo de LightGBM (Wh) al quitar</a:t>
            </a:r>
          </a:p>
          <a:p>
            <a:pPr algn="l">
              <a:lnSpc>
                <a:spcPct val="115000"/>
              </a:lnSpc>
            </a:pPr>
            <a:r>
              <a:rPr sz="1150" b="0">
                <a:solidFill>
                  <a:srgbClr val="9AA3B2"/>
                </a:solidFill>
                <a:latin typeface="Segoe UI"/>
              </a:rPr>
              <a:t>las temperaturas: el colapso desaparece</a:t>
            </a:r>
          </a:p>
        </p:txBody>
      </p:sp>
      <p:sp>
        <p:nvSpPr>
          <p:cNvPr id="12" name="Rectangle 11"/>
          <p:cNvSpPr/>
          <p:nvPr/>
        </p:nvSpPr>
        <p:spPr>
          <a:xfrm>
            <a:off x="685800" y="4389120"/>
            <a:ext cx="69494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38912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572000"/>
            <a:ext cx="6492240" cy="12801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Por qué.</a:t>
            </a:r>
            <a:r>
              <a:rPr sz="1250" b="0">
                <a:solidFill>
                  <a:srgbClr val="C9D1DE"/>
                </a:solidFill>
                <a:latin typeface="Segoe UI"/>
              </a:rPr>
              <a:t> En invierno, la casa más cálida era la que más consumía (113,9 frente a 87,8 Wh): parte del calor venía de los aparatos — secadora, horno. Coherente con la lavandería a 26,2 °C del Caso C y con RH_3 en K-Means. En mayo la casa está cálida por el clima. Misma variable, otro significado.</a:t>
            </a:r>
          </a:p>
        </p:txBody>
      </p:sp>
      <p:sp>
        <p:nvSpPr>
          <p:cNvPr id="15" name="Rectangle 14"/>
          <p:cNvSpPr/>
          <p:nvPr/>
        </p:nvSpPr>
        <p:spPr>
          <a:xfrm>
            <a:off x="8046720" y="4389120"/>
            <a:ext cx="3291840" cy="16002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4389120"/>
            <a:ext cx="54864" cy="16002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4572000"/>
            <a:ext cx="2834640" cy="1280160"/>
          </a:xfrm>
          <a:prstGeom prst="rect">
            <a:avLst/>
          </a:prstGeom>
          <a:noFill/>
        </p:spPr>
        <p:txBody>
          <a:bodyPr wrap="square" lIns="0" rIns="0" tIns="0" bIns="0" anchor="t">
            <a:spAutoFit/>
          </a:bodyPr>
          <a:lstStyle/>
          <a:p>
            <a:pPr algn="l">
              <a:lnSpc>
                <a:spcPct val="115000"/>
              </a:lnSpc>
            </a:pPr>
            <a:r>
              <a:rPr sz="1250" b="1">
                <a:solidFill>
                  <a:srgbClr val="E6E9EF"/>
                </a:solidFill>
                <a:latin typeface="Segoe UI"/>
              </a:rPr>
              <a:t>Qué cambia en Shiro.</a:t>
            </a:r>
            <a:r>
              <a:rPr sz="1250" b="0">
                <a:solidFill>
                  <a:srgbClr val="C9D1DE"/>
                </a:solidFill>
                <a:latin typeface="Segoe UI"/>
              </a:rPr>
              <a:t> El simulador no predice consumo desde la temperatura interior con modelos que no extrapolan. La temperatura sigue en el estado del MDP, para el confort.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11</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CLASIFICACIÓN · MÉTRICAS DEL CURSO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Por lectura, el boosting ordena mejor que el bosque</a:t>
            </a:r>
          </a:p>
        </p:txBody>
      </p:sp>
      <p:sp>
        <p:nvSpPr>
          <p:cNvPr id="6" name="TextBox 5"/>
          <p:cNvSpPr txBox="1"/>
          <p:nvPr/>
        </p:nvSpPr>
        <p:spPr>
          <a:xfrm>
            <a:off x="685800" y="1783080"/>
            <a:ext cx="3108960" cy="274320"/>
          </a:xfrm>
          <a:prstGeom prst="rect">
            <a:avLst/>
          </a:prstGeom>
          <a:noFill/>
        </p:spPr>
        <p:txBody>
          <a:bodyPr wrap="square" lIns="0" rIns="0" tIns="0" bIns="0" anchor="t">
            <a:spAutoFit/>
          </a:bodyPr>
          <a:lstStyle/>
          <a:p>
            <a:pPr algn="l">
              <a:lnSpc>
                <a:spcPct val="115000"/>
              </a:lnSpc>
            </a:pPr>
            <a:r>
              <a:rPr sz="950" b="0">
                <a:solidFill>
                  <a:srgbClr val="6F7787"/>
                </a:solidFill>
                <a:latin typeface="Consolas"/>
              </a:rPr>
              <a:t>TEMPORAL + RETARDOS</a:t>
            </a:r>
          </a:p>
        </p:txBody>
      </p:sp>
      <p:sp>
        <p:nvSpPr>
          <p:cNvPr id="7" name="TextBox 6"/>
          <p:cNvSpPr txBox="1"/>
          <p:nvPr/>
        </p:nvSpPr>
        <p:spPr>
          <a:xfrm>
            <a:off x="3794760" y="178308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F1</a:t>
            </a:r>
          </a:p>
        </p:txBody>
      </p:sp>
      <p:sp>
        <p:nvSpPr>
          <p:cNvPr id="8" name="TextBox 7"/>
          <p:cNvSpPr txBox="1"/>
          <p:nvPr/>
        </p:nvSpPr>
        <p:spPr>
          <a:xfrm>
            <a:off x="5257800" y="178308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AUC</a:t>
            </a:r>
          </a:p>
        </p:txBody>
      </p:sp>
      <p:sp>
        <p:nvSpPr>
          <p:cNvPr id="9" name="TextBox 8"/>
          <p:cNvSpPr txBox="1"/>
          <p:nvPr/>
        </p:nvSpPr>
        <p:spPr>
          <a:xfrm>
            <a:off x="6720840" y="1783080"/>
            <a:ext cx="1463040" cy="274320"/>
          </a:xfrm>
          <a:prstGeom prst="rect">
            <a:avLst/>
          </a:prstGeom>
          <a:noFill/>
        </p:spPr>
        <p:txBody>
          <a:bodyPr wrap="square" lIns="0" rIns="0" tIns="0" bIns="0" anchor="t">
            <a:spAutoFit/>
          </a:bodyPr>
          <a:lstStyle/>
          <a:p>
            <a:pPr algn="r">
              <a:lnSpc>
                <a:spcPct val="115000"/>
              </a:lnSpc>
            </a:pPr>
            <a:r>
              <a:rPr sz="950" b="0">
                <a:solidFill>
                  <a:srgbClr val="6F7787"/>
                </a:solidFill>
                <a:latin typeface="Consolas"/>
              </a:rPr>
              <a:t>AP</a:t>
            </a:r>
          </a:p>
        </p:txBody>
      </p:sp>
      <p:sp>
        <p:nvSpPr>
          <p:cNvPr id="10" name="Rectangle 9"/>
          <p:cNvSpPr/>
          <p:nvPr/>
        </p:nvSpPr>
        <p:spPr>
          <a:xfrm>
            <a:off x="685800" y="2075688"/>
            <a:ext cx="7498079" cy="9525"/>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12264"/>
            <a:ext cx="29992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CatBoost</a:t>
            </a:r>
          </a:p>
        </p:txBody>
      </p:sp>
      <p:sp>
        <p:nvSpPr>
          <p:cNvPr id="12" name="TextBox 11"/>
          <p:cNvSpPr txBox="1"/>
          <p:nvPr/>
        </p:nvSpPr>
        <p:spPr>
          <a:xfrm>
            <a:off x="3794760" y="211226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0,617</a:t>
            </a:r>
          </a:p>
        </p:txBody>
      </p:sp>
      <p:sp>
        <p:nvSpPr>
          <p:cNvPr id="13" name="TextBox 12"/>
          <p:cNvSpPr txBox="1"/>
          <p:nvPr/>
        </p:nvSpPr>
        <p:spPr>
          <a:xfrm>
            <a:off x="5257800" y="211226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0,937</a:t>
            </a:r>
          </a:p>
        </p:txBody>
      </p:sp>
      <p:sp>
        <p:nvSpPr>
          <p:cNvPr id="14" name="TextBox 13"/>
          <p:cNvSpPr txBox="1"/>
          <p:nvPr/>
        </p:nvSpPr>
        <p:spPr>
          <a:xfrm>
            <a:off x="6720840" y="211226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0,715</a:t>
            </a:r>
          </a:p>
        </p:txBody>
      </p:sp>
      <p:sp>
        <p:nvSpPr>
          <p:cNvPr id="15" name="TextBox 14"/>
          <p:cNvSpPr txBox="1"/>
          <p:nvPr/>
        </p:nvSpPr>
        <p:spPr>
          <a:xfrm>
            <a:off x="777240" y="2514600"/>
            <a:ext cx="29992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XGBoost</a:t>
            </a:r>
          </a:p>
        </p:txBody>
      </p:sp>
      <p:sp>
        <p:nvSpPr>
          <p:cNvPr id="16" name="TextBox 15"/>
          <p:cNvSpPr txBox="1"/>
          <p:nvPr/>
        </p:nvSpPr>
        <p:spPr>
          <a:xfrm>
            <a:off x="3794760" y="2514600"/>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0,674</a:t>
            </a:r>
          </a:p>
        </p:txBody>
      </p:sp>
      <p:sp>
        <p:nvSpPr>
          <p:cNvPr id="17" name="TextBox 16"/>
          <p:cNvSpPr txBox="1"/>
          <p:nvPr/>
        </p:nvSpPr>
        <p:spPr>
          <a:xfrm>
            <a:off x="5257800" y="2514600"/>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0,929</a:t>
            </a:r>
          </a:p>
        </p:txBody>
      </p:sp>
      <p:sp>
        <p:nvSpPr>
          <p:cNvPr id="18" name="TextBox 17"/>
          <p:cNvSpPr txBox="1"/>
          <p:nvPr/>
        </p:nvSpPr>
        <p:spPr>
          <a:xfrm>
            <a:off x="6720840" y="2514600"/>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0,703</a:t>
            </a:r>
          </a:p>
        </p:txBody>
      </p:sp>
      <p:sp>
        <p:nvSpPr>
          <p:cNvPr id="19" name="TextBox 18"/>
          <p:cNvSpPr txBox="1"/>
          <p:nvPr/>
        </p:nvSpPr>
        <p:spPr>
          <a:xfrm>
            <a:off x="777240" y="2916936"/>
            <a:ext cx="29992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AdaBoost</a:t>
            </a:r>
          </a:p>
        </p:txBody>
      </p:sp>
      <p:sp>
        <p:nvSpPr>
          <p:cNvPr id="20" name="TextBox 19"/>
          <p:cNvSpPr txBox="1"/>
          <p:nvPr/>
        </p:nvSpPr>
        <p:spPr>
          <a:xfrm>
            <a:off x="3794760" y="2916936"/>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0,614</a:t>
            </a:r>
          </a:p>
        </p:txBody>
      </p:sp>
      <p:sp>
        <p:nvSpPr>
          <p:cNvPr id="21" name="TextBox 20"/>
          <p:cNvSpPr txBox="1"/>
          <p:nvPr/>
        </p:nvSpPr>
        <p:spPr>
          <a:xfrm>
            <a:off x="5257800" y="2916936"/>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0,930</a:t>
            </a:r>
          </a:p>
        </p:txBody>
      </p:sp>
      <p:sp>
        <p:nvSpPr>
          <p:cNvPr id="22" name="TextBox 21"/>
          <p:cNvSpPr txBox="1"/>
          <p:nvPr/>
        </p:nvSpPr>
        <p:spPr>
          <a:xfrm>
            <a:off x="6720840" y="2916936"/>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0,682</a:t>
            </a:r>
          </a:p>
        </p:txBody>
      </p:sp>
      <p:sp>
        <p:nvSpPr>
          <p:cNvPr id="23" name="TextBox 22"/>
          <p:cNvSpPr txBox="1"/>
          <p:nvPr/>
        </p:nvSpPr>
        <p:spPr>
          <a:xfrm>
            <a:off x="777240" y="3319272"/>
            <a:ext cx="29992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LightGBM</a:t>
            </a:r>
          </a:p>
        </p:txBody>
      </p:sp>
      <p:sp>
        <p:nvSpPr>
          <p:cNvPr id="24" name="TextBox 23"/>
          <p:cNvSpPr txBox="1"/>
          <p:nvPr/>
        </p:nvSpPr>
        <p:spPr>
          <a:xfrm>
            <a:off x="3794760" y="3319272"/>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0,647</a:t>
            </a:r>
          </a:p>
        </p:txBody>
      </p:sp>
      <p:sp>
        <p:nvSpPr>
          <p:cNvPr id="25" name="TextBox 24"/>
          <p:cNvSpPr txBox="1"/>
          <p:nvPr/>
        </p:nvSpPr>
        <p:spPr>
          <a:xfrm>
            <a:off x="5257800" y="3319272"/>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0,924</a:t>
            </a:r>
          </a:p>
        </p:txBody>
      </p:sp>
      <p:sp>
        <p:nvSpPr>
          <p:cNvPr id="26" name="TextBox 25"/>
          <p:cNvSpPr txBox="1"/>
          <p:nvPr/>
        </p:nvSpPr>
        <p:spPr>
          <a:xfrm>
            <a:off x="6720840" y="3319272"/>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0,670</a:t>
            </a:r>
          </a:p>
        </p:txBody>
      </p:sp>
      <p:sp>
        <p:nvSpPr>
          <p:cNvPr id="27" name="TextBox 26"/>
          <p:cNvSpPr txBox="1"/>
          <p:nvPr/>
        </p:nvSpPr>
        <p:spPr>
          <a:xfrm>
            <a:off x="777240" y="3721608"/>
            <a:ext cx="2999232" cy="402336"/>
          </a:xfrm>
          <a:prstGeom prst="rect">
            <a:avLst/>
          </a:prstGeom>
          <a:noFill/>
        </p:spPr>
        <p:txBody>
          <a:bodyPr wrap="square" lIns="0" rIns="0" tIns="0" bIns="0" anchor="ctr">
            <a:spAutoFit/>
          </a:bodyPr>
          <a:lstStyle/>
          <a:p>
            <a:pPr algn="l">
              <a:lnSpc>
                <a:spcPct val="115000"/>
              </a:lnSpc>
            </a:pPr>
            <a:r>
              <a:rPr sz="1250" b="0">
                <a:solidFill>
                  <a:srgbClr val="7BD992"/>
                </a:solidFill>
                <a:latin typeface="Segoe UI"/>
              </a:rPr>
              <a:t>Random Forest (ref.)</a:t>
            </a:r>
          </a:p>
        </p:txBody>
      </p:sp>
      <p:sp>
        <p:nvSpPr>
          <p:cNvPr id="28" name="TextBox 27"/>
          <p:cNvSpPr txBox="1"/>
          <p:nvPr/>
        </p:nvSpPr>
        <p:spPr>
          <a:xfrm>
            <a:off x="3794760" y="3721608"/>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0,569</a:t>
            </a:r>
          </a:p>
        </p:txBody>
      </p:sp>
      <p:sp>
        <p:nvSpPr>
          <p:cNvPr id="29" name="TextBox 28"/>
          <p:cNvSpPr txBox="1"/>
          <p:nvPr/>
        </p:nvSpPr>
        <p:spPr>
          <a:xfrm>
            <a:off x="5257800" y="3721608"/>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0,911</a:t>
            </a:r>
          </a:p>
        </p:txBody>
      </p:sp>
      <p:sp>
        <p:nvSpPr>
          <p:cNvPr id="30" name="TextBox 29"/>
          <p:cNvSpPr txBox="1"/>
          <p:nvPr/>
        </p:nvSpPr>
        <p:spPr>
          <a:xfrm>
            <a:off x="6720840" y="3721608"/>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0,605</a:t>
            </a:r>
          </a:p>
        </p:txBody>
      </p:sp>
      <p:sp>
        <p:nvSpPr>
          <p:cNvPr id="31" name="TextBox 30"/>
          <p:cNvSpPr txBox="1"/>
          <p:nvPr/>
        </p:nvSpPr>
        <p:spPr>
          <a:xfrm>
            <a:off x="777240" y="4123944"/>
            <a:ext cx="2999232" cy="402336"/>
          </a:xfrm>
          <a:prstGeom prst="rect">
            <a:avLst/>
          </a:prstGeom>
          <a:noFill/>
        </p:spPr>
        <p:txBody>
          <a:bodyPr wrap="square" lIns="0" rIns="0" tIns="0" bIns="0" anchor="ctr">
            <a:spAutoFit/>
          </a:bodyPr>
          <a:lstStyle/>
          <a:p>
            <a:pPr algn="l">
              <a:lnSpc>
                <a:spcPct val="115000"/>
              </a:lnSpc>
            </a:pPr>
            <a:r>
              <a:rPr sz="1250" b="0">
                <a:solidFill>
                  <a:srgbClr val="C9D1DE"/>
                </a:solidFill>
                <a:latin typeface="Segoe UI"/>
              </a:rPr>
              <a:t>GBM</a:t>
            </a:r>
          </a:p>
        </p:txBody>
      </p:sp>
      <p:sp>
        <p:nvSpPr>
          <p:cNvPr id="32" name="TextBox 31"/>
          <p:cNvSpPr txBox="1"/>
          <p:nvPr/>
        </p:nvSpPr>
        <p:spPr>
          <a:xfrm>
            <a:off x="3794760" y="412394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0,399</a:t>
            </a:r>
          </a:p>
        </p:txBody>
      </p:sp>
      <p:sp>
        <p:nvSpPr>
          <p:cNvPr id="33" name="TextBox 32"/>
          <p:cNvSpPr txBox="1"/>
          <p:nvPr/>
        </p:nvSpPr>
        <p:spPr>
          <a:xfrm>
            <a:off x="5257800" y="412394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0,850</a:t>
            </a:r>
          </a:p>
        </p:txBody>
      </p:sp>
      <p:sp>
        <p:nvSpPr>
          <p:cNvPr id="34" name="TextBox 33"/>
          <p:cNvSpPr txBox="1"/>
          <p:nvPr/>
        </p:nvSpPr>
        <p:spPr>
          <a:xfrm>
            <a:off x="6720840" y="4123944"/>
            <a:ext cx="1353312" cy="402336"/>
          </a:xfrm>
          <a:prstGeom prst="rect">
            <a:avLst/>
          </a:prstGeom>
          <a:noFill/>
        </p:spPr>
        <p:txBody>
          <a:bodyPr wrap="square" lIns="0" rIns="0" tIns="0" bIns="0" anchor="ctr">
            <a:spAutoFit/>
          </a:bodyPr>
          <a:lstStyle/>
          <a:p>
            <a:pPr algn="r">
              <a:lnSpc>
                <a:spcPct val="115000"/>
              </a:lnSpc>
            </a:pPr>
            <a:r>
              <a:rPr sz="1250" b="0">
                <a:solidFill>
                  <a:srgbClr val="C9D1DE"/>
                </a:solidFill>
                <a:latin typeface="Consolas"/>
              </a:rPr>
              <a:t>0,425</a:t>
            </a:r>
          </a:p>
        </p:txBody>
      </p:sp>
      <p:sp>
        <p:nvSpPr>
          <p:cNvPr id="35" name="Rectangle 34"/>
          <p:cNvSpPr/>
          <p:nvPr/>
        </p:nvSpPr>
        <p:spPr>
          <a:xfrm>
            <a:off x="8549640" y="1783080"/>
            <a:ext cx="2743200" cy="21031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549640" y="1783080"/>
            <a:ext cx="54864" cy="2103120"/>
          </a:xfrm>
          <a:prstGeom prst="rect">
            <a:avLst/>
          </a:prstGeom>
          <a:solidFill>
            <a:srgbClr val="6F77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05672" y="1965960"/>
            <a:ext cx="2286000" cy="17830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Una corrección que se declara.</a:t>
            </a:r>
            <a:r>
              <a:rPr sz="1200" b="0">
                <a:solidFill>
                  <a:srgbClr val="C9D1DE"/>
                </a:solidFill>
                <a:latin typeface="Segoe UI"/>
              </a:rPr>
              <a:t> La primera versión detenía por log-loss y LightGBM se paró a los 5 árboles con F1 = 0,000: el balanceo empeora el log-loss sobre una validación sin pesos. Artefacto del protocolo, corregido con average precision.</a:t>
            </a:r>
          </a:p>
        </p:txBody>
      </p:sp>
      <p:sp>
        <p:nvSpPr>
          <p:cNvPr id="38" name="Rectangle 37"/>
          <p:cNvSpPr/>
          <p:nvPr/>
        </p:nvSpPr>
        <p:spPr>
          <a:xfrm>
            <a:off x="8549640" y="4069080"/>
            <a:ext cx="2743200" cy="14630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549640" y="4069080"/>
            <a:ext cx="54864" cy="146304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805672" y="4251960"/>
            <a:ext cx="2286000" cy="1143000"/>
          </a:xfrm>
          <a:prstGeom prst="rect">
            <a:avLst/>
          </a:prstGeom>
          <a:noFill/>
        </p:spPr>
        <p:txBody>
          <a:bodyPr wrap="square" lIns="0" rIns="0" tIns="0" bIns="0" anchor="t">
            <a:spAutoFit/>
          </a:bodyPr>
          <a:lstStyle/>
          <a:p>
            <a:pPr algn="l">
              <a:lnSpc>
                <a:spcPct val="115000"/>
              </a:lnSpc>
            </a:pPr>
            <a:r>
              <a:rPr sz="1250" b="0">
                <a:solidFill>
                  <a:srgbClr val="C9D1DE"/>
                </a:solidFill>
                <a:latin typeface="Segoe UI"/>
              </a:rPr>
              <a:t>Por las métricas del curso, el boosting ganaría el puesto de detector. La pregunta es si eso se traduce en lo que vive la persona.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13</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CLASIFICACIÓN · COMO LO USARÍA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Con el mismo tiempo en alerta, el bosque molesta menos</a:t>
            </a:r>
          </a:p>
        </p:txBody>
      </p:sp>
      <p:sp>
        <p:nvSpPr>
          <p:cNvPr id="6" name="Rounded Rectangle 5"/>
          <p:cNvSpPr/>
          <p:nvPr/>
        </p:nvSpPr>
        <p:spPr>
          <a:xfrm>
            <a:off x="1453896" y="1655064"/>
            <a:ext cx="9253728" cy="3182112"/>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3_detector.png"/>
          <p:cNvPicPr>
            <a:picLocks noChangeAspect="1"/>
          </p:cNvPicPr>
          <p:nvPr/>
        </p:nvPicPr>
        <p:blipFill>
          <a:blip r:embed="rId2"/>
          <a:stretch>
            <a:fillRect/>
          </a:stretch>
        </p:blipFill>
        <p:spPr>
          <a:xfrm>
            <a:off x="1536192" y="1737360"/>
            <a:ext cx="9089136" cy="3017520"/>
          </a:xfrm>
          <a:prstGeom prst="rect">
            <a:avLst/>
          </a:prstGeom>
        </p:spPr>
      </p:pic>
      <p:sp>
        <p:nvSpPr>
          <p:cNvPr id="8" name="Rectangle 7"/>
          <p:cNvSpPr/>
          <p:nvPr/>
        </p:nvSpPr>
        <p:spPr>
          <a:xfrm>
            <a:off x="685800" y="4983480"/>
            <a:ext cx="5120640"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4983480"/>
            <a:ext cx="54864" cy="11887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166360"/>
            <a:ext cx="4663440" cy="8686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Corrección al parcial.</a:t>
            </a:r>
            <a:r>
              <a:rPr sz="1200" b="0">
                <a:solidFill>
                  <a:srgbClr val="C9D1DE"/>
                </a:solidFill>
                <a:latin typeface="Segoe UI"/>
              </a:rPr>
              <a:t> Comparar con el mismo número de avisos por día se gana con trampa: un GBM a umbral 0,05 «detecta» el 98,8 % con 3 avisos diarios de 5 horas — en alerta el 67,5 % del tiempo, 62 % falsos. Se compara con el mismo tiempo en alerta.</a:t>
            </a:r>
          </a:p>
        </p:txBody>
      </p:sp>
      <p:sp>
        <p:nvSpPr>
          <p:cNvPr id="11" name="Rectangle 10"/>
          <p:cNvSpPr/>
          <p:nvPr/>
        </p:nvSpPr>
        <p:spPr>
          <a:xfrm>
            <a:off x="6172200" y="4983480"/>
            <a:ext cx="5120640" cy="11887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4983480"/>
            <a:ext cx="54864" cy="118872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5166360"/>
            <a:ext cx="4663440" cy="868680"/>
          </a:xfrm>
          <a:prstGeom prst="rect">
            <a:avLst/>
          </a:prstGeom>
          <a:noFill/>
        </p:spPr>
        <p:txBody>
          <a:bodyPr wrap="square" lIns="0" rIns="0" tIns="0" bIns="0" anchor="t">
            <a:spAutoFit/>
          </a:bodyPr>
          <a:lstStyle/>
          <a:p>
            <a:pPr algn="l">
              <a:lnSpc>
                <a:spcPct val="115000"/>
              </a:lnSpc>
            </a:pPr>
            <a:r>
              <a:rPr sz="1200" b="1">
                <a:solidFill>
                  <a:srgbClr val="E6E9EF"/>
                </a:solidFill>
                <a:latin typeface="Segoe UI"/>
              </a:rPr>
              <a:t>Al 21 % del tiempo en alerta</a:t>
            </a:r>
            <a:r>
              <a:rPr sz="1200" b="0">
                <a:solidFill>
                  <a:srgbClr val="C9D1DE"/>
                </a:solidFill>
                <a:latin typeface="Segoe UI"/>
              </a:rPr>
              <a:t> (el punto del parcial) todos detectan 84–88 % de los episodios; el bosque con </a:t>
            </a:r>
            <a:r>
              <a:rPr sz="1200" b="1">
                <a:solidFill>
                  <a:srgbClr val="E6E9EF"/>
                </a:solidFill>
                <a:latin typeface="Segoe UI"/>
              </a:rPr>
              <a:t>3,0 avisos al día y 37 % falsos</a:t>
            </a:r>
            <a:r>
              <a:rPr sz="1200" b="0">
                <a:solidFill>
                  <a:srgbClr val="C9D1DE"/>
                </a:solidFill>
                <a:latin typeface="Segoe UI"/>
              </a:rPr>
              <a:t> — el mínimo en ambos. Avisos de 100 minutos de media.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17</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DE QUÉ APRENDE EL MEJOR BOOSTING</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LightGBM aprende casi lo mismo que la regresión lineal</a:t>
            </a:r>
          </a:p>
        </p:txBody>
      </p:sp>
      <p:sp>
        <p:nvSpPr>
          <p:cNvPr id="6" name="Rounded Rectangle 5"/>
          <p:cNvSpPr/>
          <p:nvPr/>
        </p:nvSpPr>
        <p:spPr>
          <a:xfrm>
            <a:off x="694944" y="1886510"/>
            <a:ext cx="6199632" cy="2536339"/>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B4_importancia.png"/>
          <p:cNvPicPr>
            <a:picLocks noChangeAspect="1"/>
          </p:cNvPicPr>
          <p:nvPr/>
        </p:nvPicPr>
        <p:blipFill>
          <a:blip r:embed="rId2"/>
          <a:stretch>
            <a:fillRect/>
          </a:stretch>
        </p:blipFill>
        <p:spPr>
          <a:xfrm>
            <a:off x="777240" y="1968806"/>
            <a:ext cx="6035040" cy="2371747"/>
          </a:xfrm>
          <a:prstGeom prst="rect">
            <a:avLst/>
          </a:prstGeom>
        </p:spPr>
      </p:pic>
      <p:sp>
        <p:nvSpPr>
          <p:cNvPr id="8" name="TextBox 7"/>
          <p:cNvSpPr txBox="1"/>
          <p:nvPr/>
        </p:nvSpPr>
        <p:spPr>
          <a:xfrm>
            <a:off x="7360920" y="1828800"/>
            <a:ext cx="3840480" cy="640080"/>
          </a:xfrm>
          <a:prstGeom prst="rect">
            <a:avLst/>
          </a:prstGeom>
          <a:noFill/>
        </p:spPr>
        <p:txBody>
          <a:bodyPr wrap="square" lIns="0" rIns="0" tIns="0" bIns="0" anchor="t">
            <a:spAutoFit/>
          </a:bodyPr>
          <a:lstStyle/>
          <a:p>
            <a:pPr algn="l">
              <a:lnSpc>
                <a:spcPct val="115000"/>
              </a:lnSpc>
            </a:pPr>
            <a:r>
              <a:rPr sz="3000" b="1">
                <a:solidFill>
                  <a:srgbClr val="7BD992"/>
                </a:solidFill>
                <a:latin typeface="Consolas"/>
              </a:rPr>
              <a:t>86,5 %</a:t>
            </a:r>
          </a:p>
        </p:txBody>
      </p:sp>
      <p:sp>
        <p:nvSpPr>
          <p:cNvPr id="9" name="TextBox 8"/>
          <p:cNvSpPr txBox="1"/>
          <p:nvPr/>
        </p:nvSpPr>
        <p:spPr>
          <a:xfrm>
            <a:off x="7360920" y="2487168"/>
            <a:ext cx="38404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la ganancia viene de los retardos</a:t>
            </a:r>
          </a:p>
          <a:p>
            <a:pPr algn="l">
              <a:lnSpc>
                <a:spcPct val="115000"/>
              </a:lnSpc>
            </a:pPr>
            <a:r>
              <a:rPr sz="1150" b="0">
                <a:solidFill>
                  <a:srgbClr val="9AA3B2"/>
                </a:solidFill>
                <a:latin typeface="Segoe UI"/>
              </a:rPr>
              <a:t>(74,9 % solo de lag1)</a:t>
            </a:r>
          </a:p>
        </p:txBody>
      </p:sp>
      <p:sp>
        <p:nvSpPr>
          <p:cNvPr id="10" name="TextBox 9"/>
          <p:cNvSpPr txBox="1"/>
          <p:nvPr/>
        </p:nvSpPr>
        <p:spPr>
          <a:xfrm>
            <a:off x="7360920" y="3154680"/>
            <a:ext cx="3840480" cy="640080"/>
          </a:xfrm>
          <a:prstGeom prst="rect">
            <a:avLst/>
          </a:prstGeom>
          <a:noFill/>
        </p:spPr>
        <p:txBody>
          <a:bodyPr wrap="square" lIns="0" rIns="0" tIns="0" bIns="0" anchor="t">
            <a:spAutoFit/>
          </a:bodyPr>
          <a:lstStyle/>
          <a:p>
            <a:pPr algn="l">
              <a:lnSpc>
                <a:spcPct val="115000"/>
              </a:lnSpc>
            </a:pPr>
            <a:r>
              <a:rPr sz="3000" b="1">
                <a:solidFill>
                  <a:srgbClr val="FFB877"/>
                </a:solidFill>
                <a:latin typeface="Consolas"/>
              </a:rPr>
              <a:t>8,9 %</a:t>
            </a:r>
          </a:p>
        </p:txBody>
      </p:sp>
      <p:sp>
        <p:nvSpPr>
          <p:cNvPr id="11" name="TextBox 10"/>
          <p:cNvSpPr txBox="1"/>
          <p:nvPr/>
        </p:nvSpPr>
        <p:spPr>
          <a:xfrm>
            <a:off x="7360920" y="3813048"/>
            <a:ext cx="3840480" cy="548640"/>
          </a:xfrm>
          <a:prstGeom prst="rect">
            <a:avLst/>
          </a:prstGeom>
          <a:noFill/>
        </p:spPr>
        <p:txBody>
          <a:bodyPr wrap="square" lIns="0" rIns="0" tIns="0" bIns="0" anchor="t">
            <a:spAutoFit/>
          </a:bodyPr>
          <a:lstStyle/>
          <a:p>
            <a:pPr algn="l">
              <a:lnSpc>
                <a:spcPct val="115000"/>
              </a:lnSpc>
            </a:pPr>
            <a:r>
              <a:rPr sz="1150" b="0">
                <a:solidFill>
                  <a:srgbClr val="9AA3B2"/>
                </a:solidFill>
                <a:latin typeface="Segoe UI"/>
              </a:rPr>
              <a:t>de los sensores interiores: justo el</a:t>
            </a:r>
          </a:p>
          <a:p>
            <a:pPr algn="l">
              <a:lnSpc>
                <a:spcPct val="115000"/>
              </a:lnSpc>
            </a:pPr>
            <a:r>
              <a:rPr sz="1150" b="0">
                <a:solidFill>
                  <a:srgbClr val="9AA3B2"/>
                </a:solidFill>
                <a:latin typeface="Segoe UI"/>
              </a:rPr>
              <a:t>bloque que trae el sesgo estacional</a:t>
            </a:r>
          </a:p>
        </p:txBody>
      </p:sp>
      <p:sp>
        <p:nvSpPr>
          <p:cNvPr id="12" name="Rectangle 11"/>
          <p:cNvSpPr/>
          <p:nvPr/>
        </p:nvSpPr>
        <p:spPr>
          <a:xfrm>
            <a:off x="685800" y="4846320"/>
            <a:ext cx="10607040" cy="9144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846320"/>
            <a:ext cx="54864" cy="914400"/>
          </a:xfrm>
          <a:prstGeom prst="rect">
            <a:avLst/>
          </a:prstGeom>
          <a:solidFill>
            <a:srgbClr val="1880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5029200"/>
            <a:ext cx="10149840" cy="594360"/>
          </a:xfrm>
          <a:prstGeom prst="rect">
            <a:avLst/>
          </a:prstGeom>
          <a:noFill/>
        </p:spPr>
        <p:txBody>
          <a:bodyPr wrap="square" lIns="0" rIns="0" tIns="0" bIns="0" anchor="t">
            <a:spAutoFit/>
          </a:bodyPr>
          <a:lstStyle/>
          <a:p>
            <a:pPr algn="l">
              <a:lnSpc>
                <a:spcPct val="115000"/>
              </a:lnSpc>
            </a:pPr>
            <a:r>
              <a:rPr sz="1300" b="0">
                <a:solidFill>
                  <a:srgbClr val="C9D1DE"/>
                </a:solidFill>
                <a:latin typeface="Segoe UI"/>
              </a:rPr>
              <a:t>Por eso empata con la lineal y no la supera: comparte su información y le añade lo que no generaliza. A igual rendimiento, la lineal gana por interpretabilidad, velocidad y ausencia de sesgo.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6446520"/>
            <a:ext cx="7315200" cy="274320"/>
          </a:xfrm>
          <a:prstGeom prst="rect">
            <a:avLst/>
          </a:prstGeom>
          <a:noFill/>
        </p:spPr>
        <p:txBody>
          <a:bodyPr wrap="square" lIns="0" rIns="0" tIns="0" bIns="0" anchor="t">
            <a:spAutoFit/>
          </a:bodyPr>
          <a:lstStyle/>
          <a:p>
            <a:pPr algn="l">
              <a:lnSpc>
                <a:spcPct val="115000"/>
              </a:lnSpc>
            </a:pPr>
            <a:r>
              <a:rPr sz="900" b="0">
                <a:solidFill>
                  <a:srgbClr val="6F7787"/>
                </a:solidFill>
                <a:latin typeface="Consolas"/>
              </a:rPr>
              <a:t>Shiro Twin · C2 Taller 1 · Boosting</a:t>
            </a:r>
          </a:p>
        </p:txBody>
      </p:sp>
      <p:sp>
        <p:nvSpPr>
          <p:cNvPr id="3" name="TextBox 2"/>
          <p:cNvSpPr txBox="1"/>
          <p:nvPr/>
        </p:nvSpPr>
        <p:spPr>
          <a:xfrm>
            <a:off x="10591495" y="6446520"/>
            <a:ext cx="914400" cy="274320"/>
          </a:xfrm>
          <a:prstGeom prst="rect">
            <a:avLst/>
          </a:prstGeom>
          <a:noFill/>
        </p:spPr>
        <p:txBody>
          <a:bodyPr wrap="square" lIns="0" rIns="0" tIns="0" bIns="0" anchor="t">
            <a:spAutoFit/>
          </a:bodyPr>
          <a:lstStyle/>
          <a:p>
            <a:pPr algn="r">
              <a:lnSpc>
                <a:spcPct val="115000"/>
              </a:lnSpc>
            </a:pPr>
            <a:r>
              <a:rPr sz="900" b="0">
                <a:solidFill>
                  <a:srgbClr val="6F7787"/>
                </a:solidFill>
                <a:latin typeface="Consolas"/>
              </a:rPr>
              <a:t>18</a:t>
            </a:r>
          </a:p>
        </p:txBody>
      </p:sp>
      <p:sp>
        <p:nvSpPr>
          <p:cNvPr id="4" name="TextBox 3"/>
          <p:cNvSpPr txBox="1"/>
          <p:nvPr/>
        </p:nvSpPr>
        <p:spPr>
          <a:xfrm>
            <a:off x="685800" y="502920"/>
            <a:ext cx="10515600" cy="274320"/>
          </a:xfrm>
          <a:prstGeom prst="rect">
            <a:avLst/>
          </a:prstGeom>
          <a:noFill/>
        </p:spPr>
        <p:txBody>
          <a:bodyPr wrap="square" lIns="0" rIns="0" tIns="0" bIns="0" anchor="t">
            <a:spAutoFit/>
          </a:bodyPr>
          <a:lstStyle/>
          <a:p>
            <a:pPr algn="l">
              <a:lnSpc>
                <a:spcPct val="115000"/>
              </a:lnSpc>
            </a:pPr>
            <a:r>
              <a:rPr sz="1050" b="0">
                <a:solidFill>
                  <a:srgbClr val="7BD992"/>
                </a:solidFill>
                <a:latin typeface="Consolas"/>
              </a:rPr>
              <a:t>CIERRE · QUÉ CAMBIA EN SHIRO</a:t>
            </a:r>
          </a:p>
        </p:txBody>
      </p:sp>
      <p:sp>
        <p:nvSpPr>
          <p:cNvPr id="5" name="TextBox 4"/>
          <p:cNvSpPr txBox="1"/>
          <p:nvPr/>
        </p:nvSpPr>
        <p:spPr>
          <a:xfrm>
            <a:off x="685800" y="804672"/>
            <a:ext cx="10789920" cy="822960"/>
          </a:xfrm>
          <a:prstGeom prst="rect">
            <a:avLst/>
          </a:prstGeom>
          <a:noFill/>
        </p:spPr>
        <p:txBody>
          <a:bodyPr wrap="square" lIns="0" rIns="0" tIns="0" bIns="0" anchor="t">
            <a:spAutoFit/>
          </a:bodyPr>
          <a:lstStyle/>
          <a:p>
            <a:pPr algn="l">
              <a:lnSpc>
                <a:spcPct val="100000"/>
              </a:lnSpc>
            </a:pPr>
            <a:r>
              <a:rPr sz="2800" b="0">
                <a:solidFill>
                  <a:srgbClr val="E6E9EF"/>
                </a:solidFill>
                <a:latin typeface="Segoe UI Semibold"/>
              </a:rPr>
              <a:t>Lo que Shiro se lleva de este taller</a:t>
            </a:r>
          </a:p>
        </p:txBody>
      </p:sp>
      <p:sp>
        <p:nvSpPr>
          <p:cNvPr id="6" name="TextBox 5"/>
          <p:cNvSpPr txBox="1"/>
          <p:nvPr/>
        </p:nvSpPr>
        <p:spPr>
          <a:xfrm>
            <a:off x="68580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01</a:t>
            </a:r>
          </a:p>
        </p:txBody>
      </p:sp>
      <p:sp>
        <p:nvSpPr>
          <p:cNvPr id="7" name="TextBox 6"/>
          <p:cNvSpPr txBox="1"/>
          <p:nvPr/>
        </p:nvSpPr>
        <p:spPr>
          <a:xfrm>
            <a:off x="128016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simulador no cambia.</a:t>
            </a:r>
          </a:p>
        </p:txBody>
      </p:sp>
      <p:sp>
        <p:nvSpPr>
          <p:cNvPr id="8" name="TextBox 7"/>
          <p:cNvSpPr txBox="1"/>
          <p:nvPr/>
        </p:nvSpPr>
        <p:spPr>
          <a:xfrm>
            <a:off x="128016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Lineal + retardos: LightGBM la iguala sin superarla.</a:t>
            </a:r>
          </a:p>
        </p:txBody>
      </p:sp>
      <p:sp>
        <p:nvSpPr>
          <p:cNvPr id="9" name="TextBox 8"/>
          <p:cNvSpPr txBox="1"/>
          <p:nvPr/>
        </p:nvSpPr>
        <p:spPr>
          <a:xfrm>
            <a:off x="6126480" y="187451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02</a:t>
            </a:r>
          </a:p>
        </p:txBody>
      </p:sp>
      <p:sp>
        <p:nvSpPr>
          <p:cNvPr id="10" name="TextBox 9"/>
          <p:cNvSpPr txBox="1"/>
          <p:nvPr/>
        </p:nvSpPr>
        <p:spPr>
          <a:xfrm>
            <a:off x="6720840" y="187451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El detector no cambia.</a:t>
            </a:r>
          </a:p>
        </p:txBody>
      </p:sp>
      <p:sp>
        <p:nvSpPr>
          <p:cNvPr id="11" name="TextBox 10"/>
          <p:cNvSpPr txBox="1"/>
          <p:nvPr/>
        </p:nvSpPr>
        <p:spPr>
          <a:xfrm>
            <a:off x="6720840" y="228599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RF + retardos: mismo alcance, menos avisos, menos falsos.</a:t>
            </a:r>
          </a:p>
        </p:txBody>
      </p:sp>
      <p:sp>
        <p:nvSpPr>
          <p:cNvPr id="12" name="TextBox 11"/>
          <p:cNvSpPr txBox="1"/>
          <p:nvPr/>
        </p:nvSpPr>
        <p:spPr>
          <a:xfrm>
            <a:off x="68580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03</a:t>
            </a:r>
          </a:p>
        </p:txBody>
      </p:sp>
      <p:sp>
        <p:nvSpPr>
          <p:cNvPr id="13" name="TextBox 12"/>
          <p:cNvSpPr txBox="1"/>
          <p:nvPr/>
        </p:nvSpPr>
        <p:spPr>
          <a:xfrm>
            <a:off x="128016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causa del colapso temporal.</a:t>
            </a:r>
          </a:p>
        </p:txBody>
      </p:sp>
      <p:sp>
        <p:nvSpPr>
          <p:cNvPr id="14" name="TextBox 13"/>
          <p:cNvSpPr txBox="1"/>
          <p:nvPr/>
        </p:nvSpPr>
        <p:spPr>
          <a:xfrm>
            <a:off x="128016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La temperatura interior: 71,9 % de mayo, fuera de rango.</a:t>
            </a:r>
          </a:p>
        </p:txBody>
      </p:sp>
      <p:sp>
        <p:nvSpPr>
          <p:cNvPr id="15" name="TextBox 14"/>
          <p:cNvSpPr txBox="1"/>
          <p:nvPr/>
        </p:nvSpPr>
        <p:spPr>
          <a:xfrm>
            <a:off x="6126480" y="320039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04</a:t>
            </a:r>
          </a:p>
        </p:txBody>
      </p:sp>
      <p:sp>
        <p:nvSpPr>
          <p:cNvPr id="16" name="TextBox 15"/>
          <p:cNvSpPr txBox="1"/>
          <p:nvPr/>
        </p:nvSpPr>
        <p:spPr>
          <a:xfrm>
            <a:off x="6720840" y="320039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Nueva regla de evaluación.</a:t>
            </a:r>
          </a:p>
        </p:txBody>
      </p:sp>
      <p:sp>
        <p:nvSpPr>
          <p:cNvPr id="17" name="TextBox 16"/>
          <p:cNvSpPr txBox="1"/>
          <p:nvPr/>
        </p:nvSpPr>
        <p:spPr>
          <a:xfrm>
            <a:off x="6720840" y="361187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detector se compara con igual tiempo en alerta.</a:t>
            </a:r>
          </a:p>
        </p:txBody>
      </p:sp>
      <p:sp>
        <p:nvSpPr>
          <p:cNvPr id="18" name="TextBox 17"/>
          <p:cNvSpPr txBox="1"/>
          <p:nvPr/>
        </p:nvSpPr>
        <p:spPr>
          <a:xfrm>
            <a:off x="68580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05</a:t>
            </a:r>
          </a:p>
        </p:txBody>
      </p:sp>
      <p:sp>
        <p:nvSpPr>
          <p:cNvPr id="19" name="TextBox 18"/>
          <p:cNvSpPr txBox="1"/>
          <p:nvPr/>
        </p:nvSpPr>
        <p:spPr>
          <a:xfrm>
            <a:off x="128016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interfaz debe mostrarlo.</a:t>
            </a:r>
          </a:p>
        </p:txBody>
      </p:sp>
      <p:sp>
        <p:nvSpPr>
          <p:cNvPr id="20" name="TextBox 19"/>
          <p:cNvSpPr txBox="1"/>
          <p:nvPr/>
        </p:nvSpPr>
        <p:spPr>
          <a:xfrm>
            <a:off x="128016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El punto del parcial: 21 % del día en alerta.</a:t>
            </a:r>
          </a:p>
        </p:txBody>
      </p:sp>
      <p:sp>
        <p:nvSpPr>
          <p:cNvPr id="21" name="TextBox 20"/>
          <p:cNvSpPr txBox="1"/>
          <p:nvPr/>
        </p:nvSpPr>
        <p:spPr>
          <a:xfrm>
            <a:off x="6126480" y="4526279"/>
            <a:ext cx="548640" cy="365760"/>
          </a:xfrm>
          <a:prstGeom prst="rect">
            <a:avLst/>
          </a:prstGeom>
          <a:noFill/>
        </p:spPr>
        <p:txBody>
          <a:bodyPr wrap="square" lIns="0" rIns="0" tIns="0" bIns="0" anchor="t">
            <a:spAutoFit/>
          </a:bodyPr>
          <a:lstStyle/>
          <a:p>
            <a:pPr algn="l">
              <a:lnSpc>
                <a:spcPct val="115000"/>
              </a:lnSpc>
            </a:pPr>
            <a:r>
              <a:rPr sz="1400" b="1">
                <a:solidFill>
                  <a:srgbClr val="7BD992"/>
                </a:solidFill>
                <a:latin typeface="Consolas"/>
              </a:rPr>
              <a:t>06</a:t>
            </a:r>
          </a:p>
        </p:txBody>
      </p:sp>
      <p:sp>
        <p:nvSpPr>
          <p:cNvPr id="22" name="TextBox 21"/>
          <p:cNvSpPr txBox="1"/>
          <p:nvPr/>
        </p:nvSpPr>
        <p:spPr>
          <a:xfrm>
            <a:off x="6720840" y="4526279"/>
            <a:ext cx="4572000" cy="411480"/>
          </a:xfrm>
          <a:prstGeom prst="rect">
            <a:avLst/>
          </a:prstGeom>
          <a:noFill/>
        </p:spPr>
        <p:txBody>
          <a:bodyPr wrap="square" lIns="0" rIns="0" tIns="0" bIns="0" anchor="t">
            <a:spAutoFit/>
          </a:bodyPr>
          <a:lstStyle/>
          <a:p>
            <a:pPr algn="l">
              <a:lnSpc>
                <a:spcPct val="115000"/>
              </a:lnSpc>
            </a:pPr>
            <a:r>
              <a:rPr sz="1600" b="0">
                <a:solidFill>
                  <a:srgbClr val="E6E9EF"/>
                </a:solidFill>
                <a:latin typeface="Segoe UI Semibold"/>
              </a:rPr>
              <a:t>La métrica del curso no decide.</a:t>
            </a:r>
          </a:p>
        </p:txBody>
      </p:sp>
      <p:sp>
        <p:nvSpPr>
          <p:cNvPr id="23" name="TextBox 22"/>
          <p:cNvSpPr txBox="1"/>
          <p:nvPr/>
        </p:nvSpPr>
        <p:spPr>
          <a:xfrm>
            <a:off x="6720840" y="4937759"/>
            <a:ext cx="4572000" cy="640080"/>
          </a:xfrm>
          <a:prstGeom prst="rect">
            <a:avLst/>
          </a:prstGeom>
          <a:noFill/>
        </p:spPr>
        <p:txBody>
          <a:bodyPr wrap="square" lIns="0" rIns="0" tIns="0" bIns="0" anchor="t">
            <a:spAutoFit/>
          </a:bodyPr>
          <a:lstStyle/>
          <a:p>
            <a:pPr algn="l">
              <a:lnSpc>
                <a:spcPct val="115000"/>
              </a:lnSpc>
            </a:pPr>
            <a:r>
              <a:rPr sz="1300" b="0">
                <a:solidFill>
                  <a:srgbClr val="9AA3B2"/>
                </a:solidFill>
                <a:latin typeface="Segoe UI"/>
              </a:rPr>
              <a:t>AP y AUC eligen boosting; el producto, el bosque.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REGRESIÓN · EL TABLERO COMPLETO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Nueve modelos, tres particiones — la tabla que decide</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05</a:t>
            </a:r>
          </a:p>
        </p:txBody>
      </p:sp>
      <p:sp>
        <p:nvSpPr>
          <p:cNvPr id="6" name="TextBox 5"/>
          <p:cNvSpPr txBox="1"/>
          <p:nvPr/>
        </p:nvSpPr>
        <p:spPr>
          <a:xfrm>
            <a:off x="685800" y="1600200"/>
            <a:ext cx="3840480" cy="274320"/>
          </a:xfrm>
          <a:prstGeom prst="rect">
            <a:avLst/>
          </a:prstGeom>
          <a:noFill/>
        </p:spPr>
        <p:txBody>
          <a:bodyPr wrap="square" lIns="0" rIns="0" tIns="0" bIns="0">
            <a:spAutoFit/>
          </a:bodyPr>
          <a:lstStyle/>
          <a:p>
            <a:pPr algn="l"/>
            <a:r>
              <a:rPr sz="950" b="0" i="0">
                <a:solidFill>
                  <a:srgbClr val="6F7787"/>
                </a:solidFill>
                <a:latin typeface="Consolas"/>
              </a:rPr>
              <a:t>MODELO</a:t>
            </a:r>
          </a:p>
        </p:txBody>
      </p:sp>
      <p:sp>
        <p:nvSpPr>
          <p:cNvPr id="7" name="TextBox 6"/>
          <p:cNvSpPr txBox="1"/>
          <p:nvPr/>
        </p:nvSpPr>
        <p:spPr>
          <a:xfrm>
            <a:off x="4617720" y="1600200"/>
            <a:ext cx="1508760" cy="274320"/>
          </a:xfrm>
          <a:prstGeom prst="rect">
            <a:avLst/>
          </a:prstGeom>
          <a:noFill/>
        </p:spPr>
        <p:txBody>
          <a:bodyPr wrap="square" lIns="0" rIns="0" tIns="0" bIns="0">
            <a:spAutoFit/>
          </a:bodyPr>
          <a:lstStyle/>
          <a:p>
            <a:pPr algn="r"/>
            <a:r>
              <a:rPr sz="950" b="0" i="0">
                <a:solidFill>
                  <a:srgbClr val="6F7787"/>
                </a:solidFill>
                <a:latin typeface="Consolas"/>
              </a:rPr>
              <a:t>R² ALEATORIA</a:t>
            </a:r>
          </a:p>
        </p:txBody>
      </p:sp>
      <p:sp>
        <p:nvSpPr>
          <p:cNvPr id="8" name="TextBox 7"/>
          <p:cNvSpPr txBox="1"/>
          <p:nvPr/>
        </p:nvSpPr>
        <p:spPr>
          <a:xfrm>
            <a:off x="6263640" y="1600200"/>
            <a:ext cx="1600200" cy="274320"/>
          </a:xfrm>
          <a:prstGeom prst="rect">
            <a:avLst/>
          </a:prstGeom>
          <a:noFill/>
        </p:spPr>
        <p:txBody>
          <a:bodyPr wrap="square" lIns="0" rIns="0" tIns="0" bIns="0">
            <a:spAutoFit/>
          </a:bodyPr>
          <a:lstStyle/>
          <a:p>
            <a:pPr algn="r"/>
            <a:r>
              <a:rPr sz="950" b="0" i="0">
                <a:solidFill>
                  <a:srgbClr val="6F7787"/>
                </a:solidFill>
                <a:latin typeface="Consolas"/>
              </a:rPr>
              <a:t>R² TEMPORAL</a:t>
            </a:r>
          </a:p>
        </p:txBody>
      </p:sp>
      <p:sp>
        <p:nvSpPr>
          <p:cNvPr id="9" name="TextBox 8"/>
          <p:cNvSpPr txBox="1"/>
          <p:nvPr/>
        </p:nvSpPr>
        <p:spPr>
          <a:xfrm>
            <a:off x="8001000" y="1600200"/>
            <a:ext cx="1783080" cy="274320"/>
          </a:xfrm>
          <a:prstGeom prst="rect">
            <a:avLst/>
          </a:prstGeom>
          <a:noFill/>
        </p:spPr>
        <p:txBody>
          <a:bodyPr wrap="square" lIns="0" rIns="0" tIns="0" bIns="0">
            <a:spAutoFit/>
          </a:bodyPr>
          <a:lstStyle/>
          <a:p>
            <a:pPr algn="r"/>
            <a:r>
              <a:rPr sz="950" b="0" i="0">
                <a:solidFill>
                  <a:srgbClr val="6F7787"/>
                </a:solidFill>
                <a:latin typeface="Consolas"/>
              </a:rPr>
              <a:t>R² TEMP. + RETARDOS</a:t>
            </a:r>
          </a:p>
        </p:txBody>
      </p:sp>
      <p:sp>
        <p:nvSpPr>
          <p:cNvPr id="10" name="TextBox 9"/>
          <p:cNvSpPr txBox="1"/>
          <p:nvPr/>
        </p:nvSpPr>
        <p:spPr>
          <a:xfrm>
            <a:off x="9921240" y="1600200"/>
            <a:ext cx="1581912" cy="274320"/>
          </a:xfrm>
          <a:prstGeom prst="rect">
            <a:avLst/>
          </a:prstGeom>
          <a:noFill/>
        </p:spPr>
        <p:txBody>
          <a:bodyPr wrap="square" lIns="0" rIns="0" tIns="0" bIns="0">
            <a:spAutoFit/>
          </a:bodyPr>
          <a:lstStyle/>
          <a:p>
            <a:pPr algn="r"/>
            <a:r>
              <a:rPr sz="950" b="0" i="0">
                <a:solidFill>
                  <a:srgbClr val="6F7787"/>
                </a:solidFill>
                <a:latin typeface="Consolas"/>
              </a:rPr>
              <a:t>SESGO SOBRE MAYO</a:t>
            </a:r>
          </a:p>
        </p:txBody>
      </p:sp>
      <p:sp>
        <p:nvSpPr>
          <p:cNvPr id="11" name="Rectangle 10"/>
          <p:cNvSpPr/>
          <p:nvPr/>
        </p:nvSpPr>
        <p:spPr>
          <a:xfrm>
            <a:off x="685800" y="1929384"/>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19659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AdaBoost</a:t>
            </a:r>
          </a:p>
        </p:txBody>
      </p:sp>
      <p:sp>
        <p:nvSpPr>
          <p:cNvPr id="13" name="TextBox 12"/>
          <p:cNvSpPr txBox="1"/>
          <p:nvPr/>
        </p:nvSpPr>
        <p:spPr>
          <a:xfrm>
            <a:off x="4617720" y="19659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0,211</a:t>
            </a:r>
          </a:p>
        </p:txBody>
      </p:sp>
      <p:sp>
        <p:nvSpPr>
          <p:cNvPr id="14" name="TextBox 13"/>
          <p:cNvSpPr txBox="1"/>
          <p:nvPr/>
        </p:nvSpPr>
        <p:spPr>
          <a:xfrm>
            <a:off x="6263640" y="19659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−3,463</a:t>
            </a:r>
          </a:p>
        </p:txBody>
      </p:sp>
      <p:sp>
        <p:nvSpPr>
          <p:cNvPr id="15" name="TextBox 14"/>
          <p:cNvSpPr txBox="1"/>
          <p:nvPr/>
        </p:nvSpPr>
        <p:spPr>
          <a:xfrm>
            <a:off x="8001000" y="19659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0,341</a:t>
            </a:r>
          </a:p>
        </p:txBody>
      </p:sp>
      <p:sp>
        <p:nvSpPr>
          <p:cNvPr id="16" name="TextBox 15"/>
          <p:cNvSpPr txBox="1"/>
          <p:nvPr/>
        </p:nvSpPr>
        <p:spPr>
          <a:xfrm>
            <a:off x="9921240" y="19659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+11,1 Wh</a:t>
            </a:r>
          </a:p>
        </p:txBody>
      </p:sp>
      <p:sp>
        <p:nvSpPr>
          <p:cNvPr id="17" name="TextBox 16"/>
          <p:cNvSpPr txBox="1"/>
          <p:nvPr/>
        </p:nvSpPr>
        <p:spPr>
          <a:xfrm>
            <a:off x="777240" y="23088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GBM</a:t>
            </a:r>
          </a:p>
        </p:txBody>
      </p:sp>
      <p:sp>
        <p:nvSpPr>
          <p:cNvPr id="18" name="TextBox 17"/>
          <p:cNvSpPr txBox="1"/>
          <p:nvPr/>
        </p:nvSpPr>
        <p:spPr>
          <a:xfrm>
            <a:off x="4617720" y="23088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0,467</a:t>
            </a:r>
          </a:p>
        </p:txBody>
      </p:sp>
      <p:sp>
        <p:nvSpPr>
          <p:cNvPr id="19" name="TextBox 18"/>
          <p:cNvSpPr txBox="1"/>
          <p:nvPr/>
        </p:nvSpPr>
        <p:spPr>
          <a:xfrm>
            <a:off x="6263640" y="23088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−0,333</a:t>
            </a:r>
          </a:p>
        </p:txBody>
      </p:sp>
      <p:sp>
        <p:nvSpPr>
          <p:cNvPr id="20" name="TextBox 19"/>
          <p:cNvSpPr txBox="1"/>
          <p:nvPr/>
        </p:nvSpPr>
        <p:spPr>
          <a:xfrm>
            <a:off x="8001000" y="23088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−0,201</a:t>
            </a:r>
          </a:p>
        </p:txBody>
      </p:sp>
      <p:sp>
        <p:nvSpPr>
          <p:cNvPr id="21" name="TextBox 20"/>
          <p:cNvSpPr txBox="1"/>
          <p:nvPr/>
        </p:nvSpPr>
        <p:spPr>
          <a:xfrm>
            <a:off x="9921240" y="23088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+39,6 Wh</a:t>
            </a:r>
          </a:p>
        </p:txBody>
      </p:sp>
      <p:sp>
        <p:nvSpPr>
          <p:cNvPr id="22" name="TextBox 21"/>
          <p:cNvSpPr txBox="1"/>
          <p:nvPr/>
        </p:nvSpPr>
        <p:spPr>
          <a:xfrm>
            <a:off x="777240" y="26517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XGBoost</a:t>
            </a:r>
          </a:p>
        </p:txBody>
      </p:sp>
      <p:sp>
        <p:nvSpPr>
          <p:cNvPr id="23" name="TextBox 22"/>
          <p:cNvSpPr txBox="1"/>
          <p:nvPr/>
        </p:nvSpPr>
        <p:spPr>
          <a:xfrm>
            <a:off x="4617720" y="26517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0,596</a:t>
            </a:r>
          </a:p>
        </p:txBody>
      </p:sp>
      <p:sp>
        <p:nvSpPr>
          <p:cNvPr id="24" name="TextBox 23"/>
          <p:cNvSpPr txBox="1"/>
          <p:nvPr/>
        </p:nvSpPr>
        <p:spPr>
          <a:xfrm>
            <a:off x="6263640" y="26517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−0,221</a:t>
            </a:r>
          </a:p>
        </p:txBody>
      </p:sp>
      <p:sp>
        <p:nvSpPr>
          <p:cNvPr id="25" name="TextBox 24"/>
          <p:cNvSpPr txBox="1"/>
          <p:nvPr/>
        </p:nvSpPr>
        <p:spPr>
          <a:xfrm>
            <a:off x="8001000" y="26517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0,303</a:t>
            </a:r>
          </a:p>
        </p:txBody>
      </p:sp>
      <p:sp>
        <p:nvSpPr>
          <p:cNvPr id="26" name="TextBox 25"/>
          <p:cNvSpPr txBox="1"/>
          <p:nvPr/>
        </p:nvSpPr>
        <p:spPr>
          <a:xfrm>
            <a:off x="9921240" y="26517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+26,9 Wh</a:t>
            </a:r>
          </a:p>
        </p:txBody>
      </p:sp>
      <p:sp>
        <p:nvSpPr>
          <p:cNvPr id="27" name="Rectangle 26"/>
          <p:cNvSpPr/>
          <p:nvPr/>
        </p:nvSpPr>
        <p:spPr>
          <a:xfrm>
            <a:off x="685800" y="2994660"/>
            <a:ext cx="10817352" cy="30632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2994660"/>
            <a:ext cx="3749040" cy="306324"/>
          </a:xfrm>
          <a:prstGeom prst="rect">
            <a:avLst/>
          </a:prstGeom>
          <a:noFill/>
        </p:spPr>
        <p:txBody>
          <a:bodyPr wrap="square" lIns="0" rIns="0" tIns="0" bIns="0" anchor="ctr">
            <a:spAutoFit/>
          </a:bodyPr>
          <a:lstStyle/>
          <a:p>
            <a:pPr algn="l"/>
            <a:r>
              <a:rPr sz="1250" b="1" i="0">
                <a:solidFill>
                  <a:srgbClr val="E6E9EF"/>
                </a:solidFill>
                <a:latin typeface="Segoe UI"/>
              </a:rPr>
              <a:t>LightGBM</a:t>
            </a:r>
          </a:p>
        </p:txBody>
      </p:sp>
      <p:sp>
        <p:nvSpPr>
          <p:cNvPr id="29" name="TextBox 28"/>
          <p:cNvSpPr txBox="1"/>
          <p:nvPr/>
        </p:nvSpPr>
        <p:spPr>
          <a:xfrm>
            <a:off x="4617720" y="2994660"/>
            <a:ext cx="1508760" cy="306324"/>
          </a:xfrm>
          <a:prstGeom prst="rect">
            <a:avLst/>
          </a:prstGeom>
          <a:noFill/>
        </p:spPr>
        <p:txBody>
          <a:bodyPr wrap="square" lIns="0" rIns="0" tIns="0" bIns="0" anchor="ctr">
            <a:spAutoFit/>
          </a:bodyPr>
          <a:lstStyle/>
          <a:p>
            <a:pPr algn="r"/>
            <a:r>
              <a:rPr sz="1250" b="1" i="0">
                <a:solidFill>
                  <a:srgbClr val="E6E9EF"/>
                </a:solidFill>
                <a:latin typeface="Consolas"/>
              </a:rPr>
              <a:t>0,598</a:t>
            </a:r>
          </a:p>
        </p:txBody>
      </p:sp>
      <p:sp>
        <p:nvSpPr>
          <p:cNvPr id="30" name="TextBox 29"/>
          <p:cNvSpPr txBox="1"/>
          <p:nvPr/>
        </p:nvSpPr>
        <p:spPr>
          <a:xfrm>
            <a:off x="6263640" y="2994660"/>
            <a:ext cx="1600200" cy="306324"/>
          </a:xfrm>
          <a:prstGeom prst="rect">
            <a:avLst/>
          </a:prstGeom>
          <a:noFill/>
        </p:spPr>
        <p:txBody>
          <a:bodyPr wrap="square" lIns="0" rIns="0" tIns="0" bIns="0" anchor="ctr">
            <a:spAutoFit/>
          </a:bodyPr>
          <a:lstStyle/>
          <a:p>
            <a:pPr algn="r"/>
            <a:r>
              <a:rPr sz="1250" b="1" i="0">
                <a:solidFill>
                  <a:srgbClr val="E6E9EF"/>
                </a:solidFill>
                <a:latin typeface="Consolas"/>
              </a:rPr>
              <a:t>−0,320</a:t>
            </a:r>
          </a:p>
        </p:txBody>
      </p:sp>
      <p:sp>
        <p:nvSpPr>
          <p:cNvPr id="31" name="TextBox 30"/>
          <p:cNvSpPr txBox="1"/>
          <p:nvPr/>
        </p:nvSpPr>
        <p:spPr>
          <a:xfrm>
            <a:off x="8001000" y="2994660"/>
            <a:ext cx="1783080" cy="306324"/>
          </a:xfrm>
          <a:prstGeom prst="rect">
            <a:avLst/>
          </a:prstGeom>
          <a:noFill/>
        </p:spPr>
        <p:txBody>
          <a:bodyPr wrap="square" lIns="0" rIns="0" tIns="0" bIns="0" anchor="ctr">
            <a:spAutoFit/>
          </a:bodyPr>
          <a:lstStyle/>
          <a:p>
            <a:pPr algn="r"/>
            <a:r>
              <a:rPr sz="1250" b="1" i="0">
                <a:solidFill>
                  <a:srgbClr val="E6E9EF"/>
                </a:solidFill>
                <a:latin typeface="Consolas"/>
              </a:rPr>
              <a:t>0,554</a:t>
            </a:r>
          </a:p>
        </p:txBody>
      </p:sp>
      <p:sp>
        <p:nvSpPr>
          <p:cNvPr id="32" name="TextBox 31"/>
          <p:cNvSpPr txBox="1"/>
          <p:nvPr/>
        </p:nvSpPr>
        <p:spPr>
          <a:xfrm>
            <a:off x="9921240" y="2994660"/>
            <a:ext cx="1581912" cy="306324"/>
          </a:xfrm>
          <a:prstGeom prst="rect">
            <a:avLst/>
          </a:prstGeom>
          <a:noFill/>
        </p:spPr>
        <p:txBody>
          <a:bodyPr wrap="square" lIns="0" rIns="0" tIns="0" bIns="0" anchor="ctr">
            <a:spAutoFit/>
          </a:bodyPr>
          <a:lstStyle/>
          <a:p>
            <a:pPr algn="r"/>
            <a:r>
              <a:rPr sz="1250" b="1" i="0">
                <a:solidFill>
                  <a:srgbClr val="E6E9EF"/>
                </a:solidFill>
                <a:latin typeface="Consolas"/>
              </a:rPr>
              <a:t>+9,1 Wh</a:t>
            </a:r>
          </a:p>
        </p:txBody>
      </p:sp>
      <p:sp>
        <p:nvSpPr>
          <p:cNvPr id="33" name="TextBox 32"/>
          <p:cNvSpPr txBox="1"/>
          <p:nvPr/>
        </p:nvSpPr>
        <p:spPr>
          <a:xfrm>
            <a:off x="777240" y="33375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LightGBM (hojas lineales)</a:t>
            </a:r>
          </a:p>
        </p:txBody>
      </p:sp>
      <p:sp>
        <p:nvSpPr>
          <p:cNvPr id="34" name="TextBox 33"/>
          <p:cNvSpPr txBox="1"/>
          <p:nvPr/>
        </p:nvSpPr>
        <p:spPr>
          <a:xfrm>
            <a:off x="4617720" y="33375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0,508</a:t>
            </a:r>
          </a:p>
        </p:txBody>
      </p:sp>
      <p:sp>
        <p:nvSpPr>
          <p:cNvPr id="35" name="TextBox 34"/>
          <p:cNvSpPr txBox="1"/>
          <p:nvPr/>
        </p:nvSpPr>
        <p:spPr>
          <a:xfrm>
            <a:off x="6263640" y="33375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−2,553</a:t>
            </a:r>
          </a:p>
        </p:txBody>
      </p:sp>
      <p:sp>
        <p:nvSpPr>
          <p:cNvPr id="36" name="TextBox 35"/>
          <p:cNvSpPr txBox="1"/>
          <p:nvPr/>
        </p:nvSpPr>
        <p:spPr>
          <a:xfrm>
            <a:off x="8001000" y="33375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0,426</a:t>
            </a:r>
          </a:p>
        </p:txBody>
      </p:sp>
      <p:sp>
        <p:nvSpPr>
          <p:cNvPr id="37" name="TextBox 36"/>
          <p:cNvSpPr txBox="1"/>
          <p:nvPr/>
        </p:nvSpPr>
        <p:spPr>
          <a:xfrm>
            <a:off x="9921240" y="33375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+13,0 Wh</a:t>
            </a:r>
          </a:p>
        </p:txBody>
      </p:sp>
      <p:sp>
        <p:nvSpPr>
          <p:cNvPr id="38" name="TextBox 37"/>
          <p:cNvSpPr txBox="1"/>
          <p:nvPr/>
        </p:nvSpPr>
        <p:spPr>
          <a:xfrm>
            <a:off x="777240" y="36804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CatBoost</a:t>
            </a:r>
          </a:p>
        </p:txBody>
      </p:sp>
      <p:sp>
        <p:nvSpPr>
          <p:cNvPr id="39" name="TextBox 38"/>
          <p:cNvSpPr txBox="1"/>
          <p:nvPr/>
        </p:nvSpPr>
        <p:spPr>
          <a:xfrm>
            <a:off x="4617720" y="36804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0,516</a:t>
            </a:r>
          </a:p>
        </p:txBody>
      </p:sp>
      <p:sp>
        <p:nvSpPr>
          <p:cNvPr id="40" name="TextBox 39"/>
          <p:cNvSpPr txBox="1"/>
          <p:nvPr/>
        </p:nvSpPr>
        <p:spPr>
          <a:xfrm>
            <a:off x="6263640" y="36804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−0,062</a:t>
            </a:r>
          </a:p>
        </p:txBody>
      </p:sp>
      <p:sp>
        <p:nvSpPr>
          <p:cNvPr id="41" name="TextBox 40"/>
          <p:cNvSpPr txBox="1"/>
          <p:nvPr/>
        </p:nvSpPr>
        <p:spPr>
          <a:xfrm>
            <a:off x="8001000" y="36804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0,508</a:t>
            </a:r>
          </a:p>
        </p:txBody>
      </p:sp>
      <p:sp>
        <p:nvSpPr>
          <p:cNvPr id="42" name="TextBox 41"/>
          <p:cNvSpPr txBox="1"/>
          <p:nvPr/>
        </p:nvSpPr>
        <p:spPr>
          <a:xfrm>
            <a:off x="9921240" y="36804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+16,7 Wh</a:t>
            </a:r>
          </a:p>
        </p:txBody>
      </p:sp>
      <p:sp>
        <p:nvSpPr>
          <p:cNvPr id="43" name="TextBox 42"/>
          <p:cNvSpPr txBox="1"/>
          <p:nvPr/>
        </p:nvSpPr>
        <p:spPr>
          <a:xfrm>
            <a:off x="777240" y="40233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CatBoost (hora categórica)</a:t>
            </a:r>
          </a:p>
        </p:txBody>
      </p:sp>
      <p:sp>
        <p:nvSpPr>
          <p:cNvPr id="44" name="TextBox 43"/>
          <p:cNvSpPr txBox="1"/>
          <p:nvPr/>
        </p:nvSpPr>
        <p:spPr>
          <a:xfrm>
            <a:off x="4617720" y="40233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0,518</a:t>
            </a:r>
          </a:p>
        </p:txBody>
      </p:sp>
      <p:sp>
        <p:nvSpPr>
          <p:cNvPr id="45" name="TextBox 44"/>
          <p:cNvSpPr txBox="1"/>
          <p:nvPr/>
        </p:nvSpPr>
        <p:spPr>
          <a:xfrm>
            <a:off x="6263640" y="40233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−0,149</a:t>
            </a:r>
          </a:p>
        </p:txBody>
      </p:sp>
      <p:sp>
        <p:nvSpPr>
          <p:cNvPr id="46" name="TextBox 45"/>
          <p:cNvSpPr txBox="1"/>
          <p:nvPr/>
        </p:nvSpPr>
        <p:spPr>
          <a:xfrm>
            <a:off x="8001000" y="40233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0,478</a:t>
            </a:r>
          </a:p>
        </p:txBody>
      </p:sp>
      <p:sp>
        <p:nvSpPr>
          <p:cNvPr id="47" name="TextBox 46"/>
          <p:cNvSpPr txBox="1"/>
          <p:nvPr/>
        </p:nvSpPr>
        <p:spPr>
          <a:xfrm>
            <a:off x="9921240" y="40233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+24,1 Wh</a:t>
            </a:r>
          </a:p>
        </p:txBody>
      </p:sp>
      <p:sp>
        <p:nvSpPr>
          <p:cNvPr id="48" name="TextBox 47"/>
          <p:cNvSpPr txBox="1"/>
          <p:nvPr/>
        </p:nvSpPr>
        <p:spPr>
          <a:xfrm>
            <a:off x="777240" y="43662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Random Forest (ref.)</a:t>
            </a:r>
          </a:p>
        </p:txBody>
      </p:sp>
      <p:sp>
        <p:nvSpPr>
          <p:cNvPr id="49" name="TextBox 48"/>
          <p:cNvSpPr txBox="1"/>
          <p:nvPr/>
        </p:nvSpPr>
        <p:spPr>
          <a:xfrm>
            <a:off x="4617720" y="43662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0,567</a:t>
            </a:r>
          </a:p>
        </p:txBody>
      </p:sp>
      <p:sp>
        <p:nvSpPr>
          <p:cNvPr id="50" name="TextBox 49"/>
          <p:cNvSpPr txBox="1"/>
          <p:nvPr/>
        </p:nvSpPr>
        <p:spPr>
          <a:xfrm>
            <a:off x="6263640" y="43662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−4,459</a:t>
            </a:r>
          </a:p>
        </p:txBody>
      </p:sp>
      <p:sp>
        <p:nvSpPr>
          <p:cNvPr id="51" name="TextBox 50"/>
          <p:cNvSpPr txBox="1"/>
          <p:nvPr/>
        </p:nvSpPr>
        <p:spPr>
          <a:xfrm>
            <a:off x="8001000" y="43662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−0,484</a:t>
            </a:r>
          </a:p>
        </p:txBody>
      </p:sp>
      <p:sp>
        <p:nvSpPr>
          <p:cNvPr id="52" name="TextBox 51"/>
          <p:cNvSpPr txBox="1"/>
          <p:nvPr/>
        </p:nvSpPr>
        <p:spPr>
          <a:xfrm>
            <a:off x="9921240" y="43662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+63,9 Wh</a:t>
            </a:r>
          </a:p>
        </p:txBody>
      </p:sp>
      <p:sp>
        <p:nvSpPr>
          <p:cNvPr id="53" name="TextBox 52"/>
          <p:cNvSpPr txBox="1"/>
          <p:nvPr/>
        </p:nvSpPr>
        <p:spPr>
          <a:xfrm>
            <a:off x="777240" y="4709160"/>
            <a:ext cx="3749040" cy="306324"/>
          </a:xfrm>
          <a:prstGeom prst="rect">
            <a:avLst/>
          </a:prstGeom>
          <a:noFill/>
        </p:spPr>
        <p:txBody>
          <a:bodyPr wrap="square" lIns="0" rIns="0" tIns="0" bIns="0" anchor="ctr">
            <a:spAutoFit/>
          </a:bodyPr>
          <a:lstStyle/>
          <a:p>
            <a:pPr algn="l"/>
            <a:r>
              <a:rPr sz="1250" b="0" i="0">
                <a:solidFill>
                  <a:srgbClr val="C9D1DE"/>
                </a:solidFill>
                <a:latin typeface="Segoe UI"/>
              </a:rPr>
              <a:t>Regresión lineal (ref.)</a:t>
            </a:r>
          </a:p>
        </p:txBody>
      </p:sp>
      <p:sp>
        <p:nvSpPr>
          <p:cNvPr id="54" name="TextBox 53"/>
          <p:cNvSpPr txBox="1"/>
          <p:nvPr/>
        </p:nvSpPr>
        <p:spPr>
          <a:xfrm>
            <a:off x="4617720" y="4709160"/>
            <a:ext cx="1508760" cy="306324"/>
          </a:xfrm>
          <a:prstGeom prst="rect">
            <a:avLst/>
          </a:prstGeom>
          <a:noFill/>
        </p:spPr>
        <p:txBody>
          <a:bodyPr wrap="square" lIns="0" rIns="0" tIns="0" bIns="0" anchor="ctr">
            <a:spAutoFit/>
          </a:bodyPr>
          <a:lstStyle/>
          <a:p>
            <a:pPr algn="r"/>
            <a:r>
              <a:rPr sz="1250" b="0" i="0">
                <a:solidFill>
                  <a:srgbClr val="C9D1DE"/>
                </a:solidFill>
                <a:latin typeface="Consolas"/>
              </a:rPr>
              <a:t>0,171</a:t>
            </a:r>
          </a:p>
        </p:txBody>
      </p:sp>
      <p:sp>
        <p:nvSpPr>
          <p:cNvPr id="55" name="TextBox 54"/>
          <p:cNvSpPr txBox="1"/>
          <p:nvPr/>
        </p:nvSpPr>
        <p:spPr>
          <a:xfrm>
            <a:off x="6263640" y="4709160"/>
            <a:ext cx="1600200" cy="306324"/>
          </a:xfrm>
          <a:prstGeom prst="rect">
            <a:avLst/>
          </a:prstGeom>
          <a:noFill/>
        </p:spPr>
        <p:txBody>
          <a:bodyPr wrap="square" lIns="0" rIns="0" tIns="0" bIns="0" anchor="ctr">
            <a:spAutoFit/>
          </a:bodyPr>
          <a:lstStyle/>
          <a:p>
            <a:pPr algn="r"/>
            <a:r>
              <a:rPr sz="1250" b="0" i="0">
                <a:solidFill>
                  <a:srgbClr val="C9D1DE"/>
                </a:solidFill>
                <a:latin typeface="Consolas"/>
              </a:rPr>
              <a:t>+0,106</a:t>
            </a:r>
          </a:p>
        </p:txBody>
      </p:sp>
      <p:sp>
        <p:nvSpPr>
          <p:cNvPr id="56" name="TextBox 55"/>
          <p:cNvSpPr txBox="1"/>
          <p:nvPr/>
        </p:nvSpPr>
        <p:spPr>
          <a:xfrm>
            <a:off x="8001000" y="4709160"/>
            <a:ext cx="1783080" cy="306324"/>
          </a:xfrm>
          <a:prstGeom prst="rect">
            <a:avLst/>
          </a:prstGeom>
          <a:noFill/>
        </p:spPr>
        <p:txBody>
          <a:bodyPr wrap="square" lIns="0" rIns="0" tIns="0" bIns="0" anchor="ctr">
            <a:spAutoFit/>
          </a:bodyPr>
          <a:lstStyle/>
          <a:p>
            <a:pPr algn="r"/>
            <a:r>
              <a:rPr sz="1250" b="0" i="0">
                <a:solidFill>
                  <a:srgbClr val="C9D1DE"/>
                </a:solidFill>
                <a:latin typeface="Consolas"/>
              </a:rPr>
              <a:t>0,557</a:t>
            </a:r>
          </a:p>
        </p:txBody>
      </p:sp>
      <p:sp>
        <p:nvSpPr>
          <p:cNvPr id="57" name="TextBox 56"/>
          <p:cNvSpPr txBox="1"/>
          <p:nvPr/>
        </p:nvSpPr>
        <p:spPr>
          <a:xfrm>
            <a:off x="9921240" y="4709160"/>
            <a:ext cx="1581912" cy="306324"/>
          </a:xfrm>
          <a:prstGeom prst="rect">
            <a:avLst/>
          </a:prstGeom>
          <a:noFill/>
        </p:spPr>
        <p:txBody>
          <a:bodyPr wrap="square" lIns="0" rIns="0" tIns="0" bIns="0" anchor="ctr">
            <a:spAutoFit/>
          </a:bodyPr>
          <a:lstStyle/>
          <a:p>
            <a:pPr algn="r"/>
            <a:r>
              <a:rPr sz="1250" b="0" i="0">
                <a:solidFill>
                  <a:srgbClr val="C9D1DE"/>
                </a:solidFill>
                <a:latin typeface="Consolas"/>
              </a:rPr>
              <a:t>+0,5 Wh</a:t>
            </a:r>
          </a:p>
        </p:txBody>
      </p:sp>
      <p:sp>
        <p:nvSpPr>
          <p:cNvPr id="58" name="Rectangle 57"/>
          <p:cNvSpPr/>
          <p:nvPr/>
        </p:nvSpPr>
        <p:spPr>
          <a:xfrm>
            <a:off x="685800" y="5623560"/>
            <a:ext cx="10817352" cy="777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685800" y="5623560"/>
            <a:ext cx="54864" cy="77724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41832" y="5788152"/>
            <a:ext cx="10360152" cy="502920"/>
          </a:xfrm>
          <a:prstGeom prst="rect">
            <a:avLst/>
          </a:prstGeom>
          <a:noFill/>
        </p:spPr>
        <p:txBody>
          <a:bodyPr wrap="square" lIns="0" rIns="0" tIns="0" bIns="0">
            <a:spAutoFit/>
          </a:bodyPr>
          <a:lstStyle/>
          <a:p>
            <a:pPr algn="l">
              <a:lnSpc>
                <a:spcPct val="110000"/>
              </a:lnSpc>
            </a:pPr>
            <a:r>
              <a:rPr sz="1200" b="1" i="0">
                <a:solidFill>
                  <a:srgbClr val="E6E9EF"/>
                </a:solidFill>
                <a:latin typeface="Segoe UI"/>
              </a:rPr>
              <a:t>Ninguna casilla vacía: esta es la tabla completa.</a:t>
            </a:r>
            <a:r>
              <a:rPr sz="1200" b="0" i="0">
                <a:solidFill>
                  <a:srgbClr val="C9D1DE"/>
                </a:solidFill>
                <a:latin typeface="Segoe UI"/>
              </a:rPr>
              <a:t> LightGBM (fila resaltada) es el único boosting que se acerca a la lineal en la partición que decide (0,554 frente a 0,557) y con el sesgo más bajo de toda la familia de árboles (+9,1 Wh). Random Forest, el modelo vigente del detector, es el peor regresor temporal de la tabla (−4,459 sin retardos).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PROTOCOLO · CÓMO SE DETUVO CADA MODELO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Sin mirar el test: así se detuvo cada modelo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06</a:t>
            </a:r>
          </a:p>
        </p:txBody>
      </p:sp>
      <p:sp>
        <p:nvSpPr>
          <p:cNvPr id="6" name="Rectangle 5"/>
          <p:cNvSpPr/>
          <p:nvPr/>
        </p:nvSpPr>
        <p:spPr>
          <a:xfrm>
            <a:off x="1505468" y="1810512"/>
            <a:ext cx="9178014" cy="383133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div.png"/>
          <p:cNvPicPr>
            <a:picLocks noChangeAspect="1"/>
          </p:cNvPicPr>
          <p:nvPr/>
        </p:nvPicPr>
        <p:blipFill>
          <a:blip r:embed="rId2"/>
          <a:stretch>
            <a:fillRect/>
          </a:stretch>
        </p:blipFill>
        <p:spPr>
          <a:xfrm>
            <a:off x="1523756" y="1828800"/>
            <a:ext cx="9141438" cy="3794760"/>
          </a:xfrm>
          <a:prstGeom prst="rect">
            <a:avLst/>
          </a:prstGeom>
        </p:spPr>
      </p:pic>
      <p:sp>
        <p:nvSpPr>
          <p:cNvPr id="8" name="Rectangle 7"/>
          <p:cNvSpPr/>
          <p:nvPr/>
        </p:nvSpPr>
        <p:spPr>
          <a:xfrm>
            <a:off x="685800" y="5760720"/>
            <a:ext cx="10817352" cy="68580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760720"/>
            <a:ext cx="54864" cy="68580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925312"/>
            <a:ext cx="10360152" cy="411480"/>
          </a:xfrm>
          <a:prstGeom prst="rect">
            <a:avLst/>
          </a:prstGeom>
          <a:noFill/>
        </p:spPr>
        <p:txBody>
          <a:bodyPr wrap="square" lIns="0" rIns="0" tIns="0" bIns="0">
            <a:spAutoFit/>
          </a:bodyPr>
          <a:lstStyle/>
          <a:p>
            <a:pPr algn="l">
              <a:lnSpc>
                <a:spcPct val="110000"/>
              </a:lnSpc>
            </a:pPr>
            <a:r>
              <a:rPr sz="1200" b="1" i="0">
                <a:solidFill>
                  <a:srgbClr val="E6E9EF"/>
                </a:solidFill>
                <a:latin typeface="Segoe UI"/>
              </a:rPr>
              <a:t>El número de árboles nunca se elige mirando mayo.</a:t>
            </a:r>
            <a:r>
              <a:rPr sz="1200" b="0" i="0">
                <a:solidFill>
                  <a:srgbClr val="C9D1DE"/>
                </a:solidFill>
                <a:latin typeface="Segoe UI"/>
              </a:rPr>
              <a:t> Cada modelo se entrena de más y se recorta en la iteración que mejor rinde sobre esa rebanada de validación — aleatoria en la partición aleatoria, cronológica en la temporal. Es la razón por la que la tabla anterior es comparable entre sí.</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LA CAUSA · TABLA DE ABLACIÓN COMPLETA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Quitar las temperaturas arregla LightGBM; quitar el mes, no</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10</a:t>
            </a:r>
          </a:p>
        </p:txBody>
      </p:sp>
      <p:sp>
        <p:nvSpPr>
          <p:cNvPr id="6" name="TextBox 5"/>
          <p:cNvSpPr txBox="1"/>
          <p:nvPr/>
        </p:nvSpPr>
        <p:spPr>
          <a:xfrm>
            <a:off x="685800" y="1737360"/>
            <a:ext cx="5577840" cy="274320"/>
          </a:xfrm>
          <a:prstGeom prst="rect">
            <a:avLst/>
          </a:prstGeom>
          <a:noFill/>
        </p:spPr>
        <p:txBody>
          <a:bodyPr wrap="square" lIns="0" rIns="0" tIns="0" bIns="0">
            <a:spAutoFit/>
          </a:bodyPr>
          <a:lstStyle/>
          <a:p>
            <a:pPr algn="l"/>
            <a:r>
              <a:rPr sz="950" b="0" i="0">
                <a:solidFill>
                  <a:srgbClr val="6F7787"/>
                </a:solidFill>
                <a:latin typeface="Consolas"/>
              </a:rPr>
              <a:t>VARIABLES (PARTICIÓN TEMPORAL)</a:t>
            </a:r>
          </a:p>
        </p:txBody>
      </p:sp>
      <p:sp>
        <p:nvSpPr>
          <p:cNvPr id="7" name="TextBox 6"/>
          <p:cNvSpPr txBox="1"/>
          <p:nvPr/>
        </p:nvSpPr>
        <p:spPr>
          <a:xfrm>
            <a:off x="6355080" y="1737360"/>
            <a:ext cx="1691640" cy="274320"/>
          </a:xfrm>
          <a:prstGeom prst="rect">
            <a:avLst/>
          </a:prstGeom>
          <a:noFill/>
        </p:spPr>
        <p:txBody>
          <a:bodyPr wrap="square" lIns="0" rIns="0" tIns="0" bIns="0">
            <a:spAutoFit/>
          </a:bodyPr>
          <a:lstStyle/>
          <a:p>
            <a:pPr algn="r"/>
            <a:r>
              <a:rPr sz="950" b="0" i="0">
                <a:solidFill>
                  <a:srgbClr val="6F7787"/>
                </a:solidFill>
                <a:latin typeface="Consolas"/>
              </a:rPr>
              <a:t>LightGBM R²</a:t>
            </a:r>
          </a:p>
        </p:txBody>
      </p:sp>
      <p:sp>
        <p:nvSpPr>
          <p:cNvPr id="8" name="TextBox 7"/>
          <p:cNvSpPr txBox="1"/>
          <p:nvPr/>
        </p:nvSpPr>
        <p:spPr>
          <a:xfrm>
            <a:off x="8138160" y="1737360"/>
            <a:ext cx="1691640" cy="274320"/>
          </a:xfrm>
          <a:prstGeom prst="rect">
            <a:avLst/>
          </a:prstGeom>
          <a:noFill/>
        </p:spPr>
        <p:txBody>
          <a:bodyPr wrap="square" lIns="0" rIns="0" tIns="0" bIns="0">
            <a:spAutoFit/>
          </a:bodyPr>
          <a:lstStyle/>
          <a:p>
            <a:pPr algn="r"/>
            <a:r>
              <a:rPr sz="950" b="0" i="0">
                <a:solidFill>
                  <a:srgbClr val="6F7787"/>
                </a:solidFill>
                <a:latin typeface="Consolas"/>
              </a:rPr>
              <a:t>LightGBM SESGO</a:t>
            </a:r>
          </a:p>
        </p:txBody>
      </p:sp>
      <p:sp>
        <p:nvSpPr>
          <p:cNvPr id="9" name="TextBox 8"/>
          <p:cNvSpPr txBox="1"/>
          <p:nvPr/>
        </p:nvSpPr>
        <p:spPr>
          <a:xfrm>
            <a:off x="9921240" y="1737360"/>
            <a:ext cx="1581912" cy="274320"/>
          </a:xfrm>
          <a:prstGeom prst="rect">
            <a:avLst/>
          </a:prstGeom>
          <a:noFill/>
        </p:spPr>
        <p:txBody>
          <a:bodyPr wrap="square" lIns="0" rIns="0" tIns="0" bIns="0">
            <a:spAutoFit/>
          </a:bodyPr>
          <a:lstStyle/>
          <a:p>
            <a:pPr algn="r"/>
            <a:r>
              <a:rPr sz="950" b="0" i="0">
                <a:solidFill>
                  <a:srgbClr val="6F7787"/>
                </a:solidFill>
                <a:latin typeface="Consolas"/>
              </a:rPr>
              <a:t>LINEAL R²</a:t>
            </a:r>
          </a:p>
        </p:txBody>
      </p:sp>
      <p:sp>
        <p:nvSpPr>
          <p:cNvPr id="10" name="Rectangle 9"/>
          <p:cNvSpPr/>
          <p:nvPr/>
        </p:nvSpPr>
        <p:spPr>
          <a:xfrm>
            <a:off x="685800" y="2066543"/>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2103120"/>
            <a:ext cx="5486400" cy="365760"/>
          </a:xfrm>
          <a:prstGeom prst="rect">
            <a:avLst/>
          </a:prstGeom>
          <a:noFill/>
        </p:spPr>
        <p:txBody>
          <a:bodyPr wrap="square" lIns="0" rIns="0" tIns="0" bIns="0" anchor="ctr">
            <a:spAutoFit/>
          </a:bodyPr>
          <a:lstStyle/>
          <a:p>
            <a:pPr algn="l"/>
            <a:r>
              <a:rPr sz="1250" b="0" i="0">
                <a:solidFill>
                  <a:srgbClr val="C9D1DE"/>
                </a:solidFill>
                <a:latin typeface="Segoe UI"/>
              </a:rPr>
              <a:t>Sin retardos · las 29</a:t>
            </a:r>
          </a:p>
        </p:txBody>
      </p:sp>
      <p:sp>
        <p:nvSpPr>
          <p:cNvPr id="12" name="TextBox 11"/>
          <p:cNvSpPr txBox="1"/>
          <p:nvPr/>
        </p:nvSpPr>
        <p:spPr>
          <a:xfrm>
            <a:off x="6355080" y="2103120"/>
            <a:ext cx="1691640" cy="365760"/>
          </a:xfrm>
          <a:prstGeom prst="rect">
            <a:avLst/>
          </a:prstGeom>
          <a:noFill/>
        </p:spPr>
        <p:txBody>
          <a:bodyPr wrap="square" lIns="0" rIns="0" tIns="0" bIns="0" anchor="ctr">
            <a:spAutoFit/>
          </a:bodyPr>
          <a:lstStyle/>
          <a:p>
            <a:pPr algn="r"/>
            <a:r>
              <a:rPr sz="1250" b="0" i="0">
                <a:solidFill>
                  <a:srgbClr val="C9D1DE"/>
                </a:solidFill>
                <a:latin typeface="Consolas"/>
              </a:rPr>
              <a:t>−0,320</a:t>
            </a:r>
          </a:p>
        </p:txBody>
      </p:sp>
      <p:sp>
        <p:nvSpPr>
          <p:cNvPr id="13" name="TextBox 12"/>
          <p:cNvSpPr txBox="1"/>
          <p:nvPr/>
        </p:nvSpPr>
        <p:spPr>
          <a:xfrm>
            <a:off x="8138160" y="2103120"/>
            <a:ext cx="1691640" cy="365760"/>
          </a:xfrm>
          <a:prstGeom prst="rect">
            <a:avLst/>
          </a:prstGeom>
          <a:noFill/>
        </p:spPr>
        <p:txBody>
          <a:bodyPr wrap="square" lIns="0" rIns="0" tIns="0" bIns="0" anchor="ctr">
            <a:spAutoFit/>
          </a:bodyPr>
          <a:lstStyle/>
          <a:p>
            <a:pPr algn="r"/>
            <a:r>
              <a:rPr sz="1250" b="0" i="0">
                <a:solidFill>
                  <a:srgbClr val="C9D1DE"/>
                </a:solidFill>
                <a:latin typeface="Consolas"/>
              </a:rPr>
              <a:t>+47,0 Wh</a:t>
            </a:r>
          </a:p>
        </p:txBody>
      </p:sp>
      <p:sp>
        <p:nvSpPr>
          <p:cNvPr id="14" name="TextBox 13"/>
          <p:cNvSpPr txBox="1"/>
          <p:nvPr/>
        </p:nvSpPr>
        <p:spPr>
          <a:xfrm>
            <a:off x="9921240" y="2103120"/>
            <a:ext cx="1581912" cy="365760"/>
          </a:xfrm>
          <a:prstGeom prst="rect">
            <a:avLst/>
          </a:prstGeom>
          <a:noFill/>
        </p:spPr>
        <p:txBody>
          <a:bodyPr wrap="square" lIns="0" rIns="0" tIns="0" bIns="0" anchor="ctr">
            <a:spAutoFit/>
          </a:bodyPr>
          <a:lstStyle/>
          <a:p>
            <a:pPr algn="r"/>
            <a:r>
              <a:rPr sz="1250" b="0" i="0">
                <a:solidFill>
                  <a:srgbClr val="C9D1DE"/>
                </a:solidFill>
                <a:latin typeface="Consolas"/>
              </a:rPr>
              <a:t>0,106</a:t>
            </a:r>
          </a:p>
        </p:txBody>
      </p:sp>
      <p:sp>
        <p:nvSpPr>
          <p:cNvPr id="15" name="Rectangle 14"/>
          <p:cNvSpPr/>
          <p:nvPr/>
        </p:nvSpPr>
        <p:spPr>
          <a:xfrm>
            <a:off x="685800" y="2505456"/>
            <a:ext cx="10817352" cy="365760"/>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505456"/>
            <a:ext cx="5486400" cy="365760"/>
          </a:xfrm>
          <a:prstGeom prst="rect">
            <a:avLst/>
          </a:prstGeom>
          <a:noFill/>
        </p:spPr>
        <p:txBody>
          <a:bodyPr wrap="square" lIns="0" rIns="0" tIns="0" bIns="0" anchor="ctr">
            <a:spAutoFit/>
          </a:bodyPr>
          <a:lstStyle/>
          <a:p>
            <a:pPr algn="l"/>
            <a:r>
              <a:rPr sz="1250" b="1" i="0">
                <a:solidFill>
                  <a:srgbClr val="E6E9EF"/>
                </a:solidFill>
                <a:latin typeface="Segoe UI"/>
              </a:rPr>
              <a:t>Sin retardos · sin temperaturas</a:t>
            </a:r>
          </a:p>
        </p:txBody>
      </p:sp>
      <p:sp>
        <p:nvSpPr>
          <p:cNvPr id="17" name="TextBox 16"/>
          <p:cNvSpPr txBox="1"/>
          <p:nvPr/>
        </p:nvSpPr>
        <p:spPr>
          <a:xfrm>
            <a:off x="6355080" y="2505456"/>
            <a:ext cx="1691640" cy="365760"/>
          </a:xfrm>
          <a:prstGeom prst="rect">
            <a:avLst/>
          </a:prstGeom>
          <a:noFill/>
        </p:spPr>
        <p:txBody>
          <a:bodyPr wrap="square" lIns="0" rIns="0" tIns="0" bIns="0" anchor="ctr">
            <a:spAutoFit/>
          </a:bodyPr>
          <a:lstStyle/>
          <a:p>
            <a:pPr algn="r"/>
            <a:r>
              <a:rPr sz="1250" b="1" i="0">
                <a:solidFill>
                  <a:srgbClr val="E6E9EF"/>
                </a:solidFill>
                <a:latin typeface="Consolas"/>
              </a:rPr>
              <a:t>+0,110</a:t>
            </a:r>
          </a:p>
        </p:txBody>
      </p:sp>
      <p:sp>
        <p:nvSpPr>
          <p:cNvPr id="18" name="TextBox 17"/>
          <p:cNvSpPr txBox="1"/>
          <p:nvPr/>
        </p:nvSpPr>
        <p:spPr>
          <a:xfrm>
            <a:off x="8138160" y="2505456"/>
            <a:ext cx="1691640" cy="365760"/>
          </a:xfrm>
          <a:prstGeom prst="rect">
            <a:avLst/>
          </a:prstGeom>
          <a:noFill/>
        </p:spPr>
        <p:txBody>
          <a:bodyPr wrap="square" lIns="0" rIns="0" tIns="0" bIns="0" anchor="ctr">
            <a:spAutoFit/>
          </a:bodyPr>
          <a:lstStyle/>
          <a:p>
            <a:pPr algn="r"/>
            <a:r>
              <a:rPr sz="1250" b="1" i="0">
                <a:solidFill>
                  <a:srgbClr val="E6E9EF"/>
                </a:solidFill>
                <a:latin typeface="Consolas"/>
              </a:rPr>
              <a:t>+3,8 Wh</a:t>
            </a:r>
          </a:p>
        </p:txBody>
      </p:sp>
      <p:sp>
        <p:nvSpPr>
          <p:cNvPr id="19" name="TextBox 18"/>
          <p:cNvSpPr txBox="1"/>
          <p:nvPr/>
        </p:nvSpPr>
        <p:spPr>
          <a:xfrm>
            <a:off x="9921240" y="2505456"/>
            <a:ext cx="1581912" cy="365760"/>
          </a:xfrm>
          <a:prstGeom prst="rect">
            <a:avLst/>
          </a:prstGeom>
          <a:noFill/>
        </p:spPr>
        <p:txBody>
          <a:bodyPr wrap="square" lIns="0" rIns="0" tIns="0" bIns="0" anchor="ctr">
            <a:spAutoFit/>
          </a:bodyPr>
          <a:lstStyle/>
          <a:p>
            <a:pPr algn="r"/>
            <a:r>
              <a:rPr sz="1250" b="1" i="0">
                <a:solidFill>
                  <a:srgbClr val="E6E9EF"/>
                </a:solidFill>
                <a:latin typeface="Consolas"/>
              </a:rPr>
              <a:t>0,074</a:t>
            </a:r>
          </a:p>
        </p:txBody>
      </p:sp>
      <p:sp>
        <p:nvSpPr>
          <p:cNvPr id="20" name="TextBox 19"/>
          <p:cNvSpPr txBox="1"/>
          <p:nvPr/>
        </p:nvSpPr>
        <p:spPr>
          <a:xfrm>
            <a:off x="777240" y="2907791"/>
            <a:ext cx="5486400" cy="365760"/>
          </a:xfrm>
          <a:prstGeom prst="rect">
            <a:avLst/>
          </a:prstGeom>
          <a:noFill/>
        </p:spPr>
        <p:txBody>
          <a:bodyPr wrap="square" lIns="0" rIns="0" tIns="0" bIns="0" anchor="ctr">
            <a:spAutoFit/>
          </a:bodyPr>
          <a:lstStyle/>
          <a:p>
            <a:pPr algn="l"/>
            <a:r>
              <a:rPr sz="1250" b="0" i="0">
                <a:solidFill>
                  <a:srgbClr val="C9D1DE"/>
                </a:solidFill>
                <a:latin typeface="Segoe UI"/>
              </a:rPr>
              <a:t>Sin retardos · sin sensores interiores</a:t>
            </a:r>
          </a:p>
        </p:txBody>
      </p:sp>
      <p:sp>
        <p:nvSpPr>
          <p:cNvPr id="21" name="TextBox 20"/>
          <p:cNvSpPr txBox="1"/>
          <p:nvPr/>
        </p:nvSpPr>
        <p:spPr>
          <a:xfrm>
            <a:off x="6355080" y="2907791"/>
            <a:ext cx="1691640" cy="365760"/>
          </a:xfrm>
          <a:prstGeom prst="rect">
            <a:avLst/>
          </a:prstGeom>
          <a:noFill/>
        </p:spPr>
        <p:txBody>
          <a:bodyPr wrap="square" lIns="0" rIns="0" tIns="0" bIns="0" anchor="ctr">
            <a:spAutoFit/>
          </a:bodyPr>
          <a:lstStyle/>
          <a:p>
            <a:pPr algn="r"/>
            <a:r>
              <a:rPr sz="1250" b="0" i="0">
                <a:solidFill>
                  <a:srgbClr val="C9D1DE"/>
                </a:solidFill>
                <a:latin typeface="Consolas"/>
              </a:rPr>
              <a:t>+0,092</a:t>
            </a:r>
          </a:p>
        </p:txBody>
      </p:sp>
      <p:sp>
        <p:nvSpPr>
          <p:cNvPr id="22" name="TextBox 21"/>
          <p:cNvSpPr txBox="1"/>
          <p:nvPr/>
        </p:nvSpPr>
        <p:spPr>
          <a:xfrm>
            <a:off x="8138160" y="2907791"/>
            <a:ext cx="1691640" cy="365760"/>
          </a:xfrm>
          <a:prstGeom prst="rect">
            <a:avLst/>
          </a:prstGeom>
          <a:noFill/>
        </p:spPr>
        <p:txBody>
          <a:bodyPr wrap="square" lIns="0" rIns="0" tIns="0" bIns="0" anchor="ctr">
            <a:spAutoFit/>
          </a:bodyPr>
          <a:lstStyle/>
          <a:p>
            <a:pPr algn="r"/>
            <a:r>
              <a:rPr sz="1250" b="0" i="0">
                <a:solidFill>
                  <a:srgbClr val="C9D1DE"/>
                </a:solidFill>
                <a:latin typeface="Consolas"/>
              </a:rPr>
              <a:t>−2,8 Wh</a:t>
            </a:r>
          </a:p>
        </p:txBody>
      </p:sp>
      <p:sp>
        <p:nvSpPr>
          <p:cNvPr id="23" name="TextBox 22"/>
          <p:cNvSpPr txBox="1"/>
          <p:nvPr/>
        </p:nvSpPr>
        <p:spPr>
          <a:xfrm>
            <a:off x="9921240" y="2907791"/>
            <a:ext cx="1581912" cy="365760"/>
          </a:xfrm>
          <a:prstGeom prst="rect">
            <a:avLst/>
          </a:prstGeom>
          <a:noFill/>
        </p:spPr>
        <p:txBody>
          <a:bodyPr wrap="square" lIns="0" rIns="0" tIns="0" bIns="0" anchor="ctr">
            <a:spAutoFit/>
          </a:bodyPr>
          <a:lstStyle/>
          <a:p>
            <a:pPr algn="r"/>
            <a:r>
              <a:rPr sz="1250" b="0" i="0">
                <a:solidFill>
                  <a:srgbClr val="C9D1DE"/>
                </a:solidFill>
                <a:latin typeface="Consolas"/>
              </a:rPr>
              <a:t>0,031</a:t>
            </a:r>
          </a:p>
        </p:txBody>
      </p:sp>
      <p:sp>
        <p:nvSpPr>
          <p:cNvPr id="24" name="TextBox 23"/>
          <p:cNvSpPr txBox="1"/>
          <p:nvPr/>
        </p:nvSpPr>
        <p:spPr>
          <a:xfrm>
            <a:off x="777240" y="3310127"/>
            <a:ext cx="5486400" cy="365760"/>
          </a:xfrm>
          <a:prstGeom prst="rect">
            <a:avLst/>
          </a:prstGeom>
          <a:noFill/>
        </p:spPr>
        <p:txBody>
          <a:bodyPr wrap="square" lIns="0" rIns="0" tIns="0" bIns="0" anchor="ctr">
            <a:spAutoFit/>
          </a:bodyPr>
          <a:lstStyle/>
          <a:p>
            <a:pPr algn="l"/>
            <a:r>
              <a:rPr sz="1250" b="0" i="0">
                <a:solidFill>
                  <a:srgbClr val="C9D1DE"/>
                </a:solidFill>
                <a:latin typeface="Segoe UI"/>
              </a:rPr>
              <a:t>Sin retardos · sin mes</a:t>
            </a:r>
          </a:p>
        </p:txBody>
      </p:sp>
      <p:sp>
        <p:nvSpPr>
          <p:cNvPr id="25" name="TextBox 24"/>
          <p:cNvSpPr txBox="1"/>
          <p:nvPr/>
        </p:nvSpPr>
        <p:spPr>
          <a:xfrm>
            <a:off x="6355080" y="3310127"/>
            <a:ext cx="1691640" cy="365760"/>
          </a:xfrm>
          <a:prstGeom prst="rect">
            <a:avLst/>
          </a:prstGeom>
          <a:noFill/>
        </p:spPr>
        <p:txBody>
          <a:bodyPr wrap="square" lIns="0" rIns="0" tIns="0" bIns="0" anchor="ctr">
            <a:spAutoFit/>
          </a:bodyPr>
          <a:lstStyle/>
          <a:p>
            <a:pPr algn="r"/>
            <a:r>
              <a:rPr sz="1250" b="0" i="0">
                <a:solidFill>
                  <a:srgbClr val="C9D1DE"/>
                </a:solidFill>
                <a:latin typeface="Consolas"/>
              </a:rPr>
              <a:t>+0,024</a:t>
            </a:r>
          </a:p>
        </p:txBody>
      </p:sp>
      <p:sp>
        <p:nvSpPr>
          <p:cNvPr id="26" name="TextBox 25"/>
          <p:cNvSpPr txBox="1"/>
          <p:nvPr/>
        </p:nvSpPr>
        <p:spPr>
          <a:xfrm>
            <a:off x="8138160" y="3310127"/>
            <a:ext cx="1691640" cy="365760"/>
          </a:xfrm>
          <a:prstGeom prst="rect">
            <a:avLst/>
          </a:prstGeom>
          <a:noFill/>
        </p:spPr>
        <p:txBody>
          <a:bodyPr wrap="square" lIns="0" rIns="0" tIns="0" bIns="0" anchor="ctr">
            <a:spAutoFit/>
          </a:bodyPr>
          <a:lstStyle/>
          <a:p>
            <a:pPr algn="r"/>
            <a:r>
              <a:rPr sz="1250" b="0" i="0">
                <a:solidFill>
                  <a:srgbClr val="C9D1DE"/>
                </a:solidFill>
                <a:latin typeface="Consolas"/>
              </a:rPr>
              <a:t>+24,4 Wh</a:t>
            </a:r>
          </a:p>
        </p:txBody>
      </p:sp>
      <p:sp>
        <p:nvSpPr>
          <p:cNvPr id="27" name="TextBox 26"/>
          <p:cNvSpPr txBox="1"/>
          <p:nvPr/>
        </p:nvSpPr>
        <p:spPr>
          <a:xfrm>
            <a:off x="9921240" y="3310127"/>
            <a:ext cx="1581912" cy="365760"/>
          </a:xfrm>
          <a:prstGeom prst="rect">
            <a:avLst/>
          </a:prstGeom>
          <a:noFill/>
        </p:spPr>
        <p:txBody>
          <a:bodyPr wrap="square" lIns="0" rIns="0" tIns="0" bIns="0" anchor="ctr">
            <a:spAutoFit/>
          </a:bodyPr>
          <a:lstStyle/>
          <a:p>
            <a:pPr algn="r"/>
            <a:r>
              <a:rPr sz="1250" b="0" i="0">
                <a:solidFill>
                  <a:srgbClr val="C9D1DE"/>
                </a:solidFill>
                <a:latin typeface="Consolas"/>
              </a:rPr>
              <a:t>0,099</a:t>
            </a:r>
          </a:p>
        </p:txBody>
      </p:sp>
      <p:sp>
        <p:nvSpPr>
          <p:cNvPr id="28" name="TextBox 27"/>
          <p:cNvSpPr txBox="1"/>
          <p:nvPr/>
        </p:nvSpPr>
        <p:spPr>
          <a:xfrm>
            <a:off x="777240" y="3712463"/>
            <a:ext cx="5486400" cy="365760"/>
          </a:xfrm>
          <a:prstGeom prst="rect">
            <a:avLst/>
          </a:prstGeom>
          <a:noFill/>
        </p:spPr>
        <p:txBody>
          <a:bodyPr wrap="square" lIns="0" rIns="0" tIns="0" bIns="0" anchor="ctr">
            <a:spAutoFit/>
          </a:bodyPr>
          <a:lstStyle/>
          <a:p>
            <a:pPr algn="l"/>
            <a:r>
              <a:rPr sz="1250" b="0" i="0">
                <a:solidFill>
                  <a:srgbClr val="C9D1DE"/>
                </a:solidFill>
                <a:latin typeface="Segoe UI"/>
              </a:rPr>
              <a:t>Con retardos · las 29</a:t>
            </a:r>
          </a:p>
        </p:txBody>
      </p:sp>
      <p:sp>
        <p:nvSpPr>
          <p:cNvPr id="29" name="TextBox 28"/>
          <p:cNvSpPr txBox="1"/>
          <p:nvPr/>
        </p:nvSpPr>
        <p:spPr>
          <a:xfrm>
            <a:off x="6355080" y="3712463"/>
            <a:ext cx="1691640" cy="365760"/>
          </a:xfrm>
          <a:prstGeom prst="rect">
            <a:avLst/>
          </a:prstGeom>
          <a:noFill/>
        </p:spPr>
        <p:txBody>
          <a:bodyPr wrap="square" lIns="0" rIns="0" tIns="0" bIns="0" anchor="ctr">
            <a:spAutoFit/>
          </a:bodyPr>
          <a:lstStyle/>
          <a:p>
            <a:pPr algn="r"/>
            <a:r>
              <a:rPr sz="1250" b="0" i="0">
                <a:solidFill>
                  <a:srgbClr val="C9D1DE"/>
                </a:solidFill>
                <a:latin typeface="Consolas"/>
              </a:rPr>
              <a:t>0,554</a:t>
            </a:r>
          </a:p>
        </p:txBody>
      </p:sp>
      <p:sp>
        <p:nvSpPr>
          <p:cNvPr id="30" name="TextBox 29"/>
          <p:cNvSpPr txBox="1"/>
          <p:nvPr/>
        </p:nvSpPr>
        <p:spPr>
          <a:xfrm>
            <a:off x="8138160" y="3712463"/>
            <a:ext cx="1691640" cy="365760"/>
          </a:xfrm>
          <a:prstGeom prst="rect">
            <a:avLst/>
          </a:prstGeom>
          <a:noFill/>
        </p:spPr>
        <p:txBody>
          <a:bodyPr wrap="square" lIns="0" rIns="0" tIns="0" bIns="0" anchor="ctr">
            <a:spAutoFit/>
          </a:bodyPr>
          <a:lstStyle/>
          <a:p>
            <a:pPr algn="r"/>
            <a:r>
              <a:rPr sz="1250" b="0" i="0">
                <a:solidFill>
                  <a:srgbClr val="C9D1DE"/>
                </a:solidFill>
                <a:latin typeface="Consolas"/>
              </a:rPr>
              <a:t>+9,1 Wh</a:t>
            </a:r>
          </a:p>
        </p:txBody>
      </p:sp>
      <p:sp>
        <p:nvSpPr>
          <p:cNvPr id="31" name="TextBox 30"/>
          <p:cNvSpPr txBox="1"/>
          <p:nvPr/>
        </p:nvSpPr>
        <p:spPr>
          <a:xfrm>
            <a:off x="9921240" y="3712463"/>
            <a:ext cx="1581912" cy="365760"/>
          </a:xfrm>
          <a:prstGeom prst="rect">
            <a:avLst/>
          </a:prstGeom>
          <a:noFill/>
        </p:spPr>
        <p:txBody>
          <a:bodyPr wrap="square" lIns="0" rIns="0" tIns="0" bIns="0" anchor="ctr">
            <a:spAutoFit/>
          </a:bodyPr>
          <a:lstStyle/>
          <a:p>
            <a:pPr algn="r"/>
            <a:r>
              <a:rPr sz="1250" b="0" i="0">
                <a:solidFill>
                  <a:srgbClr val="C9D1DE"/>
                </a:solidFill>
                <a:latin typeface="Consolas"/>
              </a:rPr>
              <a:t>0,557</a:t>
            </a:r>
          </a:p>
        </p:txBody>
      </p:sp>
      <p:sp>
        <p:nvSpPr>
          <p:cNvPr id="32" name="TextBox 31"/>
          <p:cNvSpPr txBox="1"/>
          <p:nvPr/>
        </p:nvSpPr>
        <p:spPr>
          <a:xfrm>
            <a:off x="777240" y="4114800"/>
            <a:ext cx="5486400" cy="365760"/>
          </a:xfrm>
          <a:prstGeom prst="rect">
            <a:avLst/>
          </a:prstGeom>
          <a:noFill/>
        </p:spPr>
        <p:txBody>
          <a:bodyPr wrap="square" lIns="0" rIns="0" tIns="0" bIns="0" anchor="ctr">
            <a:spAutoFit/>
          </a:bodyPr>
          <a:lstStyle/>
          <a:p>
            <a:pPr algn="l"/>
            <a:r>
              <a:rPr sz="1250" b="0" i="0">
                <a:solidFill>
                  <a:srgbClr val="C9D1DE"/>
                </a:solidFill>
                <a:latin typeface="Segoe UI"/>
              </a:rPr>
              <a:t>Con retardos · sin temperaturas</a:t>
            </a:r>
          </a:p>
        </p:txBody>
      </p:sp>
      <p:sp>
        <p:nvSpPr>
          <p:cNvPr id="33" name="TextBox 32"/>
          <p:cNvSpPr txBox="1"/>
          <p:nvPr/>
        </p:nvSpPr>
        <p:spPr>
          <a:xfrm>
            <a:off x="6355080" y="4114800"/>
            <a:ext cx="1691640" cy="365760"/>
          </a:xfrm>
          <a:prstGeom prst="rect">
            <a:avLst/>
          </a:prstGeom>
          <a:noFill/>
        </p:spPr>
        <p:txBody>
          <a:bodyPr wrap="square" lIns="0" rIns="0" tIns="0" bIns="0" anchor="ctr">
            <a:spAutoFit/>
          </a:bodyPr>
          <a:lstStyle/>
          <a:p>
            <a:pPr algn="r"/>
            <a:r>
              <a:rPr sz="1250" b="0" i="0">
                <a:solidFill>
                  <a:srgbClr val="C9D1DE"/>
                </a:solidFill>
                <a:latin typeface="Consolas"/>
              </a:rPr>
              <a:t>0,561</a:t>
            </a:r>
          </a:p>
        </p:txBody>
      </p:sp>
      <p:sp>
        <p:nvSpPr>
          <p:cNvPr id="34" name="TextBox 33"/>
          <p:cNvSpPr txBox="1"/>
          <p:nvPr/>
        </p:nvSpPr>
        <p:spPr>
          <a:xfrm>
            <a:off x="8138160" y="4114800"/>
            <a:ext cx="1691640" cy="365760"/>
          </a:xfrm>
          <a:prstGeom prst="rect">
            <a:avLst/>
          </a:prstGeom>
          <a:noFill/>
        </p:spPr>
        <p:txBody>
          <a:bodyPr wrap="square" lIns="0" rIns="0" tIns="0" bIns="0" anchor="ctr">
            <a:spAutoFit/>
          </a:bodyPr>
          <a:lstStyle/>
          <a:p>
            <a:pPr algn="r"/>
            <a:r>
              <a:rPr sz="1250" b="0" i="0">
                <a:solidFill>
                  <a:srgbClr val="C9D1DE"/>
                </a:solidFill>
                <a:latin typeface="Consolas"/>
              </a:rPr>
              <a:t>+4,1 Wh</a:t>
            </a:r>
          </a:p>
        </p:txBody>
      </p:sp>
      <p:sp>
        <p:nvSpPr>
          <p:cNvPr id="35" name="TextBox 34"/>
          <p:cNvSpPr txBox="1"/>
          <p:nvPr/>
        </p:nvSpPr>
        <p:spPr>
          <a:xfrm>
            <a:off x="9921240" y="4114800"/>
            <a:ext cx="1581912" cy="365760"/>
          </a:xfrm>
          <a:prstGeom prst="rect">
            <a:avLst/>
          </a:prstGeom>
          <a:noFill/>
        </p:spPr>
        <p:txBody>
          <a:bodyPr wrap="square" lIns="0" rIns="0" tIns="0" bIns="0" anchor="ctr">
            <a:spAutoFit/>
          </a:bodyPr>
          <a:lstStyle/>
          <a:p>
            <a:pPr algn="r"/>
            <a:r>
              <a:rPr sz="1250" b="0" i="0">
                <a:solidFill>
                  <a:srgbClr val="C9D1DE"/>
                </a:solidFill>
                <a:latin typeface="Consolas"/>
              </a:rPr>
              <a:t>0,559</a:t>
            </a:r>
          </a:p>
        </p:txBody>
      </p:sp>
      <p:sp>
        <p:nvSpPr>
          <p:cNvPr id="36" name="Rectangle 35"/>
          <p:cNvSpPr/>
          <p:nvPr/>
        </p:nvSpPr>
        <p:spPr>
          <a:xfrm>
            <a:off x="685800" y="4572000"/>
            <a:ext cx="10817352" cy="141732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85800" y="4572000"/>
            <a:ext cx="54864" cy="141732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736592"/>
            <a:ext cx="10360152" cy="1143000"/>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El mes no es la causa; las temperaturas, sí.</a:t>
            </a:r>
            <a:r>
              <a:rPr sz="1250" b="0" i="0">
                <a:solidFill>
                  <a:srgbClr val="C9D1DE"/>
                </a:solidFill>
                <a:latin typeface="Segoe UI"/>
              </a:rPr>
              <a:t> Sin retardos, quitar las 29 variables de temperatura hace que LightGBM pase de −0,320 a +0,110 y el sesgo caiga de +47,0 a +3,8 Wh. Quitar el mes en su lugar apenas cambia nada (+0,024, sesgo +24,4 Wh todavía alto). Con retardos el efecto es más leve porque lag1 ya explica casi todo, pero la dirección es la misma: sin temperaturas, el sesgo de mayo baja de +9,1 a +4,1 Wh.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CLASIFICACIÓN · EL TABLERO COMPLETO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Precisión, recall, F1, AUC y AP — los seis modelos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12</a:t>
            </a:r>
          </a:p>
        </p:txBody>
      </p:sp>
      <p:sp>
        <p:nvSpPr>
          <p:cNvPr id="6" name="TextBox 5"/>
          <p:cNvSpPr txBox="1"/>
          <p:nvPr/>
        </p:nvSpPr>
        <p:spPr>
          <a:xfrm>
            <a:off x="685800" y="1737360"/>
            <a:ext cx="3383280" cy="274320"/>
          </a:xfrm>
          <a:prstGeom prst="rect">
            <a:avLst/>
          </a:prstGeom>
          <a:noFill/>
        </p:spPr>
        <p:txBody>
          <a:bodyPr wrap="square" lIns="0" rIns="0" tIns="0" bIns="0">
            <a:spAutoFit/>
          </a:bodyPr>
          <a:lstStyle/>
          <a:p>
            <a:pPr algn="l"/>
            <a:r>
              <a:rPr sz="950" b="0" i="0">
                <a:solidFill>
                  <a:srgbClr val="6F7787"/>
                </a:solidFill>
                <a:latin typeface="Consolas"/>
              </a:rPr>
              <a:t>TEMPORAL + RETARDOS</a:t>
            </a:r>
          </a:p>
        </p:txBody>
      </p:sp>
      <p:sp>
        <p:nvSpPr>
          <p:cNvPr id="7" name="TextBox 6"/>
          <p:cNvSpPr txBox="1"/>
          <p:nvPr/>
        </p:nvSpPr>
        <p:spPr>
          <a:xfrm>
            <a:off x="4206240" y="1737360"/>
            <a:ext cx="1234440" cy="274320"/>
          </a:xfrm>
          <a:prstGeom prst="rect">
            <a:avLst/>
          </a:prstGeom>
          <a:noFill/>
        </p:spPr>
        <p:txBody>
          <a:bodyPr wrap="square" lIns="0" rIns="0" tIns="0" bIns="0">
            <a:spAutoFit/>
          </a:bodyPr>
          <a:lstStyle/>
          <a:p>
            <a:pPr algn="r"/>
            <a:r>
              <a:rPr sz="950" b="0" i="0">
                <a:solidFill>
                  <a:srgbClr val="6F7787"/>
                </a:solidFill>
                <a:latin typeface="Consolas"/>
              </a:rPr>
              <a:t>PRECISIÓN</a:t>
            </a:r>
          </a:p>
        </p:txBody>
      </p:sp>
      <p:sp>
        <p:nvSpPr>
          <p:cNvPr id="8" name="TextBox 7"/>
          <p:cNvSpPr txBox="1"/>
          <p:nvPr/>
        </p:nvSpPr>
        <p:spPr>
          <a:xfrm>
            <a:off x="5577840" y="1737360"/>
            <a:ext cx="1234440" cy="274320"/>
          </a:xfrm>
          <a:prstGeom prst="rect">
            <a:avLst/>
          </a:prstGeom>
          <a:noFill/>
        </p:spPr>
        <p:txBody>
          <a:bodyPr wrap="square" lIns="0" rIns="0" tIns="0" bIns="0">
            <a:spAutoFit/>
          </a:bodyPr>
          <a:lstStyle/>
          <a:p>
            <a:pPr algn="r"/>
            <a:r>
              <a:rPr sz="950" b="0" i="0">
                <a:solidFill>
                  <a:srgbClr val="6F7787"/>
                </a:solidFill>
                <a:latin typeface="Consolas"/>
              </a:rPr>
              <a:t>RECALL</a:t>
            </a:r>
          </a:p>
        </p:txBody>
      </p:sp>
      <p:sp>
        <p:nvSpPr>
          <p:cNvPr id="9" name="TextBox 8"/>
          <p:cNvSpPr txBox="1"/>
          <p:nvPr/>
        </p:nvSpPr>
        <p:spPr>
          <a:xfrm>
            <a:off x="6949440" y="1737360"/>
            <a:ext cx="1234440" cy="274320"/>
          </a:xfrm>
          <a:prstGeom prst="rect">
            <a:avLst/>
          </a:prstGeom>
          <a:noFill/>
        </p:spPr>
        <p:txBody>
          <a:bodyPr wrap="square" lIns="0" rIns="0" tIns="0" bIns="0">
            <a:spAutoFit/>
          </a:bodyPr>
          <a:lstStyle/>
          <a:p>
            <a:pPr algn="r"/>
            <a:r>
              <a:rPr sz="950" b="0" i="0">
                <a:solidFill>
                  <a:srgbClr val="6F7787"/>
                </a:solidFill>
                <a:latin typeface="Consolas"/>
              </a:rPr>
              <a:t>F1</a:t>
            </a:r>
          </a:p>
        </p:txBody>
      </p:sp>
      <p:sp>
        <p:nvSpPr>
          <p:cNvPr id="10" name="TextBox 9"/>
          <p:cNvSpPr txBox="1"/>
          <p:nvPr/>
        </p:nvSpPr>
        <p:spPr>
          <a:xfrm>
            <a:off x="8321040" y="1737360"/>
            <a:ext cx="1325880" cy="274320"/>
          </a:xfrm>
          <a:prstGeom prst="rect">
            <a:avLst/>
          </a:prstGeom>
          <a:noFill/>
        </p:spPr>
        <p:txBody>
          <a:bodyPr wrap="square" lIns="0" rIns="0" tIns="0" bIns="0">
            <a:spAutoFit/>
          </a:bodyPr>
          <a:lstStyle/>
          <a:p>
            <a:pPr algn="r"/>
            <a:r>
              <a:rPr sz="950" b="0" i="0">
                <a:solidFill>
                  <a:srgbClr val="6F7787"/>
                </a:solidFill>
                <a:latin typeface="Consolas"/>
              </a:rPr>
              <a:t>AUC</a:t>
            </a:r>
          </a:p>
        </p:txBody>
      </p:sp>
      <p:sp>
        <p:nvSpPr>
          <p:cNvPr id="11" name="TextBox 10"/>
          <p:cNvSpPr txBox="1"/>
          <p:nvPr/>
        </p:nvSpPr>
        <p:spPr>
          <a:xfrm>
            <a:off x="9784080" y="1737360"/>
            <a:ext cx="1536192" cy="274320"/>
          </a:xfrm>
          <a:prstGeom prst="rect">
            <a:avLst/>
          </a:prstGeom>
          <a:noFill/>
        </p:spPr>
        <p:txBody>
          <a:bodyPr wrap="square" lIns="0" rIns="0" tIns="0" bIns="0">
            <a:spAutoFit/>
          </a:bodyPr>
          <a:lstStyle/>
          <a:p>
            <a:pPr algn="r"/>
            <a:r>
              <a:rPr sz="950" b="0" i="0">
                <a:solidFill>
                  <a:srgbClr val="6F7787"/>
                </a:solidFill>
                <a:latin typeface="Consolas"/>
              </a:rPr>
              <a:t>AP</a:t>
            </a:r>
          </a:p>
        </p:txBody>
      </p:sp>
      <p:sp>
        <p:nvSpPr>
          <p:cNvPr id="12" name="Rectangle 11"/>
          <p:cNvSpPr/>
          <p:nvPr/>
        </p:nvSpPr>
        <p:spPr>
          <a:xfrm>
            <a:off x="685800" y="2066543"/>
            <a:ext cx="1063447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103120"/>
            <a:ext cx="3291840" cy="365760"/>
          </a:xfrm>
          <a:prstGeom prst="rect">
            <a:avLst/>
          </a:prstGeom>
          <a:noFill/>
        </p:spPr>
        <p:txBody>
          <a:bodyPr wrap="square" lIns="0" rIns="0" tIns="0" bIns="0" anchor="ctr">
            <a:spAutoFit/>
          </a:bodyPr>
          <a:lstStyle/>
          <a:p>
            <a:pPr algn="l"/>
            <a:r>
              <a:rPr sz="1250" b="0" i="0">
                <a:solidFill>
                  <a:srgbClr val="C9D1DE"/>
                </a:solidFill>
                <a:latin typeface="Segoe UI"/>
              </a:rPr>
              <a:t>AdaBoost</a:t>
            </a:r>
          </a:p>
        </p:txBody>
      </p:sp>
      <p:sp>
        <p:nvSpPr>
          <p:cNvPr id="14" name="TextBox 13"/>
          <p:cNvSpPr txBox="1"/>
          <p:nvPr/>
        </p:nvSpPr>
        <p:spPr>
          <a:xfrm>
            <a:off x="4206240" y="210312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0,510</a:t>
            </a:r>
          </a:p>
        </p:txBody>
      </p:sp>
      <p:sp>
        <p:nvSpPr>
          <p:cNvPr id="15" name="TextBox 14"/>
          <p:cNvSpPr txBox="1"/>
          <p:nvPr/>
        </p:nvSpPr>
        <p:spPr>
          <a:xfrm>
            <a:off x="5577840" y="210312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0,772</a:t>
            </a:r>
          </a:p>
        </p:txBody>
      </p:sp>
      <p:sp>
        <p:nvSpPr>
          <p:cNvPr id="16" name="TextBox 15"/>
          <p:cNvSpPr txBox="1"/>
          <p:nvPr/>
        </p:nvSpPr>
        <p:spPr>
          <a:xfrm>
            <a:off x="6949440" y="210312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0,614</a:t>
            </a:r>
          </a:p>
        </p:txBody>
      </p:sp>
      <p:sp>
        <p:nvSpPr>
          <p:cNvPr id="17" name="TextBox 16"/>
          <p:cNvSpPr txBox="1"/>
          <p:nvPr/>
        </p:nvSpPr>
        <p:spPr>
          <a:xfrm>
            <a:off x="8321040" y="2103120"/>
            <a:ext cx="1325880" cy="365760"/>
          </a:xfrm>
          <a:prstGeom prst="rect">
            <a:avLst/>
          </a:prstGeom>
          <a:noFill/>
        </p:spPr>
        <p:txBody>
          <a:bodyPr wrap="square" lIns="0" rIns="0" tIns="0" bIns="0" anchor="ctr">
            <a:spAutoFit/>
          </a:bodyPr>
          <a:lstStyle/>
          <a:p>
            <a:pPr algn="r"/>
            <a:r>
              <a:rPr sz="1250" b="0" i="0">
                <a:solidFill>
                  <a:srgbClr val="C9D1DE"/>
                </a:solidFill>
                <a:latin typeface="Consolas"/>
              </a:rPr>
              <a:t>0,930</a:t>
            </a:r>
          </a:p>
        </p:txBody>
      </p:sp>
      <p:sp>
        <p:nvSpPr>
          <p:cNvPr id="18" name="TextBox 17"/>
          <p:cNvSpPr txBox="1"/>
          <p:nvPr/>
        </p:nvSpPr>
        <p:spPr>
          <a:xfrm>
            <a:off x="9784080" y="2103120"/>
            <a:ext cx="1536192" cy="365760"/>
          </a:xfrm>
          <a:prstGeom prst="rect">
            <a:avLst/>
          </a:prstGeom>
          <a:noFill/>
        </p:spPr>
        <p:txBody>
          <a:bodyPr wrap="square" lIns="0" rIns="0" tIns="0" bIns="0" anchor="ctr">
            <a:spAutoFit/>
          </a:bodyPr>
          <a:lstStyle/>
          <a:p>
            <a:pPr algn="r"/>
            <a:r>
              <a:rPr sz="1250" b="0" i="0">
                <a:solidFill>
                  <a:srgbClr val="C9D1DE"/>
                </a:solidFill>
                <a:latin typeface="Consolas"/>
              </a:rPr>
              <a:t>0,682</a:t>
            </a:r>
          </a:p>
        </p:txBody>
      </p:sp>
      <p:sp>
        <p:nvSpPr>
          <p:cNvPr id="19" name="TextBox 18"/>
          <p:cNvSpPr txBox="1"/>
          <p:nvPr/>
        </p:nvSpPr>
        <p:spPr>
          <a:xfrm>
            <a:off x="777240" y="2505456"/>
            <a:ext cx="3291840" cy="365760"/>
          </a:xfrm>
          <a:prstGeom prst="rect">
            <a:avLst/>
          </a:prstGeom>
          <a:noFill/>
        </p:spPr>
        <p:txBody>
          <a:bodyPr wrap="square" lIns="0" rIns="0" tIns="0" bIns="0" anchor="ctr">
            <a:spAutoFit/>
          </a:bodyPr>
          <a:lstStyle/>
          <a:p>
            <a:pPr algn="l"/>
            <a:r>
              <a:rPr sz="1250" b="0" i="0">
                <a:solidFill>
                  <a:srgbClr val="C9D1DE"/>
                </a:solidFill>
                <a:latin typeface="Segoe UI"/>
              </a:rPr>
              <a:t>GBM</a:t>
            </a:r>
          </a:p>
        </p:txBody>
      </p:sp>
      <p:sp>
        <p:nvSpPr>
          <p:cNvPr id="20" name="TextBox 19"/>
          <p:cNvSpPr txBox="1"/>
          <p:nvPr/>
        </p:nvSpPr>
        <p:spPr>
          <a:xfrm>
            <a:off x="4206240" y="2505456"/>
            <a:ext cx="1234440" cy="365760"/>
          </a:xfrm>
          <a:prstGeom prst="rect">
            <a:avLst/>
          </a:prstGeom>
          <a:noFill/>
        </p:spPr>
        <p:txBody>
          <a:bodyPr wrap="square" lIns="0" rIns="0" tIns="0" bIns="0" anchor="ctr">
            <a:spAutoFit/>
          </a:bodyPr>
          <a:lstStyle/>
          <a:p>
            <a:pPr algn="r"/>
            <a:r>
              <a:rPr sz="1250" b="0" i="0">
                <a:solidFill>
                  <a:srgbClr val="C9D1DE"/>
                </a:solidFill>
                <a:latin typeface="Consolas"/>
              </a:rPr>
              <a:t>0,398</a:t>
            </a:r>
          </a:p>
        </p:txBody>
      </p:sp>
      <p:sp>
        <p:nvSpPr>
          <p:cNvPr id="21" name="TextBox 20"/>
          <p:cNvSpPr txBox="1"/>
          <p:nvPr/>
        </p:nvSpPr>
        <p:spPr>
          <a:xfrm>
            <a:off x="5577840" y="2505456"/>
            <a:ext cx="1234440" cy="365760"/>
          </a:xfrm>
          <a:prstGeom prst="rect">
            <a:avLst/>
          </a:prstGeom>
          <a:noFill/>
        </p:spPr>
        <p:txBody>
          <a:bodyPr wrap="square" lIns="0" rIns="0" tIns="0" bIns="0" anchor="ctr">
            <a:spAutoFit/>
          </a:bodyPr>
          <a:lstStyle/>
          <a:p>
            <a:pPr algn="r"/>
            <a:r>
              <a:rPr sz="1250" b="0" i="0">
                <a:solidFill>
                  <a:srgbClr val="C9D1DE"/>
                </a:solidFill>
                <a:latin typeface="Consolas"/>
              </a:rPr>
              <a:t>0,401</a:t>
            </a:r>
          </a:p>
        </p:txBody>
      </p:sp>
      <p:sp>
        <p:nvSpPr>
          <p:cNvPr id="22" name="TextBox 21"/>
          <p:cNvSpPr txBox="1"/>
          <p:nvPr/>
        </p:nvSpPr>
        <p:spPr>
          <a:xfrm>
            <a:off x="6949440" y="2505456"/>
            <a:ext cx="1234440" cy="365760"/>
          </a:xfrm>
          <a:prstGeom prst="rect">
            <a:avLst/>
          </a:prstGeom>
          <a:noFill/>
        </p:spPr>
        <p:txBody>
          <a:bodyPr wrap="square" lIns="0" rIns="0" tIns="0" bIns="0" anchor="ctr">
            <a:spAutoFit/>
          </a:bodyPr>
          <a:lstStyle/>
          <a:p>
            <a:pPr algn="r"/>
            <a:r>
              <a:rPr sz="1250" b="0" i="0">
                <a:solidFill>
                  <a:srgbClr val="C9D1DE"/>
                </a:solidFill>
                <a:latin typeface="Consolas"/>
              </a:rPr>
              <a:t>0,399</a:t>
            </a:r>
          </a:p>
        </p:txBody>
      </p:sp>
      <p:sp>
        <p:nvSpPr>
          <p:cNvPr id="23" name="TextBox 22"/>
          <p:cNvSpPr txBox="1"/>
          <p:nvPr/>
        </p:nvSpPr>
        <p:spPr>
          <a:xfrm>
            <a:off x="8321040" y="2505456"/>
            <a:ext cx="1325880" cy="365760"/>
          </a:xfrm>
          <a:prstGeom prst="rect">
            <a:avLst/>
          </a:prstGeom>
          <a:noFill/>
        </p:spPr>
        <p:txBody>
          <a:bodyPr wrap="square" lIns="0" rIns="0" tIns="0" bIns="0" anchor="ctr">
            <a:spAutoFit/>
          </a:bodyPr>
          <a:lstStyle/>
          <a:p>
            <a:pPr algn="r"/>
            <a:r>
              <a:rPr sz="1250" b="0" i="0">
                <a:solidFill>
                  <a:srgbClr val="C9D1DE"/>
                </a:solidFill>
                <a:latin typeface="Consolas"/>
              </a:rPr>
              <a:t>0,850</a:t>
            </a:r>
          </a:p>
        </p:txBody>
      </p:sp>
      <p:sp>
        <p:nvSpPr>
          <p:cNvPr id="24" name="TextBox 23"/>
          <p:cNvSpPr txBox="1"/>
          <p:nvPr/>
        </p:nvSpPr>
        <p:spPr>
          <a:xfrm>
            <a:off x="9784080" y="2505456"/>
            <a:ext cx="1536192" cy="365760"/>
          </a:xfrm>
          <a:prstGeom prst="rect">
            <a:avLst/>
          </a:prstGeom>
          <a:noFill/>
        </p:spPr>
        <p:txBody>
          <a:bodyPr wrap="square" lIns="0" rIns="0" tIns="0" bIns="0" anchor="ctr">
            <a:spAutoFit/>
          </a:bodyPr>
          <a:lstStyle/>
          <a:p>
            <a:pPr algn="r"/>
            <a:r>
              <a:rPr sz="1250" b="0" i="0">
                <a:solidFill>
                  <a:srgbClr val="C9D1DE"/>
                </a:solidFill>
                <a:latin typeface="Consolas"/>
              </a:rPr>
              <a:t>0,425</a:t>
            </a:r>
          </a:p>
        </p:txBody>
      </p:sp>
      <p:sp>
        <p:nvSpPr>
          <p:cNvPr id="25" name="TextBox 24"/>
          <p:cNvSpPr txBox="1"/>
          <p:nvPr/>
        </p:nvSpPr>
        <p:spPr>
          <a:xfrm>
            <a:off x="777240" y="2907791"/>
            <a:ext cx="3291840" cy="365760"/>
          </a:xfrm>
          <a:prstGeom prst="rect">
            <a:avLst/>
          </a:prstGeom>
          <a:noFill/>
        </p:spPr>
        <p:txBody>
          <a:bodyPr wrap="square" lIns="0" rIns="0" tIns="0" bIns="0" anchor="ctr">
            <a:spAutoFit/>
          </a:bodyPr>
          <a:lstStyle/>
          <a:p>
            <a:pPr algn="l"/>
            <a:r>
              <a:rPr sz="1250" b="0" i="0">
                <a:solidFill>
                  <a:srgbClr val="C9D1DE"/>
                </a:solidFill>
                <a:latin typeface="Segoe UI"/>
              </a:rPr>
              <a:t>XGBoost</a:t>
            </a:r>
          </a:p>
        </p:txBody>
      </p:sp>
      <p:sp>
        <p:nvSpPr>
          <p:cNvPr id="26" name="TextBox 25"/>
          <p:cNvSpPr txBox="1"/>
          <p:nvPr/>
        </p:nvSpPr>
        <p:spPr>
          <a:xfrm>
            <a:off x="4206240" y="2907791"/>
            <a:ext cx="1234440" cy="365760"/>
          </a:xfrm>
          <a:prstGeom prst="rect">
            <a:avLst/>
          </a:prstGeom>
          <a:noFill/>
        </p:spPr>
        <p:txBody>
          <a:bodyPr wrap="square" lIns="0" rIns="0" tIns="0" bIns="0" anchor="ctr">
            <a:spAutoFit/>
          </a:bodyPr>
          <a:lstStyle/>
          <a:p>
            <a:pPr algn="r"/>
            <a:r>
              <a:rPr sz="1250" b="0" i="0">
                <a:solidFill>
                  <a:srgbClr val="C9D1DE"/>
                </a:solidFill>
                <a:latin typeface="Consolas"/>
              </a:rPr>
              <a:t>0,714</a:t>
            </a:r>
          </a:p>
        </p:txBody>
      </p:sp>
      <p:sp>
        <p:nvSpPr>
          <p:cNvPr id="27" name="TextBox 26"/>
          <p:cNvSpPr txBox="1"/>
          <p:nvPr/>
        </p:nvSpPr>
        <p:spPr>
          <a:xfrm>
            <a:off x="5577840" y="2907791"/>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0,639</a:t>
            </a:r>
          </a:p>
        </p:txBody>
      </p:sp>
      <p:sp>
        <p:nvSpPr>
          <p:cNvPr id="28" name="TextBox 27"/>
          <p:cNvSpPr txBox="1"/>
          <p:nvPr/>
        </p:nvSpPr>
        <p:spPr>
          <a:xfrm>
            <a:off x="6949440" y="2907791"/>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0,674</a:t>
            </a:r>
          </a:p>
        </p:txBody>
      </p:sp>
      <p:sp>
        <p:nvSpPr>
          <p:cNvPr id="29" name="TextBox 28"/>
          <p:cNvSpPr txBox="1"/>
          <p:nvPr/>
        </p:nvSpPr>
        <p:spPr>
          <a:xfrm>
            <a:off x="8321040" y="2907791"/>
            <a:ext cx="1325880" cy="365760"/>
          </a:xfrm>
          <a:prstGeom prst="rect">
            <a:avLst/>
          </a:prstGeom>
          <a:noFill/>
        </p:spPr>
        <p:txBody>
          <a:bodyPr wrap="square" lIns="0" rIns="0" tIns="0" bIns="0" anchor="ctr">
            <a:spAutoFit/>
          </a:bodyPr>
          <a:lstStyle/>
          <a:p>
            <a:pPr algn="r"/>
            <a:r>
              <a:rPr sz="1250" b="0" i="0">
                <a:solidFill>
                  <a:srgbClr val="C9D1DE"/>
                </a:solidFill>
                <a:latin typeface="Consolas"/>
              </a:rPr>
              <a:t>0,929</a:t>
            </a:r>
          </a:p>
        </p:txBody>
      </p:sp>
      <p:sp>
        <p:nvSpPr>
          <p:cNvPr id="30" name="TextBox 29"/>
          <p:cNvSpPr txBox="1"/>
          <p:nvPr/>
        </p:nvSpPr>
        <p:spPr>
          <a:xfrm>
            <a:off x="9784080" y="2907791"/>
            <a:ext cx="1536192" cy="365760"/>
          </a:xfrm>
          <a:prstGeom prst="rect">
            <a:avLst/>
          </a:prstGeom>
          <a:noFill/>
        </p:spPr>
        <p:txBody>
          <a:bodyPr wrap="square" lIns="0" rIns="0" tIns="0" bIns="0" anchor="ctr">
            <a:spAutoFit/>
          </a:bodyPr>
          <a:lstStyle/>
          <a:p>
            <a:pPr algn="r"/>
            <a:r>
              <a:rPr sz="1250" b="0" i="0">
                <a:solidFill>
                  <a:srgbClr val="C9D1DE"/>
                </a:solidFill>
                <a:latin typeface="Consolas"/>
              </a:rPr>
              <a:t>0,703</a:t>
            </a:r>
          </a:p>
        </p:txBody>
      </p:sp>
      <p:sp>
        <p:nvSpPr>
          <p:cNvPr id="31" name="TextBox 30"/>
          <p:cNvSpPr txBox="1"/>
          <p:nvPr/>
        </p:nvSpPr>
        <p:spPr>
          <a:xfrm>
            <a:off x="777240" y="3310127"/>
            <a:ext cx="3291840" cy="365760"/>
          </a:xfrm>
          <a:prstGeom prst="rect">
            <a:avLst/>
          </a:prstGeom>
          <a:noFill/>
        </p:spPr>
        <p:txBody>
          <a:bodyPr wrap="square" lIns="0" rIns="0" tIns="0" bIns="0" anchor="ctr">
            <a:spAutoFit/>
          </a:bodyPr>
          <a:lstStyle/>
          <a:p>
            <a:pPr algn="l"/>
            <a:r>
              <a:rPr sz="1250" b="0" i="0">
                <a:solidFill>
                  <a:srgbClr val="C9D1DE"/>
                </a:solidFill>
                <a:latin typeface="Segoe UI"/>
              </a:rPr>
              <a:t>LightGBM</a:t>
            </a:r>
          </a:p>
        </p:txBody>
      </p:sp>
      <p:sp>
        <p:nvSpPr>
          <p:cNvPr id="32" name="TextBox 31"/>
          <p:cNvSpPr txBox="1"/>
          <p:nvPr/>
        </p:nvSpPr>
        <p:spPr>
          <a:xfrm>
            <a:off x="4206240" y="3310127"/>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0,640</a:t>
            </a:r>
          </a:p>
        </p:txBody>
      </p:sp>
      <p:sp>
        <p:nvSpPr>
          <p:cNvPr id="33" name="TextBox 32"/>
          <p:cNvSpPr txBox="1"/>
          <p:nvPr/>
        </p:nvSpPr>
        <p:spPr>
          <a:xfrm>
            <a:off x="5577840" y="3310127"/>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0,654</a:t>
            </a:r>
          </a:p>
        </p:txBody>
      </p:sp>
      <p:sp>
        <p:nvSpPr>
          <p:cNvPr id="34" name="TextBox 33"/>
          <p:cNvSpPr txBox="1"/>
          <p:nvPr/>
        </p:nvSpPr>
        <p:spPr>
          <a:xfrm>
            <a:off x="6949440" y="3310127"/>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0,647</a:t>
            </a:r>
          </a:p>
        </p:txBody>
      </p:sp>
      <p:sp>
        <p:nvSpPr>
          <p:cNvPr id="35" name="TextBox 34"/>
          <p:cNvSpPr txBox="1"/>
          <p:nvPr/>
        </p:nvSpPr>
        <p:spPr>
          <a:xfrm>
            <a:off x="8321040" y="3310127"/>
            <a:ext cx="1325880" cy="365760"/>
          </a:xfrm>
          <a:prstGeom prst="rect">
            <a:avLst/>
          </a:prstGeom>
          <a:noFill/>
        </p:spPr>
        <p:txBody>
          <a:bodyPr wrap="square" lIns="0" rIns="0" tIns="0" bIns="0" anchor="ctr">
            <a:spAutoFit/>
          </a:bodyPr>
          <a:lstStyle/>
          <a:p>
            <a:pPr algn="r"/>
            <a:r>
              <a:rPr sz="1250" b="0" i="0">
                <a:solidFill>
                  <a:srgbClr val="C9D1DE"/>
                </a:solidFill>
                <a:latin typeface="Consolas"/>
              </a:rPr>
              <a:t>0,924</a:t>
            </a:r>
          </a:p>
        </p:txBody>
      </p:sp>
      <p:sp>
        <p:nvSpPr>
          <p:cNvPr id="36" name="TextBox 35"/>
          <p:cNvSpPr txBox="1"/>
          <p:nvPr/>
        </p:nvSpPr>
        <p:spPr>
          <a:xfrm>
            <a:off x="9784080" y="3310127"/>
            <a:ext cx="1536192" cy="365760"/>
          </a:xfrm>
          <a:prstGeom prst="rect">
            <a:avLst/>
          </a:prstGeom>
          <a:noFill/>
        </p:spPr>
        <p:txBody>
          <a:bodyPr wrap="square" lIns="0" rIns="0" tIns="0" bIns="0" anchor="ctr">
            <a:spAutoFit/>
          </a:bodyPr>
          <a:lstStyle/>
          <a:p>
            <a:pPr algn="r"/>
            <a:r>
              <a:rPr sz="1250" b="0" i="0">
                <a:solidFill>
                  <a:srgbClr val="C9D1DE"/>
                </a:solidFill>
                <a:latin typeface="Consolas"/>
              </a:rPr>
              <a:t>0,670</a:t>
            </a:r>
          </a:p>
        </p:txBody>
      </p:sp>
      <p:sp>
        <p:nvSpPr>
          <p:cNvPr id="37" name="TextBox 36"/>
          <p:cNvSpPr txBox="1"/>
          <p:nvPr/>
        </p:nvSpPr>
        <p:spPr>
          <a:xfrm>
            <a:off x="777240" y="3712463"/>
            <a:ext cx="3291840" cy="365760"/>
          </a:xfrm>
          <a:prstGeom prst="rect">
            <a:avLst/>
          </a:prstGeom>
          <a:noFill/>
        </p:spPr>
        <p:txBody>
          <a:bodyPr wrap="square" lIns="0" rIns="0" tIns="0" bIns="0" anchor="ctr">
            <a:spAutoFit/>
          </a:bodyPr>
          <a:lstStyle/>
          <a:p>
            <a:pPr algn="l"/>
            <a:r>
              <a:rPr sz="1250" b="0" i="0">
                <a:solidFill>
                  <a:srgbClr val="C9D1DE"/>
                </a:solidFill>
                <a:latin typeface="Segoe UI"/>
              </a:rPr>
              <a:t>CatBoost</a:t>
            </a:r>
          </a:p>
        </p:txBody>
      </p:sp>
      <p:sp>
        <p:nvSpPr>
          <p:cNvPr id="38" name="TextBox 37"/>
          <p:cNvSpPr txBox="1"/>
          <p:nvPr/>
        </p:nvSpPr>
        <p:spPr>
          <a:xfrm>
            <a:off x="4206240" y="3712463"/>
            <a:ext cx="1234440" cy="365760"/>
          </a:xfrm>
          <a:prstGeom prst="rect">
            <a:avLst/>
          </a:prstGeom>
          <a:noFill/>
        </p:spPr>
        <p:txBody>
          <a:bodyPr wrap="square" lIns="0" rIns="0" tIns="0" bIns="0" anchor="ctr">
            <a:spAutoFit/>
          </a:bodyPr>
          <a:lstStyle/>
          <a:p>
            <a:pPr algn="r"/>
            <a:r>
              <a:rPr sz="1250" b="0" i="0">
                <a:solidFill>
                  <a:srgbClr val="C9D1DE"/>
                </a:solidFill>
                <a:latin typeface="Consolas"/>
              </a:rPr>
              <a:t>0,508</a:t>
            </a:r>
          </a:p>
        </p:txBody>
      </p:sp>
      <p:sp>
        <p:nvSpPr>
          <p:cNvPr id="39" name="TextBox 38"/>
          <p:cNvSpPr txBox="1"/>
          <p:nvPr/>
        </p:nvSpPr>
        <p:spPr>
          <a:xfrm>
            <a:off x="5577840" y="3712463"/>
            <a:ext cx="1234440" cy="365760"/>
          </a:xfrm>
          <a:prstGeom prst="rect">
            <a:avLst/>
          </a:prstGeom>
          <a:noFill/>
        </p:spPr>
        <p:txBody>
          <a:bodyPr wrap="square" lIns="0" rIns="0" tIns="0" bIns="0" anchor="ctr">
            <a:spAutoFit/>
          </a:bodyPr>
          <a:lstStyle/>
          <a:p>
            <a:pPr algn="r"/>
            <a:r>
              <a:rPr sz="1250" b="0" i="0">
                <a:solidFill>
                  <a:srgbClr val="C9D1DE"/>
                </a:solidFill>
                <a:latin typeface="Consolas"/>
              </a:rPr>
              <a:t>0,784</a:t>
            </a:r>
          </a:p>
        </p:txBody>
      </p:sp>
      <p:sp>
        <p:nvSpPr>
          <p:cNvPr id="40" name="TextBox 39"/>
          <p:cNvSpPr txBox="1"/>
          <p:nvPr/>
        </p:nvSpPr>
        <p:spPr>
          <a:xfrm>
            <a:off x="6949440" y="3712463"/>
            <a:ext cx="1234440" cy="365760"/>
          </a:xfrm>
          <a:prstGeom prst="rect">
            <a:avLst/>
          </a:prstGeom>
          <a:noFill/>
        </p:spPr>
        <p:txBody>
          <a:bodyPr wrap="square" lIns="0" rIns="0" tIns="0" bIns="0" anchor="ctr">
            <a:spAutoFit/>
          </a:bodyPr>
          <a:lstStyle/>
          <a:p>
            <a:pPr algn="r"/>
            <a:r>
              <a:rPr sz="1250" b="0" i="0">
                <a:solidFill>
                  <a:srgbClr val="C9D1DE"/>
                </a:solidFill>
                <a:latin typeface="Consolas"/>
              </a:rPr>
              <a:t>0,617</a:t>
            </a:r>
          </a:p>
        </p:txBody>
      </p:sp>
      <p:sp>
        <p:nvSpPr>
          <p:cNvPr id="41" name="TextBox 40"/>
          <p:cNvSpPr txBox="1"/>
          <p:nvPr/>
        </p:nvSpPr>
        <p:spPr>
          <a:xfrm>
            <a:off x="8321040" y="3712463"/>
            <a:ext cx="1325880" cy="365760"/>
          </a:xfrm>
          <a:prstGeom prst="rect">
            <a:avLst/>
          </a:prstGeom>
          <a:noFill/>
        </p:spPr>
        <p:txBody>
          <a:bodyPr wrap="square" lIns="0" rIns="0" tIns="0" bIns="0" anchor="ctr">
            <a:spAutoFit/>
          </a:bodyPr>
          <a:lstStyle/>
          <a:p>
            <a:pPr algn="r"/>
            <a:r>
              <a:rPr sz="1250" b="0" i="0">
                <a:solidFill>
                  <a:srgbClr val="C9D1DE"/>
                </a:solidFill>
                <a:latin typeface="Consolas"/>
              </a:rPr>
              <a:t>0,937</a:t>
            </a:r>
          </a:p>
        </p:txBody>
      </p:sp>
      <p:sp>
        <p:nvSpPr>
          <p:cNvPr id="42" name="TextBox 41"/>
          <p:cNvSpPr txBox="1"/>
          <p:nvPr/>
        </p:nvSpPr>
        <p:spPr>
          <a:xfrm>
            <a:off x="9784080" y="3712463"/>
            <a:ext cx="1536192" cy="365760"/>
          </a:xfrm>
          <a:prstGeom prst="rect">
            <a:avLst/>
          </a:prstGeom>
          <a:noFill/>
        </p:spPr>
        <p:txBody>
          <a:bodyPr wrap="square" lIns="0" rIns="0" tIns="0" bIns="0" anchor="ctr">
            <a:spAutoFit/>
          </a:bodyPr>
          <a:lstStyle/>
          <a:p>
            <a:pPr algn="r"/>
            <a:r>
              <a:rPr sz="1250" b="0" i="0">
                <a:solidFill>
                  <a:srgbClr val="C9D1DE"/>
                </a:solidFill>
                <a:latin typeface="Consolas"/>
              </a:rPr>
              <a:t>0,715</a:t>
            </a:r>
          </a:p>
        </p:txBody>
      </p:sp>
      <p:sp>
        <p:nvSpPr>
          <p:cNvPr id="43" name="TextBox 42"/>
          <p:cNvSpPr txBox="1"/>
          <p:nvPr/>
        </p:nvSpPr>
        <p:spPr>
          <a:xfrm>
            <a:off x="777240" y="4114800"/>
            <a:ext cx="3291840" cy="365760"/>
          </a:xfrm>
          <a:prstGeom prst="rect">
            <a:avLst/>
          </a:prstGeom>
          <a:noFill/>
        </p:spPr>
        <p:txBody>
          <a:bodyPr wrap="square" lIns="0" rIns="0" tIns="0" bIns="0" anchor="ctr">
            <a:spAutoFit/>
          </a:bodyPr>
          <a:lstStyle/>
          <a:p>
            <a:pPr algn="l"/>
            <a:r>
              <a:rPr sz="1250" b="0" i="0">
                <a:solidFill>
                  <a:srgbClr val="C9D1DE"/>
                </a:solidFill>
                <a:latin typeface="Segoe UI"/>
              </a:rPr>
              <a:t>Random Forest (ref.)</a:t>
            </a:r>
          </a:p>
        </p:txBody>
      </p:sp>
      <p:sp>
        <p:nvSpPr>
          <p:cNvPr id="44" name="TextBox 43"/>
          <p:cNvSpPr txBox="1"/>
          <p:nvPr/>
        </p:nvSpPr>
        <p:spPr>
          <a:xfrm>
            <a:off x="4206240" y="411480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0,564</a:t>
            </a:r>
          </a:p>
        </p:txBody>
      </p:sp>
      <p:sp>
        <p:nvSpPr>
          <p:cNvPr id="45" name="TextBox 44"/>
          <p:cNvSpPr txBox="1"/>
          <p:nvPr/>
        </p:nvSpPr>
        <p:spPr>
          <a:xfrm>
            <a:off x="5577840" y="411480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0,574</a:t>
            </a:r>
          </a:p>
        </p:txBody>
      </p:sp>
      <p:sp>
        <p:nvSpPr>
          <p:cNvPr id="46" name="TextBox 45"/>
          <p:cNvSpPr txBox="1"/>
          <p:nvPr/>
        </p:nvSpPr>
        <p:spPr>
          <a:xfrm>
            <a:off x="6949440" y="4114800"/>
            <a:ext cx="1234440" cy="365760"/>
          </a:xfrm>
          <a:prstGeom prst="rect">
            <a:avLst/>
          </a:prstGeom>
          <a:noFill/>
        </p:spPr>
        <p:txBody>
          <a:bodyPr wrap="square" lIns="0" rIns="0" tIns="0" bIns="0" anchor="ctr">
            <a:spAutoFit/>
          </a:bodyPr>
          <a:lstStyle/>
          <a:p>
            <a:pPr algn="r"/>
            <a:r>
              <a:rPr sz="1250" b="0" i="0">
                <a:solidFill>
                  <a:srgbClr val="C9D1DE"/>
                </a:solidFill>
                <a:latin typeface="Consolas"/>
              </a:rPr>
              <a:t>0,569</a:t>
            </a:r>
          </a:p>
        </p:txBody>
      </p:sp>
      <p:sp>
        <p:nvSpPr>
          <p:cNvPr id="47" name="TextBox 46"/>
          <p:cNvSpPr txBox="1"/>
          <p:nvPr/>
        </p:nvSpPr>
        <p:spPr>
          <a:xfrm>
            <a:off x="8321040" y="4114800"/>
            <a:ext cx="1325880" cy="365760"/>
          </a:xfrm>
          <a:prstGeom prst="rect">
            <a:avLst/>
          </a:prstGeom>
          <a:noFill/>
        </p:spPr>
        <p:txBody>
          <a:bodyPr wrap="square" lIns="0" rIns="0" tIns="0" bIns="0" anchor="ctr">
            <a:spAutoFit/>
          </a:bodyPr>
          <a:lstStyle/>
          <a:p>
            <a:pPr algn="r"/>
            <a:r>
              <a:rPr sz="1250" b="0" i="0">
                <a:solidFill>
                  <a:srgbClr val="C9D1DE"/>
                </a:solidFill>
                <a:latin typeface="Consolas"/>
              </a:rPr>
              <a:t>0,911</a:t>
            </a:r>
          </a:p>
        </p:txBody>
      </p:sp>
      <p:sp>
        <p:nvSpPr>
          <p:cNvPr id="48" name="TextBox 47"/>
          <p:cNvSpPr txBox="1"/>
          <p:nvPr/>
        </p:nvSpPr>
        <p:spPr>
          <a:xfrm>
            <a:off x="9784080" y="4114800"/>
            <a:ext cx="1536192" cy="365760"/>
          </a:xfrm>
          <a:prstGeom prst="rect">
            <a:avLst/>
          </a:prstGeom>
          <a:noFill/>
        </p:spPr>
        <p:txBody>
          <a:bodyPr wrap="square" lIns="0" rIns="0" tIns="0" bIns="0" anchor="ctr">
            <a:spAutoFit/>
          </a:bodyPr>
          <a:lstStyle/>
          <a:p>
            <a:pPr algn="r"/>
            <a:r>
              <a:rPr sz="1250" b="0" i="0">
                <a:solidFill>
                  <a:srgbClr val="C9D1DE"/>
                </a:solidFill>
                <a:latin typeface="Consolas"/>
              </a:rPr>
              <a:t>0,605</a:t>
            </a:r>
          </a:p>
        </p:txBody>
      </p:sp>
      <p:sp>
        <p:nvSpPr>
          <p:cNvPr id="49" name="Rectangle 48"/>
          <p:cNvSpPr/>
          <p:nvPr/>
        </p:nvSpPr>
        <p:spPr>
          <a:xfrm>
            <a:off x="685800" y="4617720"/>
            <a:ext cx="10817352" cy="10515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85800" y="4617720"/>
            <a:ext cx="54864" cy="105156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41832" y="4782312"/>
            <a:ext cx="10360152" cy="77723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CatBoost gana AP (0,715); Random Forest pierde en las cinco columnas.</a:t>
            </a:r>
            <a:r>
              <a:rPr sz="1250" b="0" i="0">
                <a:solidFill>
                  <a:srgbClr val="C9D1DE"/>
                </a:solidFill>
                <a:latin typeface="Segoe UI"/>
              </a:rPr>
              <a:t> Por las métricas del curso, el boosting se llevaría el puesto de detector sin discusión — CatBoost y XGBoost superan a Random Forest en precisión, recall, F1, AUC y average precision. La siguiente sección pregunta si eso importa cuando se mide como lo vive una persona.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CORRECCIÓN AL PROTOCOLO · EN CÓDIGO</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evaluar_alertas(): la trampa de contar avisos por día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14</a:t>
            </a:r>
          </a:p>
        </p:txBody>
      </p:sp>
      <p:sp>
        <p:nvSpPr>
          <p:cNvPr id="6" name="Rectangle 5"/>
          <p:cNvSpPr/>
          <p:nvPr/>
        </p:nvSpPr>
        <p:spPr>
          <a:xfrm>
            <a:off x="1364863" y="1810512"/>
            <a:ext cx="9459224" cy="3739896"/>
          </a:xfrm>
          <a:prstGeom prst="rect">
            <a:avLst/>
          </a:prstGeom>
          <a:solidFill>
            <a:srgbClr val="2328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de_alert.png"/>
          <p:cNvPicPr>
            <a:picLocks noChangeAspect="1"/>
          </p:cNvPicPr>
          <p:nvPr/>
        </p:nvPicPr>
        <p:blipFill>
          <a:blip r:embed="rId2"/>
          <a:stretch>
            <a:fillRect/>
          </a:stretch>
        </p:blipFill>
        <p:spPr>
          <a:xfrm>
            <a:off x="1383151" y="1828800"/>
            <a:ext cx="9422648" cy="3703320"/>
          </a:xfrm>
          <a:prstGeom prst="rect">
            <a:avLst/>
          </a:prstGeom>
        </p:spPr>
      </p:pic>
      <p:sp>
        <p:nvSpPr>
          <p:cNvPr id="8" name="Rectangle 7"/>
          <p:cNvSpPr/>
          <p:nvPr/>
        </p:nvSpPr>
        <p:spPr>
          <a:xfrm>
            <a:off x="685800" y="5669280"/>
            <a:ext cx="10817352" cy="7772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5669280"/>
            <a:ext cx="54864" cy="7772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5833872"/>
            <a:ext cx="10360152" cy="502920"/>
          </a:xfrm>
          <a:prstGeom prst="rect">
            <a:avLst/>
          </a:prstGeom>
          <a:noFill/>
        </p:spPr>
        <p:txBody>
          <a:bodyPr wrap="square" lIns="0" rIns="0" tIns="0" bIns="0">
            <a:spAutoFit/>
          </a:bodyPr>
          <a:lstStyle/>
          <a:p>
            <a:pPr algn="l">
              <a:lnSpc>
                <a:spcPct val="110000"/>
              </a:lnSpc>
            </a:pPr>
            <a:r>
              <a:rPr sz="1200" b="1" i="0">
                <a:solidFill>
                  <a:srgbClr val="E6E9EF"/>
                </a:solidFill>
                <a:latin typeface="Segoe UI"/>
              </a:rPr>
              <a:t>El mismo número de avisos puede significar cosas muy distintas.</a:t>
            </a:r>
            <a:r>
              <a:rPr sz="1200" b="0" i="0">
                <a:solidFill>
                  <a:srgbClr val="C9D1DE"/>
                </a:solidFill>
                <a:latin typeface="Segoe UI"/>
              </a:rPr>
              <a:t> El GBM con umbral 0,05 “detecta” el 98,8 % de los episodios con 3,1 avisos al día — pero cada aviso dura 317 minutos y el sistema pasa el 67,5 % del tiempo en alerta, con un 61,9 % de avisos falsos. Random Forest, en su punto del parcial, detecta menos (86,9 %) pero con avisos de 100 minutos y solo 21,1 % del tiempo en alerta.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CON EL 21,1 % DEL TIEMPO EN ALERTA</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Random Forest: mismo alcance, menos avisos, menos falsos</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15</a:t>
            </a:r>
          </a:p>
        </p:txBody>
      </p:sp>
      <p:sp>
        <p:nvSpPr>
          <p:cNvPr id="6" name="TextBox 5"/>
          <p:cNvSpPr txBox="1"/>
          <p:nvPr/>
        </p:nvSpPr>
        <p:spPr>
          <a:xfrm>
            <a:off x="685800" y="1737360"/>
            <a:ext cx="3703320" cy="274320"/>
          </a:xfrm>
          <a:prstGeom prst="rect">
            <a:avLst/>
          </a:prstGeom>
          <a:noFill/>
        </p:spPr>
        <p:txBody>
          <a:bodyPr wrap="square" lIns="0" rIns="0" tIns="0" bIns="0">
            <a:spAutoFit/>
          </a:bodyPr>
          <a:lstStyle/>
          <a:p>
            <a:pPr algn="l"/>
            <a:r>
              <a:rPr sz="950" b="0" i="0">
                <a:solidFill>
                  <a:srgbClr val="6F7787"/>
                </a:solidFill>
                <a:latin typeface="Consolas"/>
              </a:rPr>
              <a:t>MODELO (21,1 % DEL TIEMPO)</a:t>
            </a:r>
          </a:p>
        </p:txBody>
      </p:sp>
      <p:sp>
        <p:nvSpPr>
          <p:cNvPr id="7" name="TextBox 6"/>
          <p:cNvSpPr txBox="1"/>
          <p:nvPr/>
        </p:nvSpPr>
        <p:spPr>
          <a:xfrm>
            <a:off x="4480560" y="1737360"/>
            <a:ext cx="1691640" cy="274320"/>
          </a:xfrm>
          <a:prstGeom prst="rect">
            <a:avLst/>
          </a:prstGeom>
          <a:noFill/>
        </p:spPr>
        <p:txBody>
          <a:bodyPr wrap="square" lIns="0" rIns="0" tIns="0" bIns="0">
            <a:spAutoFit/>
          </a:bodyPr>
          <a:lstStyle/>
          <a:p>
            <a:pPr algn="r"/>
            <a:r>
              <a:rPr sz="950" b="0" i="0">
                <a:solidFill>
                  <a:srgbClr val="6F7787"/>
                </a:solidFill>
                <a:latin typeface="Consolas"/>
              </a:rPr>
              <a:t>EVENTOS DETECTADOS</a:t>
            </a:r>
          </a:p>
        </p:txBody>
      </p:sp>
      <p:sp>
        <p:nvSpPr>
          <p:cNvPr id="8" name="TextBox 7"/>
          <p:cNvSpPr txBox="1"/>
          <p:nvPr/>
        </p:nvSpPr>
        <p:spPr>
          <a:xfrm>
            <a:off x="6309360" y="1737360"/>
            <a:ext cx="1463040" cy="274320"/>
          </a:xfrm>
          <a:prstGeom prst="rect">
            <a:avLst/>
          </a:prstGeom>
          <a:noFill/>
        </p:spPr>
        <p:txBody>
          <a:bodyPr wrap="square" lIns="0" rIns="0" tIns="0" bIns="0">
            <a:spAutoFit/>
          </a:bodyPr>
          <a:lstStyle/>
          <a:p>
            <a:pPr algn="r"/>
            <a:r>
              <a:rPr sz="950" b="0" i="0">
                <a:solidFill>
                  <a:srgbClr val="6F7787"/>
                </a:solidFill>
                <a:latin typeface="Consolas"/>
              </a:rPr>
              <a:t>AVISOS/DÍA</a:t>
            </a:r>
          </a:p>
        </p:txBody>
      </p:sp>
      <p:sp>
        <p:nvSpPr>
          <p:cNvPr id="9" name="TextBox 8"/>
          <p:cNvSpPr txBox="1"/>
          <p:nvPr/>
        </p:nvSpPr>
        <p:spPr>
          <a:xfrm>
            <a:off x="7955279" y="1737360"/>
            <a:ext cx="1600200" cy="274320"/>
          </a:xfrm>
          <a:prstGeom prst="rect">
            <a:avLst/>
          </a:prstGeom>
          <a:noFill/>
        </p:spPr>
        <p:txBody>
          <a:bodyPr wrap="square" lIns="0" rIns="0" tIns="0" bIns="0">
            <a:spAutoFit/>
          </a:bodyPr>
          <a:lstStyle/>
          <a:p>
            <a:pPr algn="r"/>
            <a:r>
              <a:rPr sz="950" b="0" i="0">
                <a:solidFill>
                  <a:srgbClr val="6F7787"/>
                </a:solidFill>
                <a:latin typeface="Consolas"/>
              </a:rPr>
              <a:t>AVISOS FALSOS</a:t>
            </a:r>
          </a:p>
        </p:txBody>
      </p:sp>
      <p:sp>
        <p:nvSpPr>
          <p:cNvPr id="10" name="TextBox 9"/>
          <p:cNvSpPr txBox="1"/>
          <p:nvPr/>
        </p:nvSpPr>
        <p:spPr>
          <a:xfrm>
            <a:off x="9692640" y="1737360"/>
            <a:ext cx="1810512" cy="274320"/>
          </a:xfrm>
          <a:prstGeom prst="rect">
            <a:avLst/>
          </a:prstGeom>
          <a:noFill/>
        </p:spPr>
        <p:txBody>
          <a:bodyPr wrap="square" lIns="0" rIns="0" tIns="0" bIns="0">
            <a:spAutoFit/>
          </a:bodyPr>
          <a:lstStyle/>
          <a:p>
            <a:pPr algn="r"/>
            <a:r>
              <a:rPr sz="950" b="0" i="0">
                <a:solidFill>
                  <a:srgbClr val="6F7787"/>
                </a:solidFill>
                <a:latin typeface="Consolas"/>
              </a:rPr>
              <a:t>DURACIÓN MEDIA</a:t>
            </a:r>
          </a:p>
        </p:txBody>
      </p:sp>
      <p:sp>
        <p:nvSpPr>
          <p:cNvPr id="11" name="Rectangle 10"/>
          <p:cNvSpPr/>
          <p:nvPr/>
        </p:nvSpPr>
        <p:spPr>
          <a:xfrm>
            <a:off x="685800" y="2066543"/>
            <a:ext cx="1081735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2103120"/>
            <a:ext cx="3611879" cy="365760"/>
          </a:xfrm>
          <a:prstGeom prst="rect">
            <a:avLst/>
          </a:prstGeom>
          <a:noFill/>
        </p:spPr>
        <p:txBody>
          <a:bodyPr wrap="square" lIns="0" rIns="0" tIns="0" bIns="0" anchor="ctr">
            <a:spAutoFit/>
          </a:bodyPr>
          <a:lstStyle/>
          <a:p>
            <a:pPr algn="l"/>
            <a:r>
              <a:rPr sz="1250" b="0" i="0">
                <a:solidFill>
                  <a:srgbClr val="C9D1DE"/>
                </a:solidFill>
                <a:latin typeface="Segoe UI"/>
              </a:rPr>
              <a:t>AdaBoost</a:t>
            </a:r>
          </a:p>
        </p:txBody>
      </p:sp>
      <p:sp>
        <p:nvSpPr>
          <p:cNvPr id="13" name="TextBox 12"/>
          <p:cNvSpPr txBox="1"/>
          <p:nvPr/>
        </p:nvSpPr>
        <p:spPr>
          <a:xfrm>
            <a:off x="4480560" y="2103120"/>
            <a:ext cx="1691640" cy="365760"/>
          </a:xfrm>
          <a:prstGeom prst="rect">
            <a:avLst/>
          </a:prstGeom>
          <a:noFill/>
        </p:spPr>
        <p:txBody>
          <a:bodyPr wrap="square" lIns="0" rIns="0" tIns="0" bIns="0" anchor="ctr">
            <a:spAutoFit/>
          </a:bodyPr>
          <a:lstStyle/>
          <a:p>
            <a:pPr algn="r"/>
            <a:r>
              <a:rPr sz="1250" b="0" i="0">
                <a:solidFill>
                  <a:srgbClr val="C9D1DE"/>
                </a:solidFill>
                <a:latin typeface="Consolas"/>
              </a:rPr>
              <a:t>84,5 %</a:t>
            </a:r>
          </a:p>
        </p:txBody>
      </p:sp>
      <p:sp>
        <p:nvSpPr>
          <p:cNvPr id="14" name="TextBox 13"/>
          <p:cNvSpPr txBox="1"/>
          <p:nvPr/>
        </p:nvSpPr>
        <p:spPr>
          <a:xfrm>
            <a:off x="6309360" y="2103120"/>
            <a:ext cx="1463040" cy="365760"/>
          </a:xfrm>
          <a:prstGeom prst="rect">
            <a:avLst/>
          </a:prstGeom>
          <a:noFill/>
        </p:spPr>
        <p:txBody>
          <a:bodyPr wrap="square" lIns="0" rIns="0" tIns="0" bIns="0" anchor="ctr">
            <a:spAutoFit/>
          </a:bodyPr>
          <a:lstStyle/>
          <a:p>
            <a:pPr algn="r"/>
            <a:r>
              <a:rPr sz="1250" b="0" i="0">
                <a:solidFill>
                  <a:srgbClr val="C9D1DE"/>
                </a:solidFill>
                <a:latin typeface="Consolas"/>
              </a:rPr>
              <a:t>3,58</a:t>
            </a:r>
          </a:p>
        </p:txBody>
      </p:sp>
      <p:sp>
        <p:nvSpPr>
          <p:cNvPr id="15" name="TextBox 14"/>
          <p:cNvSpPr txBox="1"/>
          <p:nvPr/>
        </p:nvSpPr>
        <p:spPr>
          <a:xfrm>
            <a:off x="7955279" y="2103120"/>
            <a:ext cx="1600200" cy="365760"/>
          </a:xfrm>
          <a:prstGeom prst="rect">
            <a:avLst/>
          </a:prstGeom>
          <a:noFill/>
        </p:spPr>
        <p:txBody>
          <a:bodyPr wrap="square" lIns="0" rIns="0" tIns="0" bIns="0" anchor="ctr">
            <a:spAutoFit/>
          </a:bodyPr>
          <a:lstStyle/>
          <a:p>
            <a:pPr algn="r"/>
            <a:r>
              <a:rPr sz="1250" b="0" i="0">
                <a:solidFill>
                  <a:srgbClr val="C9D1DE"/>
                </a:solidFill>
                <a:latin typeface="Consolas"/>
              </a:rPr>
              <a:t>49,0 %</a:t>
            </a:r>
          </a:p>
        </p:txBody>
      </p:sp>
      <p:sp>
        <p:nvSpPr>
          <p:cNvPr id="16" name="TextBox 15"/>
          <p:cNvSpPr txBox="1"/>
          <p:nvPr/>
        </p:nvSpPr>
        <p:spPr>
          <a:xfrm>
            <a:off x="9692640" y="2103120"/>
            <a:ext cx="1810512" cy="365760"/>
          </a:xfrm>
          <a:prstGeom prst="rect">
            <a:avLst/>
          </a:prstGeom>
          <a:noFill/>
        </p:spPr>
        <p:txBody>
          <a:bodyPr wrap="square" lIns="0" rIns="0" tIns="0" bIns="0" anchor="ctr">
            <a:spAutoFit/>
          </a:bodyPr>
          <a:lstStyle/>
          <a:p>
            <a:pPr algn="r"/>
            <a:r>
              <a:rPr sz="1250" b="0" i="0">
                <a:solidFill>
                  <a:srgbClr val="C9D1DE"/>
                </a:solidFill>
                <a:latin typeface="Consolas"/>
              </a:rPr>
              <a:t>85 min</a:t>
            </a:r>
          </a:p>
        </p:txBody>
      </p:sp>
      <p:sp>
        <p:nvSpPr>
          <p:cNvPr id="17" name="TextBox 16"/>
          <p:cNvSpPr txBox="1"/>
          <p:nvPr/>
        </p:nvSpPr>
        <p:spPr>
          <a:xfrm>
            <a:off x="777240" y="2505456"/>
            <a:ext cx="3611879" cy="365760"/>
          </a:xfrm>
          <a:prstGeom prst="rect">
            <a:avLst/>
          </a:prstGeom>
          <a:noFill/>
        </p:spPr>
        <p:txBody>
          <a:bodyPr wrap="square" lIns="0" rIns="0" tIns="0" bIns="0" anchor="ctr">
            <a:spAutoFit/>
          </a:bodyPr>
          <a:lstStyle/>
          <a:p>
            <a:pPr algn="l"/>
            <a:r>
              <a:rPr sz="1250" b="0" i="0">
                <a:solidFill>
                  <a:srgbClr val="C9D1DE"/>
                </a:solidFill>
                <a:latin typeface="Segoe UI"/>
              </a:rPr>
              <a:t>GBM</a:t>
            </a:r>
          </a:p>
        </p:txBody>
      </p:sp>
      <p:sp>
        <p:nvSpPr>
          <p:cNvPr id="18" name="TextBox 17"/>
          <p:cNvSpPr txBox="1"/>
          <p:nvPr/>
        </p:nvSpPr>
        <p:spPr>
          <a:xfrm>
            <a:off x="4480560" y="2505456"/>
            <a:ext cx="1691640" cy="365760"/>
          </a:xfrm>
          <a:prstGeom prst="rect">
            <a:avLst/>
          </a:prstGeom>
          <a:noFill/>
        </p:spPr>
        <p:txBody>
          <a:bodyPr wrap="square" lIns="0" rIns="0" tIns="0" bIns="0" anchor="ctr">
            <a:spAutoFit/>
          </a:bodyPr>
          <a:lstStyle/>
          <a:p>
            <a:pPr algn="r"/>
            <a:r>
              <a:rPr sz="1250" b="0" i="0">
                <a:solidFill>
                  <a:srgbClr val="C9D1DE"/>
                </a:solidFill>
                <a:latin typeface="Consolas"/>
              </a:rPr>
              <a:t>84,5 %</a:t>
            </a:r>
          </a:p>
        </p:txBody>
      </p:sp>
      <p:sp>
        <p:nvSpPr>
          <p:cNvPr id="19" name="TextBox 18"/>
          <p:cNvSpPr txBox="1"/>
          <p:nvPr/>
        </p:nvSpPr>
        <p:spPr>
          <a:xfrm>
            <a:off x="6309360" y="2505456"/>
            <a:ext cx="1463040" cy="365760"/>
          </a:xfrm>
          <a:prstGeom prst="rect">
            <a:avLst/>
          </a:prstGeom>
          <a:noFill/>
        </p:spPr>
        <p:txBody>
          <a:bodyPr wrap="square" lIns="0" rIns="0" tIns="0" bIns="0" anchor="ctr">
            <a:spAutoFit/>
          </a:bodyPr>
          <a:lstStyle/>
          <a:p>
            <a:pPr algn="r"/>
            <a:r>
              <a:rPr sz="1250" b="0" i="0">
                <a:solidFill>
                  <a:srgbClr val="C9D1DE"/>
                </a:solidFill>
                <a:latin typeface="Consolas"/>
              </a:rPr>
              <a:t>3,32</a:t>
            </a:r>
          </a:p>
        </p:txBody>
      </p:sp>
      <p:sp>
        <p:nvSpPr>
          <p:cNvPr id="20" name="TextBox 19"/>
          <p:cNvSpPr txBox="1"/>
          <p:nvPr/>
        </p:nvSpPr>
        <p:spPr>
          <a:xfrm>
            <a:off x="7955279" y="2505456"/>
            <a:ext cx="1600200" cy="365760"/>
          </a:xfrm>
          <a:prstGeom prst="rect">
            <a:avLst/>
          </a:prstGeom>
          <a:noFill/>
        </p:spPr>
        <p:txBody>
          <a:bodyPr wrap="square" lIns="0" rIns="0" tIns="0" bIns="0" anchor="ctr">
            <a:spAutoFit/>
          </a:bodyPr>
          <a:lstStyle/>
          <a:p>
            <a:pPr algn="r"/>
            <a:r>
              <a:rPr sz="1250" b="0" i="0">
                <a:solidFill>
                  <a:srgbClr val="C9D1DE"/>
                </a:solidFill>
                <a:latin typeface="Consolas"/>
              </a:rPr>
              <a:t>44,0 %</a:t>
            </a:r>
          </a:p>
        </p:txBody>
      </p:sp>
      <p:sp>
        <p:nvSpPr>
          <p:cNvPr id="21" name="TextBox 20"/>
          <p:cNvSpPr txBox="1"/>
          <p:nvPr/>
        </p:nvSpPr>
        <p:spPr>
          <a:xfrm>
            <a:off x="9692640" y="2505456"/>
            <a:ext cx="1810512" cy="365760"/>
          </a:xfrm>
          <a:prstGeom prst="rect">
            <a:avLst/>
          </a:prstGeom>
          <a:noFill/>
        </p:spPr>
        <p:txBody>
          <a:bodyPr wrap="square" lIns="0" rIns="0" tIns="0" bIns="0" anchor="ctr">
            <a:spAutoFit/>
          </a:bodyPr>
          <a:lstStyle/>
          <a:p>
            <a:pPr algn="r"/>
            <a:r>
              <a:rPr sz="1250" b="0" i="0">
                <a:solidFill>
                  <a:srgbClr val="C9D1DE"/>
                </a:solidFill>
                <a:latin typeface="Consolas"/>
              </a:rPr>
              <a:t>92 min</a:t>
            </a:r>
          </a:p>
        </p:txBody>
      </p:sp>
      <p:sp>
        <p:nvSpPr>
          <p:cNvPr id="22" name="TextBox 21"/>
          <p:cNvSpPr txBox="1"/>
          <p:nvPr/>
        </p:nvSpPr>
        <p:spPr>
          <a:xfrm>
            <a:off x="777240" y="2907791"/>
            <a:ext cx="3611879" cy="365760"/>
          </a:xfrm>
          <a:prstGeom prst="rect">
            <a:avLst/>
          </a:prstGeom>
          <a:noFill/>
        </p:spPr>
        <p:txBody>
          <a:bodyPr wrap="square" lIns="0" rIns="0" tIns="0" bIns="0" anchor="ctr">
            <a:spAutoFit/>
          </a:bodyPr>
          <a:lstStyle/>
          <a:p>
            <a:pPr algn="l"/>
            <a:r>
              <a:rPr sz="1250" b="0" i="0">
                <a:solidFill>
                  <a:srgbClr val="C9D1DE"/>
                </a:solidFill>
                <a:latin typeface="Segoe UI"/>
              </a:rPr>
              <a:t>XGBoost</a:t>
            </a:r>
          </a:p>
        </p:txBody>
      </p:sp>
      <p:sp>
        <p:nvSpPr>
          <p:cNvPr id="23" name="TextBox 22"/>
          <p:cNvSpPr txBox="1"/>
          <p:nvPr/>
        </p:nvSpPr>
        <p:spPr>
          <a:xfrm>
            <a:off x="4480560" y="2907791"/>
            <a:ext cx="1691640" cy="365760"/>
          </a:xfrm>
          <a:prstGeom prst="rect">
            <a:avLst/>
          </a:prstGeom>
          <a:noFill/>
        </p:spPr>
        <p:txBody>
          <a:bodyPr wrap="square" lIns="0" rIns="0" tIns="0" bIns="0" anchor="ctr">
            <a:spAutoFit/>
          </a:bodyPr>
          <a:lstStyle/>
          <a:p>
            <a:pPr algn="r"/>
            <a:r>
              <a:rPr sz="1250" b="0" i="0">
                <a:solidFill>
                  <a:srgbClr val="C9D1DE"/>
                </a:solidFill>
                <a:latin typeface="Consolas"/>
              </a:rPr>
              <a:t>86,9 %</a:t>
            </a:r>
          </a:p>
        </p:txBody>
      </p:sp>
      <p:sp>
        <p:nvSpPr>
          <p:cNvPr id="24" name="TextBox 23"/>
          <p:cNvSpPr txBox="1"/>
          <p:nvPr/>
        </p:nvSpPr>
        <p:spPr>
          <a:xfrm>
            <a:off x="6309360" y="2907791"/>
            <a:ext cx="1463040" cy="365760"/>
          </a:xfrm>
          <a:prstGeom prst="rect">
            <a:avLst/>
          </a:prstGeom>
          <a:noFill/>
        </p:spPr>
        <p:txBody>
          <a:bodyPr wrap="square" lIns="0" rIns="0" tIns="0" bIns="0" anchor="ctr">
            <a:spAutoFit/>
          </a:bodyPr>
          <a:lstStyle/>
          <a:p>
            <a:pPr algn="r"/>
            <a:r>
              <a:rPr sz="1250" b="0" i="0">
                <a:solidFill>
                  <a:srgbClr val="C9D1DE"/>
                </a:solidFill>
                <a:latin typeface="Consolas"/>
              </a:rPr>
              <a:t>3,80</a:t>
            </a:r>
          </a:p>
        </p:txBody>
      </p:sp>
      <p:sp>
        <p:nvSpPr>
          <p:cNvPr id="25" name="TextBox 24"/>
          <p:cNvSpPr txBox="1"/>
          <p:nvPr/>
        </p:nvSpPr>
        <p:spPr>
          <a:xfrm>
            <a:off x="7955279" y="2907791"/>
            <a:ext cx="1600200" cy="365760"/>
          </a:xfrm>
          <a:prstGeom prst="rect">
            <a:avLst/>
          </a:prstGeom>
          <a:noFill/>
        </p:spPr>
        <p:txBody>
          <a:bodyPr wrap="square" lIns="0" rIns="0" tIns="0" bIns="0" anchor="ctr">
            <a:spAutoFit/>
          </a:bodyPr>
          <a:lstStyle/>
          <a:p>
            <a:pPr algn="r"/>
            <a:r>
              <a:rPr sz="1250" b="0" i="0">
                <a:solidFill>
                  <a:srgbClr val="C9D1DE"/>
                </a:solidFill>
                <a:latin typeface="Consolas"/>
              </a:rPr>
              <a:t>51,0 %</a:t>
            </a:r>
          </a:p>
        </p:txBody>
      </p:sp>
      <p:sp>
        <p:nvSpPr>
          <p:cNvPr id="26" name="TextBox 25"/>
          <p:cNvSpPr txBox="1"/>
          <p:nvPr/>
        </p:nvSpPr>
        <p:spPr>
          <a:xfrm>
            <a:off x="9692640" y="2907791"/>
            <a:ext cx="1810512" cy="365760"/>
          </a:xfrm>
          <a:prstGeom prst="rect">
            <a:avLst/>
          </a:prstGeom>
          <a:noFill/>
        </p:spPr>
        <p:txBody>
          <a:bodyPr wrap="square" lIns="0" rIns="0" tIns="0" bIns="0" anchor="ctr">
            <a:spAutoFit/>
          </a:bodyPr>
          <a:lstStyle/>
          <a:p>
            <a:pPr algn="r"/>
            <a:r>
              <a:rPr sz="1250" b="0" i="0">
                <a:solidFill>
                  <a:srgbClr val="C9D1DE"/>
                </a:solidFill>
                <a:latin typeface="Consolas"/>
              </a:rPr>
              <a:t>80 min</a:t>
            </a:r>
          </a:p>
        </p:txBody>
      </p:sp>
      <p:sp>
        <p:nvSpPr>
          <p:cNvPr id="27" name="TextBox 26"/>
          <p:cNvSpPr txBox="1"/>
          <p:nvPr/>
        </p:nvSpPr>
        <p:spPr>
          <a:xfrm>
            <a:off x="777240" y="3310127"/>
            <a:ext cx="3611879" cy="365760"/>
          </a:xfrm>
          <a:prstGeom prst="rect">
            <a:avLst/>
          </a:prstGeom>
          <a:noFill/>
        </p:spPr>
        <p:txBody>
          <a:bodyPr wrap="square" lIns="0" rIns="0" tIns="0" bIns="0" anchor="ctr">
            <a:spAutoFit/>
          </a:bodyPr>
          <a:lstStyle/>
          <a:p>
            <a:pPr algn="l"/>
            <a:r>
              <a:rPr sz="1250" b="0" i="0">
                <a:solidFill>
                  <a:srgbClr val="C9D1DE"/>
                </a:solidFill>
                <a:latin typeface="Segoe UI"/>
              </a:rPr>
              <a:t>LightGBM</a:t>
            </a:r>
          </a:p>
        </p:txBody>
      </p:sp>
      <p:sp>
        <p:nvSpPr>
          <p:cNvPr id="28" name="TextBox 27"/>
          <p:cNvSpPr txBox="1"/>
          <p:nvPr/>
        </p:nvSpPr>
        <p:spPr>
          <a:xfrm>
            <a:off x="4480560" y="3310127"/>
            <a:ext cx="1691640" cy="365760"/>
          </a:xfrm>
          <a:prstGeom prst="rect">
            <a:avLst/>
          </a:prstGeom>
          <a:noFill/>
        </p:spPr>
        <p:txBody>
          <a:bodyPr wrap="square" lIns="0" rIns="0" tIns="0" bIns="0" anchor="ctr">
            <a:spAutoFit/>
          </a:bodyPr>
          <a:lstStyle/>
          <a:p>
            <a:pPr algn="r"/>
            <a:r>
              <a:rPr sz="1250" b="0" i="0">
                <a:solidFill>
                  <a:srgbClr val="C9D1DE"/>
                </a:solidFill>
                <a:latin typeface="Consolas"/>
              </a:rPr>
              <a:t>88,1 %</a:t>
            </a:r>
          </a:p>
        </p:txBody>
      </p:sp>
      <p:sp>
        <p:nvSpPr>
          <p:cNvPr id="29" name="TextBox 28"/>
          <p:cNvSpPr txBox="1"/>
          <p:nvPr/>
        </p:nvSpPr>
        <p:spPr>
          <a:xfrm>
            <a:off x="6309360" y="3310127"/>
            <a:ext cx="1463040" cy="365760"/>
          </a:xfrm>
          <a:prstGeom prst="rect">
            <a:avLst/>
          </a:prstGeom>
          <a:noFill/>
        </p:spPr>
        <p:txBody>
          <a:bodyPr wrap="square" lIns="0" rIns="0" tIns="0" bIns="0" anchor="ctr">
            <a:spAutoFit/>
          </a:bodyPr>
          <a:lstStyle/>
          <a:p>
            <a:pPr algn="r"/>
            <a:r>
              <a:rPr sz="1250" b="0" i="0">
                <a:solidFill>
                  <a:srgbClr val="C9D1DE"/>
                </a:solidFill>
                <a:latin typeface="Consolas"/>
              </a:rPr>
              <a:t>3,54</a:t>
            </a:r>
          </a:p>
        </p:txBody>
      </p:sp>
      <p:sp>
        <p:nvSpPr>
          <p:cNvPr id="30" name="TextBox 29"/>
          <p:cNvSpPr txBox="1"/>
          <p:nvPr/>
        </p:nvSpPr>
        <p:spPr>
          <a:xfrm>
            <a:off x="7955279" y="3310127"/>
            <a:ext cx="1600200" cy="365760"/>
          </a:xfrm>
          <a:prstGeom prst="rect">
            <a:avLst/>
          </a:prstGeom>
          <a:noFill/>
        </p:spPr>
        <p:txBody>
          <a:bodyPr wrap="square" lIns="0" rIns="0" tIns="0" bIns="0" anchor="ctr">
            <a:spAutoFit/>
          </a:bodyPr>
          <a:lstStyle/>
          <a:p>
            <a:pPr algn="r"/>
            <a:r>
              <a:rPr sz="1250" b="0" i="0">
                <a:solidFill>
                  <a:srgbClr val="C9D1DE"/>
                </a:solidFill>
                <a:latin typeface="Consolas"/>
              </a:rPr>
              <a:t>44,3 %</a:t>
            </a:r>
          </a:p>
        </p:txBody>
      </p:sp>
      <p:sp>
        <p:nvSpPr>
          <p:cNvPr id="31" name="TextBox 30"/>
          <p:cNvSpPr txBox="1"/>
          <p:nvPr/>
        </p:nvSpPr>
        <p:spPr>
          <a:xfrm>
            <a:off x="9692640" y="3310127"/>
            <a:ext cx="1810512" cy="365760"/>
          </a:xfrm>
          <a:prstGeom prst="rect">
            <a:avLst/>
          </a:prstGeom>
          <a:noFill/>
        </p:spPr>
        <p:txBody>
          <a:bodyPr wrap="square" lIns="0" rIns="0" tIns="0" bIns="0" anchor="ctr">
            <a:spAutoFit/>
          </a:bodyPr>
          <a:lstStyle/>
          <a:p>
            <a:pPr algn="r"/>
            <a:r>
              <a:rPr sz="1250" b="0" i="0">
                <a:solidFill>
                  <a:srgbClr val="C9D1DE"/>
                </a:solidFill>
                <a:latin typeface="Consolas"/>
              </a:rPr>
              <a:t>86 min</a:t>
            </a:r>
          </a:p>
        </p:txBody>
      </p:sp>
      <p:sp>
        <p:nvSpPr>
          <p:cNvPr id="32" name="TextBox 31"/>
          <p:cNvSpPr txBox="1"/>
          <p:nvPr/>
        </p:nvSpPr>
        <p:spPr>
          <a:xfrm>
            <a:off x="777240" y="3712463"/>
            <a:ext cx="3611879" cy="365760"/>
          </a:xfrm>
          <a:prstGeom prst="rect">
            <a:avLst/>
          </a:prstGeom>
          <a:noFill/>
        </p:spPr>
        <p:txBody>
          <a:bodyPr wrap="square" lIns="0" rIns="0" tIns="0" bIns="0" anchor="ctr">
            <a:spAutoFit/>
          </a:bodyPr>
          <a:lstStyle/>
          <a:p>
            <a:pPr algn="l"/>
            <a:r>
              <a:rPr sz="1250" b="0" i="0">
                <a:solidFill>
                  <a:srgbClr val="C9D1DE"/>
                </a:solidFill>
                <a:latin typeface="Segoe UI"/>
              </a:rPr>
              <a:t>CatBoost</a:t>
            </a:r>
          </a:p>
        </p:txBody>
      </p:sp>
      <p:sp>
        <p:nvSpPr>
          <p:cNvPr id="33" name="TextBox 32"/>
          <p:cNvSpPr txBox="1"/>
          <p:nvPr/>
        </p:nvSpPr>
        <p:spPr>
          <a:xfrm>
            <a:off x="4480560" y="3712463"/>
            <a:ext cx="1691640" cy="365760"/>
          </a:xfrm>
          <a:prstGeom prst="rect">
            <a:avLst/>
          </a:prstGeom>
          <a:noFill/>
        </p:spPr>
        <p:txBody>
          <a:bodyPr wrap="square" lIns="0" rIns="0" tIns="0" bIns="0" anchor="ctr">
            <a:spAutoFit/>
          </a:bodyPr>
          <a:lstStyle/>
          <a:p>
            <a:pPr algn="r"/>
            <a:r>
              <a:rPr sz="1250" b="0" i="0">
                <a:solidFill>
                  <a:srgbClr val="C9D1DE"/>
                </a:solidFill>
                <a:latin typeface="Consolas"/>
              </a:rPr>
              <a:t>84,5 %</a:t>
            </a:r>
          </a:p>
        </p:txBody>
      </p:sp>
      <p:sp>
        <p:nvSpPr>
          <p:cNvPr id="34" name="TextBox 33"/>
          <p:cNvSpPr txBox="1"/>
          <p:nvPr/>
        </p:nvSpPr>
        <p:spPr>
          <a:xfrm>
            <a:off x="6309360" y="3712463"/>
            <a:ext cx="1463040" cy="365760"/>
          </a:xfrm>
          <a:prstGeom prst="rect">
            <a:avLst/>
          </a:prstGeom>
          <a:noFill/>
        </p:spPr>
        <p:txBody>
          <a:bodyPr wrap="square" lIns="0" rIns="0" tIns="0" bIns="0" anchor="ctr">
            <a:spAutoFit/>
          </a:bodyPr>
          <a:lstStyle/>
          <a:p>
            <a:pPr algn="r"/>
            <a:r>
              <a:rPr sz="1250" b="0" i="0">
                <a:solidFill>
                  <a:srgbClr val="C9D1DE"/>
                </a:solidFill>
                <a:latin typeface="Consolas"/>
              </a:rPr>
              <a:t>3,18</a:t>
            </a:r>
          </a:p>
        </p:txBody>
      </p:sp>
      <p:sp>
        <p:nvSpPr>
          <p:cNvPr id="35" name="TextBox 34"/>
          <p:cNvSpPr txBox="1"/>
          <p:nvPr/>
        </p:nvSpPr>
        <p:spPr>
          <a:xfrm>
            <a:off x="7955279" y="3712463"/>
            <a:ext cx="1600200" cy="365760"/>
          </a:xfrm>
          <a:prstGeom prst="rect">
            <a:avLst/>
          </a:prstGeom>
          <a:noFill/>
        </p:spPr>
        <p:txBody>
          <a:bodyPr wrap="square" lIns="0" rIns="0" tIns="0" bIns="0" anchor="ctr">
            <a:spAutoFit/>
          </a:bodyPr>
          <a:lstStyle/>
          <a:p>
            <a:pPr algn="r"/>
            <a:r>
              <a:rPr sz="1250" b="0" i="0">
                <a:solidFill>
                  <a:srgbClr val="C9D1DE"/>
                </a:solidFill>
                <a:latin typeface="Consolas"/>
              </a:rPr>
              <a:t>42,5 %</a:t>
            </a:r>
          </a:p>
        </p:txBody>
      </p:sp>
      <p:sp>
        <p:nvSpPr>
          <p:cNvPr id="36" name="TextBox 35"/>
          <p:cNvSpPr txBox="1"/>
          <p:nvPr/>
        </p:nvSpPr>
        <p:spPr>
          <a:xfrm>
            <a:off x="9692640" y="3712463"/>
            <a:ext cx="1810512" cy="365760"/>
          </a:xfrm>
          <a:prstGeom prst="rect">
            <a:avLst/>
          </a:prstGeom>
          <a:noFill/>
        </p:spPr>
        <p:txBody>
          <a:bodyPr wrap="square" lIns="0" rIns="0" tIns="0" bIns="0" anchor="ctr">
            <a:spAutoFit/>
          </a:bodyPr>
          <a:lstStyle/>
          <a:p>
            <a:pPr algn="r"/>
            <a:r>
              <a:rPr sz="1250" b="0" i="0">
                <a:solidFill>
                  <a:srgbClr val="C9D1DE"/>
                </a:solidFill>
                <a:latin typeface="Consolas"/>
              </a:rPr>
              <a:t>96 min</a:t>
            </a:r>
          </a:p>
        </p:txBody>
      </p:sp>
      <p:sp>
        <p:nvSpPr>
          <p:cNvPr id="37" name="Rectangle 36"/>
          <p:cNvSpPr/>
          <p:nvPr/>
        </p:nvSpPr>
        <p:spPr>
          <a:xfrm>
            <a:off x="685800" y="4114800"/>
            <a:ext cx="10817352" cy="365760"/>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4114800"/>
            <a:ext cx="3611879" cy="365760"/>
          </a:xfrm>
          <a:prstGeom prst="rect">
            <a:avLst/>
          </a:prstGeom>
          <a:noFill/>
        </p:spPr>
        <p:txBody>
          <a:bodyPr wrap="square" lIns="0" rIns="0" tIns="0" bIns="0" anchor="ctr">
            <a:spAutoFit/>
          </a:bodyPr>
          <a:lstStyle/>
          <a:p>
            <a:pPr algn="l"/>
            <a:r>
              <a:rPr sz="1250" b="1" i="0">
                <a:solidFill>
                  <a:srgbClr val="E6E9EF"/>
                </a:solidFill>
                <a:latin typeface="Segoe UI"/>
              </a:rPr>
              <a:t>Random Forest (ref.)</a:t>
            </a:r>
          </a:p>
        </p:txBody>
      </p:sp>
      <p:sp>
        <p:nvSpPr>
          <p:cNvPr id="39" name="TextBox 38"/>
          <p:cNvSpPr txBox="1"/>
          <p:nvPr/>
        </p:nvSpPr>
        <p:spPr>
          <a:xfrm>
            <a:off x="4480560" y="4114800"/>
            <a:ext cx="1691640" cy="365760"/>
          </a:xfrm>
          <a:prstGeom prst="rect">
            <a:avLst/>
          </a:prstGeom>
          <a:noFill/>
        </p:spPr>
        <p:txBody>
          <a:bodyPr wrap="square" lIns="0" rIns="0" tIns="0" bIns="0" anchor="ctr">
            <a:spAutoFit/>
          </a:bodyPr>
          <a:lstStyle/>
          <a:p>
            <a:pPr algn="r"/>
            <a:r>
              <a:rPr sz="1250" b="1" i="0">
                <a:solidFill>
                  <a:srgbClr val="E6E9EF"/>
                </a:solidFill>
                <a:latin typeface="Consolas"/>
              </a:rPr>
              <a:t>86,9 %</a:t>
            </a:r>
          </a:p>
        </p:txBody>
      </p:sp>
      <p:sp>
        <p:nvSpPr>
          <p:cNvPr id="40" name="TextBox 39"/>
          <p:cNvSpPr txBox="1"/>
          <p:nvPr/>
        </p:nvSpPr>
        <p:spPr>
          <a:xfrm>
            <a:off x="6309360" y="4114800"/>
            <a:ext cx="1463040" cy="365760"/>
          </a:xfrm>
          <a:prstGeom prst="rect">
            <a:avLst/>
          </a:prstGeom>
          <a:noFill/>
        </p:spPr>
        <p:txBody>
          <a:bodyPr wrap="square" lIns="0" rIns="0" tIns="0" bIns="0" anchor="ctr">
            <a:spAutoFit/>
          </a:bodyPr>
          <a:lstStyle/>
          <a:p>
            <a:pPr algn="r"/>
            <a:r>
              <a:rPr sz="1250" b="1" i="0">
                <a:solidFill>
                  <a:srgbClr val="E6E9EF"/>
                </a:solidFill>
                <a:latin typeface="Consolas"/>
              </a:rPr>
              <a:t>3,03</a:t>
            </a:r>
          </a:p>
        </p:txBody>
      </p:sp>
      <p:sp>
        <p:nvSpPr>
          <p:cNvPr id="41" name="TextBox 40"/>
          <p:cNvSpPr txBox="1"/>
          <p:nvPr/>
        </p:nvSpPr>
        <p:spPr>
          <a:xfrm>
            <a:off x="7955279" y="4114800"/>
            <a:ext cx="1600200" cy="365760"/>
          </a:xfrm>
          <a:prstGeom prst="rect">
            <a:avLst/>
          </a:prstGeom>
          <a:noFill/>
        </p:spPr>
        <p:txBody>
          <a:bodyPr wrap="square" lIns="0" rIns="0" tIns="0" bIns="0" anchor="ctr">
            <a:spAutoFit/>
          </a:bodyPr>
          <a:lstStyle/>
          <a:p>
            <a:pPr algn="r"/>
            <a:r>
              <a:rPr sz="1250" b="1" i="0">
                <a:solidFill>
                  <a:srgbClr val="E6E9EF"/>
                </a:solidFill>
                <a:latin typeface="Consolas"/>
              </a:rPr>
              <a:t>37,3 %</a:t>
            </a:r>
          </a:p>
        </p:txBody>
      </p:sp>
      <p:sp>
        <p:nvSpPr>
          <p:cNvPr id="42" name="TextBox 41"/>
          <p:cNvSpPr txBox="1"/>
          <p:nvPr/>
        </p:nvSpPr>
        <p:spPr>
          <a:xfrm>
            <a:off x="9692640" y="4114800"/>
            <a:ext cx="1810512" cy="365760"/>
          </a:xfrm>
          <a:prstGeom prst="rect">
            <a:avLst/>
          </a:prstGeom>
          <a:noFill/>
        </p:spPr>
        <p:txBody>
          <a:bodyPr wrap="square" lIns="0" rIns="0" tIns="0" bIns="0" anchor="ctr">
            <a:spAutoFit/>
          </a:bodyPr>
          <a:lstStyle/>
          <a:p>
            <a:pPr algn="r"/>
            <a:r>
              <a:rPr sz="1250" b="1" i="0">
                <a:solidFill>
                  <a:srgbClr val="E6E9EF"/>
                </a:solidFill>
                <a:latin typeface="Consolas"/>
              </a:rPr>
              <a:t>100 min</a:t>
            </a:r>
          </a:p>
        </p:txBody>
      </p:sp>
      <p:sp>
        <p:nvSpPr>
          <p:cNvPr id="43" name="Rectangle 42"/>
          <p:cNvSpPr/>
          <p:nvPr/>
        </p:nvSpPr>
        <p:spPr>
          <a:xfrm>
            <a:off x="685800" y="4617720"/>
            <a:ext cx="10817352" cy="105156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85800" y="4617720"/>
            <a:ext cx="54864" cy="1051560"/>
          </a:xfrm>
          <a:prstGeom prst="rect">
            <a:avLst/>
          </a:prstGeom>
          <a:solidFill>
            <a:srgbClr val="7BD9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41832" y="4782312"/>
            <a:ext cx="10360152" cy="777239"/>
          </a:xfrm>
          <a:prstGeom prst="rect">
            <a:avLst/>
          </a:prstGeom>
          <a:noFill/>
        </p:spPr>
        <p:txBody>
          <a:bodyPr wrap="square" lIns="0" rIns="0" tIns="0" bIns="0">
            <a:spAutoFit/>
          </a:bodyPr>
          <a:lstStyle/>
          <a:p>
            <a:pPr algn="l">
              <a:lnSpc>
                <a:spcPct val="110000"/>
              </a:lnSpc>
            </a:pPr>
            <a:r>
              <a:rPr sz="1250" b="1" i="0">
                <a:solidFill>
                  <a:srgbClr val="E6E9EF"/>
                </a:solidFill>
                <a:latin typeface="Segoe UI"/>
              </a:rPr>
              <a:t>Mismo alcance que el mejor boosting, con la mitad de avisos falsos.</a:t>
            </a:r>
            <a:r>
              <a:rPr sz="1250" b="0" i="0">
                <a:solidFill>
                  <a:srgbClr val="C9D1DE"/>
                </a:solidFill>
                <a:latin typeface="Segoe UI"/>
              </a:rPr>
              <a:t> Random Forest empata el 86,9 % de eventos detectados de XGBoost, pero con menos avisos al día (3,03 frente a 3,80) y muchos menos falsos (37,3 % frente a 51,0 %). LightGBM detecta un poco más (88,1 %) a costa de más avisos falsos (44,3 %). En el presupuesto del parcial, el bosque sigue siendo el que menos molesta.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F13"/>
        </a:solidFill>
        <a:effectLst/>
      </p:bgPr>
    </p:bg>
    <p:spTree>
      <p:nvGrpSpPr>
        <p:cNvPr id="1" name=""/>
        <p:cNvGrpSpPr/>
        <p:nvPr/>
      </p:nvGrpSpPr>
      <p:grpSpPr/>
      <p:sp>
        <p:nvSpPr>
          <p:cNvPr id="2" name="TextBox 1"/>
          <p:cNvSpPr txBox="1"/>
          <p:nvPr/>
        </p:nvSpPr>
        <p:spPr>
          <a:xfrm>
            <a:off x="685800" y="502920"/>
            <a:ext cx="10515600" cy="274320"/>
          </a:xfrm>
          <a:prstGeom prst="rect">
            <a:avLst/>
          </a:prstGeom>
          <a:noFill/>
        </p:spPr>
        <p:txBody>
          <a:bodyPr wrap="square" lIns="0" rIns="0" tIns="0" bIns="0">
            <a:spAutoFit/>
          </a:bodyPr>
          <a:lstStyle/>
          <a:p>
            <a:pPr algn="l"/>
            <a:r>
              <a:rPr sz="1050" b="0" i="0">
                <a:solidFill>
                  <a:srgbClr val="7BD992"/>
                </a:solidFill>
                <a:latin typeface="Consolas"/>
              </a:rPr>
              <a:t>A DISTINTOS PRESUPUESTOS, DISTINTAS HISTORIAS</a:t>
            </a:r>
          </a:p>
        </p:txBody>
      </p:sp>
      <p:sp>
        <p:nvSpPr>
          <p:cNvPr id="3" name="TextBox 2"/>
          <p:cNvSpPr txBox="1"/>
          <p:nvPr/>
        </p:nvSpPr>
        <p:spPr>
          <a:xfrm>
            <a:off x="685800" y="804672"/>
            <a:ext cx="10789920" cy="822960"/>
          </a:xfrm>
          <a:prstGeom prst="rect">
            <a:avLst/>
          </a:prstGeom>
          <a:noFill/>
        </p:spPr>
        <p:txBody>
          <a:bodyPr wrap="square" lIns="0" rIns="0" tIns="0" bIns="0">
            <a:spAutoFit/>
          </a:bodyPr>
          <a:lstStyle/>
          <a:p>
            <a:pPr algn="l"/>
            <a:r>
              <a:rPr sz="2800" b="0" i="0">
                <a:solidFill>
                  <a:srgbClr val="E6E9EF"/>
                </a:solidFill>
                <a:latin typeface="Segoe UI Semibold"/>
              </a:rPr>
              <a:t>Solo cuando el presupuesto es mínimo, un boosting gana</a:t>
            </a:r>
          </a:p>
        </p:txBody>
      </p:sp>
      <p:sp>
        <p:nvSpPr>
          <p:cNvPr id="4" name="TextBox 3"/>
          <p:cNvSpPr txBox="1"/>
          <p:nvPr/>
        </p:nvSpPr>
        <p:spPr>
          <a:xfrm>
            <a:off x="685800" y="6446520"/>
            <a:ext cx="7315200" cy="274320"/>
          </a:xfrm>
          <a:prstGeom prst="rect">
            <a:avLst/>
          </a:prstGeom>
          <a:noFill/>
        </p:spPr>
        <p:txBody>
          <a:bodyPr wrap="square" lIns="0" rIns="0" tIns="0" bIns="0">
            <a:spAutoFit/>
          </a:bodyPr>
          <a:lstStyle/>
          <a:p>
            <a:pPr algn="l"/>
            <a:r>
              <a:rPr sz="900" b="0" i="0">
                <a:solidFill>
                  <a:srgbClr val="6F7787"/>
                </a:solidFill>
                <a:latin typeface="Consolas"/>
              </a:rPr>
              <a:t>Shiro Twin · C2 Taller 1 · Boosting</a:t>
            </a:r>
          </a:p>
        </p:txBody>
      </p:sp>
      <p:sp>
        <p:nvSpPr>
          <p:cNvPr id="5" name="TextBox 4"/>
          <p:cNvSpPr txBox="1"/>
          <p:nvPr/>
        </p:nvSpPr>
        <p:spPr>
          <a:xfrm>
            <a:off x="10588752" y="6446520"/>
            <a:ext cx="914400" cy="274320"/>
          </a:xfrm>
          <a:prstGeom prst="rect">
            <a:avLst/>
          </a:prstGeom>
          <a:noFill/>
        </p:spPr>
        <p:txBody>
          <a:bodyPr wrap="square" lIns="0" rIns="0" tIns="0" bIns="0">
            <a:spAutoFit/>
          </a:bodyPr>
          <a:lstStyle/>
          <a:p>
            <a:pPr algn="r"/>
            <a:r>
              <a:rPr sz="900" b="0" i="0">
                <a:solidFill>
                  <a:srgbClr val="6F7787"/>
                </a:solidFill>
                <a:latin typeface="Consolas"/>
              </a:rPr>
              <a:t>16</a:t>
            </a:r>
          </a:p>
        </p:txBody>
      </p:sp>
      <p:sp>
        <p:nvSpPr>
          <p:cNvPr id="6" name="TextBox 5"/>
          <p:cNvSpPr txBox="1"/>
          <p:nvPr/>
        </p:nvSpPr>
        <p:spPr>
          <a:xfrm>
            <a:off x="685800" y="1965960"/>
            <a:ext cx="4846320" cy="274320"/>
          </a:xfrm>
          <a:prstGeom prst="rect">
            <a:avLst/>
          </a:prstGeom>
          <a:noFill/>
        </p:spPr>
        <p:txBody>
          <a:bodyPr wrap="square" lIns="0" rIns="0" tIns="0" bIns="0">
            <a:spAutoFit/>
          </a:bodyPr>
          <a:lstStyle/>
          <a:p>
            <a:pPr algn="l"/>
            <a:r>
              <a:rPr sz="950" b="0" i="0">
                <a:solidFill>
                  <a:srgbClr val="6F7787"/>
                </a:solidFill>
                <a:latin typeface="Consolas"/>
              </a:rPr>
              <a:t>PRESUPUESTO (% DEL TIEMPO EN ALERTA)</a:t>
            </a:r>
          </a:p>
        </p:txBody>
      </p:sp>
      <p:sp>
        <p:nvSpPr>
          <p:cNvPr id="7" name="TextBox 6"/>
          <p:cNvSpPr txBox="1"/>
          <p:nvPr/>
        </p:nvSpPr>
        <p:spPr>
          <a:xfrm>
            <a:off x="5669280" y="1965960"/>
            <a:ext cx="2103120" cy="274320"/>
          </a:xfrm>
          <a:prstGeom prst="rect">
            <a:avLst/>
          </a:prstGeom>
          <a:noFill/>
        </p:spPr>
        <p:txBody>
          <a:bodyPr wrap="square" lIns="0" rIns="0" tIns="0" bIns="0">
            <a:spAutoFit/>
          </a:bodyPr>
          <a:lstStyle/>
          <a:p>
            <a:pPr algn="r"/>
            <a:r>
              <a:rPr sz="950" b="0" i="0">
                <a:solidFill>
                  <a:srgbClr val="6F7787"/>
                </a:solidFill>
                <a:latin typeface="Consolas"/>
              </a:rPr>
              <a:t>RANDOM FOREST</a:t>
            </a:r>
          </a:p>
        </p:txBody>
      </p:sp>
      <p:sp>
        <p:nvSpPr>
          <p:cNvPr id="8" name="TextBox 7"/>
          <p:cNvSpPr txBox="1"/>
          <p:nvPr/>
        </p:nvSpPr>
        <p:spPr>
          <a:xfrm>
            <a:off x="7955279" y="1965960"/>
            <a:ext cx="3273552" cy="274320"/>
          </a:xfrm>
          <a:prstGeom prst="rect">
            <a:avLst/>
          </a:prstGeom>
          <a:noFill/>
        </p:spPr>
        <p:txBody>
          <a:bodyPr wrap="square" lIns="0" rIns="0" tIns="0" bIns="0">
            <a:spAutoFit/>
          </a:bodyPr>
          <a:lstStyle/>
          <a:p>
            <a:pPr algn="r"/>
            <a:r>
              <a:rPr sz="950" b="0" i="0">
                <a:solidFill>
                  <a:srgbClr val="6F7787"/>
                </a:solidFill>
                <a:latin typeface="Consolas"/>
              </a:rPr>
              <a:t>MEJOR BOOSTING</a:t>
            </a:r>
          </a:p>
        </p:txBody>
      </p:sp>
      <p:sp>
        <p:nvSpPr>
          <p:cNvPr id="9" name="Rectangle 8"/>
          <p:cNvSpPr/>
          <p:nvPr/>
        </p:nvSpPr>
        <p:spPr>
          <a:xfrm>
            <a:off x="685800" y="2295144"/>
            <a:ext cx="10543032" cy="9144"/>
          </a:xfrm>
          <a:prstGeom prst="rect">
            <a:avLst/>
          </a:prstGeom>
          <a:solidFill>
            <a:srgbClr val="2C3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331720"/>
            <a:ext cx="4754880" cy="466344"/>
          </a:xfrm>
          <a:prstGeom prst="rect">
            <a:avLst/>
          </a:prstGeom>
          <a:noFill/>
        </p:spPr>
        <p:txBody>
          <a:bodyPr wrap="square" lIns="0" rIns="0" tIns="0" bIns="0" anchor="ctr">
            <a:spAutoFit/>
          </a:bodyPr>
          <a:lstStyle/>
          <a:p>
            <a:pPr algn="l"/>
            <a:r>
              <a:rPr sz="1250" b="0" i="0">
                <a:solidFill>
                  <a:srgbClr val="C9D1DE"/>
                </a:solidFill>
                <a:latin typeface="Segoe UI"/>
              </a:rPr>
              <a:t>4 %  ·  presupuesto ajustado</a:t>
            </a:r>
          </a:p>
        </p:txBody>
      </p:sp>
      <p:sp>
        <p:nvSpPr>
          <p:cNvPr id="11" name="TextBox 10"/>
          <p:cNvSpPr txBox="1"/>
          <p:nvPr/>
        </p:nvSpPr>
        <p:spPr>
          <a:xfrm>
            <a:off x="5669280" y="2331720"/>
            <a:ext cx="2103120" cy="466344"/>
          </a:xfrm>
          <a:prstGeom prst="rect">
            <a:avLst/>
          </a:prstGeom>
          <a:noFill/>
        </p:spPr>
        <p:txBody>
          <a:bodyPr wrap="square" lIns="0" rIns="0" tIns="0" bIns="0" anchor="ctr">
            <a:spAutoFit/>
          </a:bodyPr>
          <a:lstStyle/>
          <a:p>
            <a:pPr algn="r"/>
            <a:r>
              <a:rPr sz="1250" b="0" i="0">
                <a:solidFill>
                  <a:srgbClr val="C9D1DE"/>
                </a:solidFill>
                <a:latin typeface="Consolas"/>
              </a:rPr>
              <a:t>63,1 %</a:t>
            </a:r>
          </a:p>
        </p:txBody>
      </p:sp>
      <p:sp>
        <p:nvSpPr>
          <p:cNvPr id="12" name="TextBox 11"/>
          <p:cNvSpPr txBox="1"/>
          <p:nvPr/>
        </p:nvSpPr>
        <p:spPr>
          <a:xfrm>
            <a:off x="7955279" y="2331720"/>
            <a:ext cx="3273552" cy="466344"/>
          </a:xfrm>
          <a:prstGeom prst="rect">
            <a:avLst/>
          </a:prstGeom>
          <a:noFill/>
        </p:spPr>
        <p:txBody>
          <a:bodyPr wrap="square" lIns="0" rIns="0" tIns="0" bIns="0" anchor="ctr">
            <a:spAutoFit/>
          </a:bodyPr>
          <a:lstStyle/>
          <a:p>
            <a:pPr algn="r"/>
            <a:r>
              <a:rPr sz="1250" b="0" i="0">
                <a:solidFill>
                  <a:srgbClr val="C9D1DE"/>
                </a:solidFill>
                <a:latin typeface="Consolas"/>
              </a:rPr>
              <a:t>47,6 % (AdaBoost / XGBoost)</a:t>
            </a:r>
          </a:p>
        </p:txBody>
      </p:sp>
      <p:sp>
        <p:nvSpPr>
          <p:cNvPr id="13" name="Rectangle 12"/>
          <p:cNvSpPr/>
          <p:nvPr/>
        </p:nvSpPr>
        <p:spPr>
          <a:xfrm>
            <a:off x="685800" y="2834639"/>
            <a:ext cx="10543032" cy="466344"/>
          </a:xfrm>
          <a:prstGeom prst="rect">
            <a:avLst/>
          </a:prstGeom>
          <a:solidFill>
            <a:srgbClr val="1A2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834639"/>
            <a:ext cx="4754880" cy="466344"/>
          </a:xfrm>
          <a:prstGeom prst="rect">
            <a:avLst/>
          </a:prstGeom>
          <a:noFill/>
        </p:spPr>
        <p:txBody>
          <a:bodyPr wrap="square" lIns="0" rIns="0" tIns="0" bIns="0" anchor="ctr">
            <a:spAutoFit/>
          </a:bodyPr>
          <a:lstStyle/>
          <a:p>
            <a:pPr algn="l"/>
            <a:r>
              <a:rPr sz="1250" b="1" i="0">
                <a:solidFill>
                  <a:srgbClr val="E6E9EF"/>
                </a:solidFill>
                <a:latin typeface="Segoe UI"/>
              </a:rPr>
              <a:t>8,2 %  ·  igual a la tasa real de anomalías</a:t>
            </a:r>
          </a:p>
        </p:txBody>
      </p:sp>
      <p:sp>
        <p:nvSpPr>
          <p:cNvPr id="15" name="TextBox 14"/>
          <p:cNvSpPr txBox="1"/>
          <p:nvPr/>
        </p:nvSpPr>
        <p:spPr>
          <a:xfrm>
            <a:off x="5669280" y="2834639"/>
            <a:ext cx="2103120" cy="466344"/>
          </a:xfrm>
          <a:prstGeom prst="rect">
            <a:avLst/>
          </a:prstGeom>
          <a:noFill/>
        </p:spPr>
        <p:txBody>
          <a:bodyPr wrap="square" lIns="0" rIns="0" tIns="0" bIns="0" anchor="ctr">
            <a:spAutoFit/>
          </a:bodyPr>
          <a:lstStyle/>
          <a:p>
            <a:pPr algn="r"/>
            <a:r>
              <a:rPr sz="1250" b="1" i="0">
                <a:solidFill>
                  <a:srgbClr val="E6E9EF"/>
                </a:solidFill>
                <a:latin typeface="Consolas"/>
              </a:rPr>
              <a:t>75,0 %</a:t>
            </a:r>
          </a:p>
        </p:txBody>
      </p:sp>
      <p:sp>
        <p:nvSpPr>
          <p:cNvPr id="16" name="TextBox 15"/>
          <p:cNvSpPr txBox="1"/>
          <p:nvPr/>
        </p:nvSpPr>
        <p:spPr>
          <a:xfrm>
            <a:off x="7955279" y="2834639"/>
            <a:ext cx="3273552" cy="466344"/>
          </a:xfrm>
          <a:prstGeom prst="rect">
            <a:avLst/>
          </a:prstGeom>
          <a:noFill/>
        </p:spPr>
        <p:txBody>
          <a:bodyPr wrap="square" lIns="0" rIns="0" tIns="0" bIns="0" anchor="ctr">
            <a:spAutoFit/>
          </a:bodyPr>
          <a:lstStyle/>
          <a:p>
            <a:pPr algn="r"/>
            <a:r>
              <a:rPr sz="1250" b="1" i="0">
                <a:solidFill>
                  <a:srgbClr val="E6E9EF"/>
                </a:solidFill>
                <a:latin typeface="Consolas"/>
              </a:rPr>
              <a:t>76,2 % (XGBoost) ← única victoria</a:t>
            </a:r>
          </a:p>
        </p:txBody>
      </p:sp>
      <p:sp>
        <p:nvSpPr>
          <p:cNvPr id="17" name="TextBox 16"/>
          <p:cNvSpPr txBox="1"/>
          <p:nvPr/>
        </p:nvSpPr>
        <p:spPr>
          <a:xfrm>
            <a:off x="777240" y="3337559"/>
            <a:ext cx="4754880" cy="466344"/>
          </a:xfrm>
          <a:prstGeom prst="rect">
            <a:avLst/>
          </a:prstGeom>
          <a:noFill/>
        </p:spPr>
        <p:txBody>
          <a:bodyPr wrap="square" lIns="0" rIns="0" tIns="0" bIns="0" anchor="ctr">
            <a:spAutoFit/>
          </a:bodyPr>
          <a:lstStyle/>
          <a:p>
            <a:pPr algn="l"/>
            <a:r>
              <a:rPr sz="1250" b="0" i="0">
                <a:solidFill>
                  <a:srgbClr val="C9D1DE"/>
                </a:solidFill>
                <a:latin typeface="Segoe UI"/>
              </a:rPr>
              <a:t>21,1 %  ·  el punto del parcial</a:t>
            </a:r>
          </a:p>
        </p:txBody>
      </p:sp>
      <p:sp>
        <p:nvSpPr>
          <p:cNvPr id="18" name="TextBox 17"/>
          <p:cNvSpPr txBox="1"/>
          <p:nvPr/>
        </p:nvSpPr>
        <p:spPr>
          <a:xfrm>
            <a:off x="5669280" y="3337559"/>
            <a:ext cx="2103120" cy="466344"/>
          </a:xfrm>
          <a:prstGeom prst="rect">
            <a:avLst/>
          </a:prstGeom>
          <a:noFill/>
        </p:spPr>
        <p:txBody>
          <a:bodyPr wrap="square" lIns="0" rIns="0" tIns="0" bIns="0" anchor="ctr">
            <a:spAutoFit/>
          </a:bodyPr>
          <a:lstStyle/>
          <a:p>
            <a:pPr algn="r"/>
            <a:r>
              <a:rPr sz="1250" b="0" i="0">
                <a:solidFill>
                  <a:srgbClr val="C9D1DE"/>
                </a:solidFill>
                <a:latin typeface="Consolas"/>
              </a:rPr>
              <a:t>86,9 %</a:t>
            </a:r>
          </a:p>
        </p:txBody>
      </p:sp>
      <p:sp>
        <p:nvSpPr>
          <p:cNvPr id="19" name="TextBox 18"/>
          <p:cNvSpPr txBox="1"/>
          <p:nvPr/>
        </p:nvSpPr>
        <p:spPr>
          <a:xfrm>
            <a:off x="7955279" y="3337559"/>
            <a:ext cx="3273552" cy="466344"/>
          </a:xfrm>
          <a:prstGeom prst="rect">
            <a:avLst/>
          </a:prstGeom>
          <a:noFill/>
        </p:spPr>
        <p:txBody>
          <a:bodyPr wrap="square" lIns="0" rIns="0" tIns="0" bIns="0" anchor="ctr">
            <a:spAutoFit/>
          </a:bodyPr>
          <a:lstStyle/>
          <a:p>
            <a:pPr algn="r"/>
            <a:r>
              <a:rPr sz="1250" b="0" i="0">
                <a:solidFill>
                  <a:srgbClr val="C9D1DE"/>
                </a:solidFill>
                <a:latin typeface="Consolas"/>
              </a:rPr>
              <a:t>88,1 % (LightGBM, con más falsos)</a:t>
            </a:r>
          </a:p>
        </p:txBody>
      </p:sp>
      <p:sp>
        <p:nvSpPr>
          <p:cNvPr id="20" name="Rectangle 19"/>
          <p:cNvSpPr/>
          <p:nvPr/>
        </p:nvSpPr>
        <p:spPr>
          <a:xfrm>
            <a:off x="685800" y="4160520"/>
            <a:ext cx="10817352" cy="1463040"/>
          </a:xfrm>
          <a:prstGeom prst="rect">
            <a:avLst/>
          </a:prstGeom>
          <a:solidFill>
            <a:srgbClr val="151920"/>
          </a:solidFill>
          <a:ln w="9525">
            <a:solidFill>
              <a:srgbClr val="2328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85800" y="4160520"/>
            <a:ext cx="54864" cy="1463040"/>
          </a:xfrm>
          <a:prstGeom prst="rect">
            <a:avLst/>
          </a:prstGeom>
          <a:solidFill>
            <a:srgbClr val="E871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4325112"/>
            <a:ext cx="10360152" cy="1188720"/>
          </a:xfrm>
          <a:prstGeom prst="rect">
            <a:avLst/>
          </a:prstGeom>
          <a:noFill/>
        </p:spPr>
        <p:txBody>
          <a:bodyPr wrap="square" lIns="0" rIns="0" tIns="0" bIns="0">
            <a:spAutoFit/>
          </a:bodyPr>
          <a:lstStyle/>
          <a:p>
            <a:pPr algn="l">
              <a:lnSpc>
                <a:spcPct val="110000"/>
              </a:lnSpc>
            </a:pPr>
            <a:r>
              <a:rPr sz="1200" b="1" i="0">
                <a:solidFill>
                  <a:srgbClr val="E6E9EF"/>
                </a:solidFill>
                <a:latin typeface="Segoe UI"/>
              </a:rPr>
              <a:t>Se declara la única excepción, en lugar de escondarla.</a:t>
            </a:r>
            <a:r>
              <a:rPr sz="1200" b="0" i="0">
                <a:solidFill>
                  <a:srgbClr val="C9D1DE"/>
                </a:solidFill>
                <a:latin typeface="Segoe UI"/>
              </a:rPr>
              <a:t> Con presupuestos ajustados (4 %), Random Forest detecta muchos más episodios que cualquier boosting (63,1 % frente a 47,6 %). Justo en el presupuesto igual a la tasa real de anomalías (8,2 %) XGBoost lo supera, pero por poco (76,2 % frente a 75,0 %) — la única combinación de presupuesto en la que un boosting gana. En el presupuesto del parcial (21,1 %) vuelven a empatar en alcance, y Random Forest sigue avisando menos. La conclusión de la diapositiva de cierre no depende de ocultar este cruce.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