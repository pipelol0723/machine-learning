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9" r:id="rId20"/>
    <p:sldId id="260" r:id="rId11"/>
    <p:sldId id="270" r:id="rId21"/>
    <p:sldId id="261" r:id="rId12"/>
    <p:sldId id="262" r:id="rId13"/>
    <p:sldId id="263" r:id="rId14"/>
    <p:sldId id="264" r:id="rId15"/>
    <p:sldId id="271" r:id="rId22"/>
    <p:sldId id="272" r:id="rId23"/>
    <p:sldId id="265" r:id="rId16"/>
    <p:sldId id="273" r:id="rId24"/>
    <p:sldId id="266" r:id="rId17"/>
    <p:sldId id="267" r:id="rId18"/>
    <p:sldId id="274" r:id="rId25"/>
    <p:sldId id="275" r:id="rId26"/>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taller construye la variable «tipo de día» que la propuesta de Shiro prometía y que hasta ahora no existía. Trabajamos sobre 136 días completos de consumo (enero–mayo 2016), no sobre las 19.735 lecturas de 10 minutos, porque lo que el MDP necesita es un tipo por día. El grupo es Jose Leonardo Diazgranados, Sofía Londoño, Andrés Felipe Céspedes Rondón y Alex Duran; el cuaderno se ejecutó de principio a fin y toda cifra de esta presentación sale de ahí.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agente de Shiro decide cada 10 minutos y necesita saber en qué tipo de día está; esa variable no existía aunque la propuesta original la daba por hecha. Tres preguntas organizan la charla: cuántos tipos de día hay, si el calendario basta para explicarlos, y en qué momento del día el agente puede conocerlos — esta última no la pide el enunciado, pero es la que más le importa a Shiro.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agrupan días, no lecturas: 136 días completos de 24 valores horarios en Wh. Se descartan el 11 de enero (42 lecturas) y el 27 de mayo (109) por estar incompletos. No se usan las 19.735 lecturas de 10 minutos porque reproducirían los regímenes hora/temperatura del taller anterior y el índice de Dunn pediría una matriz de 3,1 GB. Tampoco se estandariza por columna: las 24 horas están en Wh con varianza de 50 a 12.477 — estandarizar amplificaría 16 veces el ruido nocturno.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curva en Wh, las tres métricas del enunciado coinciden por primera vez en k=2: la inercia cae 28 % de 1 a 2 clústers y menos de 9 % por cada clúster adicional; la silueta es máxima (0,392) y cae a 0,225 con k=3; Dunn también es máximo en k=2 (0,260). En el ejemplo de clase las métricas se contradecían; aquí no, y eso simplifica la decisión.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resume el barrido k=2 a 5 y agrega la fila k=10: la inercia sigue bajando pero silueta y Dunn caen a 0,121 y 0,105 — ningún k mayor compite con k=2. El criterio propio de Shiro (cada tipo multiplica la tabla Q) coincide con el que ya preferían las métricas: no hay tensión entre lo estadísticamente mejor y lo operacionalmente más barato.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con k=2 corta casi limpiamente sobre PC1, que junto con PC2 retiene 50,1 % de la varianza. Es una separación por intensidad de consumo diurno — una dirección lineal, justo lo que PCA captura. Con k=3 y k=4 los clústers nuevos son cortes dentro de la misma nube sin espacio vacío que los separe, por eso cae la silueta.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t-SNE no revela nada que PCA no muestre. Con perplexity 5 la nube se fragmenta y sugiere más grupos de los que hay — vale la pena anticipar esta pregunta si el profesor insiste en t-SNE. Con perplexity 15 y 30 el patrón es el mismo que en PCA, solo menos nítido. Cuando el patrón es de intensidad y no de forma, PCA basta y es más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día de carga alta consume 20,94 kWh frente a 12,23 kWh de uno normal, con pico a las 11 h en vez de las 18 h. La madrugada es casi idéntica en ambos; la diferencia se concentra en un bloque diurno de 8 a 18 h. Un árbol de profundidad 2 que solo mira el consumo de la 1 p. m. reproduce el clúster en el 96,3 % de los días.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caracteriza con variables que NO entraron al modelo, para evitar circularidad. Ni el calendario (V=0,000 con fin de semana) ni el clima exterior (7,3 vs 7,4 °C) explican los tipos. Lo que se mueve es la actividad doméstica: +39 % de iluminación y más humedad en lavandería y cocina — las cargas diferibles que le interesan a Shiro para el ahorro.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Segunda técnica exigida por el criterio de cierre del proyecto. Con la curva en Wh, Ward encuentra los mismos dos grupos que K-Means (ARI=0,736): dos algoritmos con supuestos distintos llegan a la misma partición, señal de que el tipo de día es real y no un artefacto de K-Means. Con la forma no hay acuerdo (ARI=0,188): ahí no hay estructura que dos métodos redescubran por separado.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 temporal: se ajusta K-Means solo con los 110 días de enero–abril y se asignan los 26 de mayo sin reentrenar. Ningún día de mayo cae más lejos de su centroide que el percentil 95 del entrenamiento — mayo no trae tipos nuevos. Pero la proporción de días de carga alta cae de 22,7 % a 11,5 %: los tipos no envejecen, su frecuencia sí, igual que el umbral de anomalía del parcial.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pregunta que el enunciado no hace pero que a Shiro le importa: ¿cuándo sabe el agente qué tipo de día está viviendo? El tipo se definió con la curva completa de 24 horas, pero el agente decide en tiempo real. Hasta las 8 a. m. asignar con la curva parcial es peor que decir siempre «normal» (79,4 %). Visto hasta las 12 h ya se reconocen 9 de cada 10 días de carga alta.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Seis conclusiones para Shiro: una variable de dos valores que ninguna métrica cuestiona; que no se puede sustituir por el calendario; que entra como estimación progresiva y no como etiqueta fija; que refleja decisiones humanas y no el clima; que su frecuencia —no su definición— cambia con la estación; y que el criterio de cierre del proyecto (dos técnicas de clustering comparadas) queda cumplido con Ward.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literalmente la función de Dunn vista en clase, sin una sola línea modificada — se declara en el propio comentario del código. barrido() la reutiliza junto con KMeans y silhouette_score para las diez particiones (k=1 a 10) sobre las dos versiones de la curva. Vale la pena mostrar el código real porque la honestidad metodológica del taller descansa en esto: no se ajustó la métrica al resultado que queríamos.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Vale la pena mostrar por qué NO elegimos k=3, porque es la pregunta más probable del profesor. Con k=3 aparece un tercer tipo con firma de calendario real (48 % de sus días viernes a domingo, V de Cramér=0,248, p=0,015) — justo lo que la propuesta original esperaba. Pero la partición pierde calidad (silueta 0,392→0,225) y se reconoce más tarde en el día: se documenta como hallazgo, no se adopta como variable de estado.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extiende la caracterización con las variables que no cupieron en el resumen visual anterior: la temperatura interior tampoco distingue los tipos (19,4 vs 19,3 °C, descartando un efecto de calefacción), y se ve el patrón completo de las cuatro franjas horarias, no solo mañana y tarde. Es la evidencia más completa de que la diferencia es puramente conductual.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de honestidad metodológica: planteamos dos hipótesis antes de ver los resultados, en el documento de planeación del 23 de septiembre, y las contrastamos con datos. La hipótesis de que el nivel separaría por estación se refutó limpiamente (V=0,134, p=0,655). La de que la forma aislaría rutinas de calendario se cumplió solo a medias: hay asociación estadística débil (V=0,185, p=0,031) pero sin estructura de clústers que la sostenga. Mostrar una hipótesis refutada es tan valioso como mostrar una confirmada.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mostramos que el acuerdo en k=2 no es casualidad de un solo corte: con k=3 el ARI sube a 0,796, pero la silueta de Ward se derrumba a 0,200 — la partición interna ya no es buena aunque coincida más con K-Means. Con k=4 el acuerdo también cae (ARI=0,543). La auditoría independiente solo convence en el k donde ambas técnicas coinciden Y cada una por separado produce una partición de calidad.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función no estaba en el enunciado: es la contribución propia del grupo. Para cada hora del día recalcula a qué centroide está más cerca cada día usando solo las horas ya observadas, y compara con la asignación final. Conecta el ejercicio académico con el diseño real del estado del MDP: no basta con que la variable exista, tiene que ser observable a tiempo para que el agente actúe.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completa muestra que con k=2 se supera la línea base (79,4 %) desde las 9 h observadas, y a las 17 h el acierto es casi perfecto (99,3 %). Con k=3 el modelo nunca alcanza esa misma ventaja en la mañana y reconoce peor la carga alta en casi todo el recorrido — un argumento adicional, independiente de la silueta, para preferir k=2 como variable de estado.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01</a:t>
            </a:r>
          </a:p>
        </p:txBody>
      </p:sp>
      <p:sp>
        <p:nvSpPr>
          <p:cNvPr id="4" name="Rounded Rectangle 3"/>
          <p:cNvSpPr/>
          <p:nvPr/>
        </p:nvSpPr>
        <p:spPr>
          <a:xfrm>
            <a:off x="685800" y="548640"/>
            <a:ext cx="310896" cy="310896"/>
          </a:xfrm>
          <a:prstGeom prst="roundRect">
            <a:avLst>
              <a:gd name="adj" fmla="val 4000"/>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48640"/>
            <a:ext cx="310896" cy="310896"/>
          </a:xfrm>
          <a:prstGeom prst="rect">
            <a:avLst/>
          </a:prstGeom>
          <a:noFill/>
        </p:spPr>
        <p:txBody>
          <a:bodyPr wrap="square" lIns="0" rIns="0" tIns="0" bIns="0" anchor="ctr">
            <a:spAutoFit/>
          </a:bodyPr>
          <a:lstStyle/>
          <a:p>
            <a:pPr algn="ctr">
              <a:lnSpc>
                <a:spcPct val="115000"/>
              </a:lnSpc>
            </a:pPr>
            <a:r>
              <a:rPr sz="1300" b="1">
                <a:solidFill>
                  <a:srgbClr val="FFFFFF"/>
                </a:solidFill>
                <a:latin typeface="Consolas"/>
              </a:rPr>
              <a:t>S</a:t>
            </a:r>
          </a:p>
        </p:txBody>
      </p:sp>
      <p:sp>
        <p:nvSpPr>
          <p:cNvPr id="6" name="TextBox 5"/>
          <p:cNvSpPr txBox="1"/>
          <p:nvPr/>
        </p:nvSpPr>
        <p:spPr>
          <a:xfrm>
            <a:off x="1124712" y="566928"/>
            <a:ext cx="1828800" cy="274320"/>
          </a:xfrm>
          <a:prstGeom prst="rect">
            <a:avLst/>
          </a:prstGeom>
          <a:noFill/>
        </p:spPr>
        <p:txBody>
          <a:bodyPr wrap="square" lIns="0" rIns="0" tIns="0" bIns="0" anchor="t">
            <a:spAutoFit/>
          </a:bodyPr>
          <a:lstStyle/>
          <a:p>
            <a:pPr algn="l">
              <a:lnSpc>
                <a:spcPct val="115000"/>
              </a:lnSpc>
            </a:pPr>
            <a:r>
              <a:rPr sz="1300" b="0">
                <a:solidFill>
                  <a:srgbClr val="E6E9EF"/>
                </a:solidFill>
                <a:latin typeface="Segoe UI Semibold"/>
              </a:rPr>
              <a:t>Shiro Twin</a:t>
            </a:r>
          </a:p>
        </p:txBody>
      </p:sp>
      <p:sp>
        <p:nvSpPr>
          <p:cNvPr id="7" name="TextBox 6"/>
          <p:cNvSpPr txBox="1"/>
          <p:nvPr/>
        </p:nvSpPr>
        <p:spPr>
          <a:xfrm>
            <a:off x="2697480" y="603504"/>
            <a:ext cx="54864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Aprendizaje de Máquina · Corte 2 · Taller 2</a:t>
            </a:r>
          </a:p>
        </p:txBody>
      </p:sp>
      <p:sp>
        <p:nvSpPr>
          <p:cNvPr id="8" name="TextBox 7"/>
          <p:cNvSpPr txBox="1"/>
          <p:nvPr/>
        </p:nvSpPr>
        <p:spPr>
          <a:xfrm>
            <a:off x="685800" y="1874519"/>
            <a:ext cx="7315200" cy="274320"/>
          </a:xfrm>
          <a:prstGeom prst="rect">
            <a:avLst/>
          </a:prstGeom>
          <a:noFill/>
        </p:spPr>
        <p:txBody>
          <a:bodyPr wrap="square" lIns="0" rIns="0" tIns="0" bIns="0" anchor="t">
            <a:spAutoFit/>
          </a:bodyPr>
          <a:lstStyle/>
          <a:p>
            <a:pPr algn="l">
              <a:lnSpc>
                <a:spcPct val="115000"/>
              </a:lnSpc>
            </a:pPr>
            <a:r>
              <a:rPr sz="1100" b="0">
                <a:solidFill>
                  <a:srgbClr val="E8710A"/>
                </a:solidFill>
                <a:latin typeface="Consolas"/>
              </a:rPr>
              <a:t>EL HALLAZGO DE ESTE TALLER</a:t>
            </a:r>
          </a:p>
        </p:txBody>
      </p:sp>
      <p:sp>
        <p:nvSpPr>
          <p:cNvPr id="9" name="TextBox 8"/>
          <p:cNvSpPr txBox="1"/>
          <p:nvPr/>
        </p:nvSpPr>
        <p:spPr>
          <a:xfrm>
            <a:off x="685800" y="2240280"/>
            <a:ext cx="10515600" cy="1645920"/>
          </a:xfrm>
          <a:prstGeom prst="rect">
            <a:avLst/>
          </a:prstGeom>
          <a:noFill/>
        </p:spPr>
        <p:txBody>
          <a:bodyPr wrap="square" lIns="0" rIns="0" tIns="0" bIns="0" anchor="t">
            <a:spAutoFit/>
          </a:bodyPr>
          <a:lstStyle/>
          <a:p>
            <a:pPr algn="l">
              <a:lnSpc>
                <a:spcPct val="100000"/>
              </a:lnSpc>
            </a:pPr>
            <a:r>
              <a:rPr sz="4400" b="0">
                <a:solidFill>
                  <a:srgbClr val="E6E9EF"/>
                </a:solidFill>
                <a:latin typeface="Segoe UI Semibold"/>
              </a:rPr>
              <a:t>Esta casa tiene dos tipos de día.</a:t>
            </a:r>
          </a:p>
          <a:p>
            <a:pPr algn="l">
              <a:lnSpc>
                <a:spcPct val="100000"/>
              </a:lnSpc>
            </a:pPr>
            <a:r>
              <a:rPr sz="4400" b="0">
                <a:solidFill>
                  <a:srgbClr val="E6E9EF"/>
                </a:solidFill>
                <a:latin typeface="Segoe UI Semibold"/>
              </a:rPr>
              <a:t>El calendario no sabe cuál es cuál.</a:t>
            </a:r>
          </a:p>
        </p:txBody>
      </p:sp>
      <p:sp>
        <p:nvSpPr>
          <p:cNvPr id="10" name="TextBox 9"/>
          <p:cNvSpPr txBox="1"/>
          <p:nvPr/>
        </p:nvSpPr>
        <p:spPr>
          <a:xfrm>
            <a:off x="685800" y="4069080"/>
            <a:ext cx="8412480" cy="822960"/>
          </a:xfrm>
          <a:prstGeom prst="rect">
            <a:avLst/>
          </a:prstGeom>
          <a:noFill/>
        </p:spPr>
        <p:txBody>
          <a:bodyPr wrap="square" lIns="0" rIns="0" tIns="0" bIns="0" anchor="t">
            <a:spAutoFit/>
          </a:bodyPr>
          <a:lstStyle/>
          <a:p>
            <a:pPr algn="l">
              <a:lnSpc>
                <a:spcPct val="115000"/>
              </a:lnSpc>
            </a:pPr>
            <a:r>
              <a:rPr sz="1600" b="0">
                <a:solidFill>
                  <a:srgbClr val="9AA3B2"/>
                </a:solidFill>
                <a:latin typeface="Segoe UI"/>
              </a:rPr>
              <a:t>K-Means sobre 136 días de consumo para construir la variable «tipo de día» del estado del MDP de Shiro — y descubrir a qué hora del día el agente puede conocerla.</a:t>
            </a:r>
          </a:p>
        </p:txBody>
      </p:sp>
      <p:sp>
        <p:nvSpPr>
          <p:cNvPr id="11" name="Rectangle 10"/>
          <p:cNvSpPr/>
          <p:nvPr/>
        </p:nvSpPr>
        <p:spPr>
          <a:xfrm>
            <a:off x="685800" y="5257800"/>
            <a:ext cx="10820095" cy="9525"/>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440680"/>
            <a:ext cx="7772400" cy="274320"/>
          </a:xfrm>
          <a:prstGeom prst="rect">
            <a:avLst/>
          </a:prstGeom>
          <a:noFill/>
        </p:spPr>
        <p:txBody>
          <a:bodyPr wrap="square" lIns="0" rIns="0" tIns="0" bIns="0" anchor="t">
            <a:spAutoFit/>
          </a:bodyPr>
          <a:lstStyle/>
          <a:p>
            <a:pPr algn="l">
              <a:lnSpc>
                <a:spcPct val="115000"/>
              </a:lnSpc>
            </a:pPr>
            <a:r>
              <a:rPr sz="1100" b="0">
                <a:solidFill>
                  <a:srgbClr val="C9D1DE"/>
                </a:solidFill>
                <a:latin typeface="Segoe UI Semibold"/>
              </a:rPr>
              <a:t>Jose Leonardo Diazgranados · Sofía Londoño · Andrés Felipe Céspedes Rondón · Alex Duran</a:t>
            </a:r>
          </a:p>
        </p:txBody>
      </p:sp>
      <p:sp>
        <p:nvSpPr>
          <p:cNvPr id="13" name="TextBox 12"/>
          <p:cNvSpPr txBox="1"/>
          <p:nvPr/>
        </p:nvSpPr>
        <p:spPr>
          <a:xfrm>
            <a:off x="685800" y="5742432"/>
            <a:ext cx="77724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Universidad Sergio Arboleda · Semestre 26-2 · Docente: Hernán Darío Cruz Bueno</a:t>
            </a:r>
          </a:p>
        </p:txBody>
      </p:sp>
      <p:sp>
        <p:nvSpPr>
          <p:cNvPr id="14" name="TextBox 13"/>
          <p:cNvSpPr txBox="1"/>
          <p:nvPr/>
        </p:nvSpPr>
        <p:spPr>
          <a:xfrm>
            <a:off x="7848295" y="5440680"/>
            <a:ext cx="3657600" cy="548640"/>
          </a:xfrm>
          <a:prstGeom prst="rect">
            <a:avLst/>
          </a:prstGeom>
          <a:noFill/>
        </p:spPr>
        <p:txBody>
          <a:bodyPr wrap="square" lIns="0" rIns="0" tIns="0" bIns="0" anchor="t">
            <a:spAutoFit/>
          </a:bodyPr>
          <a:lstStyle/>
          <a:p>
            <a:pPr algn="r">
              <a:lnSpc>
                <a:spcPct val="115000"/>
              </a:lnSpc>
            </a:pPr>
            <a:r>
              <a:rPr sz="1000" b="0">
                <a:solidFill>
                  <a:srgbClr val="6F7787"/>
                </a:solidFill>
                <a:latin typeface="Consolas"/>
              </a:rPr>
              <a:t>Appliances Energy Prediction · UCI #374</a:t>
            </a:r>
          </a:p>
          <a:p>
            <a:pPr algn="r">
              <a:lnSpc>
                <a:spcPct val="115000"/>
              </a:lnSpc>
            </a:pPr>
            <a:r>
              <a:rPr sz="1000" b="0">
                <a:solidFill>
                  <a:srgbClr val="6F7787"/>
                </a:solidFill>
                <a:latin typeface="Consolas"/>
              </a:rPr>
              <a:t>random_state = 42 · 23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ENCUADRE · QUÉ CONSTRUYE ESTE TALLER</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agente necesita saber qué tipo de día está viviendo</a:t>
            </a:r>
          </a:p>
        </p:txBody>
      </p:sp>
      <p:sp>
        <p:nvSpPr>
          <p:cNvPr id="6" name="TextBox 5"/>
          <p:cNvSpPr txBox="1"/>
          <p:nvPr/>
        </p:nvSpPr>
        <p:spPr>
          <a:xfrm>
            <a:off x="685800" y="1783080"/>
            <a:ext cx="10607040" cy="731520"/>
          </a:xfrm>
          <a:prstGeom prst="rect">
            <a:avLst/>
          </a:prstGeom>
          <a:noFill/>
        </p:spPr>
        <p:txBody>
          <a:bodyPr wrap="square" lIns="0" rIns="0" tIns="0" bIns="0" anchor="t">
            <a:spAutoFit/>
          </a:bodyPr>
          <a:lstStyle/>
          <a:p>
            <a:pPr algn="l">
              <a:lnSpc>
                <a:spcPct val="115000"/>
              </a:lnSpc>
            </a:pPr>
            <a:r>
              <a:rPr sz="1500" b="0">
                <a:solidFill>
                  <a:srgbClr val="9AA3B2"/>
                </a:solidFill>
                <a:latin typeface="Segoe UI"/>
              </a:rPr>
              <a:t>El agente de Shiro decide cada 10 minutos sobre un estado. La propuesta prometía que los perfiles de rutina alimentarían ese estado; la variable no existía. Tres decisiones del MDP dependen de este taller:</a:t>
            </a:r>
          </a:p>
        </p:txBody>
      </p:sp>
      <p:sp>
        <p:nvSpPr>
          <p:cNvPr id="7" name="Rounded Rectangle 6"/>
          <p:cNvSpPr/>
          <p:nvPr/>
        </p:nvSpPr>
        <p:spPr>
          <a:xfrm>
            <a:off x="685800" y="2743200"/>
            <a:ext cx="3383280" cy="201168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971800"/>
            <a:ext cx="2926080" cy="45720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¿Cuántos tipos de día?</a:t>
            </a:r>
          </a:p>
        </p:txBody>
      </p:sp>
      <p:sp>
        <p:nvSpPr>
          <p:cNvPr id="9" name="TextBox 8"/>
          <p:cNvSpPr txBox="1"/>
          <p:nvPr/>
        </p:nvSpPr>
        <p:spPr>
          <a:xfrm>
            <a:off x="941832" y="3474720"/>
            <a:ext cx="2926080" cy="73152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Cada tipo multiplica la tabla Q del agente.</a:t>
            </a:r>
          </a:p>
        </p:txBody>
      </p:sp>
      <p:sp>
        <p:nvSpPr>
          <p:cNvPr id="10" name="TextBox 9"/>
          <p:cNvSpPr txBox="1"/>
          <p:nvPr/>
        </p:nvSpPr>
        <p:spPr>
          <a:xfrm>
            <a:off x="941832" y="4343400"/>
            <a:ext cx="2926080"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PUNTO 1 · ELECCIÓN DE K</a:t>
            </a:r>
          </a:p>
        </p:txBody>
      </p:sp>
      <p:sp>
        <p:nvSpPr>
          <p:cNvPr id="11" name="Rounded Rectangle 10"/>
          <p:cNvSpPr/>
          <p:nvPr/>
        </p:nvSpPr>
        <p:spPr>
          <a:xfrm>
            <a:off x="4297680" y="2743200"/>
            <a:ext cx="3383280" cy="201168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2971800"/>
            <a:ext cx="2926080" cy="45720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¿Basta el calendario?</a:t>
            </a:r>
          </a:p>
        </p:txBody>
      </p:sp>
      <p:sp>
        <p:nvSpPr>
          <p:cNvPr id="13" name="TextBox 12"/>
          <p:cNvSpPr txBox="1"/>
          <p:nvPr/>
        </p:nvSpPr>
        <p:spPr>
          <a:xfrm>
            <a:off x="4553712" y="3474720"/>
            <a:ext cx="2926080" cy="73152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Si los tipos fueran laboral / fin de semana, sobraría el modelo.</a:t>
            </a:r>
          </a:p>
        </p:txBody>
      </p:sp>
      <p:sp>
        <p:nvSpPr>
          <p:cNvPr id="14" name="TextBox 13"/>
          <p:cNvSpPr txBox="1"/>
          <p:nvPr/>
        </p:nvSpPr>
        <p:spPr>
          <a:xfrm>
            <a:off x="4553712" y="4343400"/>
            <a:ext cx="2926080"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PUNTO 3 · CARACTERIZACIÓN</a:t>
            </a:r>
          </a:p>
        </p:txBody>
      </p:sp>
      <p:sp>
        <p:nvSpPr>
          <p:cNvPr id="15" name="Rounded Rectangle 14"/>
          <p:cNvSpPr/>
          <p:nvPr/>
        </p:nvSpPr>
        <p:spPr>
          <a:xfrm>
            <a:off x="7909560" y="2743200"/>
            <a:ext cx="3383280" cy="201168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65592" y="2971800"/>
            <a:ext cx="2926080" cy="45720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¿Cuándo lo sabe el agente?</a:t>
            </a:r>
          </a:p>
        </p:txBody>
      </p:sp>
      <p:sp>
        <p:nvSpPr>
          <p:cNvPr id="17" name="TextBox 16"/>
          <p:cNvSpPr txBox="1"/>
          <p:nvPr/>
        </p:nvSpPr>
        <p:spPr>
          <a:xfrm>
            <a:off x="8165592" y="3474720"/>
            <a:ext cx="2926080" cy="73152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Un tipo definido con 24 h de curva no se conoce a las 8 a. m.</a:t>
            </a:r>
          </a:p>
        </p:txBody>
      </p:sp>
      <p:sp>
        <p:nvSpPr>
          <p:cNvPr id="18" name="TextBox 17"/>
          <p:cNvSpPr txBox="1"/>
          <p:nvPr/>
        </p:nvSpPr>
        <p:spPr>
          <a:xfrm>
            <a:off x="8165592" y="4343400"/>
            <a:ext cx="2926080"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LA PREGUNTA QUE EL ENUNCIADO NO HACE</a:t>
            </a:r>
          </a:p>
        </p:txBody>
      </p:sp>
      <p:sp>
        <p:nvSpPr>
          <p:cNvPr id="19" name="Rectangle 18"/>
          <p:cNvSpPr/>
          <p:nvPr/>
        </p:nvSpPr>
        <p:spPr>
          <a:xfrm>
            <a:off x="685800" y="5074920"/>
            <a:ext cx="10607040"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5074920"/>
            <a:ext cx="54864" cy="8686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257800"/>
            <a:ext cx="10149840" cy="54864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Se agrupan días, no lecturas.</a:t>
            </a:r>
            <a:r>
              <a:rPr sz="1300" b="0">
                <a:solidFill>
                  <a:srgbClr val="C9D1DE"/>
                </a:solidFill>
                <a:latin typeface="Segoe UI"/>
              </a:rPr>
              <a:t> 136 curvas de consumo de 24 horas. Con las 19.735 lecturas de 10 minutos, el índice de Dunn de la clase necesitaría una matriz de distancias de 3,1 GB — y el resultado repetiría lo que el árbol ya encontró.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EL DATASET</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De 19.735 lecturas a 136 días</a:t>
            </a:r>
          </a:p>
        </p:txBody>
      </p:sp>
      <p:sp>
        <p:nvSpPr>
          <p:cNvPr id="6" name="Rounded Rectangle 5"/>
          <p:cNvSpPr/>
          <p:nvPr/>
        </p:nvSpPr>
        <p:spPr>
          <a:xfrm>
            <a:off x="716280" y="1700784"/>
            <a:ext cx="7528560" cy="318211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1_mapa_dias.png"/>
          <p:cNvPicPr>
            <a:picLocks noChangeAspect="1"/>
          </p:cNvPicPr>
          <p:nvPr/>
        </p:nvPicPr>
        <p:blipFill>
          <a:blip r:embed="rId2"/>
          <a:stretch>
            <a:fillRect/>
          </a:stretch>
        </p:blipFill>
        <p:spPr>
          <a:xfrm>
            <a:off x="798576" y="1783080"/>
            <a:ext cx="7363968" cy="3017520"/>
          </a:xfrm>
          <a:prstGeom prst="rect">
            <a:avLst/>
          </a:prstGeom>
        </p:spPr>
      </p:pic>
      <p:sp>
        <p:nvSpPr>
          <p:cNvPr id="8" name="TextBox 7"/>
          <p:cNvSpPr txBox="1"/>
          <p:nvPr/>
        </p:nvSpPr>
        <p:spPr>
          <a:xfrm>
            <a:off x="8686800" y="1783080"/>
            <a:ext cx="2926080" cy="640080"/>
          </a:xfrm>
          <a:prstGeom prst="rect">
            <a:avLst/>
          </a:prstGeom>
          <a:noFill/>
        </p:spPr>
        <p:txBody>
          <a:bodyPr wrap="square" lIns="0" rIns="0" tIns="0" bIns="0" anchor="t">
            <a:spAutoFit/>
          </a:bodyPr>
          <a:lstStyle/>
          <a:p>
            <a:pPr algn="l">
              <a:lnSpc>
                <a:spcPct val="115000"/>
              </a:lnSpc>
            </a:pPr>
            <a:r>
              <a:rPr sz="3400" b="1">
                <a:solidFill>
                  <a:srgbClr val="7BD992"/>
                </a:solidFill>
                <a:latin typeface="Consolas"/>
              </a:rPr>
              <a:t>136</a:t>
            </a:r>
          </a:p>
        </p:txBody>
      </p:sp>
      <p:sp>
        <p:nvSpPr>
          <p:cNvPr id="9" name="TextBox 8"/>
          <p:cNvSpPr txBox="1"/>
          <p:nvPr/>
        </p:nvSpPr>
        <p:spPr>
          <a:xfrm>
            <a:off x="8686800" y="2441448"/>
            <a:ext cx="29260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completos, uno por fila</a:t>
            </a:r>
          </a:p>
          <a:p>
            <a:pPr algn="l">
              <a:lnSpc>
                <a:spcPct val="115000"/>
              </a:lnSpc>
            </a:pPr>
            <a:r>
              <a:rPr sz="1150" b="0">
                <a:solidFill>
                  <a:srgbClr val="9AA3B2"/>
                </a:solidFill>
                <a:latin typeface="Segoe UI"/>
              </a:rPr>
              <a:t>(ene–may 2016, lecturas cada 10 min)</a:t>
            </a:r>
          </a:p>
        </p:txBody>
      </p:sp>
      <p:sp>
        <p:nvSpPr>
          <p:cNvPr id="10" name="TextBox 9"/>
          <p:cNvSpPr txBox="1"/>
          <p:nvPr/>
        </p:nvSpPr>
        <p:spPr>
          <a:xfrm>
            <a:off x="8686800" y="2880360"/>
            <a:ext cx="2926080" cy="640080"/>
          </a:xfrm>
          <a:prstGeom prst="rect">
            <a:avLst/>
          </a:prstGeom>
          <a:noFill/>
        </p:spPr>
        <p:txBody>
          <a:bodyPr wrap="square" lIns="0" rIns="0" tIns="0" bIns="0" anchor="t">
            <a:spAutoFit/>
          </a:bodyPr>
          <a:lstStyle/>
          <a:p>
            <a:pPr algn="l">
              <a:lnSpc>
                <a:spcPct val="115000"/>
              </a:lnSpc>
            </a:pPr>
            <a:r>
              <a:rPr sz="3400" b="1">
                <a:solidFill>
                  <a:srgbClr val="E6E9EF"/>
                </a:solidFill>
                <a:latin typeface="Consolas"/>
              </a:rPr>
              <a:t>24</a:t>
            </a:r>
          </a:p>
        </p:txBody>
      </p:sp>
      <p:sp>
        <p:nvSpPr>
          <p:cNvPr id="11" name="TextBox 10"/>
          <p:cNvSpPr txBox="1"/>
          <p:nvPr/>
        </p:nvSpPr>
        <p:spPr>
          <a:xfrm>
            <a:off x="8686800" y="3538728"/>
            <a:ext cx="29260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horas por día: consumo medio</a:t>
            </a:r>
          </a:p>
          <a:p>
            <a:pPr algn="l">
              <a:lnSpc>
                <a:spcPct val="115000"/>
              </a:lnSpc>
            </a:pPr>
            <a:r>
              <a:rPr sz="1150" b="0">
                <a:solidFill>
                  <a:srgbClr val="9AA3B2"/>
                </a:solidFill>
                <a:latin typeface="Segoe UI"/>
              </a:rPr>
              <a:t>de cada hora, en Wh</a:t>
            </a:r>
          </a:p>
        </p:txBody>
      </p:sp>
      <p:sp>
        <p:nvSpPr>
          <p:cNvPr id="12" name="TextBox 11"/>
          <p:cNvSpPr txBox="1"/>
          <p:nvPr/>
        </p:nvSpPr>
        <p:spPr>
          <a:xfrm>
            <a:off x="8686800" y="3931920"/>
            <a:ext cx="2926080" cy="640080"/>
          </a:xfrm>
          <a:prstGeom prst="rect">
            <a:avLst/>
          </a:prstGeom>
          <a:noFill/>
        </p:spPr>
        <p:txBody>
          <a:bodyPr wrap="square" lIns="0" rIns="0" tIns="0" bIns="0" anchor="t">
            <a:spAutoFit/>
          </a:bodyPr>
          <a:lstStyle/>
          <a:p>
            <a:pPr algn="l">
              <a:lnSpc>
                <a:spcPct val="115000"/>
              </a:lnSpc>
            </a:pPr>
            <a:r>
              <a:rPr sz="2800" b="1">
                <a:solidFill>
                  <a:srgbClr val="E6E9EF"/>
                </a:solidFill>
                <a:latin typeface="Consolas"/>
              </a:rPr>
              <a:t>110 · 26</a:t>
            </a:r>
          </a:p>
        </p:txBody>
      </p:sp>
      <p:sp>
        <p:nvSpPr>
          <p:cNvPr id="13" name="TextBox 12"/>
          <p:cNvSpPr txBox="1"/>
          <p:nvPr/>
        </p:nvSpPr>
        <p:spPr>
          <a:xfrm>
            <a:off x="8686800" y="4590288"/>
            <a:ext cx="29260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de entrenamiento · días</a:t>
            </a:r>
          </a:p>
          <a:p>
            <a:pPr algn="l">
              <a:lnSpc>
                <a:spcPct val="115000"/>
              </a:lnSpc>
            </a:pPr>
            <a:r>
              <a:rPr sz="1150" b="0">
                <a:solidFill>
                  <a:srgbClr val="9AA3B2"/>
                </a:solidFill>
                <a:latin typeface="Segoe UI"/>
              </a:rPr>
              <a:t>de mayo para el control temporal</a:t>
            </a:r>
          </a:p>
        </p:txBody>
      </p:sp>
      <p:sp>
        <p:nvSpPr>
          <p:cNvPr id="14" name="Rectangle 13"/>
          <p:cNvSpPr/>
          <p:nvPr/>
        </p:nvSpPr>
        <p:spPr>
          <a:xfrm>
            <a:off x="685800" y="5303520"/>
            <a:ext cx="10607040" cy="7772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5303520"/>
            <a:ext cx="54864" cy="7772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5486400"/>
            <a:ext cx="10149840" cy="45720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No se estandariza por columna.</a:t>
            </a:r>
            <a:r>
              <a:rPr sz="1200" b="0">
                <a:solidFill>
                  <a:srgbClr val="C9D1DE"/>
                </a:solidFill>
                <a:latin typeface="Segoe UI"/>
              </a:rPr>
              <a:t> Las 24 horas están en Wh y su varianza va de 50 (4 a. m.) a 12.477 (11 a. m.). Estandarizar da los mismos grupos (ARI 1,000) pero degrada la silueta de 0,392 a 0,259: debilita la evidencia para elegir 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PUNTO 1 · ¿CUÁNTOS CLÚSTERS?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k = 2: esta vez las tres métricas coinciden</a:t>
            </a:r>
          </a:p>
        </p:txBody>
      </p:sp>
      <p:sp>
        <p:nvSpPr>
          <p:cNvPr id="6" name="Rounded Rectangle 5"/>
          <p:cNvSpPr/>
          <p:nvPr/>
        </p:nvSpPr>
        <p:spPr>
          <a:xfrm>
            <a:off x="760930" y="1700784"/>
            <a:ext cx="10639660" cy="31363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2_metricas.png"/>
          <p:cNvPicPr>
            <a:picLocks noChangeAspect="1"/>
          </p:cNvPicPr>
          <p:nvPr/>
        </p:nvPicPr>
        <p:blipFill>
          <a:blip r:embed="rId2"/>
          <a:stretch>
            <a:fillRect/>
          </a:stretch>
        </p:blipFill>
        <p:spPr>
          <a:xfrm>
            <a:off x="843226" y="1783080"/>
            <a:ext cx="10475068" cy="2971800"/>
          </a:xfrm>
          <a:prstGeom prst="rect">
            <a:avLst/>
          </a:prstGeom>
        </p:spPr>
      </p:pic>
      <p:sp>
        <p:nvSpPr>
          <p:cNvPr id="8" name="TextBox 7"/>
          <p:cNvSpPr txBox="1"/>
          <p:nvPr/>
        </p:nvSpPr>
        <p:spPr>
          <a:xfrm>
            <a:off x="685800" y="5029200"/>
            <a:ext cx="310896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−28 %</a:t>
            </a:r>
          </a:p>
        </p:txBody>
      </p:sp>
      <p:sp>
        <p:nvSpPr>
          <p:cNvPr id="9" name="TextBox 8"/>
          <p:cNvSpPr txBox="1"/>
          <p:nvPr/>
        </p:nvSpPr>
        <p:spPr>
          <a:xfrm>
            <a:off x="685800" y="5687568"/>
            <a:ext cx="31089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inercia al pasar de 1 a 2 clústers;</a:t>
            </a:r>
          </a:p>
          <a:p>
            <a:pPr algn="l">
              <a:lnSpc>
                <a:spcPct val="115000"/>
              </a:lnSpc>
            </a:pPr>
            <a:r>
              <a:rPr sz="1150" b="0">
                <a:solidFill>
                  <a:srgbClr val="9AA3B2"/>
                </a:solidFill>
                <a:latin typeface="Segoe UI"/>
              </a:rPr>
              <a:t>menos de 9 % cada clúster más</a:t>
            </a:r>
          </a:p>
        </p:txBody>
      </p:sp>
      <p:sp>
        <p:nvSpPr>
          <p:cNvPr id="10" name="TextBox 9"/>
          <p:cNvSpPr txBox="1"/>
          <p:nvPr/>
        </p:nvSpPr>
        <p:spPr>
          <a:xfrm>
            <a:off x="4251960" y="5029200"/>
            <a:ext cx="3108960" cy="640080"/>
          </a:xfrm>
          <a:prstGeom prst="rect">
            <a:avLst/>
          </a:prstGeom>
          <a:noFill/>
        </p:spPr>
        <p:txBody>
          <a:bodyPr wrap="square" lIns="0" rIns="0" tIns="0" bIns="0" anchor="t">
            <a:spAutoFit/>
          </a:bodyPr>
          <a:lstStyle/>
          <a:p>
            <a:pPr algn="l">
              <a:lnSpc>
                <a:spcPct val="115000"/>
              </a:lnSpc>
            </a:pPr>
            <a:r>
              <a:rPr sz="3000" b="1">
                <a:solidFill>
                  <a:srgbClr val="E6E9EF"/>
                </a:solidFill>
                <a:latin typeface="Consolas"/>
              </a:rPr>
              <a:t>0,392</a:t>
            </a:r>
          </a:p>
        </p:txBody>
      </p:sp>
      <p:sp>
        <p:nvSpPr>
          <p:cNvPr id="11" name="TextBox 10"/>
          <p:cNvSpPr txBox="1"/>
          <p:nvPr/>
        </p:nvSpPr>
        <p:spPr>
          <a:xfrm>
            <a:off x="4251960" y="5687568"/>
            <a:ext cx="31089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Silhouette Score máximo (k = 2);</a:t>
            </a:r>
          </a:p>
          <a:p>
            <a:pPr algn="l">
              <a:lnSpc>
                <a:spcPct val="115000"/>
              </a:lnSpc>
            </a:pPr>
            <a:r>
              <a:rPr sz="1150" b="0">
                <a:solidFill>
                  <a:srgbClr val="9AA3B2"/>
                </a:solidFill>
                <a:latin typeface="Segoe UI"/>
              </a:rPr>
              <a:t>cae a 0,225 con k = 3</a:t>
            </a:r>
          </a:p>
        </p:txBody>
      </p:sp>
      <p:sp>
        <p:nvSpPr>
          <p:cNvPr id="12" name="TextBox 11"/>
          <p:cNvSpPr txBox="1"/>
          <p:nvPr/>
        </p:nvSpPr>
        <p:spPr>
          <a:xfrm>
            <a:off x="7818120" y="5029200"/>
            <a:ext cx="3474720" cy="640080"/>
          </a:xfrm>
          <a:prstGeom prst="rect">
            <a:avLst/>
          </a:prstGeom>
          <a:noFill/>
        </p:spPr>
        <p:txBody>
          <a:bodyPr wrap="square" lIns="0" rIns="0" tIns="0" bIns="0" anchor="t">
            <a:spAutoFit/>
          </a:bodyPr>
          <a:lstStyle/>
          <a:p>
            <a:pPr algn="l">
              <a:lnSpc>
                <a:spcPct val="115000"/>
              </a:lnSpc>
            </a:pPr>
            <a:r>
              <a:rPr sz="3000" b="1">
                <a:solidFill>
                  <a:srgbClr val="E6E9EF"/>
                </a:solidFill>
                <a:latin typeface="Consolas"/>
              </a:rPr>
              <a:t>0,260</a:t>
            </a:r>
          </a:p>
        </p:txBody>
      </p:sp>
      <p:sp>
        <p:nvSpPr>
          <p:cNvPr id="13" name="TextBox 12"/>
          <p:cNvSpPr txBox="1"/>
          <p:nvPr/>
        </p:nvSpPr>
        <p:spPr>
          <a:xfrm>
            <a:off x="7818120" y="5687568"/>
            <a:ext cx="34747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índice de Dunn máximo (k = 2),</a:t>
            </a:r>
          </a:p>
          <a:p>
            <a:pPr algn="l">
              <a:lnSpc>
                <a:spcPct val="115000"/>
              </a:lnSpc>
            </a:pPr>
            <a:r>
              <a:rPr sz="1150" b="0">
                <a:solidFill>
                  <a:srgbClr val="9AA3B2"/>
                </a:solidFill>
                <a:latin typeface="Segoe UI"/>
              </a:rPr>
              <a:t>con la función vista en clase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06</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PUNTO 1 · JUSTIFICACIÓN DEL K</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k que prefieren las métricas es el que el agente puede sostener</a:t>
            </a:r>
          </a:p>
        </p:txBody>
      </p:sp>
      <p:sp>
        <p:nvSpPr>
          <p:cNvPr id="6" name="TextBox 5"/>
          <p:cNvSpPr txBox="1"/>
          <p:nvPr/>
        </p:nvSpPr>
        <p:spPr>
          <a:xfrm>
            <a:off x="685800" y="1920240"/>
            <a:ext cx="10972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K</a:t>
            </a:r>
          </a:p>
        </p:txBody>
      </p:sp>
      <p:sp>
        <p:nvSpPr>
          <p:cNvPr id="7" name="TextBox 6"/>
          <p:cNvSpPr txBox="1"/>
          <p:nvPr/>
        </p:nvSpPr>
        <p:spPr>
          <a:xfrm>
            <a:off x="1783080" y="1920240"/>
            <a:ext cx="14630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SILUETA</a:t>
            </a:r>
          </a:p>
        </p:txBody>
      </p:sp>
      <p:sp>
        <p:nvSpPr>
          <p:cNvPr id="8" name="TextBox 7"/>
          <p:cNvSpPr txBox="1"/>
          <p:nvPr/>
        </p:nvSpPr>
        <p:spPr>
          <a:xfrm>
            <a:off x="3246120" y="1920240"/>
            <a:ext cx="14630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DUNN</a:t>
            </a:r>
          </a:p>
        </p:txBody>
      </p:sp>
      <p:sp>
        <p:nvSpPr>
          <p:cNvPr id="9" name="TextBox 8"/>
          <p:cNvSpPr txBox="1"/>
          <p:nvPr/>
        </p:nvSpPr>
        <p:spPr>
          <a:xfrm>
            <a:off x="4709160" y="1920240"/>
            <a:ext cx="29260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TAMAÑOS DE LOS CLÚSTERS</a:t>
            </a:r>
          </a:p>
        </p:txBody>
      </p:sp>
      <p:sp>
        <p:nvSpPr>
          <p:cNvPr id="10" name="Rectangle 9"/>
          <p:cNvSpPr/>
          <p:nvPr/>
        </p:nvSpPr>
        <p:spPr>
          <a:xfrm>
            <a:off x="685800" y="2212848"/>
            <a:ext cx="694944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249424"/>
            <a:ext cx="6949440" cy="347472"/>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249424"/>
            <a:ext cx="987552" cy="384048"/>
          </a:xfrm>
          <a:prstGeom prst="rect">
            <a:avLst/>
          </a:prstGeom>
          <a:noFill/>
        </p:spPr>
        <p:txBody>
          <a:bodyPr wrap="square" lIns="0" rIns="0" tIns="0" bIns="0" anchor="ctr">
            <a:spAutoFit/>
          </a:bodyPr>
          <a:lstStyle/>
          <a:p>
            <a:pPr algn="l">
              <a:lnSpc>
                <a:spcPct val="115000"/>
              </a:lnSpc>
            </a:pPr>
            <a:r>
              <a:rPr sz="1250" b="1">
                <a:solidFill>
                  <a:srgbClr val="E6E9EF"/>
                </a:solidFill>
                <a:latin typeface="Segoe UI"/>
              </a:rPr>
              <a:t>2</a:t>
            </a:r>
          </a:p>
        </p:txBody>
      </p:sp>
      <p:sp>
        <p:nvSpPr>
          <p:cNvPr id="13" name="TextBox 12"/>
          <p:cNvSpPr txBox="1"/>
          <p:nvPr/>
        </p:nvSpPr>
        <p:spPr>
          <a:xfrm>
            <a:off x="1783080" y="2249424"/>
            <a:ext cx="1353312" cy="384048"/>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0,392</a:t>
            </a:r>
          </a:p>
        </p:txBody>
      </p:sp>
      <p:sp>
        <p:nvSpPr>
          <p:cNvPr id="14" name="TextBox 13"/>
          <p:cNvSpPr txBox="1"/>
          <p:nvPr/>
        </p:nvSpPr>
        <p:spPr>
          <a:xfrm>
            <a:off x="3246120" y="2249424"/>
            <a:ext cx="1353312" cy="384048"/>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0,260</a:t>
            </a:r>
          </a:p>
        </p:txBody>
      </p:sp>
      <p:sp>
        <p:nvSpPr>
          <p:cNvPr id="15" name="TextBox 14"/>
          <p:cNvSpPr txBox="1"/>
          <p:nvPr/>
        </p:nvSpPr>
        <p:spPr>
          <a:xfrm>
            <a:off x="4709160" y="2249424"/>
            <a:ext cx="2816352" cy="384048"/>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108 / 28</a:t>
            </a:r>
          </a:p>
        </p:txBody>
      </p:sp>
      <p:sp>
        <p:nvSpPr>
          <p:cNvPr id="16" name="TextBox 15"/>
          <p:cNvSpPr txBox="1"/>
          <p:nvPr/>
        </p:nvSpPr>
        <p:spPr>
          <a:xfrm>
            <a:off x="777240" y="2633472"/>
            <a:ext cx="987552" cy="384048"/>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3</a:t>
            </a:r>
          </a:p>
        </p:txBody>
      </p:sp>
      <p:sp>
        <p:nvSpPr>
          <p:cNvPr id="17" name="TextBox 16"/>
          <p:cNvSpPr txBox="1"/>
          <p:nvPr/>
        </p:nvSpPr>
        <p:spPr>
          <a:xfrm>
            <a:off x="1783080" y="2633472"/>
            <a:ext cx="1353312" cy="384048"/>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0,225</a:t>
            </a:r>
          </a:p>
        </p:txBody>
      </p:sp>
      <p:sp>
        <p:nvSpPr>
          <p:cNvPr id="18" name="TextBox 17"/>
          <p:cNvSpPr txBox="1"/>
          <p:nvPr/>
        </p:nvSpPr>
        <p:spPr>
          <a:xfrm>
            <a:off x="3246120" y="2633472"/>
            <a:ext cx="1353312" cy="384048"/>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0,179</a:t>
            </a:r>
          </a:p>
        </p:txBody>
      </p:sp>
      <p:sp>
        <p:nvSpPr>
          <p:cNvPr id="19" name="TextBox 18"/>
          <p:cNvSpPr txBox="1"/>
          <p:nvPr/>
        </p:nvSpPr>
        <p:spPr>
          <a:xfrm>
            <a:off x="4709160" y="2633472"/>
            <a:ext cx="2816352" cy="384048"/>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85 / 31 / 20</a:t>
            </a:r>
          </a:p>
        </p:txBody>
      </p:sp>
      <p:sp>
        <p:nvSpPr>
          <p:cNvPr id="20" name="TextBox 19"/>
          <p:cNvSpPr txBox="1"/>
          <p:nvPr/>
        </p:nvSpPr>
        <p:spPr>
          <a:xfrm>
            <a:off x="777240" y="3017520"/>
            <a:ext cx="987552" cy="384048"/>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4</a:t>
            </a:r>
          </a:p>
        </p:txBody>
      </p:sp>
      <p:sp>
        <p:nvSpPr>
          <p:cNvPr id="21" name="TextBox 20"/>
          <p:cNvSpPr txBox="1"/>
          <p:nvPr/>
        </p:nvSpPr>
        <p:spPr>
          <a:xfrm>
            <a:off x="1783080" y="3017520"/>
            <a:ext cx="1353312" cy="384048"/>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0,137</a:t>
            </a:r>
          </a:p>
        </p:txBody>
      </p:sp>
      <p:sp>
        <p:nvSpPr>
          <p:cNvPr id="22" name="TextBox 21"/>
          <p:cNvSpPr txBox="1"/>
          <p:nvPr/>
        </p:nvSpPr>
        <p:spPr>
          <a:xfrm>
            <a:off x="3246120" y="3017520"/>
            <a:ext cx="1353312" cy="384048"/>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0,119</a:t>
            </a:r>
          </a:p>
        </p:txBody>
      </p:sp>
      <p:sp>
        <p:nvSpPr>
          <p:cNvPr id="23" name="TextBox 22"/>
          <p:cNvSpPr txBox="1"/>
          <p:nvPr/>
        </p:nvSpPr>
        <p:spPr>
          <a:xfrm>
            <a:off x="4709160" y="3017520"/>
            <a:ext cx="2816352" cy="384048"/>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55 / 41 / 22 / 18</a:t>
            </a:r>
          </a:p>
        </p:txBody>
      </p:sp>
      <p:sp>
        <p:nvSpPr>
          <p:cNvPr id="24" name="TextBox 23"/>
          <p:cNvSpPr txBox="1"/>
          <p:nvPr/>
        </p:nvSpPr>
        <p:spPr>
          <a:xfrm>
            <a:off x="777240" y="3401568"/>
            <a:ext cx="987552" cy="384048"/>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5</a:t>
            </a:r>
          </a:p>
        </p:txBody>
      </p:sp>
      <p:sp>
        <p:nvSpPr>
          <p:cNvPr id="25" name="TextBox 24"/>
          <p:cNvSpPr txBox="1"/>
          <p:nvPr/>
        </p:nvSpPr>
        <p:spPr>
          <a:xfrm>
            <a:off x="1783080" y="3401568"/>
            <a:ext cx="1353312" cy="384048"/>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0,148</a:t>
            </a:r>
          </a:p>
        </p:txBody>
      </p:sp>
      <p:sp>
        <p:nvSpPr>
          <p:cNvPr id="26" name="TextBox 25"/>
          <p:cNvSpPr txBox="1"/>
          <p:nvPr/>
        </p:nvSpPr>
        <p:spPr>
          <a:xfrm>
            <a:off x="3246120" y="3401568"/>
            <a:ext cx="1353312" cy="384048"/>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0,116</a:t>
            </a:r>
          </a:p>
        </p:txBody>
      </p:sp>
      <p:sp>
        <p:nvSpPr>
          <p:cNvPr id="27" name="TextBox 26"/>
          <p:cNvSpPr txBox="1"/>
          <p:nvPr/>
        </p:nvSpPr>
        <p:spPr>
          <a:xfrm>
            <a:off x="4709160" y="3401568"/>
            <a:ext cx="2816352" cy="384048"/>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55 / 30 / 28 / 14 / 9</a:t>
            </a:r>
          </a:p>
        </p:txBody>
      </p:sp>
      <p:sp>
        <p:nvSpPr>
          <p:cNvPr id="28" name="Rectangle 27"/>
          <p:cNvSpPr/>
          <p:nvPr/>
        </p:nvSpPr>
        <p:spPr>
          <a:xfrm>
            <a:off x="8092440" y="1920240"/>
            <a:ext cx="3200400" cy="15544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1920240"/>
            <a:ext cx="54864" cy="15544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8472" y="2103120"/>
            <a:ext cx="2743200" cy="123444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En el ejemplo de clase las métricas se contradecían.</a:t>
            </a:r>
            <a:r>
              <a:rPr sz="1250" b="0">
                <a:solidFill>
                  <a:srgbClr val="C9D1DE"/>
                </a:solidFill>
                <a:latin typeface="Segoe UI"/>
              </a:rPr>
              <a:t> Silueta y Dunn señalaban k = 2 y el codo, k = 4–5; la elección fue un compromiso. Aquí coinciden las tres.</a:t>
            </a:r>
          </a:p>
        </p:txBody>
      </p:sp>
      <p:sp>
        <p:nvSpPr>
          <p:cNvPr id="31" name="Rectangle 30"/>
          <p:cNvSpPr/>
          <p:nvPr/>
        </p:nvSpPr>
        <p:spPr>
          <a:xfrm>
            <a:off x="685800" y="4160520"/>
            <a:ext cx="10607040" cy="10972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 y="4160520"/>
            <a:ext cx="54864" cy="10972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2" y="4343400"/>
            <a:ext cx="10149840" cy="777240"/>
          </a:xfrm>
          <a:prstGeom prst="rect">
            <a:avLst/>
          </a:prstGeom>
          <a:noFill/>
        </p:spPr>
        <p:txBody>
          <a:bodyPr wrap="square" lIns="0" rIns="0" tIns="0" bIns="0" anchor="t">
            <a:spAutoFit/>
          </a:bodyPr>
          <a:lstStyle/>
          <a:p>
            <a:pPr algn="l">
              <a:lnSpc>
                <a:spcPct val="115000"/>
              </a:lnSpc>
            </a:pPr>
            <a:r>
              <a:rPr sz="1350" b="1">
                <a:solidFill>
                  <a:srgbClr val="E6E9EF"/>
                </a:solidFill>
                <a:latin typeface="Segoe UI"/>
              </a:rPr>
              <a:t>Criterio propio de Shiro.</a:t>
            </a:r>
            <a:r>
              <a:rPr sz="1350" b="0">
                <a:solidFill>
                  <a:srgbClr val="C9D1DE"/>
                </a:solidFill>
                <a:latin typeface="Segoe UI"/>
              </a:rPr>
              <a:t> Cada tipo de día multiplica la tabla Q: 24 horas × k tipos × bandas de temperatura × acciones. Con k = 2 el agente visita cada estado muchas veces; con k = 8, no llega a visitarlos. Aquí no hay tensión entre métrica y arquitectura.</a:t>
            </a:r>
          </a:p>
        </p:txBody>
      </p:sp>
      <p:sp>
        <p:nvSpPr>
          <p:cNvPr id="34" name="Rectangle 33"/>
          <p:cNvSpPr/>
          <p:nvPr/>
        </p:nvSpPr>
        <p:spPr>
          <a:xfrm>
            <a:off x="685800" y="5440680"/>
            <a:ext cx="10607040" cy="7315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 y="5440680"/>
            <a:ext cx="54864" cy="73152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2" y="5623560"/>
            <a:ext cx="10149840" cy="41148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La forma no tiene estructura.</a:t>
            </a:r>
            <a:r>
              <a:rPr sz="1250" b="0">
                <a:solidFill>
                  <a:srgbClr val="C9D1DE"/>
                </a:solidFill>
                <a:latin typeface="Segoe UI"/>
              </a:rPr>
              <a:t> Agrupando la curva dividida por su total, la silueta se queda entre 0,13 y 0,15 para todo k: no hay k que elegir.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PUNTO 2 · VISUALIZACIÓN CON PCA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Con k = 2, un corte casi limpio sobre el primer componente</a:t>
            </a:r>
          </a:p>
        </p:txBody>
      </p:sp>
      <p:sp>
        <p:nvSpPr>
          <p:cNvPr id="6" name="Rounded Rectangle 5"/>
          <p:cNvSpPr/>
          <p:nvPr/>
        </p:nvSpPr>
        <p:spPr>
          <a:xfrm>
            <a:off x="800429" y="1700784"/>
            <a:ext cx="10560662" cy="33649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3_pca.png"/>
          <p:cNvPicPr>
            <a:picLocks noChangeAspect="1"/>
          </p:cNvPicPr>
          <p:nvPr/>
        </p:nvPicPr>
        <p:blipFill>
          <a:blip r:embed="rId2"/>
          <a:stretch>
            <a:fillRect/>
          </a:stretch>
        </p:blipFill>
        <p:spPr>
          <a:xfrm>
            <a:off x="882725" y="1783080"/>
            <a:ext cx="10396070" cy="3200400"/>
          </a:xfrm>
          <a:prstGeom prst="rect">
            <a:avLst/>
          </a:prstGeom>
        </p:spPr>
      </p:pic>
      <p:sp>
        <p:nvSpPr>
          <p:cNvPr id="8" name="Rectangle 7"/>
          <p:cNvSpPr/>
          <p:nvPr/>
        </p:nvSpPr>
        <p:spPr>
          <a:xfrm>
            <a:off x="685800" y="5257800"/>
            <a:ext cx="10607040" cy="9601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257800"/>
            <a:ext cx="54864" cy="9601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440680"/>
            <a:ext cx="10149840" cy="64008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Por qué PCA separa bien.</a:t>
            </a:r>
            <a:r>
              <a:rPr sz="1250" b="0">
                <a:solidFill>
                  <a:srgbClr val="C9D1DE"/>
                </a:solidFill>
                <a:latin typeface="Segoe UI"/>
              </a:rPr>
              <a:t> PC1 y PC2 retienen la mitad de la varianza (37,2 % + 12,9 %). La diferencia entre los tipos es cuánto se consume de día — una dirección lineal, que es justo lo que PCA captura. Con k = 3 y 4 los clústers nuevos son cortes dentro de la nube principal, sin un espacio vacío que los separe: por eso la silueta cae.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09</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PUNTO 2 · VISUALIZACIÓN CON T-SNE</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t-SNE no revela nada que PCA no muestre</a:t>
            </a:r>
          </a:p>
        </p:txBody>
      </p:sp>
      <p:sp>
        <p:nvSpPr>
          <p:cNvPr id="6" name="Rounded Rectangle 5"/>
          <p:cNvSpPr/>
          <p:nvPr/>
        </p:nvSpPr>
        <p:spPr>
          <a:xfrm>
            <a:off x="694944" y="1709155"/>
            <a:ext cx="6931152" cy="426264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4_tsne.png"/>
          <p:cNvPicPr>
            <a:picLocks noChangeAspect="1"/>
          </p:cNvPicPr>
          <p:nvPr/>
        </p:nvPicPr>
        <p:blipFill>
          <a:blip r:embed="rId2"/>
          <a:stretch>
            <a:fillRect/>
          </a:stretch>
        </p:blipFill>
        <p:spPr>
          <a:xfrm>
            <a:off x="777240" y="1791451"/>
            <a:ext cx="6766560" cy="4098057"/>
          </a:xfrm>
          <a:prstGeom prst="rect">
            <a:avLst/>
          </a:prstGeom>
        </p:spPr>
      </p:pic>
      <p:sp>
        <p:nvSpPr>
          <p:cNvPr id="8" name="TextBox 7"/>
          <p:cNvSpPr txBox="1"/>
          <p:nvPr/>
        </p:nvSpPr>
        <p:spPr>
          <a:xfrm>
            <a:off x="8001000" y="1828800"/>
            <a:ext cx="3291840" cy="274320"/>
          </a:xfrm>
          <a:prstGeom prst="rect">
            <a:avLst/>
          </a:prstGeom>
          <a:noFill/>
        </p:spPr>
        <p:txBody>
          <a:bodyPr wrap="square" lIns="0" rIns="0" tIns="0" bIns="0" anchor="t">
            <a:spAutoFit/>
          </a:bodyPr>
          <a:lstStyle/>
          <a:p>
            <a:pPr algn="l">
              <a:lnSpc>
                <a:spcPct val="115000"/>
              </a:lnSpc>
            </a:pPr>
            <a:r>
              <a:rPr sz="1000" b="0">
                <a:solidFill>
                  <a:srgbClr val="FFB877"/>
                </a:solidFill>
                <a:latin typeface="Consolas"/>
              </a:rPr>
              <a:t>PERPLEXITY 5</a:t>
            </a:r>
          </a:p>
        </p:txBody>
      </p:sp>
      <p:sp>
        <p:nvSpPr>
          <p:cNvPr id="9" name="TextBox 8"/>
          <p:cNvSpPr txBox="1"/>
          <p:nvPr/>
        </p:nvSpPr>
        <p:spPr>
          <a:xfrm>
            <a:off x="8001000" y="2121408"/>
            <a:ext cx="3291840" cy="118872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La nube se rompe en hebras cortas: los días de carga alta quedan juntos localmente, pero en varios fragmentos. El gráfico sugiere más grupos de los que hay.</a:t>
            </a:r>
          </a:p>
        </p:txBody>
      </p:sp>
      <p:sp>
        <p:nvSpPr>
          <p:cNvPr id="10" name="TextBox 9"/>
          <p:cNvSpPr txBox="1"/>
          <p:nvPr/>
        </p:nvSpPr>
        <p:spPr>
          <a:xfrm>
            <a:off x="8001000" y="3474720"/>
            <a:ext cx="3291840" cy="274320"/>
          </a:xfrm>
          <a:prstGeom prst="rect">
            <a:avLst/>
          </a:prstGeom>
          <a:noFill/>
        </p:spPr>
        <p:txBody>
          <a:bodyPr wrap="square" lIns="0" rIns="0" tIns="0" bIns="0" anchor="t">
            <a:spAutoFit/>
          </a:bodyPr>
          <a:lstStyle/>
          <a:p>
            <a:pPr algn="l">
              <a:lnSpc>
                <a:spcPct val="115000"/>
              </a:lnSpc>
            </a:pPr>
            <a:r>
              <a:rPr sz="1000" b="0">
                <a:solidFill>
                  <a:srgbClr val="7BD992"/>
                </a:solidFill>
                <a:latin typeface="Consolas"/>
              </a:rPr>
              <a:t>PERPLEXITY 15 Y 30</a:t>
            </a:r>
          </a:p>
        </p:txBody>
      </p:sp>
      <p:sp>
        <p:nvSpPr>
          <p:cNvPr id="11" name="TextBox 10"/>
          <p:cNvSpPr txBox="1"/>
          <p:nvPr/>
        </p:nvSpPr>
        <p:spPr>
          <a:xfrm>
            <a:off x="8001000" y="3767328"/>
            <a:ext cx="3291840" cy="91440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Una sola nube con los días de carga alta en un borde: la misma lectura que PCA, con menos nitidez.</a:t>
            </a:r>
          </a:p>
        </p:txBody>
      </p:sp>
      <p:sp>
        <p:nvSpPr>
          <p:cNvPr id="12" name="Rectangle 11"/>
          <p:cNvSpPr/>
          <p:nvPr/>
        </p:nvSpPr>
        <p:spPr>
          <a:xfrm>
            <a:off x="8001000" y="4892040"/>
            <a:ext cx="3291840" cy="10058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1000" y="4892040"/>
            <a:ext cx="54864" cy="100584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5074920"/>
            <a:ext cx="2834640" cy="68580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Cuando el patrón es una diferencia de intensidad y no una forma curva, </a:t>
            </a:r>
            <a:r>
              <a:rPr sz="1300" b="1">
                <a:solidFill>
                  <a:srgbClr val="E6E9EF"/>
                </a:solidFill>
                <a:latin typeface="Segoe UI"/>
              </a:rPr>
              <a:t>PCA basta</a:t>
            </a:r>
            <a:r>
              <a:rPr sz="1300" b="0">
                <a:solidFill>
                  <a:srgbClr val="C9D1DE"/>
                </a:solidFill>
                <a:latin typeface="Segoe U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10</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PUNTO 3 · CARACTERIZACIÓN</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Día normal y día de carga alta</a:t>
            </a:r>
          </a:p>
        </p:txBody>
      </p:sp>
      <p:sp>
        <p:nvSpPr>
          <p:cNvPr id="6" name="Rounded Rectangle 5"/>
          <p:cNvSpPr/>
          <p:nvPr/>
        </p:nvSpPr>
        <p:spPr>
          <a:xfrm>
            <a:off x="1499647" y="1655064"/>
            <a:ext cx="9162226" cy="286207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5_perfiles.png"/>
          <p:cNvPicPr>
            <a:picLocks noChangeAspect="1"/>
          </p:cNvPicPr>
          <p:nvPr/>
        </p:nvPicPr>
        <p:blipFill>
          <a:blip r:embed="rId2"/>
          <a:stretch>
            <a:fillRect/>
          </a:stretch>
        </p:blipFill>
        <p:spPr>
          <a:xfrm>
            <a:off x="1581943" y="1737360"/>
            <a:ext cx="8997634" cy="2697480"/>
          </a:xfrm>
          <a:prstGeom prst="rect">
            <a:avLst/>
          </a:prstGeom>
        </p:spPr>
      </p:pic>
      <p:sp>
        <p:nvSpPr>
          <p:cNvPr id="8" name="TextBox 7"/>
          <p:cNvSpPr txBox="1"/>
          <p:nvPr/>
        </p:nvSpPr>
        <p:spPr>
          <a:xfrm>
            <a:off x="685800" y="4617720"/>
            <a:ext cx="274320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MEDIA POR DÍA</a:t>
            </a:r>
          </a:p>
        </p:txBody>
      </p:sp>
      <p:sp>
        <p:nvSpPr>
          <p:cNvPr id="9" name="TextBox 8"/>
          <p:cNvSpPr txBox="1"/>
          <p:nvPr/>
        </p:nvSpPr>
        <p:spPr>
          <a:xfrm>
            <a:off x="3429000" y="4617720"/>
            <a:ext cx="17373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DÍA NORMAL</a:t>
            </a:r>
          </a:p>
        </p:txBody>
      </p:sp>
      <p:sp>
        <p:nvSpPr>
          <p:cNvPr id="10" name="TextBox 9"/>
          <p:cNvSpPr txBox="1"/>
          <p:nvPr/>
        </p:nvSpPr>
        <p:spPr>
          <a:xfrm>
            <a:off x="5166360" y="4617720"/>
            <a:ext cx="17373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CARGA ALTA</a:t>
            </a:r>
          </a:p>
        </p:txBody>
      </p:sp>
      <p:sp>
        <p:nvSpPr>
          <p:cNvPr id="11" name="Rectangle 10"/>
          <p:cNvSpPr/>
          <p:nvPr/>
        </p:nvSpPr>
        <p:spPr>
          <a:xfrm>
            <a:off x="685800" y="4910328"/>
            <a:ext cx="62179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946904"/>
            <a:ext cx="2633472" cy="329184"/>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Días</a:t>
            </a:r>
          </a:p>
        </p:txBody>
      </p:sp>
      <p:sp>
        <p:nvSpPr>
          <p:cNvPr id="13" name="TextBox 12"/>
          <p:cNvSpPr txBox="1"/>
          <p:nvPr/>
        </p:nvSpPr>
        <p:spPr>
          <a:xfrm>
            <a:off x="3429000" y="4946904"/>
            <a:ext cx="1627632" cy="329184"/>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108</a:t>
            </a:r>
          </a:p>
        </p:txBody>
      </p:sp>
      <p:sp>
        <p:nvSpPr>
          <p:cNvPr id="14" name="TextBox 13"/>
          <p:cNvSpPr txBox="1"/>
          <p:nvPr/>
        </p:nvSpPr>
        <p:spPr>
          <a:xfrm>
            <a:off x="5166360" y="4946904"/>
            <a:ext cx="1627632" cy="329184"/>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28</a:t>
            </a:r>
          </a:p>
        </p:txBody>
      </p:sp>
      <p:sp>
        <p:nvSpPr>
          <p:cNvPr id="15" name="TextBox 14"/>
          <p:cNvSpPr txBox="1"/>
          <p:nvPr/>
        </p:nvSpPr>
        <p:spPr>
          <a:xfrm>
            <a:off x="777240" y="5276088"/>
            <a:ext cx="2633472" cy="329184"/>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Consumo diario</a:t>
            </a:r>
          </a:p>
        </p:txBody>
      </p:sp>
      <p:sp>
        <p:nvSpPr>
          <p:cNvPr id="16" name="TextBox 15"/>
          <p:cNvSpPr txBox="1"/>
          <p:nvPr/>
        </p:nvSpPr>
        <p:spPr>
          <a:xfrm>
            <a:off x="3429000" y="5276088"/>
            <a:ext cx="1627632" cy="329184"/>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12,23 kWh</a:t>
            </a:r>
          </a:p>
        </p:txBody>
      </p:sp>
      <p:sp>
        <p:nvSpPr>
          <p:cNvPr id="17" name="TextBox 16"/>
          <p:cNvSpPr txBox="1"/>
          <p:nvPr/>
        </p:nvSpPr>
        <p:spPr>
          <a:xfrm>
            <a:off x="5166360" y="5276088"/>
            <a:ext cx="1627632" cy="329184"/>
          </a:xfrm>
          <a:prstGeom prst="rect">
            <a:avLst/>
          </a:prstGeom>
          <a:noFill/>
        </p:spPr>
        <p:txBody>
          <a:bodyPr wrap="square" lIns="0" rIns="0" tIns="0" bIns="0" anchor="ctr">
            <a:spAutoFit/>
          </a:bodyPr>
          <a:lstStyle/>
          <a:p>
            <a:pPr algn="r">
              <a:lnSpc>
                <a:spcPct val="115000"/>
              </a:lnSpc>
            </a:pPr>
            <a:r>
              <a:rPr sz="1200" b="0">
                <a:solidFill>
                  <a:srgbClr val="FFB877"/>
                </a:solidFill>
                <a:latin typeface="Consolas"/>
              </a:rPr>
              <a:t>20,94 kWh</a:t>
            </a:r>
          </a:p>
        </p:txBody>
      </p:sp>
      <p:sp>
        <p:nvSpPr>
          <p:cNvPr id="18" name="TextBox 17"/>
          <p:cNvSpPr txBox="1"/>
          <p:nvPr/>
        </p:nvSpPr>
        <p:spPr>
          <a:xfrm>
            <a:off x="777240" y="5605272"/>
            <a:ext cx="2633472" cy="329184"/>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Mañana · tarde (Wh)</a:t>
            </a:r>
          </a:p>
        </p:txBody>
      </p:sp>
      <p:sp>
        <p:nvSpPr>
          <p:cNvPr id="19" name="TextBox 18"/>
          <p:cNvSpPr txBox="1"/>
          <p:nvPr/>
        </p:nvSpPr>
        <p:spPr>
          <a:xfrm>
            <a:off x="3429000" y="5605272"/>
            <a:ext cx="1627632" cy="329184"/>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83 · 94</a:t>
            </a:r>
          </a:p>
        </p:txBody>
      </p:sp>
      <p:sp>
        <p:nvSpPr>
          <p:cNvPr id="20" name="TextBox 19"/>
          <p:cNvSpPr txBox="1"/>
          <p:nvPr/>
        </p:nvSpPr>
        <p:spPr>
          <a:xfrm>
            <a:off x="5166360" y="5605272"/>
            <a:ext cx="1627632" cy="329184"/>
          </a:xfrm>
          <a:prstGeom prst="rect">
            <a:avLst/>
          </a:prstGeom>
          <a:noFill/>
        </p:spPr>
        <p:txBody>
          <a:bodyPr wrap="square" lIns="0" rIns="0" tIns="0" bIns="0" anchor="ctr">
            <a:spAutoFit/>
          </a:bodyPr>
          <a:lstStyle/>
          <a:p>
            <a:pPr algn="r">
              <a:lnSpc>
                <a:spcPct val="115000"/>
              </a:lnSpc>
            </a:pPr>
            <a:r>
              <a:rPr sz="1200" b="0">
                <a:solidFill>
                  <a:srgbClr val="FFB877"/>
                </a:solidFill>
                <a:latin typeface="Consolas"/>
              </a:rPr>
              <a:t>172 · 238</a:t>
            </a:r>
          </a:p>
        </p:txBody>
      </p:sp>
      <p:sp>
        <p:nvSpPr>
          <p:cNvPr id="21" name="TextBox 20"/>
          <p:cNvSpPr txBox="1"/>
          <p:nvPr/>
        </p:nvSpPr>
        <p:spPr>
          <a:xfrm>
            <a:off x="777240" y="5934456"/>
            <a:ext cx="2633472" cy="329184"/>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Hora pico más frecuente</a:t>
            </a:r>
          </a:p>
        </p:txBody>
      </p:sp>
      <p:sp>
        <p:nvSpPr>
          <p:cNvPr id="22" name="TextBox 21"/>
          <p:cNvSpPr txBox="1"/>
          <p:nvPr/>
        </p:nvSpPr>
        <p:spPr>
          <a:xfrm>
            <a:off x="3429000" y="5934456"/>
            <a:ext cx="1627632" cy="329184"/>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18 h</a:t>
            </a:r>
          </a:p>
        </p:txBody>
      </p:sp>
      <p:sp>
        <p:nvSpPr>
          <p:cNvPr id="23" name="TextBox 22"/>
          <p:cNvSpPr txBox="1"/>
          <p:nvPr/>
        </p:nvSpPr>
        <p:spPr>
          <a:xfrm>
            <a:off x="5166360" y="5934456"/>
            <a:ext cx="1627632" cy="329184"/>
          </a:xfrm>
          <a:prstGeom prst="rect">
            <a:avLst/>
          </a:prstGeom>
          <a:noFill/>
        </p:spPr>
        <p:txBody>
          <a:bodyPr wrap="square" lIns="0" rIns="0" tIns="0" bIns="0" anchor="ctr">
            <a:spAutoFit/>
          </a:bodyPr>
          <a:lstStyle/>
          <a:p>
            <a:pPr algn="r">
              <a:lnSpc>
                <a:spcPct val="115000"/>
              </a:lnSpc>
            </a:pPr>
            <a:r>
              <a:rPr sz="1200" b="0">
                <a:solidFill>
                  <a:srgbClr val="FFB877"/>
                </a:solidFill>
                <a:latin typeface="Consolas"/>
              </a:rPr>
              <a:t>11 h</a:t>
            </a:r>
          </a:p>
        </p:txBody>
      </p:sp>
      <p:sp>
        <p:nvSpPr>
          <p:cNvPr id="24" name="Rectangle 23"/>
          <p:cNvSpPr/>
          <p:nvPr/>
        </p:nvSpPr>
        <p:spPr>
          <a:xfrm>
            <a:off x="7360920" y="4617720"/>
            <a:ext cx="3931920" cy="14630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20" y="4617720"/>
            <a:ext cx="54864" cy="146304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16952" y="4800600"/>
            <a:ext cx="3474720" cy="114300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Un bloque diurno de 8 a 18 h.</a:t>
            </a:r>
            <a:r>
              <a:rPr sz="1200" b="0">
                <a:solidFill>
                  <a:srgbClr val="C9D1DE"/>
                </a:solidFill>
                <a:latin typeface="Segoe UI"/>
              </a:rPr>
              <a:t> Madrugadas idénticas. Dos jorobas, a las 11 y a las 17 h. Un árbol de profundidad 2 lo reproduce en el 96,3 % de los días mirando la 1 de la tarde (h13 &gt; 199 Wh).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11</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PUNTO 3 · QUÉ LOS DIFERENCIA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Ni el calendario ni el clima: la actividad de la casa</a:t>
            </a:r>
          </a:p>
        </p:txBody>
      </p:sp>
      <p:sp>
        <p:nvSpPr>
          <p:cNvPr id="6" name="Rounded Rectangle 5"/>
          <p:cNvSpPr/>
          <p:nvPr/>
        </p:nvSpPr>
        <p:spPr>
          <a:xfrm>
            <a:off x="694944" y="1854963"/>
            <a:ext cx="5285232" cy="3605274"/>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9_variables.png"/>
          <p:cNvPicPr>
            <a:picLocks noChangeAspect="1"/>
          </p:cNvPicPr>
          <p:nvPr/>
        </p:nvPicPr>
        <p:blipFill>
          <a:blip r:embed="rId2"/>
          <a:stretch>
            <a:fillRect/>
          </a:stretch>
        </p:blipFill>
        <p:spPr>
          <a:xfrm>
            <a:off x="777240" y="1937259"/>
            <a:ext cx="5120640" cy="3440682"/>
          </a:xfrm>
          <a:prstGeom prst="rect">
            <a:avLst/>
          </a:prstGeom>
        </p:spPr>
      </p:pic>
      <p:sp>
        <p:nvSpPr>
          <p:cNvPr id="8" name="TextBox 7"/>
          <p:cNvSpPr txBox="1"/>
          <p:nvPr/>
        </p:nvSpPr>
        <p:spPr>
          <a:xfrm>
            <a:off x="6492240" y="1783080"/>
            <a:ext cx="2468880" cy="640080"/>
          </a:xfrm>
          <a:prstGeom prst="rect">
            <a:avLst/>
          </a:prstGeom>
          <a:noFill/>
        </p:spPr>
        <p:txBody>
          <a:bodyPr wrap="square" lIns="0" rIns="0" tIns="0" bIns="0" anchor="t">
            <a:spAutoFit/>
          </a:bodyPr>
          <a:lstStyle/>
          <a:p>
            <a:pPr algn="l">
              <a:lnSpc>
                <a:spcPct val="115000"/>
              </a:lnSpc>
            </a:pPr>
            <a:r>
              <a:rPr sz="2600" b="1">
                <a:solidFill>
                  <a:srgbClr val="FFB877"/>
                </a:solidFill>
                <a:latin typeface="Consolas"/>
              </a:rPr>
              <a:t>V = 0,000</a:t>
            </a:r>
          </a:p>
        </p:txBody>
      </p:sp>
      <p:sp>
        <p:nvSpPr>
          <p:cNvPr id="9" name="TextBox 8"/>
          <p:cNvSpPr txBox="1"/>
          <p:nvPr/>
        </p:nvSpPr>
        <p:spPr>
          <a:xfrm>
            <a:off x="6492240" y="2441448"/>
            <a:ext cx="24688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asociación con el fin de semana</a:t>
            </a:r>
          </a:p>
          <a:p>
            <a:pPr algn="l">
              <a:lnSpc>
                <a:spcPct val="115000"/>
              </a:lnSpc>
            </a:pPr>
            <a:r>
              <a:rPr sz="1150" b="0">
                <a:solidFill>
                  <a:srgbClr val="9AA3B2"/>
                </a:solidFill>
                <a:latin typeface="Segoe UI"/>
              </a:rPr>
              <a:t>(28 % frente a 29 % de fines de semana)</a:t>
            </a:r>
          </a:p>
        </p:txBody>
      </p:sp>
      <p:sp>
        <p:nvSpPr>
          <p:cNvPr id="10" name="TextBox 9"/>
          <p:cNvSpPr txBox="1"/>
          <p:nvPr/>
        </p:nvSpPr>
        <p:spPr>
          <a:xfrm>
            <a:off x="9006840" y="1783080"/>
            <a:ext cx="2468880" cy="640080"/>
          </a:xfrm>
          <a:prstGeom prst="rect">
            <a:avLst/>
          </a:prstGeom>
          <a:noFill/>
        </p:spPr>
        <p:txBody>
          <a:bodyPr wrap="square" lIns="0" rIns="0" tIns="0" bIns="0" anchor="t">
            <a:spAutoFit/>
          </a:bodyPr>
          <a:lstStyle/>
          <a:p>
            <a:pPr algn="l">
              <a:lnSpc>
                <a:spcPct val="115000"/>
              </a:lnSpc>
            </a:pPr>
            <a:r>
              <a:rPr sz="2600" b="1">
                <a:solidFill>
                  <a:srgbClr val="E6E9EF"/>
                </a:solidFill>
                <a:latin typeface="Consolas"/>
              </a:rPr>
              <a:t>7,3 · 7,4 °C</a:t>
            </a:r>
          </a:p>
        </p:txBody>
      </p:sp>
      <p:sp>
        <p:nvSpPr>
          <p:cNvPr id="11" name="TextBox 10"/>
          <p:cNvSpPr txBox="1"/>
          <p:nvPr/>
        </p:nvSpPr>
        <p:spPr>
          <a:xfrm>
            <a:off x="9006840" y="2441448"/>
            <a:ext cx="24688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temperatura exterior media</a:t>
            </a:r>
          </a:p>
          <a:p>
            <a:pPr algn="l">
              <a:lnSpc>
                <a:spcPct val="115000"/>
              </a:lnSpc>
            </a:pPr>
            <a:r>
              <a:rPr sz="1150" b="0">
                <a:solidFill>
                  <a:srgbClr val="9AA3B2"/>
                </a:solidFill>
                <a:latin typeface="Segoe UI"/>
              </a:rPr>
              <a:t>en cada tipo: indistinguible</a:t>
            </a:r>
          </a:p>
        </p:txBody>
      </p:sp>
      <p:sp>
        <p:nvSpPr>
          <p:cNvPr id="12" name="TextBox 11"/>
          <p:cNvSpPr txBox="1"/>
          <p:nvPr/>
        </p:nvSpPr>
        <p:spPr>
          <a:xfrm>
            <a:off x="6492240" y="3154680"/>
            <a:ext cx="2468880" cy="640080"/>
          </a:xfrm>
          <a:prstGeom prst="rect">
            <a:avLst/>
          </a:prstGeom>
          <a:noFill/>
        </p:spPr>
        <p:txBody>
          <a:bodyPr wrap="square" lIns="0" rIns="0" tIns="0" bIns="0" anchor="t">
            <a:spAutoFit/>
          </a:bodyPr>
          <a:lstStyle/>
          <a:p>
            <a:pPr algn="l">
              <a:lnSpc>
                <a:spcPct val="115000"/>
              </a:lnSpc>
            </a:pPr>
            <a:r>
              <a:rPr sz="2600" b="1">
                <a:solidFill>
                  <a:srgbClr val="7BD992"/>
                </a:solidFill>
                <a:latin typeface="Consolas"/>
              </a:rPr>
              <a:t>+39 %</a:t>
            </a:r>
          </a:p>
        </p:txBody>
      </p:sp>
      <p:sp>
        <p:nvSpPr>
          <p:cNvPr id="13" name="TextBox 12"/>
          <p:cNvSpPr txBox="1"/>
          <p:nvPr/>
        </p:nvSpPr>
        <p:spPr>
          <a:xfrm>
            <a:off x="6492240" y="3813048"/>
            <a:ext cx="24688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más iluminación (lights) en los</a:t>
            </a:r>
          </a:p>
          <a:p>
            <a:pPr algn="l">
              <a:lnSpc>
                <a:spcPct val="115000"/>
              </a:lnSpc>
            </a:pPr>
            <a:r>
              <a:rPr sz="1150" b="0">
                <a:solidFill>
                  <a:srgbClr val="9AA3B2"/>
                </a:solidFill>
                <a:latin typeface="Segoe UI"/>
              </a:rPr>
              <a:t>días de carga alta</a:t>
            </a:r>
          </a:p>
        </p:txBody>
      </p:sp>
      <p:sp>
        <p:nvSpPr>
          <p:cNvPr id="14" name="TextBox 13"/>
          <p:cNvSpPr txBox="1"/>
          <p:nvPr/>
        </p:nvSpPr>
        <p:spPr>
          <a:xfrm>
            <a:off x="9006840" y="3154680"/>
            <a:ext cx="2468880" cy="640080"/>
          </a:xfrm>
          <a:prstGeom prst="rect">
            <a:avLst/>
          </a:prstGeom>
          <a:noFill/>
        </p:spPr>
        <p:txBody>
          <a:bodyPr wrap="square" lIns="0" rIns="0" tIns="0" bIns="0" anchor="t">
            <a:spAutoFit/>
          </a:bodyPr>
          <a:lstStyle/>
          <a:p>
            <a:pPr algn="l">
              <a:lnSpc>
                <a:spcPct val="115000"/>
              </a:lnSpc>
            </a:pPr>
            <a:r>
              <a:rPr sz="2600" b="1">
                <a:solidFill>
                  <a:srgbClr val="E6E9EF"/>
                </a:solidFill>
                <a:latin typeface="Consolas"/>
              </a:rPr>
              <a:t>RH_3</a:t>
            </a:r>
          </a:p>
        </p:txBody>
      </p:sp>
      <p:sp>
        <p:nvSpPr>
          <p:cNvPr id="15" name="TextBox 14"/>
          <p:cNvSpPr txBox="1"/>
          <p:nvPr/>
        </p:nvSpPr>
        <p:spPr>
          <a:xfrm>
            <a:off x="9006840" y="3813048"/>
            <a:ext cx="24688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humedad de la lavandería: la variable</a:t>
            </a:r>
          </a:p>
          <a:p>
            <a:pPr algn="l">
              <a:lnSpc>
                <a:spcPct val="115000"/>
              </a:lnSpc>
            </a:pPr>
            <a:r>
              <a:rPr sz="1150" b="0">
                <a:solidFill>
                  <a:srgbClr val="9AA3B2"/>
                </a:solidFill>
                <a:latin typeface="Segoe UI"/>
              </a:rPr>
              <a:t>que más sube fuera del consumo</a:t>
            </a:r>
          </a:p>
        </p:txBody>
      </p:sp>
      <p:sp>
        <p:nvSpPr>
          <p:cNvPr id="16" name="Rectangle 15"/>
          <p:cNvSpPr/>
          <p:nvPr/>
        </p:nvSpPr>
        <p:spPr>
          <a:xfrm>
            <a:off x="6492240" y="4572000"/>
            <a:ext cx="4800600" cy="13716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92240" y="4572000"/>
            <a:ext cx="54864" cy="13716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2" y="4754880"/>
            <a:ext cx="4343400" cy="10515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Significado en el sector.</a:t>
            </a:r>
            <a:r>
              <a:rPr sz="1250" b="0">
                <a:solidFill>
                  <a:srgbClr val="C9D1DE"/>
                </a:solidFill>
                <a:latin typeface="Segoe UI"/>
              </a:rPr>
              <a:t> Un día de carga alta no es frío ni de fin de semana: es un día en que se encienden lavadora, secadora, horno. Son las </a:t>
            </a:r>
            <a:r>
              <a:rPr sz="1250" b="1">
                <a:solidFill>
                  <a:srgbClr val="E6E9EF"/>
                </a:solidFill>
                <a:latin typeface="Segoe UI"/>
              </a:rPr>
              <a:t>cargas diferibles</a:t>
            </a:r>
            <a:r>
              <a:rPr sz="1250" b="0">
                <a:solidFill>
                  <a:srgbClr val="C9D1DE"/>
                </a:solidFill>
                <a:latin typeface="Segoe UI"/>
              </a:rPr>
              <a:t> del MDP — ahí está el ahorro de Shiro.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SEGUNDA TÉCNICA · JERÁRQUICO WARD</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Dos algoritmos distintos, los mismos dos tipos</a:t>
            </a:r>
          </a:p>
        </p:txBody>
      </p:sp>
      <p:sp>
        <p:nvSpPr>
          <p:cNvPr id="6" name="Rounded Rectangle 5"/>
          <p:cNvSpPr/>
          <p:nvPr/>
        </p:nvSpPr>
        <p:spPr>
          <a:xfrm>
            <a:off x="1461138" y="1655064"/>
            <a:ext cx="9239244" cy="299923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6_dendrograma.png"/>
          <p:cNvPicPr>
            <a:picLocks noChangeAspect="1"/>
          </p:cNvPicPr>
          <p:nvPr/>
        </p:nvPicPr>
        <p:blipFill>
          <a:blip r:embed="rId2"/>
          <a:stretch>
            <a:fillRect/>
          </a:stretch>
        </p:blipFill>
        <p:spPr>
          <a:xfrm>
            <a:off x="1543434" y="1737360"/>
            <a:ext cx="9074652" cy="2834640"/>
          </a:xfrm>
          <a:prstGeom prst="rect">
            <a:avLst/>
          </a:prstGeom>
        </p:spPr>
      </p:pic>
      <p:sp>
        <p:nvSpPr>
          <p:cNvPr id="8" name="TextBox 7"/>
          <p:cNvSpPr txBox="1"/>
          <p:nvPr/>
        </p:nvSpPr>
        <p:spPr>
          <a:xfrm>
            <a:off x="685800" y="4846320"/>
            <a:ext cx="2103120" cy="274320"/>
          </a:xfrm>
          <a:prstGeom prst="rect">
            <a:avLst/>
          </a:prstGeom>
          <a:noFill/>
        </p:spPr>
        <p:txBody>
          <a:bodyPr wrap="square" lIns="0" rIns="0" tIns="0" bIns="0" anchor="t">
            <a:spAutoFit/>
          </a:bodyPr>
          <a:lstStyle/>
          <a:p>
            <a:pPr algn="l">
              <a:lnSpc>
                <a:spcPct val="115000"/>
              </a:lnSpc>
            </a:pPr>
          </a:p>
        </p:txBody>
      </p:sp>
      <p:sp>
        <p:nvSpPr>
          <p:cNvPr id="9" name="TextBox 8"/>
          <p:cNvSpPr txBox="1"/>
          <p:nvPr/>
        </p:nvSpPr>
        <p:spPr>
          <a:xfrm>
            <a:off x="2788920" y="4846320"/>
            <a:ext cx="21945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ARI K-MEANS VS WARD</a:t>
            </a:r>
          </a:p>
        </p:txBody>
      </p:sp>
      <p:sp>
        <p:nvSpPr>
          <p:cNvPr id="10" name="TextBox 9"/>
          <p:cNvSpPr txBox="1"/>
          <p:nvPr/>
        </p:nvSpPr>
        <p:spPr>
          <a:xfrm>
            <a:off x="4983480" y="4846320"/>
            <a:ext cx="27432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LECTURA</a:t>
            </a:r>
          </a:p>
        </p:txBody>
      </p:sp>
      <p:sp>
        <p:nvSpPr>
          <p:cNvPr id="11" name="Rectangle 10"/>
          <p:cNvSpPr/>
          <p:nvPr/>
        </p:nvSpPr>
        <p:spPr>
          <a:xfrm>
            <a:off x="685800" y="5138928"/>
            <a:ext cx="7040879"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5175504"/>
            <a:ext cx="7040879" cy="32918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75504"/>
            <a:ext cx="1993392" cy="365760"/>
          </a:xfrm>
          <a:prstGeom prst="rect">
            <a:avLst/>
          </a:prstGeom>
          <a:noFill/>
        </p:spPr>
        <p:txBody>
          <a:bodyPr wrap="square" lIns="0" rIns="0" tIns="0" bIns="0" anchor="ctr">
            <a:spAutoFit/>
          </a:bodyPr>
          <a:lstStyle/>
          <a:p>
            <a:pPr algn="l">
              <a:lnSpc>
                <a:spcPct val="115000"/>
              </a:lnSpc>
            </a:pPr>
            <a:r>
              <a:rPr sz="1200" b="1">
                <a:solidFill>
                  <a:srgbClr val="E6E9EF"/>
                </a:solidFill>
                <a:latin typeface="Segoe UI"/>
              </a:rPr>
              <a:t>Nivel · k = 2</a:t>
            </a:r>
          </a:p>
        </p:txBody>
      </p:sp>
      <p:sp>
        <p:nvSpPr>
          <p:cNvPr id="14" name="TextBox 13"/>
          <p:cNvSpPr txBox="1"/>
          <p:nvPr/>
        </p:nvSpPr>
        <p:spPr>
          <a:xfrm>
            <a:off x="2788920" y="5175504"/>
            <a:ext cx="2084832" cy="365760"/>
          </a:xfrm>
          <a:prstGeom prst="rect">
            <a:avLst/>
          </a:prstGeom>
          <a:noFill/>
        </p:spPr>
        <p:txBody>
          <a:bodyPr wrap="square" lIns="0" rIns="0" tIns="0" bIns="0" anchor="ctr">
            <a:spAutoFit/>
          </a:bodyPr>
          <a:lstStyle/>
          <a:p>
            <a:pPr algn="r">
              <a:lnSpc>
                <a:spcPct val="115000"/>
              </a:lnSpc>
            </a:pPr>
            <a:r>
              <a:rPr sz="1200" b="1">
                <a:solidFill>
                  <a:srgbClr val="E6E9EF"/>
                </a:solidFill>
                <a:latin typeface="Consolas"/>
              </a:rPr>
              <a:t>0,736</a:t>
            </a:r>
          </a:p>
        </p:txBody>
      </p:sp>
      <p:sp>
        <p:nvSpPr>
          <p:cNvPr id="15" name="TextBox 14"/>
          <p:cNvSpPr txBox="1"/>
          <p:nvPr/>
        </p:nvSpPr>
        <p:spPr>
          <a:xfrm>
            <a:off x="4983480" y="5175504"/>
            <a:ext cx="2633472" cy="365760"/>
          </a:xfrm>
          <a:prstGeom prst="rect">
            <a:avLst/>
          </a:prstGeom>
          <a:noFill/>
        </p:spPr>
        <p:txBody>
          <a:bodyPr wrap="square" lIns="0" rIns="0" tIns="0" bIns="0" anchor="ctr">
            <a:spAutoFit/>
          </a:bodyPr>
          <a:lstStyle/>
          <a:p>
            <a:pPr algn="r">
              <a:lnSpc>
                <a:spcPct val="115000"/>
              </a:lnSpc>
            </a:pPr>
            <a:r>
              <a:rPr sz="1200" b="1">
                <a:solidFill>
                  <a:srgbClr val="E6E9EF"/>
                </a:solidFill>
                <a:latin typeface="Consolas"/>
              </a:rPr>
              <a:t>la estructura existe</a:t>
            </a:r>
          </a:p>
        </p:txBody>
      </p:sp>
      <p:sp>
        <p:nvSpPr>
          <p:cNvPr id="16" name="TextBox 15"/>
          <p:cNvSpPr txBox="1"/>
          <p:nvPr/>
        </p:nvSpPr>
        <p:spPr>
          <a:xfrm>
            <a:off x="777240" y="5541264"/>
            <a:ext cx="1993392" cy="365760"/>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Forma · k = 2</a:t>
            </a:r>
          </a:p>
        </p:txBody>
      </p:sp>
      <p:sp>
        <p:nvSpPr>
          <p:cNvPr id="17" name="TextBox 16"/>
          <p:cNvSpPr txBox="1"/>
          <p:nvPr/>
        </p:nvSpPr>
        <p:spPr>
          <a:xfrm>
            <a:off x="2788920" y="5541264"/>
            <a:ext cx="2084832" cy="365760"/>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0,188</a:t>
            </a:r>
          </a:p>
        </p:txBody>
      </p:sp>
      <p:sp>
        <p:nvSpPr>
          <p:cNvPr id="18" name="TextBox 17"/>
          <p:cNvSpPr txBox="1"/>
          <p:nvPr/>
        </p:nvSpPr>
        <p:spPr>
          <a:xfrm>
            <a:off x="4983480" y="5541264"/>
            <a:ext cx="2633472" cy="365760"/>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depende del algoritmo</a:t>
            </a:r>
          </a:p>
        </p:txBody>
      </p:sp>
      <p:sp>
        <p:nvSpPr>
          <p:cNvPr id="19" name="Rectangle 18"/>
          <p:cNvSpPr/>
          <p:nvPr/>
        </p:nvSpPr>
        <p:spPr>
          <a:xfrm>
            <a:off x="8183879" y="4846320"/>
            <a:ext cx="3108960" cy="10972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83879" y="4846320"/>
            <a:ext cx="54864" cy="10972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9911" y="5029200"/>
            <a:ext cx="2651760" cy="77724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Criterio de cierre del proyecto.</a:t>
            </a:r>
            <a:r>
              <a:rPr sz="1250" b="0">
                <a:solidFill>
                  <a:srgbClr val="C9D1DE"/>
                </a:solidFill>
                <a:latin typeface="Segoe UI"/>
              </a:rPr>
              <a:t> «Al menos dos técnicas de clustering comparadas»: </a:t>
            </a:r>
            <a:r>
              <a:rPr sz="1250" b="1">
                <a:solidFill>
                  <a:srgbClr val="E6E9EF"/>
                </a:solidFill>
                <a:latin typeface="Segoe UI"/>
              </a:rPr>
              <a:t>cumplido</a:t>
            </a:r>
            <a:r>
              <a:rPr sz="1250" b="0">
                <a:solidFill>
                  <a:srgbClr val="C9D1DE"/>
                </a:solidFill>
                <a:latin typeface="Segoe U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16</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CONTROL TEMPORAL · MAYO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Los tipos de día no envejecen; su frecuencia sí</a:t>
            </a:r>
          </a:p>
        </p:txBody>
      </p:sp>
      <p:sp>
        <p:nvSpPr>
          <p:cNvPr id="6" name="Rounded Rectangle 5"/>
          <p:cNvSpPr/>
          <p:nvPr/>
        </p:nvSpPr>
        <p:spPr>
          <a:xfrm>
            <a:off x="694944" y="2018836"/>
            <a:ext cx="7388352" cy="2363127"/>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7_mayo.png"/>
          <p:cNvPicPr>
            <a:picLocks noChangeAspect="1"/>
          </p:cNvPicPr>
          <p:nvPr/>
        </p:nvPicPr>
        <p:blipFill>
          <a:blip r:embed="rId2"/>
          <a:stretch>
            <a:fillRect/>
          </a:stretch>
        </p:blipFill>
        <p:spPr>
          <a:xfrm>
            <a:off x="777240" y="2101132"/>
            <a:ext cx="7223760" cy="2198535"/>
          </a:xfrm>
          <a:prstGeom prst="rect">
            <a:avLst/>
          </a:prstGeom>
        </p:spPr>
      </p:pic>
      <p:sp>
        <p:nvSpPr>
          <p:cNvPr id="8" name="TextBox 7"/>
          <p:cNvSpPr txBox="1"/>
          <p:nvPr/>
        </p:nvSpPr>
        <p:spPr>
          <a:xfrm>
            <a:off x="8503920" y="1783080"/>
            <a:ext cx="301752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0 de 26</a:t>
            </a:r>
          </a:p>
        </p:txBody>
      </p:sp>
      <p:sp>
        <p:nvSpPr>
          <p:cNvPr id="9" name="TextBox 8"/>
          <p:cNvSpPr txBox="1"/>
          <p:nvPr/>
        </p:nvSpPr>
        <p:spPr>
          <a:xfrm>
            <a:off x="8503920" y="2441448"/>
            <a:ext cx="30175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de mayo más lejos de su centroide</a:t>
            </a:r>
          </a:p>
          <a:p>
            <a:pPr algn="l">
              <a:lnSpc>
                <a:spcPct val="115000"/>
              </a:lnSpc>
            </a:pPr>
            <a:r>
              <a:rPr sz="1150" b="0">
                <a:solidFill>
                  <a:srgbClr val="9AA3B2"/>
                </a:solidFill>
                <a:latin typeface="Segoe UI"/>
              </a:rPr>
              <a:t>que el p95 del entrenamiento</a:t>
            </a:r>
          </a:p>
        </p:txBody>
      </p:sp>
      <p:sp>
        <p:nvSpPr>
          <p:cNvPr id="10" name="TextBox 9"/>
          <p:cNvSpPr txBox="1"/>
          <p:nvPr/>
        </p:nvSpPr>
        <p:spPr>
          <a:xfrm>
            <a:off x="8503920" y="3108960"/>
            <a:ext cx="3017520" cy="640080"/>
          </a:xfrm>
          <a:prstGeom prst="rect">
            <a:avLst/>
          </a:prstGeom>
          <a:noFill/>
        </p:spPr>
        <p:txBody>
          <a:bodyPr wrap="square" lIns="0" rIns="0" tIns="0" bIns="0" anchor="t">
            <a:spAutoFit/>
          </a:bodyPr>
          <a:lstStyle/>
          <a:p>
            <a:pPr algn="l">
              <a:lnSpc>
                <a:spcPct val="115000"/>
              </a:lnSpc>
            </a:pPr>
            <a:r>
              <a:rPr sz="2600" b="1">
                <a:solidFill>
                  <a:srgbClr val="FFB877"/>
                </a:solidFill>
                <a:latin typeface="Consolas"/>
              </a:rPr>
              <a:t>22,7 → 11,5 %</a:t>
            </a:r>
          </a:p>
        </p:txBody>
      </p:sp>
      <p:sp>
        <p:nvSpPr>
          <p:cNvPr id="11" name="TextBox 10"/>
          <p:cNvSpPr txBox="1"/>
          <p:nvPr/>
        </p:nvSpPr>
        <p:spPr>
          <a:xfrm>
            <a:off x="8503920" y="3767328"/>
            <a:ext cx="30175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proporción de días de carga alta</a:t>
            </a:r>
          </a:p>
          <a:p>
            <a:pPr algn="l">
              <a:lnSpc>
                <a:spcPct val="115000"/>
              </a:lnSpc>
            </a:pPr>
            <a:r>
              <a:rPr sz="1150" b="0">
                <a:solidFill>
                  <a:srgbClr val="9AA3B2"/>
                </a:solidFill>
                <a:latin typeface="Segoe UI"/>
              </a:rPr>
              <a:t>de enero–abril a mayo</a:t>
            </a:r>
          </a:p>
        </p:txBody>
      </p:sp>
      <p:sp>
        <p:nvSpPr>
          <p:cNvPr id="12" name="Rectangle 11"/>
          <p:cNvSpPr/>
          <p:nvPr/>
        </p:nvSpPr>
        <p:spPr>
          <a:xfrm>
            <a:off x="685800" y="4937760"/>
            <a:ext cx="10607040" cy="10058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937760"/>
            <a:ext cx="54864" cy="10058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5120640"/>
            <a:ext cx="10149840" cy="68580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El mismo patrón que el umbral del parcial.</a:t>
            </a:r>
            <a:r>
              <a:rPr sz="1300" b="0">
                <a:solidFill>
                  <a:srgbClr val="C9D1DE"/>
                </a:solidFill>
                <a:latin typeface="Segoe UI"/>
              </a:rPr>
              <a:t> La definición se sostiene; la frecuencia cambia con la estación. En el MDP el estado queda bien definido, pero la probabilidad de cada tipo en el simulador se recalibra con el tiempo.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FFB877"/>
                </a:solidFill>
                <a:latin typeface="Consolas"/>
              </a:rPr>
              <a:t>LA PREGUNTA QUE EL ENUNCIADO NO HACE</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¿A qué hora sabe el agente qué tipo de día es?</a:t>
            </a:r>
          </a:p>
        </p:txBody>
      </p:sp>
      <p:sp>
        <p:nvSpPr>
          <p:cNvPr id="6" name="Rounded Rectangle 5"/>
          <p:cNvSpPr/>
          <p:nvPr/>
        </p:nvSpPr>
        <p:spPr>
          <a:xfrm>
            <a:off x="694944" y="1751755"/>
            <a:ext cx="6931152" cy="298873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8_observabilidad.png"/>
          <p:cNvPicPr>
            <a:picLocks noChangeAspect="1"/>
          </p:cNvPicPr>
          <p:nvPr/>
        </p:nvPicPr>
        <p:blipFill>
          <a:blip r:embed="rId2"/>
          <a:stretch>
            <a:fillRect/>
          </a:stretch>
        </p:blipFill>
        <p:spPr>
          <a:xfrm>
            <a:off x="777240" y="1834051"/>
            <a:ext cx="6766560" cy="2824138"/>
          </a:xfrm>
          <a:prstGeom prst="rect">
            <a:avLst/>
          </a:prstGeom>
        </p:spPr>
      </p:pic>
      <p:sp>
        <p:nvSpPr>
          <p:cNvPr id="8" name="TextBox 7"/>
          <p:cNvSpPr txBox="1"/>
          <p:nvPr/>
        </p:nvSpPr>
        <p:spPr>
          <a:xfrm>
            <a:off x="8046720" y="1783080"/>
            <a:ext cx="3291840" cy="640080"/>
          </a:xfrm>
          <a:prstGeom prst="rect">
            <a:avLst/>
          </a:prstGeom>
          <a:noFill/>
        </p:spPr>
        <p:txBody>
          <a:bodyPr wrap="square" lIns="0" rIns="0" tIns="0" bIns="0" anchor="t">
            <a:spAutoFit/>
          </a:bodyPr>
          <a:lstStyle/>
          <a:p>
            <a:pPr algn="l">
              <a:lnSpc>
                <a:spcPct val="115000"/>
              </a:lnSpc>
            </a:pPr>
            <a:r>
              <a:rPr sz="2800" b="1">
                <a:solidFill>
                  <a:srgbClr val="F28B82"/>
                </a:solidFill>
                <a:latin typeface="Consolas"/>
              </a:rPr>
              <a:t>&lt; 79,4 %</a:t>
            </a:r>
          </a:p>
        </p:txBody>
      </p:sp>
      <p:sp>
        <p:nvSpPr>
          <p:cNvPr id="9" name="TextBox 8"/>
          <p:cNvSpPr txBox="1"/>
          <p:nvPr/>
        </p:nvSpPr>
        <p:spPr>
          <a:xfrm>
            <a:off x="8046720" y="24414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hasta las 8 h, peor que decir</a:t>
            </a:r>
          </a:p>
          <a:p>
            <a:pPr algn="l">
              <a:lnSpc>
                <a:spcPct val="115000"/>
              </a:lnSpc>
            </a:pPr>
            <a:r>
              <a:rPr sz="1150" b="0">
                <a:solidFill>
                  <a:srgbClr val="9AA3B2"/>
                </a:solidFill>
                <a:latin typeface="Segoe UI"/>
              </a:rPr>
              <a:t>siempre «día normal»</a:t>
            </a:r>
          </a:p>
        </p:txBody>
      </p:sp>
      <p:sp>
        <p:nvSpPr>
          <p:cNvPr id="10" name="TextBox 9"/>
          <p:cNvSpPr txBox="1"/>
          <p:nvPr/>
        </p:nvSpPr>
        <p:spPr>
          <a:xfrm>
            <a:off x="8046720" y="3063240"/>
            <a:ext cx="3291840" cy="640080"/>
          </a:xfrm>
          <a:prstGeom prst="rect">
            <a:avLst/>
          </a:prstGeom>
          <a:noFill/>
        </p:spPr>
        <p:txBody>
          <a:bodyPr wrap="square" lIns="0" rIns="0" tIns="0" bIns="0" anchor="t">
            <a:spAutoFit/>
          </a:bodyPr>
          <a:lstStyle/>
          <a:p>
            <a:pPr algn="l">
              <a:lnSpc>
                <a:spcPct val="115000"/>
              </a:lnSpc>
            </a:pPr>
            <a:r>
              <a:rPr sz="2800" b="1">
                <a:solidFill>
                  <a:srgbClr val="7BD992"/>
                </a:solidFill>
                <a:latin typeface="Consolas"/>
              </a:rPr>
              <a:t>89,3 %</a:t>
            </a:r>
          </a:p>
        </p:txBody>
      </p:sp>
      <p:sp>
        <p:nvSpPr>
          <p:cNvPr id="11" name="TextBox 10"/>
          <p:cNvSpPr txBox="1"/>
          <p:nvPr/>
        </p:nvSpPr>
        <p:spPr>
          <a:xfrm>
            <a:off x="8046720" y="372160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de carga alta reconocidos</a:t>
            </a:r>
          </a:p>
          <a:p>
            <a:pPr algn="l">
              <a:lnSpc>
                <a:spcPct val="115000"/>
              </a:lnSpc>
            </a:pPr>
            <a:r>
              <a:rPr sz="1150" b="0">
                <a:solidFill>
                  <a:srgbClr val="9AA3B2"/>
                </a:solidFill>
                <a:latin typeface="Segoe UI"/>
              </a:rPr>
              <a:t>con el día visto hasta las 12 h</a:t>
            </a:r>
          </a:p>
        </p:txBody>
      </p:sp>
      <p:sp>
        <p:nvSpPr>
          <p:cNvPr id="12" name="Rectangle 11"/>
          <p:cNvSpPr/>
          <p:nvPr/>
        </p:nvSpPr>
        <p:spPr>
          <a:xfrm>
            <a:off x="685800" y="4983480"/>
            <a:ext cx="10607040" cy="10972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983480"/>
            <a:ext cx="54864" cy="10972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5166360"/>
            <a:ext cx="10149840" cy="77724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Consecuencia de diseño.</a:t>
            </a:r>
            <a:r>
              <a:rPr sz="1300" b="0">
                <a:solidFill>
                  <a:srgbClr val="C9D1DE"/>
                </a:solidFill>
                <a:latin typeface="Segoe UI"/>
              </a:rPr>
              <a:t> El tipo de día no entra al estado como etiqueta: entra como </a:t>
            </a:r>
            <a:r>
              <a:rPr sz="1300" b="1">
                <a:solidFill>
                  <a:srgbClr val="E6E9EF"/>
                </a:solidFill>
                <a:latin typeface="Segoe UI"/>
              </a:rPr>
              <a:t>estimación que se actualiza durante el día</a:t>
            </a:r>
            <a:r>
              <a:rPr sz="1300" b="0">
                <a:solidFill>
                  <a:srgbClr val="C9D1DE"/>
                </a:solidFill>
                <a:latin typeface="Segoe UI"/>
              </a:rPr>
              <a:t>, «desconocida» hasta media mañana. Se revela con la joroba de las 11 h, así que no sirve para anticiparla — pero llega a tiempo para la de las 17 h, que es la ventana donde diferir una carga tiene sentido.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2 · K-Means</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20</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CIERRE · QUÉ CAMBIA EN SHIRO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 que el MDP recibe de este taller</a:t>
            </a:r>
          </a:p>
        </p:txBody>
      </p:sp>
      <p:sp>
        <p:nvSpPr>
          <p:cNvPr id="6" name="TextBox 5"/>
          <p:cNvSpPr txBox="1"/>
          <p:nvPr/>
        </p:nvSpPr>
        <p:spPr>
          <a:xfrm>
            <a:off x="685800" y="187451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01</a:t>
            </a:r>
          </a:p>
        </p:txBody>
      </p:sp>
      <p:sp>
        <p:nvSpPr>
          <p:cNvPr id="7" name="TextBox 6"/>
          <p:cNvSpPr txBox="1"/>
          <p:nvPr/>
        </p:nvSpPr>
        <p:spPr>
          <a:xfrm>
            <a:off x="1280160" y="187451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Una variable «tipo de día» con dos valores.</a:t>
            </a:r>
          </a:p>
        </p:txBody>
      </p:sp>
      <p:sp>
        <p:nvSpPr>
          <p:cNvPr id="8" name="TextBox 7"/>
          <p:cNvSpPr txBox="1"/>
          <p:nvPr/>
        </p:nvSpPr>
        <p:spPr>
          <a:xfrm>
            <a:off x="1280160" y="228599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Codo, silueta y Dunn coinciden en k = 2; Ward lo confirma.</a:t>
            </a:r>
          </a:p>
        </p:txBody>
      </p:sp>
      <p:sp>
        <p:nvSpPr>
          <p:cNvPr id="9" name="TextBox 8"/>
          <p:cNvSpPr txBox="1"/>
          <p:nvPr/>
        </p:nvSpPr>
        <p:spPr>
          <a:xfrm>
            <a:off x="6126480" y="187451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02</a:t>
            </a:r>
          </a:p>
        </p:txBody>
      </p:sp>
      <p:sp>
        <p:nvSpPr>
          <p:cNvPr id="10" name="TextBox 9"/>
          <p:cNvSpPr txBox="1"/>
          <p:nvPr/>
        </p:nvSpPr>
        <p:spPr>
          <a:xfrm>
            <a:off x="6720840" y="187451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No la sustituye el calendario.</a:t>
            </a:r>
          </a:p>
        </p:txBody>
      </p:sp>
      <p:sp>
        <p:nvSpPr>
          <p:cNvPr id="11" name="TextBox 10"/>
          <p:cNvSpPr txBox="1"/>
          <p:nvPr/>
        </p:nvSpPr>
        <p:spPr>
          <a:xfrm>
            <a:off x="6720840" y="228599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V de Cramér con el fin de semana = 0,000.</a:t>
            </a:r>
          </a:p>
        </p:txBody>
      </p:sp>
      <p:sp>
        <p:nvSpPr>
          <p:cNvPr id="12" name="TextBox 11"/>
          <p:cNvSpPr txBox="1"/>
          <p:nvPr/>
        </p:nvSpPr>
        <p:spPr>
          <a:xfrm>
            <a:off x="685800" y="320039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03</a:t>
            </a:r>
          </a:p>
        </p:txBody>
      </p:sp>
      <p:sp>
        <p:nvSpPr>
          <p:cNvPr id="13" name="TextBox 12"/>
          <p:cNvSpPr txBox="1"/>
          <p:nvPr/>
        </p:nvSpPr>
        <p:spPr>
          <a:xfrm>
            <a:off x="1280160" y="320039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Entra como estimación, no como etiqueta.</a:t>
            </a:r>
          </a:p>
        </p:txBody>
      </p:sp>
      <p:sp>
        <p:nvSpPr>
          <p:cNvPr id="14" name="TextBox 13"/>
          <p:cNvSpPr txBox="1"/>
          <p:nvPr/>
        </p:nvSpPr>
        <p:spPr>
          <a:xfrm>
            <a:off x="1280160" y="361187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Desconocida hasta media mañana; fijada hacia las 17 h.</a:t>
            </a:r>
          </a:p>
        </p:txBody>
      </p:sp>
      <p:sp>
        <p:nvSpPr>
          <p:cNvPr id="15" name="TextBox 14"/>
          <p:cNvSpPr txBox="1"/>
          <p:nvPr/>
        </p:nvSpPr>
        <p:spPr>
          <a:xfrm>
            <a:off x="6126480" y="320039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04</a:t>
            </a:r>
          </a:p>
        </p:txBody>
      </p:sp>
      <p:sp>
        <p:nvSpPr>
          <p:cNvPr id="16" name="TextBox 15"/>
          <p:cNvSpPr txBox="1"/>
          <p:nvPr/>
        </p:nvSpPr>
        <p:spPr>
          <a:xfrm>
            <a:off x="6720840" y="320039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La carga alta la deciden las personas.</a:t>
            </a:r>
          </a:p>
        </p:txBody>
      </p:sp>
      <p:sp>
        <p:nvSpPr>
          <p:cNvPr id="17" name="TextBox 16"/>
          <p:cNvSpPr txBox="1"/>
          <p:nvPr/>
        </p:nvSpPr>
        <p:spPr>
          <a:xfrm>
            <a:off x="6720840" y="361187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No el clima: ahí están las cargas diferibles.</a:t>
            </a:r>
          </a:p>
        </p:txBody>
      </p:sp>
      <p:sp>
        <p:nvSpPr>
          <p:cNvPr id="18" name="TextBox 17"/>
          <p:cNvSpPr txBox="1"/>
          <p:nvPr/>
        </p:nvSpPr>
        <p:spPr>
          <a:xfrm>
            <a:off x="685800" y="452627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05</a:t>
            </a:r>
          </a:p>
        </p:txBody>
      </p:sp>
      <p:sp>
        <p:nvSpPr>
          <p:cNvPr id="19" name="TextBox 18"/>
          <p:cNvSpPr txBox="1"/>
          <p:nvPr/>
        </p:nvSpPr>
        <p:spPr>
          <a:xfrm>
            <a:off x="1280160" y="452627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Tipos estables, frecuencia variable.</a:t>
            </a:r>
          </a:p>
        </p:txBody>
      </p:sp>
      <p:sp>
        <p:nvSpPr>
          <p:cNvPr id="20" name="TextBox 19"/>
          <p:cNvSpPr txBox="1"/>
          <p:nvPr/>
        </p:nvSpPr>
        <p:spPr>
          <a:xfrm>
            <a:off x="1280160" y="493775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22,7 % → 11,5 %: recalibrar como el umbral.</a:t>
            </a:r>
          </a:p>
        </p:txBody>
      </p:sp>
      <p:sp>
        <p:nvSpPr>
          <p:cNvPr id="21" name="TextBox 20"/>
          <p:cNvSpPr txBox="1"/>
          <p:nvPr/>
        </p:nvSpPr>
        <p:spPr>
          <a:xfrm>
            <a:off x="6126480" y="452627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06</a:t>
            </a:r>
          </a:p>
        </p:txBody>
      </p:sp>
      <p:sp>
        <p:nvSpPr>
          <p:cNvPr id="22" name="TextBox 21"/>
          <p:cNvSpPr txBox="1"/>
          <p:nvPr/>
        </p:nvSpPr>
        <p:spPr>
          <a:xfrm>
            <a:off x="6720840" y="452627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Dos técnicas de clustering comparadas.</a:t>
            </a:r>
          </a:p>
        </p:txBody>
      </p:sp>
      <p:sp>
        <p:nvSpPr>
          <p:cNvPr id="23" name="TextBox 22"/>
          <p:cNvSpPr txBox="1"/>
          <p:nvPr/>
        </p:nvSpPr>
        <p:spPr>
          <a:xfrm>
            <a:off x="6720840" y="493775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Criterio de cierre del proyecto: cumplido.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PUNTO 1 · CÓMO SE CALCULÓ CADA MÉTRICA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dunn_index() es la función vista en clase — sin cambios</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2 · K-Means</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05</a:t>
            </a:r>
          </a:p>
        </p:txBody>
      </p:sp>
      <p:sp>
        <p:nvSpPr>
          <p:cNvPr id="6" name="Rectangle 5"/>
          <p:cNvSpPr/>
          <p:nvPr/>
        </p:nvSpPr>
        <p:spPr>
          <a:xfrm>
            <a:off x="3481995" y="1581912"/>
            <a:ext cx="5224960" cy="3831336"/>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de_dunn.png"/>
          <p:cNvPicPr>
            <a:picLocks noChangeAspect="1"/>
          </p:cNvPicPr>
          <p:nvPr/>
        </p:nvPicPr>
        <p:blipFill>
          <a:blip r:embed="rId2"/>
          <a:stretch>
            <a:fillRect/>
          </a:stretch>
        </p:blipFill>
        <p:spPr>
          <a:xfrm>
            <a:off x="3500283" y="1600200"/>
            <a:ext cx="5188384" cy="3794760"/>
          </a:xfrm>
          <a:prstGeom prst="rect">
            <a:avLst/>
          </a:prstGeom>
        </p:spPr>
      </p:pic>
      <p:sp>
        <p:nvSpPr>
          <p:cNvPr id="8" name="Rectangle 7"/>
          <p:cNvSpPr/>
          <p:nvPr/>
        </p:nvSpPr>
        <p:spPr>
          <a:xfrm>
            <a:off x="685800" y="5532120"/>
            <a:ext cx="10817352"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532120"/>
            <a:ext cx="54864" cy="86868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696712"/>
            <a:ext cx="10360152" cy="594359"/>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Una sola función, dos versiones de la curva.</a:t>
            </a:r>
            <a:r>
              <a:rPr sz="1250" b="0" i="0">
                <a:solidFill>
                  <a:srgbClr val="C9D1DE"/>
                </a:solidFill>
                <a:latin typeface="Segoe UI"/>
              </a:rPr>
              <a:t> barrido() aplica esta misma función, silhouette_score() y KMeans(n_init=10, random_state=42) a NIVEL (Wh) y a FORMA (curva ÷ total del día) para k = 1…10. La tabla de la siguiente diapositiva sale directo de esta celda ejecutada.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PUNTO 1 · ¿Y SI k = 3?</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Un tercer tipo con firma de calendario — y por qué no se adopta</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2 · K-Means</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07</a:t>
            </a:r>
          </a:p>
        </p:txBody>
      </p:sp>
      <p:sp>
        <p:nvSpPr>
          <p:cNvPr id="6" name="TextBox 5"/>
          <p:cNvSpPr txBox="1"/>
          <p:nvPr/>
        </p:nvSpPr>
        <p:spPr>
          <a:xfrm>
            <a:off x="685800" y="1874519"/>
            <a:ext cx="3291840" cy="640080"/>
          </a:xfrm>
          <a:prstGeom prst="rect">
            <a:avLst/>
          </a:prstGeom>
          <a:noFill/>
        </p:spPr>
        <p:txBody>
          <a:bodyPr wrap="square" lIns="0" rIns="0" tIns="0" bIns="0">
            <a:spAutoFit/>
          </a:bodyPr>
          <a:lstStyle/>
          <a:p>
            <a:pPr algn="l"/>
            <a:r>
              <a:rPr sz="3000" b="1" i="0">
                <a:solidFill>
                  <a:srgbClr val="E6E9EF"/>
                </a:solidFill>
                <a:latin typeface="Consolas"/>
              </a:rPr>
              <a:t>85 / 31 / 20</a:t>
            </a:r>
          </a:p>
        </p:txBody>
      </p:sp>
      <p:sp>
        <p:nvSpPr>
          <p:cNvPr id="7" name="TextBox 6"/>
          <p:cNvSpPr txBox="1"/>
          <p:nvPr/>
        </p:nvSpPr>
        <p:spPr>
          <a:xfrm>
            <a:off x="685800" y="2532887"/>
            <a:ext cx="3291840" cy="548640"/>
          </a:xfrm>
          <a:prstGeom prst="rect">
            <a:avLst/>
          </a:prstGeom>
          <a:noFill/>
        </p:spPr>
        <p:txBody>
          <a:bodyPr wrap="square" lIns="0" rIns="0" tIns="0" bIns="0">
            <a:spAutoFit/>
          </a:bodyPr>
          <a:lstStyle/>
          <a:p>
            <a:pPr algn="l">
              <a:lnSpc>
                <a:spcPct val="105000"/>
              </a:lnSpc>
            </a:pPr>
            <a:r>
              <a:rPr sz="1150" b="0" i="0">
                <a:solidFill>
                  <a:srgbClr val="9AA3B2"/>
                </a:solidFill>
                <a:latin typeface="Segoe UI"/>
              </a:rPr>
              <a:t>tamaños de los tres clústers</a:t>
            </a:r>
          </a:p>
          <a:p>
            <a:pPr algn="l">
              <a:lnSpc>
                <a:spcPct val="105000"/>
              </a:lnSpc>
            </a:pPr>
            <a:r>
              <a:rPr sz="1150" b="0" i="0">
                <a:solidFill>
                  <a:srgbClr val="9AA3B2"/>
                </a:solidFill>
                <a:latin typeface="Segoe UI"/>
              </a:rPr>
              <a:t>(normal / carga alta A / carga alta B)</a:t>
            </a:r>
          </a:p>
        </p:txBody>
      </p:sp>
      <p:sp>
        <p:nvSpPr>
          <p:cNvPr id="8" name="TextBox 7"/>
          <p:cNvSpPr txBox="1"/>
          <p:nvPr/>
        </p:nvSpPr>
        <p:spPr>
          <a:xfrm>
            <a:off x="4206240" y="1874519"/>
            <a:ext cx="3291840" cy="640080"/>
          </a:xfrm>
          <a:prstGeom prst="rect">
            <a:avLst/>
          </a:prstGeom>
          <a:noFill/>
        </p:spPr>
        <p:txBody>
          <a:bodyPr wrap="square" lIns="0" rIns="0" tIns="0" bIns="0">
            <a:spAutoFit/>
          </a:bodyPr>
          <a:lstStyle/>
          <a:p>
            <a:pPr algn="l"/>
            <a:r>
              <a:rPr sz="3000" b="1" i="0">
                <a:solidFill>
                  <a:srgbClr val="FFB877"/>
                </a:solidFill>
                <a:latin typeface="Consolas"/>
              </a:rPr>
              <a:t>0,392 → 0,225</a:t>
            </a:r>
          </a:p>
        </p:txBody>
      </p:sp>
      <p:sp>
        <p:nvSpPr>
          <p:cNvPr id="9" name="TextBox 8"/>
          <p:cNvSpPr txBox="1"/>
          <p:nvPr/>
        </p:nvSpPr>
        <p:spPr>
          <a:xfrm>
            <a:off x="4206240" y="2532887"/>
            <a:ext cx="3291840" cy="548640"/>
          </a:xfrm>
          <a:prstGeom prst="rect">
            <a:avLst/>
          </a:prstGeom>
          <a:noFill/>
        </p:spPr>
        <p:txBody>
          <a:bodyPr wrap="square" lIns="0" rIns="0" tIns="0" bIns="0">
            <a:spAutoFit/>
          </a:bodyPr>
          <a:lstStyle/>
          <a:p>
            <a:pPr algn="l">
              <a:lnSpc>
                <a:spcPct val="105000"/>
              </a:lnSpc>
            </a:pPr>
            <a:r>
              <a:rPr sz="1150" b="0" i="0">
                <a:solidFill>
                  <a:srgbClr val="9AA3B2"/>
                </a:solidFill>
                <a:latin typeface="Segoe UI"/>
              </a:rPr>
              <a:t>silueta al pasar de k = 2 a k = 3</a:t>
            </a:r>
          </a:p>
          <a:p>
            <a:pPr algn="l">
              <a:lnSpc>
                <a:spcPct val="105000"/>
              </a:lnSpc>
            </a:pPr>
            <a:r>
              <a:rPr sz="1150" b="0" i="0">
                <a:solidFill>
                  <a:srgbClr val="9AA3B2"/>
                </a:solidFill>
                <a:latin typeface="Segoe UI"/>
              </a:rPr>
              <a:t>(cae; Dunn también: 0,260 → 0,179)</a:t>
            </a:r>
          </a:p>
        </p:txBody>
      </p:sp>
      <p:sp>
        <p:nvSpPr>
          <p:cNvPr id="10" name="TextBox 9"/>
          <p:cNvSpPr txBox="1"/>
          <p:nvPr/>
        </p:nvSpPr>
        <p:spPr>
          <a:xfrm>
            <a:off x="7772400" y="1874519"/>
            <a:ext cx="3566160" cy="640080"/>
          </a:xfrm>
          <a:prstGeom prst="rect">
            <a:avLst/>
          </a:prstGeom>
          <a:noFill/>
        </p:spPr>
        <p:txBody>
          <a:bodyPr wrap="square" lIns="0" rIns="0" tIns="0" bIns="0">
            <a:spAutoFit/>
          </a:bodyPr>
          <a:lstStyle/>
          <a:p>
            <a:pPr algn="l"/>
            <a:r>
              <a:rPr sz="2800" b="1" i="0">
                <a:solidFill>
                  <a:srgbClr val="7BD992"/>
                </a:solidFill>
                <a:latin typeface="Consolas"/>
              </a:rPr>
              <a:t>V = 0,248</a:t>
            </a:r>
          </a:p>
        </p:txBody>
      </p:sp>
      <p:sp>
        <p:nvSpPr>
          <p:cNvPr id="11" name="TextBox 10"/>
          <p:cNvSpPr txBox="1"/>
          <p:nvPr/>
        </p:nvSpPr>
        <p:spPr>
          <a:xfrm>
            <a:off x="7772400" y="2532887"/>
            <a:ext cx="3566160" cy="548640"/>
          </a:xfrm>
          <a:prstGeom prst="rect">
            <a:avLst/>
          </a:prstGeom>
          <a:noFill/>
        </p:spPr>
        <p:txBody>
          <a:bodyPr wrap="square" lIns="0" rIns="0" tIns="0" bIns="0">
            <a:spAutoFit/>
          </a:bodyPr>
          <a:lstStyle/>
          <a:p>
            <a:pPr algn="l">
              <a:lnSpc>
                <a:spcPct val="105000"/>
              </a:lnSpc>
            </a:pPr>
            <a:r>
              <a:rPr sz="1150" b="0" i="0">
                <a:solidFill>
                  <a:srgbClr val="9AA3B2"/>
                </a:solidFill>
                <a:latin typeface="Segoe UI"/>
              </a:rPr>
              <a:t>p = 0,015 · uno de los dos subtipos de</a:t>
            </a:r>
          </a:p>
          <a:p>
            <a:pPr algn="l">
              <a:lnSpc>
                <a:spcPct val="105000"/>
              </a:lnSpc>
            </a:pPr>
            <a:r>
              <a:rPr sz="1150" b="0" i="0">
                <a:solidFill>
                  <a:srgbClr val="9AA3B2"/>
                </a:solidFill>
                <a:latin typeface="Segoe UI"/>
              </a:rPr>
              <a:t>carga alta concentra 48 % vie–dom</a:t>
            </a:r>
          </a:p>
        </p:txBody>
      </p:sp>
      <p:sp>
        <p:nvSpPr>
          <p:cNvPr id="12" name="Rectangle 11"/>
          <p:cNvSpPr/>
          <p:nvPr/>
        </p:nvSpPr>
        <p:spPr>
          <a:xfrm>
            <a:off x="685800" y="3703320"/>
            <a:ext cx="10817352" cy="12344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703320"/>
            <a:ext cx="54864" cy="12344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3867911"/>
            <a:ext cx="10360152" cy="960120"/>
          </a:xfrm>
          <a:prstGeom prst="rect">
            <a:avLst/>
          </a:prstGeom>
          <a:noFill/>
        </p:spPr>
        <p:txBody>
          <a:bodyPr wrap="square" lIns="0" rIns="0" tIns="0" bIns="0">
            <a:spAutoFit/>
          </a:bodyPr>
          <a:lstStyle/>
          <a:p>
            <a:pPr algn="l">
              <a:lnSpc>
                <a:spcPct val="110000"/>
              </a:lnSpc>
            </a:pPr>
            <a:r>
              <a:rPr sz="1300" b="1" i="0">
                <a:solidFill>
                  <a:srgbClr val="E6E9EF"/>
                </a:solidFill>
                <a:latin typeface="Segoe UI"/>
              </a:rPr>
              <a:t>Se documenta, no se adopta.</a:t>
            </a:r>
            <a:r>
              <a:rPr sz="1300" b="0" i="0">
                <a:solidFill>
                  <a:srgbClr val="C9D1DE"/>
                </a:solidFill>
                <a:latin typeface="Segoe UI"/>
              </a:rPr>
              <a:t> Con k = 3 aparece justo la rutina laboral / fin de semana que la propuesta original esperaba encontrar — pero la partición pierde calidad (silueta y Dunn caen) y el subtipo se reconoce más tarde en el día que “carga alta” agregado. Queda anotado como refinamiento para una capa futura de Guardian, no como variable de estado del MDP: el criterio de Shiro pide el k más barato para la tabla Q entre los que las métricas ya prefieren, y aquí las métricas prefieren k = 2.</a:t>
            </a:r>
          </a:p>
        </p:txBody>
      </p:sp>
      <p:sp>
        <p:nvSpPr>
          <p:cNvPr id="15" name="Rectangle 14"/>
          <p:cNvSpPr/>
          <p:nvPr/>
        </p:nvSpPr>
        <p:spPr>
          <a:xfrm>
            <a:off x="685800" y="5166360"/>
            <a:ext cx="10817352" cy="9144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5166360"/>
            <a:ext cx="54864" cy="91440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5330952"/>
            <a:ext cx="10360152" cy="640080"/>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La hipótesis del plan, parcialmente cumplida.</a:t>
            </a:r>
            <a:r>
              <a:rPr sz="1250" b="0" i="0">
                <a:solidFill>
                  <a:srgbClr val="C9D1DE"/>
                </a:solidFill>
                <a:latin typeface="Segoe UI"/>
              </a:rPr>
              <a:t> La propuesta preveía justo esta rutina laboral/fin de semana; aparece, pero un escalón más abajo en k y sin la robustez de las tres métricas. Se confirma que existe — no que convenga usarla todavía.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PUNTO 3 · TABLA COMPLETA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Las nueve variables de caracterización, sin recortar</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2 · K-Means</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12</a:t>
            </a:r>
          </a:p>
        </p:txBody>
      </p:sp>
      <p:sp>
        <p:nvSpPr>
          <p:cNvPr id="6" name="TextBox 5"/>
          <p:cNvSpPr txBox="1"/>
          <p:nvPr/>
        </p:nvSpPr>
        <p:spPr>
          <a:xfrm>
            <a:off x="685800" y="1691640"/>
            <a:ext cx="5212080" cy="274320"/>
          </a:xfrm>
          <a:prstGeom prst="rect">
            <a:avLst/>
          </a:prstGeom>
          <a:noFill/>
        </p:spPr>
        <p:txBody>
          <a:bodyPr wrap="square" lIns="0" rIns="0" tIns="0" bIns="0">
            <a:spAutoFit/>
          </a:bodyPr>
          <a:lstStyle/>
          <a:p>
            <a:pPr algn="l"/>
            <a:r>
              <a:rPr sz="950" b="0" i="0">
                <a:solidFill>
                  <a:srgbClr val="6F7787"/>
                </a:solidFill>
                <a:latin typeface="Consolas"/>
              </a:rPr>
              <a:t>VARIABLE (MEDIA POR DÍA)</a:t>
            </a:r>
          </a:p>
        </p:txBody>
      </p:sp>
      <p:sp>
        <p:nvSpPr>
          <p:cNvPr id="7" name="TextBox 6"/>
          <p:cNvSpPr txBox="1"/>
          <p:nvPr/>
        </p:nvSpPr>
        <p:spPr>
          <a:xfrm>
            <a:off x="6126480" y="1691640"/>
            <a:ext cx="2194560" cy="274320"/>
          </a:xfrm>
          <a:prstGeom prst="rect">
            <a:avLst/>
          </a:prstGeom>
          <a:noFill/>
        </p:spPr>
        <p:txBody>
          <a:bodyPr wrap="square" lIns="0" rIns="0" tIns="0" bIns="0">
            <a:spAutoFit/>
          </a:bodyPr>
          <a:lstStyle/>
          <a:p>
            <a:pPr algn="r"/>
            <a:r>
              <a:rPr sz="950" b="0" i="0">
                <a:solidFill>
                  <a:srgbClr val="6F7787"/>
                </a:solidFill>
                <a:latin typeface="Consolas"/>
              </a:rPr>
              <a:t>DÍA NORMAL</a:t>
            </a:r>
          </a:p>
        </p:txBody>
      </p:sp>
      <p:sp>
        <p:nvSpPr>
          <p:cNvPr id="8" name="TextBox 7"/>
          <p:cNvSpPr txBox="1"/>
          <p:nvPr/>
        </p:nvSpPr>
        <p:spPr>
          <a:xfrm>
            <a:off x="8503920" y="1691640"/>
            <a:ext cx="2999232" cy="274320"/>
          </a:xfrm>
          <a:prstGeom prst="rect">
            <a:avLst/>
          </a:prstGeom>
          <a:noFill/>
        </p:spPr>
        <p:txBody>
          <a:bodyPr wrap="square" lIns="0" rIns="0" tIns="0" bIns="0">
            <a:spAutoFit/>
          </a:bodyPr>
          <a:lstStyle/>
          <a:p>
            <a:pPr algn="r"/>
            <a:r>
              <a:rPr sz="950" b="0" i="0">
                <a:solidFill>
                  <a:srgbClr val="6F7787"/>
                </a:solidFill>
                <a:latin typeface="Consolas"/>
              </a:rPr>
              <a:t>CARGA ALTA</a:t>
            </a:r>
          </a:p>
        </p:txBody>
      </p:sp>
      <p:sp>
        <p:nvSpPr>
          <p:cNvPr id="9" name="Rectangle 8"/>
          <p:cNvSpPr/>
          <p:nvPr/>
        </p:nvSpPr>
        <p:spPr>
          <a:xfrm>
            <a:off x="685800" y="2020824"/>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57400"/>
            <a:ext cx="5120640" cy="278892"/>
          </a:xfrm>
          <a:prstGeom prst="rect">
            <a:avLst/>
          </a:prstGeom>
          <a:noFill/>
        </p:spPr>
        <p:txBody>
          <a:bodyPr wrap="square" lIns="0" rIns="0" tIns="0" bIns="0" anchor="ctr">
            <a:spAutoFit/>
          </a:bodyPr>
          <a:lstStyle/>
          <a:p>
            <a:pPr algn="l"/>
            <a:r>
              <a:rPr sz="1250" b="0" i="0">
                <a:solidFill>
                  <a:srgbClr val="C9D1DE"/>
                </a:solidFill>
                <a:latin typeface="Segoe UI"/>
              </a:rPr>
              <a:t>Días</a:t>
            </a:r>
          </a:p>
        </p:txBody>
      </p:sp>
      <p:sp>
        <p:nvSpPr>
          <p:cNvPr id="11" name="TextBox 10"/>
          <p:cNvSpPr txBox="1"/>
          <p:nvPr/>
        </p:nvSpPr>
        <p:spPr>
          <a:xfrm>
            <a:off x="6126480" y="2057400"/>
            <a:ext cx="2194560" cy="278892"/>
          </a:xfrm>
          <a:prstGeom prst="rect">
            <a:avLst/>
          </a:prstGeom>
          <a:noFill/>
        </p:spPr>
        <p:txBody>
          <a:bodyPr wrap="square" lIns="0" rIns="0" tIns="0" bIns="0" anchor="ctr">
            <a:spAutoFit/>
          </a:bodyPr>
          <a:lstStyle/>
          <a:p>
            <a:pPr algn="r"/>
            <a:r>
              <a:rPr sz="1250" b="0" i="0">
                <a:solidFill>
                  <a:srgbClr val="C9D1DE"/>
                </a:solidFill>
                <a:latin typeface="Consolas"/>
              </a:rPr>
              <a:t>108</a:t>
            </a:r>
          </a:p>
        </p:txBody>
      </p:sp>
      <p:sp>
        <p:nvSpPr>
          <p:cNvPr id="12" name="TextBox 11"/>
          <p:cNvSpPr txBox="1"/>
          <p:nvPr/>
        </p:nvSpPr>
        <p:spPr>
          <a:xfrm>
            <a:off x="8503920" y="2057400"/>
            <a:ext cx="2999232" cy="278892"/>
          </a:xfrm>
          <a:prstGeom prst="rect">
            <a:avLst/>
          </a:prstGeom>
          <a:noFill/>
        </p:spPr>
        <p:txBody>
          <a:bodyPr wrap="square" lIns="0" rIns="0" tIns="0" bIns="0" anchor="ctr">
            <a:spAutoFit/>
          </a:bodyPr>
          <a:lstStyle/>
          <a:p>
            <a:pPr algn="r"/>
            <a:r>
              <a:rPr sz="1250" b="0" i="0">
                <a:solidFill>
                  <a:srgbClr val="C9D1DE"/>
                </a:solidFill>
                <a:latin typeface="Consolas"/>
              </a:rPr>
              <a:t>28</a:t>
            </a:r>
          </a:p>
        </p:txBody>
      </p:sp>
      <p:sp>
        <p:nvSpPr>
          <p:cNvPr id="13" name="TextBox 12"/>
          <p:cNvSpPr txBox="1"/>
          <p:nvPr/>
        </p:nvSpPr>
        <p:spPr>
          <a:xfrm>
            <a:off x="777240" y="2372868"/>
            <a:ext cx="5120640" cy="278892"/>
          </a:xfrm>
          <a:prstGeom prst="rect">
            <a:avLst/>
          </a:prstGeom>
          <a:noFill/>
        </p:spPr>
        <p:txBody>
          <a:bodyPr wrap="square" lIns="0" rIns="0" tIns="0" bIns="0" anchor="ctr">
            <a:spAutoFit/>
          </a:bodyPr>
          <a:lstStyle/>
          <a:p>
            <a:pPr algn="l"/>
            <a:r>
              <a:rPr sz="1250" b="0" i="0">
                <a:solidFill>
                  <a:srgbClr val="C9D1DE"/>
                </a:solidFill>
                <a:latin typeface="Segoe UI"/>
              </a:rPr>
              <a:t>Consumo diario</a:t>
            </a:r>
          </a:p>
        </p:txBody>
      </p:sp>
      <p:sp>
        <p:nvSpPr>
          <p:cNvPr id="14" name="TextBox 13"/>
          <p:cNvSpPr txBox="1"/>
          <p:nvPr/>
        </p:nvSpPr>
        <p:spPr>
          <a:xfrm>
            <a:off x="6126480" y="2372868"/>
            <a:ext cx="2194560" cy="278892"/>
          </a:xfrm>
          <a:prstGeom prst="rect">
            <a:avLst/>
          </a:prstGeom>
          <a:noFill/>
        </p:spPr>
        <p:txBody>
          <a:bodyPr wrap="square" lIns="0" rIns="0" tIns="0" bIns="0" anchor="ctr">
            <a:spAutoFit/>
          </a:bodyPr>
          <a:lstStyle/>
          <a:p>
            <a:pPr algn="r"/>
            <a:r>
              <a:rPr sz="1250" b="0" i="0">
                <a:solidFill>
                  <a:srgbClr val="C9D1DE"/>
                </a:solidFill>
                <a:latin typeface="Consolas"/>
              </a:rPr>
              <a:t>12,23 kWh</a:t>
            </a:r>
          </a:p>
        </p:txBody>
      </p:sp>
      <p:sp>
        <p:nvSpPr>
          <p:cNvPr id="15" name="TextBox 14"/>
          <p:cNvSpPr txBox="1"/>
          <p:nvPr/>
        </p:nvSpPr>
        <p:spPr>
          <a:xfrm>
            <a:off x="8503920" y="2372868"/>
            <a:ext cx="2999232" cy="278892"/>
          </a:xfrm>
          <a:prstGeom prst="rect">
            <a:avLst/>
          </a:prstGeom>
          <a:noFill/>
        </p:spPr>
        <p:txBody>
          <a:bodyPr wrap="square" lIns="0" rIns="0" tIns="0" bIns="0" anchor="ctr">
            <a:spAutoFit/>
          </a:bodyPr>
          <a:lstStyle/>
          <a:p>
            <a:pPr algn="r"/>
            <a:r>
              <a:rPr sz="1250" b="0" i="0">
                <a:solidFill>
                  <a:srgbClr val="C9D1DE"/>
                </a:solidFill>
                <a:latin typeface="Consolas"/>
              </a:rPr>
              <a:t>20,94 kWh</a:t>
            </a:r>
          </a:p>
        </p:txBody>
      </p:sp>
      <p:sp>
        <p:nvSpPr>
          <p:cNvPr id="16" name="TextBox 15"/>
          <p:cNvSpPr txBox="1"/>
          <p:nvPr/>
        </p:nvSpPr>
        <p:spPr>
          <a:xfrm>
            <a:off x="777240" y="2688335"/>
            <a:ext cx="5120640" cy="278892"/>
          </a:xfrm>
          <a:prstGeom prst="rect">
            <a:avLst/>
          </a:prstGeom>
          <a:noFill/>
        </p:spPr>
        <p:txBody>
          <a:bodyPr wrap="square" lIns="0" rIns="0" tIns="0" bIns="0" anchor="ctr">
            <a:spAutoFit/>
          </a:bodyPr>
          <a:lstStyle/>
          <a:p>
            <a:pPr algn="l"/>
            <a:r>
              <a:rPr sz="1250" b="0" i="0">
                <a:solidFill>
                  <a:srgbClr val="C9D1DE"/>
                </a:solidFill>
                <a:latin typeface="Segoe UI"/>
              </a:rPr>
              <a:t>Hora pico más frecuente</a:t>
            </a:r>
          </a:p>
        </p:txBody>
      </p:sp>
      <p:sp>
        <p:nvSpPr>
          <p:cNvPr id="17" name="TextBox 16"/>
          <p:cNvSpPr txBox="1"/>
          <p:nvPr/>
        </p:nvSpPr>
        <p:spPr>
          <a:xfrm>
            <a:off x="6126480" y="2688335"/>
            <a:ext cx="2194560" cy="278892"/>
          </a:xfrm>
          <a:prstGeom prst="rect">
            <a:avLst/>
          </a:prstGeom>
          <a:noFill/>
        </p:spPr>
        <p:txBody>
          <a:bodyPr wrap="square" lIns="0" rIns="0" tIns="0" bIns="0" anchor="ctr">
            <a:spAutoFit/>
          </a:bodyPr>
          <a:lstStyle/>
          <a:p>
            <a:pPr algn="r"/>
            <a:r>
              <a:rPr sz="1250" b="0" i="0">
                <a:solidFill>
                  <a:srgbClr val="C9D1DE"/>
                </a:solidFill>
                <a:latin typeface="Consolas"/>
              </a:rPr>
              <a:t>18 h</a:t>
            </a:r>
          </a:p>
        </p:txBody>
      </p:sp>
      <p:sp>
        <p:nvSpPr>
          <p:cNvPr id="18" name="TextBox 17"/>
          <p:cNvSpPr txBox="1"/>
          <p:nvPr/>
        </p:nvSpPr>
        <p:spPr>
          <a:xfrm>
            <a:off x="8503920" y="2688335"/>
            <a:ext cx="2999232" cy="278892"/>
          </a:xfrm>
          <a:prstGeom prst="rect">
            <a:avLst/>
          </a:prstGeom>
          <a:noFill/>
        </p:spPr>
        <p:txBody>
          <a:bodyPr wrap="square" lIns="0" rIns="0" tIns="0" bIns="0" anchor="ctr">
            <a:spAutoFit/>
          </a:bodyPr>
          <a:lstStyle/>
          <a:p>
            <a:pPr algn="r"/>
            <a:r>
              <a:rPr sz="1250" b="0" i="0">
                <a:solidFill>
                  <a:srgbClr val="C9D1DE"/>
                </a:solidFill>
                <a:latin typeface="Consolas"/>
              </a:rPr>
              <a:t>11 h</a:t>
            </a:r>
          </a:p>
        </p:txBody>
      </p:sp>
      <p:sp>
        <p:nvSpPr>
          <p:cNvPr id="19" name="TextBox 18"/>
          <p:cNvSpPr txBox="1"/>
          <p:nvPr/>
        </p:nvSpPr>
        <p:spPr>
          <a:xfrm>
            <a:off x="777240" y="3003803"/>
            <a:ext cx="5120640" cy="278892"/>
          </a:xfrm>
          <a:prstGeom prst="rect">
            <a:avLst/>
          </a:prstGeom>
          <a:noFill/>
        </p:spPr>
        <p:txBody>
          <a:bodyPr wrap="square" lIns="0" rIns="0" tIns="0" bIns="0" anchor="ctr">
            <a:spAutoFit/>
          </a:bodyPr>
          <a:lstStyle/>
          <a:p>
            <a:pPr algn="l"/>
            <a:r>
              <a:rPr sz="1250" b="0" i="0">
                <a:solidFill>
                  <a:srgbClr val="C9D1DE"/>
                </a:solidFill>
                <a:latin typeface="Segoe UI"/>
              </a:rPr>
              <a:t>Madrugada (Wh)</a:t>
            </a:r>
          </a:p>
        </p:txBody>
      </p:sp>
      <p:sp>
        <p:nvSpPr>
          <p:cNvPr id="20" name="TextBox 19"/>
          <p:cNvSpPr txBox="1"/>
          <p:nvPr/>
        </p:nvSpPr>
        <p:spPr>
          <a:xfrm>
            <a:off x="6126480" y="3003803"/>
            <a:ext cx="2194560" cy="278892"/>
          </a:xfrm>
          <a:prstGeom prst="rect">
            <a:avLst/>
          </a:prstGeom>
          <a:noFill/>
        </p:spPr>
        <p:txBody>
          <a:bodyPr wrap="square" lIns="0" rIns="0" tIns="0" bIns="0" anchor="ctr">
            <a:spAutoFit/>
          </a:bodyPr>
          <a:lstStyle/>
          <a:p>
            <a:pPr algn="r"/>
            <a:r>
              <a:rPr sz="1250" b="0" i="0">
                <a:solidFill>
                  <a:srgbClr val="C9D1DE"/>
                </a:solidFill>
                <a:latin typeface="Consolas"/>
              </a:rPr>
              <a:t>51</a:t>
            </a:r>
          </a:p>
        </p:txBody>
      </p:sp>
      <p:sp>
        <p:nvSpPr>
          <p:cNvPr id="21" name="TextBox 20"/>
          <p:cNvSpPr txBox="1"/>
          <p:nvPr/>
        </p:nvSpPr>
        <p:spPr>
          <a:xfrm>
            <a:off x="8503920" y="3003803"/>
            <a:ext cx="2999232" cy="278892"/>
          </a:xfrm>
          <a:prstGeom prst="rect">
            <a:avLst/>
          </a:prstGeom>
          <a:noFill/>
        </p:spPr>
        <p:txBody>
          <a:bodyPr wrap="square" lIns="0" rIns="0" tIns="0" bIns="0" anchor="ctr">
            <a:spAutoFit/>
          </a:bodyPr>
          <a:lstStyle/>
          <a:p>
            <a:pPr algn="r"/>
            <a:r>
              <a:rPr sz="1250" b="0" i="0">
                <a:solidFill>
                  <a:srgbClr val="C9D1DE"/>
                </a:solidFill>
                <a:latin typeface="Consolas"/>
              </a:rPr>
              <a:t>49</a:t>
            </a:r>
          </a:p>
        </p:txBody>
      </p:sp>
      <p:sp>
        <p:nvSpPr>
          <p:cNvPr id="22" name="TextBox 21"/>
          <p:cNvSpPr txBox="1"/>
          <p:nvPr/>
        </p:nvSpPr>
        <p:spPr>
          <a:xfrm>
            <a:off x="777240" y="3319271"/>
            <a:ext cx="5120640" cy="278892"/>
          </a:xfrm>
          <a:prstGeom prst="rect">
            <a:avLst/>
          </a:prstGeom>
          <a:noFill/>
        </p:spPr>
        <p:txBody>
          <a:bodyPr wrap="square" lIns="0" rIns="0" tIns="0" bIns="0" anchor="ctr">
            <a:spAutoFit/>
          </a:bodyPr>
          <a:lstStyle/>
          <a:p>
            <a:pPr algn="l"/>
            <a:r>
              <a:rPr sz="1250" b="0" i="0">
                <a:solidFill>
                  <a:srgbClr val="C9D1DE"/>
                </a:solidFill>
                <a:latin typeface="Segoe UI"/>
              </a:rPr>
              <a:t>Mañana (Wh)</a:t>
            </a:r>
          </a:p>
        </p:txBody>
      </p:sp>
      <p:sp>
        <p:nvSpPr>
          <p:cNvPr id="23" name="TextBox 22"/>
          <p:cNvSpPr txBox="1"/>
          <p:nvPr/>
        </p:nvSpPr>
        <p:spPr>
          <a:xfrm>
            <a:off x="6126480" y="3319271"/>
            <a:ext cx="2194560" cy="278892"/>
          </a:xfrm>
          <a:prstGeom prst="rect">
            <a:avLst/>
          </a:prstGeom>
          <a:noFill/>
        </p:spPr>
        <p:txBody>
          <a:bodyPr wrap="square" lIns="0" rIns="0" tIns="0" bIns="0" anchor="ctr">
            <a:spAutoFit/>
          </a:bodyPr>
          <a:lstStyle/>
          <a:p>
            <a:pPr algn="r"/>
            <a:r>
              <a:rPr sz="1250" b="0" i="0">
                <a:solidFill>
                  <a:srgbClr val="C9D1DE"/>
                </a:solidFill>
                <a:latin typeface="Consolas"/>
              </a:rPr>
              <a:t>83</a:t>
            </a:r>
          </a:p>
        </p:txBody>
      </p:sp>
      <p:sp>
        <p:nvSpPr>
          <p:cNvPr id="24" name="TextBox 23"/>
          <p:cNvSpPr txBox="1"/>
          <p:nvPr/>
        </p:nvSpPr>
        <p:spPr>
          <a:xfrm>
            <a:off x="8503920" y="3319271"/>
            <a:ext cx="2999232" cy="278892"/>
          </a:xfrm>
          <a:prstGeom prst="rect">
            <a:avLst/>
          </a:prstGeom>
          <a:noFill/>
        </p:spPr>
        <p:txBody>
          <a:bodyPr wrap="square" lIns="0" rIns="0" tIns="0" bIns="0" anchor="ctr">
            <a:spAutoFit/>
          </a:bodyPr>
          <a:lstStyle/>
          <a:p>
            <a:pPr algn="r"/>
            <a:r>
              <a:rPr sz="1250" b="0" i="0">
                <a:solidFill>
                  <a:srgbClr val="C9D1DE"/>
                </a:solidFill>
                <a:latin typeface="Consolas"/>
              </a:rPr>
              <a:t>172</a:t>
            </a:r>
          </a:p>
        </p:txBody>
      </p:sp>
      <p:sp>
        <p:nvSpPr>
          <p:cNvPr id="25" name="TextBox 24"/>
          <p:cNvSpPr txBox="1"/>
          <p:nvPr/>
        </p:nvSpPr>
        <p:spPr>
          <a:xfrm>
            <a:off x="777240" y="3634739"/>
            <a:ext cx="5120640" cy="278892"/>
          </a:xfrm>
          <a:prstGeom prst="rect">
            <a:avLst/>
          </a:prstGeom>
          <a:noFill/>
        </p:spPr>
        <p:txBody>
          <a:bodyPr wrap="square" lIns="0" rIns="0" tIns="0" bIns="0" anchor="ctr">
            <a:spAutoFit/>
          </a:bodyPr>
          <a:lstStyle/>
          <a:p>
            <a:pPr algn="l"/>
            <a:r>
              <a:rPr sz="1250" b="0" i="0">
                <a:solidFill>
                  <a:srgbClr val="C9D1DE"/>
                </a:solidFill>
                <a:latin typeface="Segoe UI"/>
              </a:rPr>
              <a:t>Tarde (Wh)</a:t>
            </a:r>
          </a:p>
        </p:txBody>
      </p:sp>
      <p:sp>
        <p:nvSpPr>
          <p:cNvPr id="26" name="TextBox 25"/>
          <p:cNvSpPr txBox="1"/>
          <p:nvPr/>
        </p:nvSpPr>
        <p:spPr>
          <a:xfrm>
            <a:off x="6126480" y="3634739"/>
            <a:ext cx="2194560" cy="278892"/>
          </a:xfrm>
          <a:prstGeom prst="rect">
            <a:avLst/>
          </a:prstGeom>
          <a:noFill/>
        </p:spPr>
        <p:txBody>
          <a:bodyPr wrap="square" lIns="0" rIns="0" tIns="0" bIns="0" anchor="ctr">
            <a:spAutoFit/>
          </a:bodyPr>
          <a:lstStyle/>
          <a:p>
            <a:pPr algn="r"/>
            <a:r>
              <a:rPr sz="1250" b="0" i="0">
                <a:solidFill>
                  <a:srgbClr val="C9D1DE"/>
                </a:solidFill>
                <a:latin typeface="Consolas"/>
              </a:rPr>
              <a:t>94</a:t>
            </a:r>
          </a:p>
        </p:txBody>
      </p:sp>
      <p:sp>
        <p:nvSpPr>
          <p:cNvPr id="27" name="TextBox 26"/>
          <p:cNvSpPr txBox="1"/>
          <p:nvPr/>
        </p:nvSpPr>
        <p:spPr>
          <a:xfrm>
            <a:off x="8503920" y="3634739"/>
            <a:ext cx="2999232" cy="278892"/>
          </a:xfrm>
          <a:prstGeom prst="rect">
            <a:avLst/>
          </a:prstGeom>
          <a:noFill/>
        </p:spPr>
        <p:txBody>
          <a:bodyPr wrap="square" lIns="0" rIns="0" tIns="0" bIns="0" anchor="ctr">
            <a:spAutoFit/>
          </a:bodyPr>
          <a:lstStyle/>
          <a:p>
            <a:pPr algn="r"/>
            <a:r>
              <a:rPr sz="1250" b="0" i="0">
                <a:solidFill>
                  <a:srgbClr val="C9D1DE"/>
                </a:solidFill>
                <a:latin typeface="Consolas"/>
              </a:rPr>
              <a:t>238</a:t>
            </a:r>
          </a:p>
        </p:txBody>
      </p:sp>
      <p:sp>
        <p:nvSpPr>
          <p:cNvPr id="28" name="TextBox 27"/>
          <p:cNvSpPr txBox="1"/>
          <p:nvPr/>
        </p:nvSpPr>
        <p:spPr>
          <a:xfrm>
            <a:off x="777240" y="3950207"/>
            <a:ext cx="5120640" cy="278892"/>
          </a:xfrm>
          <a:prstGeom prst="rect">
            <a:avLst/>
          </a:prstGeom>
          <a:noFill/>
        </p:spPr>
        <p:txBody>
          <a:bodyPr wrap="square" lIns="0" rIns="0" tIns="0" bIns="0" anchor="ctr">
            <a:spAutoFit/>
          </a:bodyPr>
          <a:lstStyle/>
          <a:p>
            <a:pPr algn="l"/>
            <a:r>
              <a:rPr sz="1250" b="0" i="0">
                <a:solidFill>
                  <a:srgbClr val="C9D1DE"/>
                </a:solidFill>
                <a:latin typeface="Segoe UI"/>
              </a:rPr>
              <a:t>Noche (Wh)</a:t>
            </a:r>
          </a:p>
        </p:txBody>
      </p:sp>
      <p:sp>
        <p:nvSpPr>
          <p:cNvPr id="29" name="TextBox 28"/>
          <p:cNvSpPr txBox="1"/>
          <p:nvPr/>
        </p:nvSpPr>
        <p:spPr>
          <a:xfrm>
            <a:off x="6126480" y="3950207"/>
            <a:ext cx="2194560" cy="278892"/>
          </a:xfrm>
          <a:prstGeom prst="rect">
            <a:avLst/>
          </a:prstGeom>
          <a:noFill/>
        </p:spPr>
        <p:txBody>
          <a:bodyPr wrap="square" lIns="0" rIns="0" tIns="0" bIns="0" anchor="ctr">
            <a:spAutoFit/>
          </a:bodyPr>
          <a:lstStyle/>
          <a:p>
            <a:pPr algn="r"/>
            <a:r>
              <a:rPr sz="1250" b="0" i="0">
                <a:solidFill>
                  <a:srgbClr val="C9D1DE"/>
                </a:solidFill>
                <a:latin typeface="Consolas"/>
              </a:rPr>
              <a:t>111</a:t>
            </a:r>
          </a:p>
        </p:txBody>
      </p:sp>
      <p:sp>
        <p:nvSpPr>
          <p:cNvPr id="30" name="TextBox 29"/>
          <p:cNvSpPr txBox="1"/>
          <p:nvPr/>
        </p:nvSpPr>
        <p:spPr>
          <a:xfrm>
            <a:off x="8503920" y="3950207"/>
            <a:ext cx="2999232" cy="278892"/>
          </a:xfrm>
          <a:prstGeom prst="rect">
            <a:avLst/>
          </a:prstGeom>
          <a:noFill/>
        </p:spPr>
        <p:txBody>
          <a:bodyPr wrap="square" lIns="0" rIns="0" tIns="0" bIns="0" anchor="ctr">
            <a:spAutoFit/>
          </a:bodyPr>
          <a:lstStyle/>
          <a:p>
            <a:pPr algn="r"/>
            <a:r>
              <a:rPr sz="1250" b="0" i="0">
                <a:solidFill>
                  <a:srgbClr val="C9D1DE"/>
                </a:solidFill>
                <a:latin typeface="Consolas"/>
              </a:rPr>
              <a:t>122</a:t>
            </a:r>
          </a:p>
        </p:txBody>
      </p:sp>
      <p:sp>
        <p:nvSpPr>
          <p:cNvPr id="31" name="TextBox 30"/>
          <p:cNvSpPr txBox="1"/>
          <p:nvPr/>
        </p:nvSpPr>
        <p:spPr>
          <a:xfrm>
            <a:off x="777240" y="4265675"/>
            <a:ext cx="5120640" cy="278892"/>
          </a:xfrm>
          <a:prstGeom prst="rect">
            <a:avLst/>
          </a:prstGeom>
          <a:noFill/>
        </p:spPr>
        <p:txBody>
          <a:bodyPr wrap="square" lIns="0" rIns="0" tIns="0" bIns="0" anchor="ctr">
            <a:spAutoFit/>
          </a:bodyPr>
          <a:lstStyle/>
          <a:p>
            <a:pPr algn="l"/>
            <a:r>
              <a:rPr sz="1250" b="0" i="0">
                <a:solidFill>
                  <a:srgbClr val="C9D1DE"/>
                </a:solidFill>
                <a:latin typeface="Segoe UI"/>
              </a:rPr>
              <a:t>% de fines de semana</a:t>
            </a:r>
          </a:p>
        </p:txBody>
      </p:sp>
      <p:sp>
        <p:nvSpPr>
          <p:cNvPr id="32" name="TextBox 31"/>
          <p:cNvSpPr txBox="1"/>
          <p:nvPr/>
        </p:nvSpPr>
        <p:spPr>
          <a:xfrm>
            <a:off x="6126480" y="4265675"/>
            <a:ext cx="2194560" cy="278892"/>
          </a:xfrm>
          <a:prstGeom prst="rect">
            <a:avLst/>
          </a:prstGeom>
          <a:noFill/>
        </p:spPr>
        <p:txBody>
          <a:bodyPr wrap="square" lIns="0" rIns="0" tIns="0" bIns="0" anchor="ctr">
            <a:spAutoFit/>
          </a:bodyPr>
          <a:lstStyle/>
          <a:p>
            <a:pPr algn="r"/>
            <a:r>
              <a:rPr sz="1250" b="0" i="0">
                <a:solidFill>
                  <a:srgbClr val="C9D1DE"/>
                </a:solidFill>
                <a:latin typeface="Consolas"/>
              </a:rPr>
              <a:t>27,8 %</a:t>
            </a:r>
          </a:p>
        </p:txBody>
      </p:sp>
      <p:sp>
        <p:nvSpPr>
          <p:cNvPr id="33" name="TextBox 32"/>
          <p:cNvSpPr txBox="1"/>
          <p:nvPr/>
        </p:nvSpPr>
        <p:spPr>
          <a:xfrm>
            <a:off x="8503920" y="4265675"/>
            <a:ext cx="2999232" cy="278892"/>
          </a:xfrm>
          <a:prstGeom prst="rect">
            <a:avLst/>
          </a:prstGeom>
          <a:noFill/>
        </p:spPr>
        <p:txBody>
          <a:bodyPr wrap="square" lIns="0" rIns="0" tIns="0" bIns="0" anchor="ctr">
            <a:spAutoFit/>
          </a:bodyPr>
          <a:lstStyle/>
          <a:p>
            <a:pPr algn="r"/>
            <a:r>
              <a:rPr sz="1250" b="0" i="0">
                <a:solidFill>
                  <a:srgbClr val="C9D1DE"/>
                </a:solidFill>
                <a:latin typeface="Consolas"/>
              </a:rPr>
              <a:t>28,6 %</a:t>
            </a:r>
          </a:p>
        </p:txBody>
      </p:sp>
      <p:sp>
        <p:nvSpPr>
          <p:cNvPr id="34" name="TextBox 33"/>
          <p:cNvSpPr txBox="1"/>
          <p:nvPr/>
        </p:nvSpPr>
        <p:spPr>
          <a:xfrm>
            <a:off x="777240" y="4581143"/>
            <a:ext cx="5120640" cy="278892"/>
          </a:xfrm>
          <a:prstGeom prst="rect">
            <a:avLst/>
          </a:prstGeom>
          <a:noFill/>
        </p:spPr>
        <p:txBody>
          <a:bodyPr wrap="square" lIns="0" rIns="0" tIns="0" bIns="0" anchor="ctr">
            <a:spAutoFit/>
          </a:bodyPr>
          <a:lstStyle/>
          <a:p>
            <a:pPr algn="l"/>
            <a:r>
              <a:rPr sz="1250" b="0" i="0">
                <a:solidFill>
                  <a:srgbClr val="C9D1DE"/>
                </a:solidFill>
                <a:latin typeface="Segoe UI"/>
              </a:rPr>
              <a:t>Temperatura exterior</a:t>
            </a:r>
          </a:p>
        </p:txBody>
      </p:sp>
      <p:sp>
        <p:nvSpPr>
          <p:cNvPr id="35" name="TextBox 34"/>
          <p:cNvSpPr txBox="1"/>
          <p:nvPr/>
        </p:nvSpPr>
        <p:spPr>
          <a:xfrm>
            <a:off x="6126480" y="4581143"/>
            <a:ext cx="2194560" cy="278892"/>
          </a:xfrm>
          <a:prstGeom prst="rect">
            <a:avLst/>
          </a:prstGeom>
          <a:noFill/>
        </p:spPr>
        <p:txBody>
          <a:bodyPr wrap="square" lIns="0" rIns="0" tIns="0" bIns="0" anchor="ctr">
            <a:spAutoFit/>
          </a:bodyPr>
          <a:lstStyle/>
          <a:p>
            <a:pPr algn="r"/>
            <a:r>
              <a:rPr sz="1250" b="0" i="0">
                <a:solidFill>
                  <a:srgbClr val="C9D1DE"/>
                </a:solidFill>
                <a:latin typeface="Consolas"/>
              </a:rPr>
              <a:t>7,4 °C</a:t>
            </a:r>
          </a:p>
        </p:txBody>
      </p:sp>
      <p:sp>
        <p:nvSpPr>
          <p:cNvPr id="36" name="TextBox 35"/>
          <p:cNvSpPr txBox="1"/>
          <p:nvPr/>
        </p:nvSpPr>
        <p:spPr>
          <a:xfrm>
            <a:off x="8503920" y="4581143"/>
            <a:ext cx="2999232" cy="278892"/>
          </a:xfrm>
          <a:prstGeom prst="rect">
            <a:avLst/>
          </a:prstGeom>
          <a:noFill/>
        </p:spPr>
        <p:txBody>
          <a:bodyPr wrap="square" lIns="0" rIns="0" tIns="0" bIns="0" anchor="ctr">
            <a:spAutoFit/>
          </a:bodyPr>
          <a:lstStyle/>
          <a:p>
            <a:pPr algn="r"/>
            <a:r>
              <a:rPr sz="1250" b="0" i="0">
                <a:solidFill>
                  <a:srgbClr val="C9D1DE"/>
                </a:solidFill>
                <a:latin typeface="Consolas"/>
              </a:rPr>
              <a:t>7,3 °C</a:t>
            </a:r>
          </a:p>
        </p:txBody>
      </p:sp>
      <p:sp>
        <p:nvSpPr>
          <p:cNvPr id="37" name="TextBox 36"/>
          <p:cNvSpPr txBox="1"/>
          <p:nvPr/>
        </p:nvSpPr>
        <p:spPr>
          <a:xfrm>
            <a:off x="777240" y="4896611"/>
            <a:ext cx="5120640" cy="278892"/>
          </a:xfrm>
          <a:prstGeom prst="rect">
            <a:avLst/>
          </a:prstGeom>
          <a:noFill/>
        </p:spPr>
        <p:txBody>
          <a:bodyPr wrap="square" lIns="0" rIns="0" tIns="0" bIns="0" anchor="ctr">
            <a:spAutoFit/>
          </a:bodyPr>
          <a:lstStyle/>
          <a:p>
            <a:pPr algn="l"/>
            <a:r>
              <a:rPr sz="1250" b="0" i="0">
                <a:solidFill>
                  <a:srgbClr val="C9D1DE"/>
                </a:solidFill>
                <a:latin typeface="Segoe UI"/>
              </a:rPr>
              <a:t>Temperatura interior</a:t>
            </a:r>
          </a:p>
        </p:txBody>
      </p:sp>
      <p:sp>
        <p:nvSpPr>
          <p:cNvPr id="38" name="TextBox 37"/>
          <p:cNvSpPr txBox="1"/>
          <p:nvPr/>
        </p:nvSpPr>
        <p:spPr>
          <a:xfrm>
            <a:off x="6126480" y="4896611"/>
            <a:ext cx="2194560" cy="278892"/>
          </a:xfrm>
          <a:prstGeom prst="rect">
            <a:avLst/>
          </a:prstGeom>
          <a:noFill/>
        </p:spPr>
        <p:txBody>
          <a:bodyPr wrap="square" lIns="0" rIns="0" tIns="0" bIns="0" anchor="ctr">
            <a:spAutoFit/>
          </a:bodyPr>
          <a:lstStyle/>
          <a:p>
            <a:pPr algn="r"/>
            <a:r>
              <a:rPr sz="1250" b="0" i="0">
                <a:solidFill>
                  <a:srgbClr val="C9D1DE"/>
                </a:solidFill>
                <a:latin typeface="Consolas"/>
              </a:rPr>
              <a:t>19,4 °C</a:t>
            </a:r>
          </a:p>
        </p:txBody>
      </p:sp>
      <p:sp>
        <p:nvSpPr>
          <p:cNvPr id="39" name="TextBox 38"/>
          <p:cNvSpPr txBox="1"/>
          <p:nvPr/>
        </p:nvSpPr>
        <p:spPr>
          <a:xfrm>
            <a:off x="8503920" y="4896611"/>
            <a:ext cx="2999232" cy="278892"/>
          </a:xfrm>
          <a:prstGeom prst="rect">
            <a:avLst/>
          </a:prstGeom>
          <a:noFill/>
        </p:spPr>
        <p:txBody>
          <a:bodyPr wrap="square" lIns="0" rIns="0" tIns="0" bIns="0" anchor="ctr">
            <a:spAutoFit/>
          </a:bodyPr>
          <a:lstStyle/>
          <a:p>
            <a:pPr algn="r"/>
            <a:r>
              <a:rPr sz="1250" b="0" i="0">
                <a:solidFill>
                  <a:srgbClr val="C9D1DE"/>
                </a:solidFill>
                <a:latin typeface="Consolas"/>
              </a:rPr>
              <a:t>19,3 °C</a:t>
            </a:r>
          </a:p>
        </p:txBody>
      </p:sp>
      <p:sp>
        <p:nvSpPr>
          <p:cNvPr id="40" name="TextBox 39"/>
          <p:cNvSpPr txBox="1"/>
          <p:nvPr/>
        </p:nvSpPr>
        <p:spPr>
          <a:xfrm>
            <a:off x="777240" y="5212079"/>
            <a:ext cx="5120640" cy="278892"/>
          </a:xfrm>
          <a:prstGeom prst="rect">
            <a:avLst/>
          </a:prstGeom>
          <a:noFill/>
        </p:spPr>
        <p:txBody>
          <a:bodyPr wrap="square" lIns="0" rIns="0" tIns="0" bIns="0" anchor="ctr">
            <a:spAutoFit/>
          </a:bodyPr>
          <a:lstStyle/>
          <a:p>
            <a:pPr algn="l"/>
            <a:r>
              <a:rPr sz="1250" b="0" i="0">
                <a:solidFill>
                  <a:srgbClr val="C9D1DE"/>
                </a:solidFill>
                <a:latin typeface="Segoe UI"/>
              </a:rPr>
              <a:t>Iluminación (lights)</a:t>
            </a:r>
          </a:p>
        </p:txBody>
      </p:sp>
      <p:sp>
        <p:nvSpPr>
          <p:cNvPr id="41" name="TextBox 40"/>
          <p:cNvSpPr txBox="1"/>
          <p:nvPr/>
        </p:nvSpPr>
        <p:spPr>
          <a:xfrm>
            <a:off x="6126480" y="5212079"/>
            <a:ext cx="2194560" cy="278892"/>
          </a:xfrm>
          <a:prstGeom prst="rect">
            <a:avLst/>
          </a:prstGeom>
          <a:noFill/>
        </p:spPr>
        <p:txBody>
          <a:bodyPr wrap="square" lIns="0" rIns="0" tIns="0" bIns="0" anchor="ctr">
            <a:spAutoFit/>
          </a:bodyPr>
          <a:lstStyle/>
          <a:p>
            <a:pPr algn="r"/>
            <a:r>
              <a:rPr sz="1250" b="0" i="0">
                <a:solidFill>
                  <a:srgbClr val="C9D1DE"/>
                </a:solidFill>
                <a:latin typeface="Consolas"/>
              </a:rPr>
              <a:t>502 Wh</a:t>
            </a:r>
          </a:p>
        </p:txBody>
      </p:sp>
      <p:sp>
        <p:nvSpPr>
          <p:cNvPr id="42" name="TextBox 41"/>
          <p:cNvSpPr txBox="1"/>
          <p:nvPr/>
        </p:nvSpPr>
        <p:spPr>
          <a:xfrm>
            <a:off x="8503920" y="5212079"/>
            <a:ext cx="2999232" cy="278892"/>
          </a:xfrm>
          <a:prstGeom prst="rect">
            <a:avLst/>
          </a:prstGeom>
          <a:noFill/>
        </p:spPr>
        <p:txBody>
          <a:bodyPr wrap="square" lIns="0" rIns="0" tIns="0" bIns="0" anchor="ctr">
            <a:spAutoFit/>
          </a:bodyPr>
          <a:lstStyle/>
          <a:p>
            <a:pPr algn="r"/>
            <a:r>
              <a:rPr sz="1250" b="0" i="0">
                <a:solidFill>
                  <a:srgbClr val="C9D1DE"/>
                </a:solidFill>
                <a:latin typeface="Consolas"/>
              </a:rPr>
              <a:t>697 Wh</a:t>
            </a:r>
          </a:p>
        </p:txBody>
      </p:sp>
      <p:sp>
        <p:nvSpPr>
          <p:cNvPr id="43" name="Rectangle 42"/>
          <p:cNvSpPr/>
          <p:nvPr/>
        </p:nvSpPr>
        <p:spPr>
          <a:xfrm>
            <a:off x="685800" y="5532120"/>
            <a:ext cx="10817352"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800" y="5532120"/>
            <a:ext cx="54864" cy="86868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1832" y="5696712"/>
            <a:ext cx="10360152" cy="594359"/>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Ni el clima interior ni el exterior distinguen los tipos.</a:t>
            </a:r>
            <a:r>
              <a:rPr sz="1250" b="0" i="0">
                <a:solidFill>
                  <a:srgbClr val="C9D1DE"/>
                </a:solidFill>
                <a:latin typeface="Segoe UI"/>
              </a:rPr>
              <a:t> 19,4 °C frente a 19,3 °C por dentro; 7,4 °C frente a 7,3 °C por fuera. Lo que sí se mueve es la actividad de las personas: iluminación +39 % (502 → 697 Wh/día) y las humedades de lavandería y cocina — las cargas diferibles del MDP.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E8710A"/>
                </a:solidFill>
                <a:latin typeface="Consolas"/>
              </a:rPr>
              <a:t>METODOLOGÍA · LA HIPÓTESIS DEL PLAN, CONTRASTADA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Nivel → estación, forma → rutina: qué sobrevivió al dato</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2 · K-Means</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13</a:t>
            </a:r>
          </a:p>
        </p:txBody>
      </p:sp>
      <p:sp>
        <p:nvSpPr>
          <p:cNvPr id="6" name="Rectangle 5"/>
          <p:cNvSpPr/>
          <p:nvPr/>
        </p:nvSpPr>
        <p:spPr>
          <a:xfrm>
            <a:off x="685800" y="1828800"/>
            <a:ext cx="5074920" cy="28803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011680"/>
            <a:ext cx="3657600" cy="274320"/>
          </a:xfrm>
          <a:prstGeom prst="rect">
            <a:avLst/>
          </a:prstGeom>
          <a:noFill/>
        </p:spPr>
        <p:txBody>
          <a:bodyPr wrap="square" lIns="0" rIns="0" tIns="0" bIns="0">
            <a:spAutoFit/>
          </a:bodyPr>
          <a:lstStyle/>
          <a:p>
            <a:pPr algn="l"/>
            <a:r>
              <a:rPr sz="1000" b="1" i="0">
                <a:solidFill>
                  <a:srgbClr val="FFB877"/>
                </a:solidFill>
                <a:latin typeface="Consolas"/>
              </a:rPr>
              <a:t>HIPÓTESIS A · REFUTADA</a:t>
            </a:r>
          </a:p>
        </p:txBody>
      </p:sp>
      <p:sp>
        <p:nvSpPr>
          <p:cNvPr id="8" name="TextBox 7"/>
          <p:cNvSpPr txBox="1"/>
          <p:nvPr/>
        </p:nvSpPr>
        <p:spPr>
          <a:xfrm>
            <a:off x="941832" y="2331720"/>
            <a:ext cx="4572000" cy="822960"/>
          </a:xfrm>
          <a:prstGeom prst="rect">
            <a:avLst/>
          </a:prstGeom>
          <a:noFill/>
        </p:spPr>
        <p:txBody>
          <a:bodyPr wrap="square" lIns="0" rIns="0" tIns="0" bIns="0">
            <a:spAutoFit/>
          </a:bodyPr>
          <a:lstStyle/>
          <a:p>
            <a:pPr algn="l">
              <a:lnSpc>
                <a:spcPct val="110000"/>
              </a:lnSpc>
            </a:pPr>
            <a:r>
              <a:rPr sz="1700" b="0" i="0">
                <a:solidFill>
                  <a:srgbClr val="E6E9EF"/>
                </a:solidFill>
                <a:latin typeface="Segoe UI Semibold"/>
              </a:rPr>
              <a:t>El nivel absoluto separaría por estación (mes)</a:t>
            </a:r>
          </a:p>
        </p:txBody>
      </p:sp>
      <p:sp>
        <p:nvSpPr>
          <p:cNvPr id="9" name="TextBox 8"/>
          <p:cNvSpPr txBox="1"/>
          <p:nvPr/>
        </p:nvSpPr>
        <p:spPr>
          <a:xfrm>
            <a:off x="941832" y="3246120"/>
            <a:ext cx="4572000" cy="1280160"/>
          </a:xfrm>
          <a:prstGeom prst="rect">
            <a:avLst/>
          </a:prstGeom>
          <a:noFill/>
        </p:spPr>
        <p:txBody>
          <a:bodyPr wrap="square" lIns="0" rIns="0" tIns="0" bIns="0">
            <a:spAutoFit/>
          </a:bodyPr>
          <a:lstStyle/>
          <a:p>
            <a:pPr algn="l">
              <a:lnSpc>
                <a:spcPct val="115000"/>
              </a:lnSpc>
            </a:pPr>
            <a:r>
              <a:rPr sz="1250" b="0" i="0">
                <a:solidFill>
                  <a:srgbClr val="9AA3B2"/>
                </a:solidFill>
                <a:latin typeface="Segoe UI"/>
              </a:rPr>
              <a:t>La deriva estacional del parcial (percentil 90 de 250 a 150 Wh, enero→mayo) hacía temer que K-Means sobre la curva en Wh separara invierno de primavera. No ocurrió: V de Cramér (clúster × mes) = 0,134, p = 0,655. El nivel separa por actividad diaria, no por temporada.</a:t>
            </a:r>
          </a:p>
        </p:txBody>
      </p:sp>
      <p:sp>
        <p:nvSpPr>
          <p:cNvPr id="10" name="Rectangle 9"/>
          <p:cNvSpPr/>
          <p:nvPr/>
        </p:nvSpPr>
        <p:spPr>
          <a:xfrm>
            <a:off x="5971032" y="1828800"/>
            <a:ext cx="5074920" cy="28803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7064" y="2011680"/>
            <a:ext cx="3657600" cy="274320"/>
          </a:xfrm>
          <a:prstGeom prst="rect">
            <a:avLst/>
          </a:prstGeom>
          <a:noFill/>
        </p:spPr>
        <p:txBody>
          <a:bodyPr wrap="square" lIns="0" rIns="0" tIns="0" bIns="0">
            <a:spAutoFit/>
          </a:bodyPr>
          <a:lstStyle/>
          <a:p>
            <a:pPr algn="l"/>
            <a:r>
              <a:rPr sz="1000" b="1" i="0">
                <a:solidFill>
                  <a:srgbClr val="7BD992"/>
                </a:solidFill>
                <a:latin typeface="Consolas"/>
              </a:rPr>
              <a:t>HIPÓTESIS B · CONFIRMADA A MEDIAS</a:t>
            </a:r>
          </a:p>
        </p:txBody>
      </p:sp>
      <p:sp>
        <p:nvSpPr>
          <p:cNvPr id="12" name="TextBox 11"/>
          <p:cNvSpPr txBox="1"/>
          <p:nvPr/>
        </p:nvSpPr>
        <p:spPr>
          <a:xfrm>
            <a:off x="6227064" y="2331720"/>
            <a:ext cx="4572000" cy="822960"/>
          </a:xfrm>
          <a:prstGeom prst="rect">
            <a:avLst/>
          </a:prstGeom>
          <a:noFill/>
        </p:spPr>
        <p:txBody>
          <a:bodyPr wrap="square" lIns="0" rIns="0" tIns="0" bIns="0">
            <a:spAutoFit/>
          </a:bodyPr>
          <a:lstStyle/>
          <a:p>
            <a:pPr algn="l">
              <a:lnSpc>
                <a:spcPct val="110000"/>
              </a:lnSpc>
            </a:pPr>
            <a:r>
              <a:rPr sz="1700" b="0" i="0">
                <a:solidFill>
                  <a:srgbClr val="E6E9EF"/>
                </a:solidFill>
                <a:latin typeface="Segoe UI Semibold"/>
              </a:rPr>
              <a:t>La forma (curva ÷ total) aislaría la rutina de calendario</a:t>
            </a:r>
          </a:p>
        </p:txBody>
      </p:sp>
      <p:sp>
        <p:nvSpPr>
          <p:cNvPr id="13" name="TextBox 12"/>
          <p:cNvSpPr txBox="1"/>
          <p:nvPr/>
        </p:nvSpPr>
        <p:spPr>
          <a:xfrm>
            <a:off x="6227064" y="3246120"/>
            <a:ext cx="4572000" cy="1280160"/>
          </a:xfrm>
          <a:prstGeom prst="rect">
            <a:avLst/>
          </a:prstGeom>
          <a:noFill/>
        </p:spPr>
        <p:txBody>
          <a:bodyPr wrap="square" lIns="0" rIns="0" tIns="0" bIns="0">
            <a:spAutoFit/>
          </a:bodyPr>
          <a:lstStyle/>
          <a:p>
            <a:pPr algn="l">
              <a:lnSpc>
                <a:spcPct val="115000"/>
              </a:lnSpc>
            </a:pPr>
            <a:r>
              <a:rPr sz="1250" b="0" i="0">
                <a:solidFill>
                  <a:srgbClr val="9AA3B2"/>
                </a:solidFill>
                <a:latin typeface="Segoe UI"/>
              </a:rPr>
              <a:t>Se esperaba que dividir por el consumo total del día revelara laboral/fin de semana. Hay una asociación real pero débil (V = 0,185, p = 0,031) y sin estructura de clústers que la sostenga — la silueta de “forma” nunca supera 0,153 para ningún k.</a:t>
            </a:r>
          </a:p>
        </p:txBody>
      </p:sp>
      <p:sp>
        <p:nvSpPr>
          <p:cNvPr id="14" name="Rectangle 13"/>
          <p:cNvSpPr/>
          <p:nvPr/>
        </p:nvSpPr>
        <p:spPr>
          <a:xfrm>
            <a:off x="685800" y="5029200"/>
            <a:ext cx="10817352" cy="12344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5029200"/>
            <a:ext cx="54864" cy="123444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5193792"/>
            <a:ext cx="10360152" cy="960120"/>
          </a:xfrm>
          <a:prstGeom prst="rect">
            <a:avLst/>
          </a:prstGeom>
          <a:noFill/>
        </p:spPr>
        <p:txBody>
          <a:bodyPr wrap="square" lIns="0" rIns="0" tIns="0" bIns="0">
            <a:spAutoFit/>
          </a:bodyPr>
          <a:lstStyle/>
          <a:p>
            <a:pPr algn="l">
              <a:lnSpc>
                <a:spcPct val="110000"/>
              </a:lnSpc>
            </a:pPr>
            <a:r>
              <a:rPr sz="1300" b="1" i="0">
                <a:solidFill>
                  <a:srgbClr val="E6E9EF"/>
                </a:solidFill>
                <a:latin typeface="Segoe UI"/>
              </a:rPr>
              <a:t>Lo que sí sostienen los datos:</a:t>
            </a:r>
            <a:r>
              <a:rPr sz="1300" b="0" i="0">
                <a:solidFill>
                  <a:srgbClr val="C9D1DE"/>
                </a:solidFill>
                <a:latin typeface="Segoe UI"/>
              </a:rPr>
              <a:t> los días se diferencian por si ocurre o no un bloque de consumo fuerte durante el día — ni el calendario ni la estación lo anticipan de antemano. Por eso la variable de estado del MDP se construye sobre el nivel (Wh), y la forma queda registrada como el contraste que puso la hipótesis original a prueba, no como la base del modelo.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SEGUNDA TÉCNICA · MÁS ALLÁ DE k = 2</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Con k = 3 y k = 4 el acuerdo con K-Means se debilita</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2 · K-Means</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15</a:t>
            </a:r>
          </a:p>
        </p:txBody>
      </p:sp>
      <p:sp>
        <p:nvSpPr>
          <p:cNvPr id="6" name="TextBox 5"/>
          <p:cNvSpPr txBox="1"/>
          <p:nvPr/>
        </p:nvSpPr>
        <p:spPr>
          <a:xfrm>
            <a:off x="685800" y="1783080"/>
            <a:ext cx="1371600" cy="274320"/>
          </a:xfrm>
          <a:prstGeom prst="rect">
            <a:avLst/>
          </a:prstGeom>
          <a:noFill/>
        </p:spPr>
        <p:txBody>
          <a:bodyPr wrap="square" lIns="0" rIns="0" tIns="0" bIns="0">
            <a:spAutoFit/>
          </a:bodyPr>
          <a:lstStyle/>
          <a:p>
            <a:pPr algn="l"/>
            <a:r>
              <a:rPr sz="950" b="0" i="0">
                <a:solidFill>
                  <a:srgbClr val="6F7787"/>
                </a:solidFill>
                <a:latin typeface="Consolas"/>
              </a:rPr>
              <a:t>k</a:t>
            </a:r>
          </a:p>
        </p:txBody>
      </p:sp>
      <p:sp>
        <p:nvSpPr>
          <p:cNvPr id="7" name="TextBox 6"/>
          <p:cNvSpPr txBox="1"/>
          <p:nvPr/>
        </p:nvSpPr>
        <p:spPr>
          <a:xfrm>
            <a:off x="2377440" y="1783080"/>
            <a:ext cx="2606040" cy="274320"/>
          </a:xfrm>
          <a:prstGeom prst="rect">
            <a:avLst/>
          </a:prstGeom>
          <a:noFill/>
        </p:spPr>
        <p:txBody>
          <a:bodyPr wrap="square" lIns="0" rIns="0" tIns="0" bIns="0">
            <a:spAutoFit/>
          </a:bodyPr>
          <a:lstStyle/>
          <a:p>
            <a:pPr algn="r"/>
            <a:r>
              <a:rPr sz="950" b="0" i="0">
                <a:solidFill>
                  <a:srgbClr val="6F7787"/>
                </a:solidFill>
                <a:latin typeface="Consolas"/>
              </a:rPr>
              <a:t>ARI vs K-MEANS (NIVEL)</a:t>
            </a:r>
          </a:p>
        </p:txBody>
      </p:sp>
      <p:sp>
        <p:nvSpPr>
          <p:cNvPr id="8" name="TextBox 7"/>
          <p:cNvSpPr txBox="1"/>
          <p:nvPr/>
        </p:nvSpPr>
        <p:spPr>
          <a:xfrm>
            <a:off x="5257800" y="1783080"/>
            <a:ext cx="2057400" cy="274320"/>
          </a:xfrm>
          <a:prstGeom prst="rect">
            <a:avLst/>
          </a:prstGeom>
          <a:noFill/>
        </p:spPr>
        <p:txBody>
          <a:bodyPr wrap="square" lIns="0" rIns="0" tIns="0" bIns="0">
            <a:spAutoFit/>
          </a:bodyPr>
          <a:lstStyle/>
          <a:p>
            <a:pPr algn="r"/>
            <a:r>
              <a:rPr sz="950" b="0" i="0">
                <a:solidFill>
                  <a:srgbClr val="6F7787"/>
                </a:solidFill>
                <a:latin typeface="Consolas"/>
              </a:rPr>
              <a:t>SILUETA WARD (NIVEL)</a:t>
            </a:r>
          </a:p>
        </p:txBody>
      </p:sp>
      <p:sp>
        <p:nvSpPr>
          <p:cNvPr id="9" name="TextBox 8"/>
          <p:cNvSpPr txBox="1"/>
          <p:nvPr/>
        </p:nvSpPr>
        <p:spPr>
          <a:xfrm>
            <a:off x="7589520" y="1783080"/>
            <a:ext cx="1828800" cy="274320"/>
          </a:xfrm>
          <a:prstGeom prst="rect">
            <a:avLst/>
          </a:prstGeom>
          <a:noFill/>
        </p:spPr>
        <p:txBody>
          <a:bodyPr wrap="square" lIns="0" rIns="0" tIns="0" bIns="0">
            <a:spAutoFit/>
          </a:bodyPr>
          <a:lstStyle/>
          <a:p>
            <a:pPr algn="r"/>
            <a:r>
              <a:rPr sz="950" b="0" i="0">
                <a:solidFill>
                  <a:srgbClr val="6F7787"/>
                </a:solidFill>
                <a:latin typeface="Consolas"/>
              </a:rPr>
              <a:t>TAMAÑOS WARD</a:t>
            </a:r>
          </a:p>
        </p:txBody>
      </p:sp>
      <p:sp>
        <p:nvSpPr>
          <p:cNvPr id="10" name="TextBox 9"/>
          <p:cNvSpPr txBox="1"/>
          <p:nvPr/>
        </p:nvSpPr>
        <p:spPr>
          <a:xfrm>
            <a:off x="9692640" y="1783080"/>
            <a:ext cx="1810512" cy="274320"/>
          </a:xfrm>
          <a:prstGeom prst="rect">
            <a:avLst/>
          </a:prstGeom>
          <a:noFill/>
        </p:spPr>
        <p:txBody>
          <a:bodyPr wrap="square" lIns="0" rIns="0" tIns="0" bIns="0">
            <a:spAutoFit/>
          </a:bodyPr>
          <a:lstStyle/>
          <a:p>
            <a:pPr algn="r"/>
            <a:r>
              <a:rPr sz="950" b="0" i="0">
                <a:solidFill>
                  <a:srgbClr val="6F7787"/>
                </a:solidFill>
                <a:latin typeface="Consolas"/>
              </a:rPr>
              <a:t>ARI vs K-MEANS (FORMA)</a:t>
            </a:r>
          </a:p>
        </p:txBody>
      </p:sp>
      <p:sp>
        <p:nvSpPr>
          <p:cNvPr id="11" name="Rectangle 10"/>
          <p:cNvSpPr/>
          <p:nvPr/>
        </p:nvSpPr>
        <p:spPr>
          <a:xfrm>
            <a:off x="685800" y="2112264"/>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148840"/>
            <a:ext cx="10817352" cy="42062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48840"/>
            <a:ext cx="1280160" cy="420624"/>
          </a:xfrm>
          <a:prstGeom prst="rect">
            <a:avLst/>
          </a:prstGeom>
          <a:noFill/>
        </p:spPr>
        <p:txBody>
          <a:bodyPr wrap="square" lIns="0" rIns="0" tIns="0" bIns="0" anchor="ctr">
            <a:spAutoFit/>
          </a:bodyPr>
          <a:lstStyle/>
          <a:p>
            <a:pPr algn="l"/>
            <a:r>
              <a:rPr sz="1250" b="1" i="0">
                <a:solidFill>
                  <a:srgbClr val="E6E9EF"/>
                </a:solidFill>
                <a:latin typeface="Segoe UI"/>
              </a:rPr>
              <a:t>2</a:t>
            </a:r>
          </a:p>
        </p:txBody>
      </p:sp>
      <p:sp>
        <p:nvSpPr>
          <p:cNvPr id="14" name="TextBox 13"/>
          <p:cNvSpPr txBox="1"/>
          <p:nvPr/>
        </p:nvSpPr>
        <p:spPr>
          <a:xfrm>
            <a:off x="2377440" y="2148840"/>
            <a:ext cx="2606040" cy="420624"/>
          </a:xfrm>
          <a:prstGeom prst="rect">
            <a:avLst/>
          </a:prstGeom>
          <a:noFill/>
        </p:spPr>
        <p:txBody>
          <a:bodyPr wrap="square" lIns="0" rIns="0" tIns="0" bIns="0" anchor="ctr">
            <a:spAutoFit/>
          </a:bodyPr>
          <a:lstStyle/>
          <a:p>
            <a:pPr algn="r"/>
            <a:r>
              <a:rPr sz="1250" b="1" i="0">
                <a:solidFill>
                  <a:srgbClr val="E6E9EF"/>
                </a:solidFill>
                <a:latin typeface="Consolas"/>
              </a:rPr>
              <a:t>0,736</a:t>
            </a:r>
          </a:p>
        </p:txBody>
      </p:sp>
      <p:sp>
        <p:nvSpPr>
          <p:cNvPr id="15" name="TextBox 14"/>
          <p:cNvSpPr txBox="1"/>
          <p:nvPr/>
        </p:nvSpPr>
        <p:spPr>
          <a:xfrm>
            <a:off x="5257800" y="2148840"/>
            <a:ext cx="2057400" cy="420624"/>
          </a:xfrm>
          <a:prstGeom prst="rect">
            <a:avLst/>
          </a:prstGeom>
          <a:noFill/>
        </p:spPr>
        <p:txBody>
          <a:bodyPr wrap="square" lIns="0" rIns="0" tIns="0" bIns="0" anchor="ctr">
            <a:spAutoFit/>
          </a:bodyPr>
          <a:lstStyle/>
          <a:p>
            <a:pPr algn="r"/>
            <a:r>
              <a:rPr sz="1250" b="1" i="0">
                <a:solidFill>
                  <a:srgbClr val="E6E9EF"/>
                </a:solidFill>
                <a:latin typeface="Consolas"/>
              </a:rPr>
              <a:t>0,400</a:t>
            </a:r>
          </a:p>
        </p:txBody>
      </p:sp>
      <p:sp>
        <p:nvSpPr>
          <p:cNvPr id="16" name="TextBox 15"/>
          <p:cNvSpPr txBox="1"/>
          <p:nvPr/>
        </p:nvSpPr>
        <p:spPr>
          <a:xfrm>
            <a:off x="7589520" y="2148840"/>
            <a:ext cx="1828800" cy="420624"/>
          </a:xfrm>
          <a:prstGeom prst="rect">
            <a:avLst/>
          </a:prstGeom>
          <a:noFill/>
        </p:spPr>
        <p:txBody>
          <a:bodyPr wrap="square" lIns="0" rIns="0" tIns="0" bIns="0" anchor="ctr">
            <a:spAutoFit/>
          </a:bodyPr>
          <a:lstStyle/>
          <a:p>
            <a:pPr algn="r"/>
            <a:r>
              <a:rPr sz="1250" b="1" i="0">
                <a:solidFill>
                  <a:srgbClr val="E6E9EF"/>
                </a:solidFill>
                <a:latin typeface="Consolas"/>
              </a:rPr>
              <a:t>114 / 22</a:t>
            </a:r>
          </a:p>
        </p:txBody>
      </p:sp>
      <p:sp>
        <p:nvSpPr>
          <p:cNvPr id="17" name="TextBox 16"/>
          <p:cNvSpPr txBox="1"/>
          <p:nvPr/>
        </p:nvSpPr>
        <p:spPr>
          <a:xfrm>
            <a:off x="9692640" y="2148840"/>
            <a:ext cx="1810512" cy="420624"/>
          </a:xfrm>
          <a:prstGeom prst="rect">
            <a:avLst/>
          </a:prstGeom>
          <a:noFill/>
        </p:spPr>
        <p:txBody>
          <a:bodyPr wrap="square" lIns="0" rIns="0" tIns="0" bIns="0" anchor="ctr">
            <a:spAutoFit/>
          </a:bodyPr>
          <a:lstStyle/>
          <a:p>
            <a:pPr algn="r"/>
            <a:r>
              <a:rPr sz="1250" b="1" i="0">
                <a:solidFill>
                  <a:srgbClr val="E6E9EF"/>
                </a:solidFill>
                <a:latin typeface="Consolas"/>
              </a:rPr>
              <a:t>0,188</a:t>
            </a:r>
          </a:p>
        </p:txBody>
      </p:sp>
      <p:sp>
        <p:nvSpPr>
          <p:cNvPr id="18" name="TextBox 17"/>
          <p:cNvSpPr txBox="1"/>
          <p:nvPr/>
        </p:nvSpPr>
        <p:spPr>
          <a:xfrm>
            <a:off x="777240" y="2606040"/>
            <a:ext cx="1280160" cy="420624"/>
          </a:xfrm>
          <a:prstGeom prst="rect">
            <a:avLst/>
          </a:prstGeom>
          <a:noFill/>
        </p:spPr>
        <p:txBody>
          <a:bodyPr wrap="square" lIns="0" rIns="0" tIns="0" bIns="0" anchor="ctr">
            <a:spAutoFit/>
          </a:bodyPr>
          <a:lstStyle/>
          <a:p>
            <a:pPr algn="l"/>
            <a:r>
              <a:rPr sz="1250" b="0" i="0">
                <a:solidFill>
                  <a:srgbClr val="C9D1DE"/>
                </a:solidFill>
                <a:latin typeface="Segoe UI"/>
              </a:rPr>
              <a:t>3</a:t>
            </a:r>
          </a:p>
        </p:txBody>
      </p:sp>
      <p:sp>
        <p:nvSpPr>
          <p:cNvPr id="19" name="TextBox 18"/>
          <p:cNvSpPr txBox="1"/>
          <p:nvPr/>
        </p:nvSpPr>
        <p:spPr>
          <a:xfrm>
            <a:off x="2377440" y="2606040"/>
            <a:ext cx="2606040" cy="420624"/>
          </a:xfrm>
          <a:prstGeom prst="rect">
            <a:avLst/>
          </a:prstGeom>
          <a:noFill/>
        </p:spPr>
        <p:txBody>
          <a:bodyPr wrap="square" lIns="0" rIns="0" tIns="0" bIns="0" anchor="ctr">
            <a:spAutoFit/>
          </a:bodyPr>
          <a:lstStyle/>
          <a:p>
            <a:pPr algn="r"/>
            <a:r>
              <a:rPr sz="1250" b="0" i="0">
                <a:solidFill>
                  <a:srgbClr val="C9D1DE"/>
                </a:solidFill>
                <a:latin typeface="Consolas"/>
              </a:rPr>
              <a:t>0,796</a:t>
            </a:r>
          </a:p>
        </p:txBody>
      </p:sp>
      <p:sp>
        <p:nvSpPr>
          <p:cNvPr id="20" name="TextBox 19"/>
          <p:cNvSpPr txBox="1"/>
          <p:nvPr/>
        </p:nvSpPr>
        <p:spPr>
          <a:xfrm>
            <a:off x="5257800" y="2606040"/>
            <a:ext cx="2057400" cy="420624"/>
          </a:xfrm>
          <a:prstGeom prst="rect">
            <a:avLst/>
          </a:prstGeom>
          <a:noFill/>
        </p:spPr>
        <p:txBody>
          <a:bodyPr wrap="square" lIns="0" rIns="0" tIns="0" bIns="0" anchor="ctr">
            <a:spAutoFit/>
          </a:bodyPr>
          <a:lstStyle/>
          <a:p>
            <a:pPr algn="r"/>
            <a:r>
              <a:rPr sz="1250" b="0" i="0">
                <a:solidFill>
                  <a:srgbClr val="C9D1DE"/>
                </a:solidFill>
                <a:latin typeface="Consolas"/>
              </a:rPr>
              <a:t>0,200</a:t>
            </a:r>
          </a:p>
        </p:txBody>
      </p:sp>
      <p:sp>
        <p:nvSpPr>
          <p:cNvPr id="21" name="TextBox 20"/>
          <p:cNvSpPr txBox="1"/>
          <p:nvPr/>
        </p:nvSpPr>
        <p:spPr>
          <a:xfrm>
            <a:off x="7589520" y="2606040"/>
            <a:ext cx="1828800" cy="420624"/>
          </a:xfrm>
          <a:prstGeom prst="rect">
            <a:avLst/>
          </a:prstGeom>
          <a:noFill/>
        </p:spPr>
        <p:txBody>
          <a:bodyPr wrap="square" lIns="0" rIns="0" tIns="0" bIns="0" anchor="ctr">
            <a:spAutoFit/>
          </a:bodyPr>
          <a:lstStyle/>
          <a:p>
            <a:pPr algn="r"/>
            <a:r>
              <a:rPr sz="1250" b="0" i="0">
                <a:solidFill>
                  <a:srgbClr val="C9D1DE"/>
                </a:solidFill>
                <a:latin typeface="Consolas"/>
              </a:rPr>
              <a:t>86 / 28 / 22</a:t>
            </a:r>
          </a:p>
        </p:txBody>
      </p:sp>
      <p:sp>
        <p:nvSpPr>
          <p:cNvPr id="22" name="TextBox 21"/>
          <p:cNvSpPr txBox="1"/>
          <p:nvPr/>
        </p:nvSpPr>
        <p:spPr>
          <a:xfrm>
            <a:off x="9692640" y="2606040"/>
            <a:ext cx="1810512" cy="420624"/>
          </a:xfrm>
          <a:prstGeom prst="rect">
            <a:avLst/>
          </a:prstGeom>
          <a:noFill/>
        </p:spPr>
        <p:txBody>
          <a:bodyPr wrap="square" lIns="0" rIns="0" tIns="0" bIns="0" anchor="ctr">
            <a:spAutoFit/>
          </a:bodyPr>
          <a:lstStyle/>
          <a:p>
            <a:pPr algn="r"/>
            <a:r>
              <a:rPr sz="1250" b="0" i="0">
                <a:solidFill>
                  <a:srgbClr val="C9D1DE"/>
                </a:solidFill>
                <a:latin typeface="Consolas"/>
              </a:rPr>
              <a:t>0,221</a:t>
            </a:r>
          </a:p>
        </p:txBody>
      </p:sp>
      <p:sp>
        <p:nvSpPr>
          <p:cNvPr id="23" name="TextBox 22"/>
          <p:cNvSpPr txBox="1"/>
          <p:nvPr/>
        </p:nvSpPr>
        <p:spPr>
          <a:xfrm>
            <a:off x="777240" y="3063240"/>
            <a:ext cx="1280160" cy="420624"/>
          </a:xfrm>
          <a:prstGeom prst="rect">
            <a:avLst/>
          </a:prstGeom>
          <a:noFill/>
        </p:spPr>
        <p:txBody>
          <a:bodyPr wrap="square" lIns="0" rIns="0" tIns="0" bIns="0" anchor="ctr">
            <a:spAutoFit/>
          </a:bodyPr>
          <a:lstStyle/>
          <a:p>
            <a:pPr algn="l"/>
            <a:r>
              <a:rPr sz="1250" b="0" i="0">
                <a:solidFill>
                  <a:srgbClr val="C9D1DE"/>
                </a:solidFill>
                <a:latin typeface="Segoe UI"/>
              </a:rPr>
              <a:t>4</a:t>
            </a:r>
          </a:p>
        </p:txBody>
      </p:sp>
      <p:sp>
        <p:nvSpPr>
          <p:cNvPr id="24" name="TextBox 23"/>
          <p:cNvSpPr txBox="1"/>
          <p:nvPr/>
        </p:nvSpPr>
        <p:spPr>
          <a:xfrm>
            <a:off x="2377440" y="3063240"/>
            <a:ext cx="2606040" cy="420624"/>
          </a:xfrm>
          <a:prstGeom prst="rect">
            <a:avLst/>
          </a:prstGeom>
          <a:noFill/>
        </p:spPr>
        <p:txBody>
          <a:bodyPr wrap="square" lIns="0" rIns="0" tIns="0" bIns="0" anchor="ctr">
            <a:spAutoFit/>
          </a:bodyPr>
          <a:lstStyle/>
          <a:p>
            <a:pPr algn="r"/>
            <a:r>
              <a:rPr sz="1250" b="0" i="0">
                <a:solidFill>
                  <a:srgbClr val="C9D1DE"/>
                </a:solidFill>
                <a:latin typeface="Consolas"/>
              </a:rPr>
              <a:t>0,543</a:t>
            </a:r>
          </a:p>
        </p:txBody>
      </p:sp>
      <p:sp>
        <p:nvSpPr>
          <p:cNvPr id="25" name="TextBox 24"/>
          <p:cNvSpPr txBox="1"/>
          <p:nvPr/>
        </p:nvSpPr>
        <p:spPr>
          <a:xfrm>
            <a:off x="5257800" y="3063240"/>
            <a:ext cx="2057400" cy="420624"/>
          </a:xfrm>
          <a:prstGeom prst="rect">
            <a:avLst/>
          </a:prstGeom>
          <a:noFill/>
        </p:spPr>
        <p:txBody>
          <a:bodyPr wrap="square" lIns="0" rIns="0" tIns="0" bIns="0" anchor="ctr">
            <a:spAutoFit/>
          </a:bodyPr>
          <a:lstStyle/>
          <a:p>
            <a:pPr algn="r"/>
            <a:r>
              <a:rPr sz="1250" b="0" i="0">
                <a:solidFill>
                  <a:srgbClr val="C9D1DE"/>
                </a:solidFill>
                <a:latin typeface="Consolas"/>
              </a:rPr>
              <a:t>0,141</a:t>
            </a:r>
          </a:p>
        </p:txBody>
      </p:sp>
      <p:sp>
        <p:nvSpPr>
          <p:cNvPr id="26" name="TextBox 25"/>
          <p:cNvSpPr txBox="1"/>
          <p:nvPr/>
        </p:nvSpPr>
        <p:spPr>
          <a:xfrm>
            <a:off x="7589520" y="3063240"/>
            <a:ext cx="1828800" cy="420624"/>
          </a:xfrm>
          <a:prstGeom prst="rect">
            <a:avLst/>
          </a:prstGeom>
          <a:noFill/>
        </p:spPr>
        <p:txBody>
          <a:bodyPr wrap="square" lIns="0" rIns="0" tIns="0" bIns="0" anchor="ctr">
            <a:spAutoFit/>
          </a:bodyPr>
          <a:lstStyle/>
          <a:p>
            <a:pPr algn="r"/>
            <a:r>
              <a:rPr sz="1250" b="0" i="0">
                <a:solidFill>
                  <a:srgbClr val="C9D1DE"/>
                </a:solidFill>
                <a:latin typeface="Consolas"/>
              </a:rPr>
              <a:t>61 / 28 / 25 / 22</a:t>
            </a:r>
          </a:p>
        </p:txBody>
      </p:sp>
      <p:sp>
        <p:nvSpPr>
          <p:cNvPr id="27" name="TextBox 26"/>
          <p:cNvSpPr txBox="1"/>
          <p:nvPr/>
        </p:nvSpPr>
        <p:spPr>
          <a:xfrm>
            <a:off x="9692640" y="3063240"/>
            <a:ext cx="1810512" cy="420624"/>
          </a:xfrm>
          <a:prstGeom prst="rect">
            <a:avLst/>
          </a:prstGeom>
          <a:noFill/>
        </p:spPr>
        <p:txBody>
          <a:bodyPr wrap="square" lIns="0" rIns="0" tIns="0" bIns="0" anchor="ctr">
            <a:spAutoFit/>
          </a:bodyPr>
          <a:lstStyle/>
          <a:p>
            <a:pPr algn="r"/>
            <a:r>
              <a:rPr sz="1250" b="0" i="0">
                <a:solidFill>
                  <a:srgbClr val="C9D1DE"/>
                </a:solidFill>
                <a:latin typeface="Consolas"/>
              </a:rPr>
              <a:t>0,372</a:t>
            </a:r>
          </a:p>
        </p:txBody>
      </p:sp>
      <p:sp>
        <p:nvSpPr>
          <p:cNvPr id="28" name="Rectangle 27"/>
          <p:cNvSpPr/>
          <p:nvPr/>
        </p:nvSpPr>
        <p:spPr>
          <a:xfrm>
            <a:off x="685800" y="3703320"/>
            <a:ext cx="10817352" cy="13716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3703320"/>
            <a:ext cx="54864" cy="13716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3867911"/>
            <a:ext cx="10360152" cy="1097280"/>
          </a:xfrm>
          <a:prstGeom prst="rect">
            <a:avLst/>
          </a:prstGeom>
          <a:noFill/>
        </p:spPr>
        <p:txBody>
          <a:bodyPr wrap="square" lIns="0" rIns="0" tIns="0" bIns="0">
            <a:spAutoFit/>
          </a:bodyPr>
          <a:lstStyle/>
          <a:p>
            <a:pPr algn="l">
              <a:lnSpc>
                <a:spcPct val="110000"/>
              </a:lnSpc>
            </a:pPr>
            <a:r>
              <a:rPr sz="1300" b="1" i="0">
                <a:solidFill>
                  <a:srgbClr val="E6E9EF"/>
                </a:solidFill>
                <a:latin typeface="Segoe UI"/>
              </a:rPr>
              <a:t>El acuerdo en k = 2 no es casualidad de un solo corte.</a:t>
            </a:r>
            <a:r>
              <a:rPr sz="1300" b="0" i="0">
                <a:solidFill>
                  <a:srgbClr val="C9D1DE"/>
                </a:solidFill>
                <a:latin typeface="Segoe UI"/>
              </a:rPr>
              <a:t> Con k = 3 el ARI incluso sube a 0,796, pero la silueta de Ward cae a 0,200: la partición pierde calidad interna aunque el cruce con K-Means mejore. Con k = 4 el acuerdo se derrumba (ARI 0,543) — dos algoritmos con supuestos distintos dejan de coincidir en cuanto se les pide más grupos de los que la casa realmente tiene. Es la contraparte necesaria del hallazgo de la diapositiva anterior: la auditoría independiente solo vale en el k donde ambas técnicas siguen de acuerdo.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§7 · CÓMO SE MIDIÓ</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observabilidad(): la pregunta que el enunciado no hace</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2 · K-Means</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18</a:t>
            </a:r>
          </a:p>
        </p:txBody>
      </p:sp>
      <p:sp>
        <p:nvSpPr>
          <p:cNvPr id="6" name="Rectangle 5"/>
          <p:cNvSpPr/>
          <p:nvPr/>
        </p:nvSpPr>
        <p:spPr>
          <a:xfrm>
            <a:off x="2227728" y="1581912"/>
            <a:ext cx="7733494" cy="3831336"/>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de_obs.png"/>
          <p:cNvPicPr>
            <a:picLocks noChangeAspect="1"/>
          </p:cNvPicPr>
          <p:nvPr/>
        </p:nvPicPr>
        <p:blipFill>
          <a:blip r:embed="rId2"/>
          <a:stretch>
            <a:fillRect/>
          </a:stretch>
        </p:blipFill>
        <p:spPr>
          <a:xfrm>
            <a:off x="2246016" y="1600200"/>
            <a:ext cx="7696918" cy="3794760"/>
          </a:xfrm>
          <a:prstGeom prst="rect">
            <a:avLst/>
          </a:prstGeom>
        </p:spPr>
      </p:pic>
      <p:sp>
        <p:nvSpPr>
          <p:cNvPr id="8" name="Rectangle 7"/>
          <p:cNvSpPr/>
          <p:nvPr/>
        </p:nvSpPr>
        <p:spPr>
          <a:xfrm>
            <a:off x="685800" y="5532120"/>
            <a:ext cx="10817352"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532120"/>
            <a:ext cx="54864" cy="86868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696712"/>
            <a:ext cx="10360152" cy="594359"/>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No estaba en el enunciado.</a:t>
            </a:r>
            <a:r>
              <a:rPr sz="1250" b="0" i="0">
                <a:solidFill>
                  <a:srgbClr val="C9D1DE"/>
                </a:solidFill>
                <a:latin typeface="Segoe UI"/>
              </a:rPr>
              <a:t> El taller pide caracterizar el clúster; esta función pregunta algo distinto: a qué hora, viendo solo el consumo ya transcurrido del día, el centroide más cercano ya coincide con la etiqueta final. Es la pregunta que conecta el taller con el diseño real del estado del MDP de Shiro.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§7 · LA CURVA COMPLETA, k = 2 FRENTE A k = 3</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A las 9 h se supera la línea base; con k = 3, cuesta más</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2 · K-Means</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19</a:t>
            </a:r>
          </a:p>
        </p:txBody>
      </p:sp>
      <p:sp>
        <p:nvSpPr>
          <p:cNvPr id="6" name="TextBox 5"/>
          <p:cNvSpPr txBox="1"/>
          <p:nvPr/>
        </p:nvSpPr>
        <p:spPr>
          <a:xfrm>
            <a:off x="685800" y="1737360"/>
            <a:ext cx="2194560" cy="274320"/>
          </a:xfrm>
          <a:prstGeom prst="rect">
            <a:avLst/>
          </a:prstGeom>
          <a:noFill/>
        </p:spPr>
        <p:txBody>
          <a:bodyPr wrap="square" lIns="0" rIns="0" tIns="0" bIns="0">
            <a:spAutoFit/>
          </a:bodyPr>
          <a:lstStyle/>
          <a:p>
            <a:pPr algn="l"/>
            <a:r>
              <a:rPr sz="950" b="0" i="0">
                <a:solidFill>
                  <a:srgbClr val="6F7787"/>
                </a:solidFill>
                <a:latin typeface="Consolas"/>
              </a:rPr>
              <a:t>HORA OBSERVADA</a:t>
            </a:r>
          </a:p>
        </p:txBody>
      </p:sp>
      <p:sp>
        <p:nvSpPr>
          <p:cNvPr id="7" name="TextBox 6"/>
          <p:cNvSpPr txBox="1"/>
          <p:nvPr/>
        </p:nvSpPr>
        <p:spPr>
          <a:xfrm>
            <a:off x="3017520" y="1737360"/>
            <a:ext cx="2011680" cy="274320"/>
          </a:xfrm>
          <a:prstGeom prst="rect">
            <a:avLst/>
          </a:prstGeom>
          <a:noFill/>
        </p:spPr>
        <p:txBody>
          <a:bodyPr wrap="square" lIns="0" rIns="0" tIns="0" bIns="0">
            <a:spAutoFit/>
          </a:bodyPr>
          <a:lstStyle/>
          <a:p>
            <a:pPr algn="r"/>
            <a:r>
              <a:rPr sz="950" b="0" i="0">
                <a:solidFill>
                  <a:srgbClr val="6F7787"/>
                </a:solidFill>
                <a:latin typeface="Consolas"/>
              </a:rPr>
              <a:t>ACIERTO k=2</a:t>
            </a:r>
          </a:p>
        </p:txBody>
      </p:sp>
      <p:sp>
        <p:nvSpPr>
          <p:cNvPr id="8" name="TextBox 7"/>
          <p:cNvSpPr txBox="1"/>
          <p:nvPr/>
        </p:nvSpPr>
        <p:spPr>
          <a:xfrm>
            <a:off x="5212080" y="1737360"/>
            <a:ext cx="2468880" cy="274320"/>
          </a:xfrm>
          <a:prstGeom prst="rect">
            <a:avLst/>
          </a:prstGeom>
          <a:noFill/>
        </p:spPr>
        <p:txBody>
          <a:bodyPr wrap="square" lIns="0" rIns="0" tIns="0" bIns="0">
            <a:spAutoFit/>
          </a:bodyPr>
          <a:lstStyle/>
          <a:p>
            <a:pPr algn="r"/>
            <a:r>
              <a:rPr sz="950" b="0" i="0">
                <a:solidFill>
                  <a:srgbClr val="6F7787"/>
                </a:solidFill>
                <a:latin typeface="Consolas"/>
              </a:rPr>
              <a:t>CARGA ALTA RECON. k=2</a:t>
            </a:r>
          </a:p>
        </p:txBody>
      </p:sp>
      <p:sp>
        <p:nvSpPr>
          <p:cNvPr id="9" name="TextBox 8"/>
          <p:cNvSpPr txBox="1"/>
          <p:nvPr/>
        </p:nvSpPr>
        <p:spPr>
          <a:xfrm>
            <a:off x="7863840" y="1737360"/>
            <a:ext cx="1920240" cy="274320"/>
          </a:xfrm>
          <a:prstGeom prst="rect">
            <a:avLst/>
          </a:prstGeom>
          <a:noFill/>
        </p:spPr>
        <p:txBody>
          <a:bodyPr wrap="square" lIns="0" rIns="0" tIns="0" bIns="0">
            <a:spAutoFit/>
          </a:bodyPr>
          <a:lstStyle/>
          <a:p>
            <a:pPr algn="r"/>
            <a:r>
              <a:rPr sz="950" b="0" i="0">
                <a:solidFill>
                  <a:srgbClr val="6F7787"/>
                </a:solidFill>
                <a:latin typeface="Consolas"/>
              </a:rPr>
              <a:t>ACIERTO k=3</a:t>
            </a:r>
          </a:p>
        </p:txBody>
      </p:sp>
      <p:sp>
        <p:nvSpPr>
          <p:cNvPr id="10" name="TextBox 9"/>
          <p:cNvSpPr txBox="1"/>
          <p:nvPr/>
        </p:nvSpPr>
        <p:spPr>
          <a:xfrm>
            <a:off x="9966960" y="1737360"/>
            <a:ext cx="1536192" cy="274320"/>
          </a:xfrm>
          <a:prstGeom prst="rect">
            <a:avLst/>
          </a:prstGeom>
          <a:noFill/>
        </p:spPr>
        <p:txBody>
          <a:bodyPr wrap="square" lIns="0" rIns="0" tIns="0" bIns="0">
            <a:spAutoFit/>
          </a:bodyPr>
          <a:lstStyle/>
          <a:p>
            <a:pPr algn="r"/>
            <a:r>
              <a:rPr sz="950" b="0" i="0">
                <a:solidFill>
                  <a:srgbClr val="6F7787"/>
                </a:solidFill>
                <a:latin typeface="Consolas"/>
              </a:rPr>
              <a:t>CARGA ALTA RECON. k=3</a:t>
            </a:r>
          </a:p>
        </p:txBody>
      </p:sp>
      <p:sp>
        <p:nvSpPr>
          <p:cNvPr id="11" name="Rectangle 10"/>
          <p:cNvSpPr/>
          <p:nvPr/>
        </p:nvSpPr>
        <p:spPr>
          <a:xfrm>
            <a:off x="685800" y="2066543"/>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03120"/>
            <a:ext cx="2103120" cy="384048"/>
          </a:xfrm>
          <a:prstGeom prst="rect">
            <a:avLst/>
          </a:prstGeom>
          <a:noFill/>
        </p:spPr>
        <p:txBody>
          <a:bodyPr wrap="square" lIns="0" rIns="0" tIns="0" bIns="0" anchor="ctr">
            <a:spAutoFit/>
          </a:bodyPr>
          <a:lstStyle/>
          <a:p>
            <a:pPr algn="l"/>
            <a:r>
              <a:rPr sz="1250" b="0" i="0">
                <a:solidFill>
                  <a:srgbClr val="C9D1DE"/>
                </a:solidFill>
                <a:latin typeface="Segoe UI"/>
              </a:rPr>
              <a:t>0 h</a:t>
            </a:r>
          </a:p>
        </p:txBody>
      </p:sp>
      <p:sp>
        <p:nvSpPr>
          <p:cNvPr id="13" name="TextBox 12"/>
          <p:cNvSpPr txBox="1"/>
          <p:nvPr/>
        </p:nvSpPr>
        <p:spPr>
          <a:xfrm>
            <a:off x="3017520" y="2103120"/>
            <a:ext cx="2011680" cy="384048"/>
          </a:xfrm>
          <a:prstGeom prst="rect">
            <a:avLst/>
          </a:prstGeom>
          <a:noFill/>
        </p:spPr>
        <p:txBody>
          <a:bodyPr wrap="square" lIns="0" rIns="0" tIns="0" bIns="0" anchor="ctr">
            <a:spAutoFit/>
          </a:bodyPr>
          <a:lstStyle/>
          <a:p>
            <a:pPr algn="r"/>
            <a:r>
              <a:rPr sz="1250" b="0" i="0">
                <a:solidFill>
                  <a:srgbClr val="C9D1DE"/>
                </a:solidFill>
                <a:latin typeface="Consolas"/>
              </a:rPr>
              <a:t>43,4 %</a:t>
            </a:r>
          </a:p>
        </p:txBody>
      </p:sp>
      <p:sp>
        <p:nvSpPr>
          <p:cNvPr id="14" name="TextBox 13"/>
          <p:cNvSpPr txBox="1"/>
          <p:nvPr/>
        </p:nvSpPr>
        <p:spPr>
          <a:xfrm>
            <a:off x="5212080" y="2103120"/>
            <a:ext cx="2468880" cy="384048"/>
          </a:xfrm>
          <a:prstGeom prst="rect">
            <a:avLst/>
          </a:prstGeom>
          <a:noFill/>
        </p:spPr>
        <p:txBody>
          <a:bodyPr wrap="square" lIns="0" rIns="0" tIns="0" bIns="0" anchor="ctr">
            <a:spAutoFit/>
          </a:bodyPr>
          <a:lstStyle/>
          <a:p>
            <a:pPr algn="r"/>
            <a:r>
              <a:rPr sz="1250" b="0" i="0">
                <a:solidFill>
                  <a:srgbClr val="C9D1DE"/>
                </a:solidFill>
                <a:latin typeface="Consolas"/>
              </a:rPr>
              <a:t>46,4 %</a:t>
            </a:r>
          </a:p>
        </p:txBody>
      </p:sp>
      <p:sp>
        <p:nvSpPr>
          <p:cNvPr id="15" name="TextBox 14"/>
          <p:cNvSpPr txBox="1"/>
          <p:nvPr/>
        </p:nvSpPr>
        <p:spPr>
          <a:xfrm>
            <a:off x="7863840" y="2103120"/>
            <a:ext cx="1920240" cy="384048"/>
          </a:xfrm>
          <a:prstGeom prst="rect">
            <a:avLst/>
          </a:prstGeom>
          <a:noFill/>
        </p:spPr>
        <p:txBody>
          <a:bodyPr wrap="square" lIns="0" rIns="0" tIns="0" bIns="0" anchor="ctr">
            <a:spAutoFit/>
          </a:bodyPr>
          <a:lstStyle/>
          <a:p>
            <a:pPr algn="r"/>
            <a:r>
              <a:rPr sz="1250" b="0" i="0">
                <a:solidFill>
                  <a:srgbClr val="C9D1DE"/>
                </a:solidFill>
                <a:latin typeface="Consolas"/>
              </a:rPr>
              <a:t>36,0 %</a:t>
            </a:r>
          </a:p>
        </p:txBody>
      </p:sp>
      <p:sp>
        <p:nvSpPr>
          <p:cNvPr id="16" name="TextBox 15"/>
          <p:cNvSpPr txBox="1"/>
          <p:nvPr/>
        </p:nvSpPr>
        <p:spPr>
          <a:xfrm>
            <a:off x="9966960" y="2103120"/>
            <a:ext cx="1536192" cy="384048"/>
          </a:xfrm>
          <a:prstGeom prst="rect">
            <a:avLst/>
          </a:prstGeom>
          <a:noFill/>
        </p:spPr>
        <p:txBody>
          <a:bodyPr wrap="square" lIns="0" rIns="0" tIns="0" bIns="0" anchor="ctr">
            <a:spAutoFit/>
          </a:bodyPr>
          <a:lstStyle/>
          <a:p>
            <a:pPr algn="r"/>
            <a:r>
              <a:rPr sz="1250" b="0" i="0">
                <a:solidFill>
                  <a:srgbClr val="C9D1DE"/>
                </a:solidFill>
                <a:latin typeface="Consolas"/>
              </a:rPr>
              <a:t>5,0 %</a:t>
            </a:r>
          </a:p>
        </p:txBody>
      </p:sp>
      <p:sp>
        <p:nvSpPr>
          <p:cNvPr id="17" name="TextBox 16"/>
          <p:cNvSpPr txBox="1"/>
          <p:nvPr/>
        </p:nvSpPr>
        <p:spPr>
          <a:xfrm>
            <a:off x="777240" y="2523744"/>
            <a:ext cx="2103120" cy="384048"/>
          </a:xfrm>
          <a:prstGeom prst="rect">
            <a:avLst/>
          </a:prstGeom>
          <a:noFill/>
        </p:spPr>
        <p:txBody>
          <a:bodyPr wrap="square" lIns="0" rIns="0" tIns="0" bIns="0" anchor="ctr">
            <a:spAutoFit/>
          </a:bodyPr>
          <a:lstStyle/>
          <a:p>
            <a:pPr algn="l"/>
            <a:r>
              <a:rPr sz="1250" b="0" i="0">
                <a:solidFill>
                  <a:srgbClr val="C9D1DE"/>
                </a:solidFill>
                <a:latin typeface="Segoe UI"/>
              </a:rPr>
              <a:t>8 h</a:t>
            </a:r>
          </a:p>
        </p:txBody>
      </p:sp>
      <p:sp>
        <p:nvSpPr>
          <p:cNvPr id="18" name="TextBox 17"/>
          <p:cNvSpPr txBox="1"/>
          <p:nvPr/>
        </p:nvSpPr>
        <p:spPr>
          <a:xfrm>
            <a:off x="3017520" y="2523744"/>
            <a:ext cx="2011680" cy="384048"/>
          </a:xfrm>
          <a:prstGeom prst="rect">
            <a:avLst/>
          </a:prstGeom>
          <a:noFill/>
        </p:spPr>
        <p:txBody>
          <a:bodyPr wrap="square" lIns="0" rIns="0" tIns="0" bIns="0" anchor="ctr">
            <a:spAutoFit/>
          </a:bodyPr>
          <a:lstStyle/>
          <a:p>
            <a:pPr algn="r"/>
            <a:r>
              <a:rPr sz="1250" b="0" i="0">
                <a:solidFill>
                  <a:srgbClr val="C9D1DE"/>
                </a:solidFill>
                <a:latin typeface="Consolas"/>
              </a:rPr>
              <a:t>72,1 %</a:t>
            </a:r>
          </a:p>
        </p:txBody>
      </p:sp>
      <p:sp>
        <p:nvSpPr>
          <p:cNvPr id="19" name="TextBox 18"/>
          <p:cNvSpPr txBox="1"/>
          <p:nvPr/>
        </p:nvSpPr>
        <p:spPr>
          <a:xfrm>
            <a:off x="5212080" y="2523744"/>
            <a:ext cx="2468880" cy="384048"/>
          </a:xfrm>
          <a:prstGeom prst="rect">
            <a:avLst/>
          </a:prstGeom>
          <a:noFill/>
        </p:spPr>
        <p:txBody>
          <a:bodyPr wrap="square" lIns="0" rIns="0" tIns="0" bIns="0" anchor="ctr">
            <a:spAutoFit/>
          </a:bodyPr>
          <a:lstStyle/>
          <a:p>
            <a:pPr algn="r"/>
            <a:r>
              <a:rPr sz="1250" b="0" i="0">
                <a:solidFill>
                  <a:srgbClr val="C9D1DE"/>
                </a:solidFill>
                <a:latin typeface="Consolas"/>
              </a:rPr>
              <a:t>50,0 %</a:t>
            </a:r>
          </a:p>
        </p:txBody>
      </p:sp>
      <p:sp>
        <p:nvSpPr>
          <p:cNvPr id="20" name="TextBox 19"/>
          <p:cNvSpPr txBox="1"/>
          <p:nvPr/>
        </p:nvSpPr>
        <p:spPr>
          <a:xfrm>
            <a:off x="7863840" y="2523744"/>
            <a:ext cx="1920240" cy="384048"/>
          </a:xfrm>
          <a:prstGeom prst="rect">
            <a:avLst/>
          </a:prstGeom>
          <a:noFill/>
        </p:spPr>
        <p:txBody>
          <a:bodyPr wrap="square" lIns="0" rIns="0" tIns="0" bIns="0" anchor="ctr">
            <a:spAutoFit/>
          </a:bodyPr>
          <a:lstStyle/>
          <a:p>
            <a:pPr algn="r"/>
            <a:r>
              <a:rPr sz="1250" b="0" i="0">
                <a:solidFill>
                  <a:srgbClr val="C9D1DE"/>
                </a:solidFill>
                <a:latin typeface="Consolas"/>
              </a:rPr>
              <a:t>59,6 %</a:t>
            </a:r>
          </a:p>
        </p:txBody>
      </p:sp>
      <p:sp>
        <p:nvSpPr>
          <p:cNvPr id="21" name="TextBox 20"/>
          <p:cNvSpPr txBox="1"/>
          <p:nvPr/>
        </p:nvSpPr>
        <p:spPr>
          <a:xfrm>
            <a:off x="9966960" y="2523744"/>
            <a:ext cx="1536192" cy="384048"/>
          </a:xfrm>
          <a:prstGeom prst="rect">
            <a:avLst/>
          </a:prstGeom>
          <a:noFill/>
        </p:spPr>
        <p:txBody>
          <a:bodyPr wrap="square" lIns="0" rIns="0" tIns="0" bIns="0" anchor="ctr">
            <a:spAutoFit/>
          </a:bodyPr>
          <a:lstStyle/>
          <a:p>
            <a:pPr algn="r"/>
            <a:r>
              <a:rPr sz="1250" b="0" i="0">
                <a:solidFill>
                  <a:srgbClr val="C9D1DE"/>
                </a:solidFill>
                <a:latin typeface="Consolas"/>
              </a:rPr>
              <a:t>50,0 %</a:t>
            </a:r>
          </a:p>
        </p:txBody>
      </p:sp>
      <p:sp>
        <p:nvSpPr>
          <p:cNvPr id="22" name="Rectangle 21"/>
          <p:cNvSpPr/>
          <p:nvPr/>
        </p:nvSpPr>
        <p:spPr>
          <a:xfrm>
            <a:off x="685800" y="2944368"/>
            <a:ext cx="10817352" cy="384048"/>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2944368"/>
            <a:ext cx="2103120" cy="384048"/>
          </a:xfrm>
          <a:prstGeom prst="rect">
            <a:avLst/>
          </a:prstGeom>
          <a:noFill/>
        </p:spPr>
        <p:txBody>
          <a:bodyPr wrap="square" lIns="0" rIns="0" tIns="0" bIns="0" anchor="ctr">
            <a:spAutoFit/>
          </a:bodyPr>
          <a:lstStyle/>
          <a:p>
            <a:pPr algn="l"/>
            <a:r>
              <a:rPr sz="1250" b="1" i="0">
                <a:solidFill>
                  <a:srgbClr val="E6E9EF"/>
                </a:solidFill>
                <a:latin typeface="Segoe UI"/>
              </a:rPr>
              <a:t>9 h</a:t>
            </a:r>
          </a:p>
        </p:txBody>
      </p:sp>
      <p:sp>
        <p:nvSpPr>
          <p:cNvPr id="24" name="TextBox 23"/>
          <p:cNvSpPr txBox="1"/>
          <p:nvPr/>
        </p:nvSpPr>
        <p:spPr>
          <a:xfrm>
            <a:off x="3017520" y="2944368"/>
            <a:ext cx="2011680" cy="384048"/>
          </a:xfrm>
          <a:prstGeom prst="rect">
            <a:avLst/>
          </a:prstGeom>
          <a:noFill/>
        </p:spPr>
        <p:txBody>
          <a:bodyPr wrap="square" lIns="0" rIns="0" tIns="0" bIns="0" anchor="ctr">
            <a:spAutoFit/>
          </a:bodyPr>
          <a:lstStyle/>
          <a:p>
            <a:pPr algn="r"/>
            <a:r>
              <a:rPr sz="1250" b="1" i="0">
                <a:solidFill>
                  <a:srgbClr val="E6E9EF"/>
                </a:solidFill>
                <a:latin typeface="Consolas"/>
              </a:rPr>
              <a:t>80,9 %</a:t>
            </a:r>
          </a:p>
        </p:txBody>
      </p:sp>
      <p:sp>
        <p:nvSpPr>
          <p:cNvPr id="25" name="TextBox 24"/>
          <p:cNvSpPr txBox="1"/>
          <p:nvPr/>
        </p:nvSpPr>
        <p:spPr>
          <a:xfrm>
            <a:off x="5212080" y="2944368"/>
            <a:ext cx="2468880" cy="384048"/>
          </a:xfrm>
          <a:prstGeom prst="rect">
            <a:avLst/>
          </a:prstGeom>
          <a:noFill/>
        </p:spPr>
        <p:txBody>
          <a:bodyPr wrap="square" lIns="0" rIns="0" tIns="0" bIns="0" anchor="ctr">
            <a:spAutoFit/>
          </a:bodyPr>
          <a:lstStyle/>
          <a:p>
            <a:pPr algn="r"/>
            <a:r>
              <a:rPr sz="1250" b="1" i="0">
                <a:solidFill>
                  <a:srgbClr val="E6E9EF"/>
                </a:solidFill>
                <a:latin typeface="Consolas"/>
              </a:rPr>
              <a:t>60,7 %</a:t>
            </a:r>
          </a:p>
        </p:txBody>
      </p:sp>
      <p:sp>
        <p:nvSpPr>
          <p:cNvPr id="26" name="TextBox 25"/>
          <p:cNvSpPr txBox="1"/>
          <p:nvPr/>
        </p:nvSpPr>
        <p:spPr>
          <a:xfrm>
            <a:off x="7863840" y="2944368"/>
            <a:ext cx="1920240" cy="384048"/>
          </a:xfrm>
          <a:prstGeom prst="rect">
            <a:avLst/>
          </a:prstGeom>
          <a:noFill/>
        </p:spPr>
        <p:txBody>
          <a:bodyPr wrap="square" lIns="0" rIns="0" tIns="0" bIns="0" anchor="ctr">
            <a:spAutoFit/>
          </a:bodyPr>
          <a:lstStyle/>
          <a:p>
            <a:pPr algn="r"/>
            <a:r>
              <a:rPr sz="1250" b="1" i="0">
                <a:solidFill>
                  <a:srgbClr val="E6E9EF"/>
                </a:solidFill>
                <a:latin typeface="Consolas"/>
              </a:rPr>
              <a:t>70,6 %</a:t>
            </a:r>
          </a:p>
        </p:txBody>
      </p:sp>
      <p:sp>
        <p:nvSpPr>
          <p:cNvPr id="27" name="TextBox 26"/>
          <p:cNvSpPr txBox="1"/>
          <p:nvPr/>
        </p:nvSpPr>
        <p:spPr>
          <a:xfrm>
            <a:off x="9966960" y="2944368"/>
            <a:ext cx="1536192" cy="384048"/>
          </a:xfrm>
          <a:prstGeom prst="rect">
            <a:avLst/>
          </a:prstGeom>
          <a:noFill/>
        </p:spPr>
        <p:txBody>
          <a:bodyPr wrap="square" lIns="0" rIns="0" tIns="0" bIns="0" anchor="ctr">
            <a:spAutoFit/>
          </a:bodyPr>
          <a:lstStyle/>
          <a:p>
            <a:pPr algn="r"/>
            <a:r>
              <a:rPr sz="1250" b="1" i="0">
                <a:solidFill>
                  <a:srgbClr val="E6E9EF"/>
                </a:solidFill>
                <a:latin typeface="Consolas"/>
              </a:rPr>
              <a:t>60,0 %</a:t>
            </a:r>
          </a:p>
        </p:txBody>
      </p:sp>
      <p:sp>
        <p:nvSpPr>
          <p:cNvPr id="28" name="TextBox 27"/>
          <p:cNvSpPr txBox="1"/>
          <p:nvPr/>
        </p:nvSpPr>
        <p:spPr>
          <a:xfrm>
            <a:off x="777240" y="3364991"/>
            <a:ext cx="2103120" cy="384048"/>
          </a:xfrm>
          <a:prstGeom prst="rect">
            <a:avLst/>
          </a:prstGeom>
          <a:noFill/>
        </p:spPr>
        <p:txBody>
          <a:bodyPr wrap="square" lIns="0" rIns="0" tIns="0" bIns="0" anchor="ctr">
            <a:spAutoFit/>
          </a:bodyPr>
          <a:lstStyle/>
          <a:p>
            <a:pPr algn="l"/>
            <a:r>
              <a:rPr sz="1250" b="0" i="0">
                <a:solidFill>
                  <a:srgbClr val="C9D1DE"/>
                </a:solidFill>
                <a:latin typeface="Segoe UI"/>
              </a:rPr>
              <a:t>11 h</a:t>
            </a:r>
          </a:p>
        </p:txBody>
      </p:sp>
      <p:sp>
        <p:nvSpPr>
          <p:cNvPr id="29" name="TextBox 28"/>
          <p:cNvSpPr txBox="1"/>
          <p:nvPr/>
        </p:nvSpPr>
        <p:spPr>
          <a:xfrm>
            <a:off x="3017520" y="3364991"/>
            <a:ext cx="2011680" cy="384048"/>
          </a:xfrm>
          <a:prstGeom prst="rect">
            <a:avLst/>
          </a:prstGeom>
          <a:noFill/>
        </p:spPr>
        <p:txBody>
          <a:bodyPr wrap="square" lIns="0" rIns="0" tIns="0" bIns="0" anchor="ctr">
            <a:spAutoFit/>
          </a:bodyPr>
          <a:lstStyle/>
          <a:p>
            <a:pPr algn="r"/>
            <a:r>
              <a:rPr sz="1250" b="0" i="0">
                <a:solidFill>
                  <a:srgbClr val="C9D1DE"/>
                </a:solidFill>
                <a:latin typeface="Consolas"/>
              </a:rPr>
              <a:t>89,0 %</a:t>
            </a:r>
          </a:p>
        </p:txBody>
      </p:sp>
      <p:sp>
        <p:nvSpPr>
          <p:cNvPr id="30" name="TextBox 29"/>
          <p:cNvSpPr txBox="1"/>
          <p:nvPr/>
        </p:nvSpPr>
        <p:spPr>
          <a:xfrm>
            <a:off x="5212080" y="3364991"/>
            <a:ext cx="2468880" cy="384048"/>
          </a:xfrm>
          <a:prstGeom prst="rect">
            <a:avLst/>
          </a:prstGeom>
          <a:noFill/>
        </p:spPr>
        <p:txBody>
          <a:bodyPr wrap="square" lIns="0" rIns="0" tIns="0" bIns="0" anchor="ctr">
            <a:spAutoFit/>
          </a:bodyPr>
          <a:lstStyle/>
          <a:p>
            <a:pPr algn="r"/>
            <a:r>
              <a:rPr sz="1250" b="0" i="0">
                <a:solidFill>
                  <a:srgbClr val="C9D1DE"/>
                </a:solidFill>
                <a:latin typeface="Consolas"/>
              </a:rPr>
              <a:t>82,1 %</a:t>
            </a:r>
          </a:p>
        </p:txBody>
      </p:sp>
      <p:sp>
        <p:nvSpPr>
          <p:cNvPr id="31" name="TextBox 30"/>
          <p:cNvSpPr txBox="1"/>
          <p:nvPr/>
        </p:nvSpPr>
        <p:spPr>
          <a:xfrm>
            <a:off x="7863840" y="3364991"/>
            <a:ext cx="1920240" cy="384048"/>
          </a:xfrm>
          <a:prstGeom prst="rect">
            <a:avLst/>
          </a:prstGeom>
          <a:noFill/>
        </p:spPr>
        <p:txBody>
          <a:bodyPr wrap="square" lIns="0" rIns="0" tIns="0" bIns="0" anchor="ctr">
            <a:spAutoFit/>
          </a:bodyPr>
          <a:lstStyle/>
          <a:p>
            <a:pPr algn="r"/>
            <a:r>
              <a:rPr sz="1250" b="0" i="0">
                <a:solidFill>
                  <a:srgbClr val="C9D1DE"/>
                </a:solidFill>
                <a:latin typeface="Consolas"/>
              </a:rPr>
              <a:t>83,8 %</a:t>
            </a:r>
          </a:p>
        </p:txBody>
      </p:sp>
      <p:sp>
        <p:nvSpPr>
          <p:cNvPr id="32" name="TextBox 31"/>
          <p:cNvSpPr txBox="1"/>
          <p:nvPr/>
        </p:nvSpPr>
        <p:spPr>
          <a:xfrm>
            <a:off x="9966960" y="3364991"/>
            <a:ext cx="1536192" cy="384048"/>
          </a:xfrm>
          <a:prstGeom prst="rect">
            <a:avLst/>
          </a:prstGeom>
          <a:noFill/>
        </p:spPr>
        <p:txBody>
          <a:bodyPr wrap="square" lIns="0" rIns="0" tIns="0" bIns="0" anchor="ctr">
            <a:spAutoFit/>
          </a:bodyPr>
          <a:lstStyle/>
          <a:p>
            <a:pPr algn="r"/>
            <a:r>
              <a:rPr sz="1250" b="0" i="0">
                <a:solidFill>
                  <a:srgbClr val="C9D1DE"/>
                </a:solidFill>
                <a:latin typeface="Consolas"/>
              </a:rPr>
              <a:t>60,0 %</a:t>
            </a:r>
          </a:p>
        </p:txBody>
      </p:sp>
      <p:sp>
        <p:nvSpPr>
          <p:cNvPr id="33" name="TextBox 32"/>
          <p:cNvSpPr txBox="1"/>
          <p:nvPr/>
        </p:nvSpPr>
        <p:spPr>
          <a:xfrm>
            <a:off x="777240" y="3785615"/>
            <a:ext cx="2103120" cy="384048"/>
          </a:xfrm>
          <a:prstGeom prst="rect">
            <a:avLst/>
          </a:prstGeom>
          <a:noFill/>
        </p:spPr>
        <p:txBody>
          <a:bodyPr wrap="square" lIns="0" rIns="0" tIns="0" bIns="0" anchor="ctr">
            <a:spAutoFit/>
          </a:bodyPr>
          <a:lstStyle/>
          <a:p>
            <a:pPr algn="l"/>
            <a:r>
              <a:rPr sz="1250" b="0" i="0">
                <a:solidFill>
                  <a:srgbClr val="C9D1DE"/>
                </a:solidFill>
                <a:latin typeface="Segoe UI"/>
              </a:rPr>
              <a:t>12 h</a:t>
            </a:r>
          </a:p>
        </p:txBody>
      </p:sp>
      <p:sp>
        <p:nvSpPr>
          <p:cNvPr id="34" name="TextBox 33"/>
          <p:cNvSpPr txBox="1"/>
          <p:nvPr/>
        </p:nvSpPr>
        <p:spPr>
          <a:xfrm>
            <a:off x="3017520" y="3785615"/>
            <a:ext cx="2011680" cy="384048"/>
          </a:xfrm>
          <a:prstGeom prst="rect">
            <a:avLst/>
          </a:prstGeom>
          <a:noFill/>
        </p:spPr>
        <p:txBody>
          <a:bodyPr wrap="square" lIns="0" rIns="0" tIns="0" bIns="0" anchor="ctr">
            <a:spAutoFit/>
          </a:bodyPr>
          <a:lstStyle/>
          <a:p>
            <a:pPr algn="r"/>
            <a:r>
              <a:rPr sz="1250" b="0" i="0">
                <a:solidFill>
                  <a:srgbClr val="C9D1DE"/>
                </a:solidFill>
                <a:latin typeface="Consolas"/>
              </a:rPr>
              <a:t>90,4 %</a:t>
            </a:r>
          </a:p>
        </p:txBody>
      </p:sp>
      <p:sp>
        <p:nvSpPr>
          <p:cNvPr id="35" name="TextBox 34"/>
          <p:cNvSpPr txBox="1"/>
          <p:nvPr/>
        </p:nvSpPr>
        <p:spPr>
          <a:xfrm>
            <a:off x="5212080" y="3785615"/>
            <a:ext cx="2468880" cy="384048"/>
          </a:xfrm>
          <a:prstGeom prst="rect">
            <a:avLst/>
          </a:prstGeom>
          <a:noFill/>
        </p:spPr>
        <p:txBody>
          <a:bodyPr wrap="square" lIns="0" rIns="0" tIns="0" bIns="0" anchor="ctr">
            <a:spAutoFit/>
          </a:bodyPr>
          <a:lstStyle/>
          <a:p>
            <a:pPr algn="r"/>
            <a:r>
              <a:rPr sz="1250" b="0" i="0">
                <a:solidFill>
                  <a:srgbClr val="C9D1DE"/>
                </a:solidFill>
                <a:latin typeface="Consolas"/>
              </a:rPr>
              <a:t>89,3 %</a:t>
            </a:r>
          </a:p>
        </p:txBody>
      </p:sp>
      <p:sp>
        <p:nvSpPr>
          <p:cNvPr id="36" name="TextBox 35"/>
          <p:cNvSpPr txBox="1"/>
          <p:nvPr/>
        </p:nvSpPr>
        <p:spPr>
          <a:xfrm>
            <a:off x="7863840" y="3785615"/>
            <a:ext cx="1920240" cy="384048"/>
          </a:xfrm>
          <a:prstGeom prst="rect">
            <a:avLst/>
          </a:prstGeom>
          <a:noFill/>
        </p:spPr>
        <p:txBody>
          <a:bodyPr wrap="square" lIns="0" rIns="0" tIns="0" bIns="0" anchor="ctr">
            <a:spAutoFit/>
          </a:bodyPr>
          <a:lstStyle/>
          <a:p>
            <a:pPr algn="r"/>
            <a:r>
              <a:rPr sz="1250" b="0" i="0">
                <a:solidFill>
                  <a:srgbClr val="C9D1DE"/>
                </a:solidFill>
                <a:latin typeface="Consolas"/>
              </a:rPr>
              <a:t>84,6 %</a:t>
            </a:r>
          </a:p>
        </p:txBody>
      </p:sp>
      <p:sp>
        <p:nvSpPr>
          <p:cNvPr id="37" name="TextBox 36"/>
          <p:cNvSpPr txBox="1"/>
          <p:nvPr/>
        </p:nvSpPr>
        <p:spPr>
          <a:xfrm>
            <a:off x="9966960" y="3785615"/>
            <a:ext cx="1536192" cy="384048"/>
          </a:xfrm>
          <a:prstGeom prst="rect">
            <a:avLst/>
          </a:prstGeom>
          <a:noFill/>
        </p:spPr>
        <p:txBody>
          <a:bodyPr wrap="square" lIns="0" rIns="0" tIns="0" bIns="0" anchor="ctr">
            <a:spAutoFit/>
          </a:bodyPr>
          <a:lstStyle/>
          <a:p>
            <a:pPr algn="r"/>
            <a:r>
              <a:rPr sz="1250" b="0" i="0">
                <a:solidFill>
                  <a:srgbClr val="C9D1DE"/>
                </a:solidFill>
                <a:latin typeface="Consolas"/>
              </a:rPr>
              <a:t>55,0 %</a:t>
            </a:r>
          </a:p>
        </p:txBody>
      </p:sp>
      <p:sp>
        <p:nvSpPr>
          <p:cNvPr id="38" name="TextBox 37"/>
          <p:cNvSpPr txBox="1"/>
          <p:nvPr/>
        </p:nvSpPr>
        <p:spPr>
          <a:xfrm>
            <a:off x="777240" y="4206240"/>
            <a:ext cx="2103120" cy="384048"/>
          </a:xfrm>
          <a:prstGeom prst="rect">
            <a:avLst/>
          </a:prstGeom>
          <a:noFill/>
        </p:spPr>
        <p:txBody>
          <a:bodyPr wrap="square" lIns="0" rIns="0" tIns="0" bIns="0" anchor="ctr">
            <a:spAutoFit/>
          </a:bodyPr>
          <a:lstStyle/>
          <a:p>
            <a:pPr algn="l"/>
            <a:r>
              <a:rPr sz="1250" b="0" i="0">
                <a:solidFill>
                  <a:srgbClr val="C9D1DE"/>
                </a:solidFill>
                <a:latin typeface="Segoe UI"/>
              </a:rPr>
              <a:t>17 h</a:t>
            </a:r>
          </a:p>
        </p:txBody>
      </p:sp>
      <p:sp>
        <p:nvSpPr>
          <p:cNvPr id="39" name="TextBox 38"/>
          <p:cNvSpPr txBox="1"/>
          <p:nvPr/>
        </p:nvSpPr>
        <p:spPr>
          <a:xfrm>
            <a:off x="3017520" y="4206240"/>
            <a:ext cx="2011680" cy="384048"/>
          </a:xfrm>
          <a:prstGeom prst="rect">
            <a:avLst/>
          </a:prstGeom>
          <a:noFill/>
        </p:spPr>
        <p:txBody>
          <a:bodyPr wrap="square" lIns="0" rIns="0" tIns="0" bIns="0" anchor="ctr">
            <a:spAutoFit/>
          </a:bodyPr>
          <a:lstStyle/>
          <a:p>
            <a:pPr algn="r"/>
            <a:r>
              <a:rPr sz="1250" b="0" i="0">
                <a:solidFill>
                  <a:srgbClr val="C9D1DE"/>
                </a:solidFill>
                <a:latin typeface="Consolas"/>
              </a:rPr>
              <a:t>99,3 %</a:t>
            </a:r>
          </a:p>
        </p:txBody>
      </p:sp>
      <p:sp>
        <p:nvSpPr>
          <p:cNvPr id="40" name="TextBox 39"/>
          <p:cNvSpPr txBox="1"/>
          <p:nvPr/>
        </p:nvSpPr>
        <p:spPr>
          <a:xfrm>
            <a:off x="5212080" y="4206240"/>
            <a:ext cx="2468880" cy="384048"/>
          </a:xfrm>
          <a:prstGeom prst="rect">
            <a:avLst/>
          </a:prstGeom>
          <a:noFill/>
        </p:spPr>
        <p:txBody>
          <a:bodyPr wrap="square" lIns="0" rIns="0" tIns="0" bIns="0" anchor="ctr">
            <a:spAutoFit/>
          </a:bodyPr>
          <a:lstStyle/>
          <a:p>
            <a:pPr algn="r"/>
            <a:r>
              <a:rPr sz="1250" b="0" i="0">
                <a:solidFill>
                  <a:srgbClr val="C9D1DE"/>
                </a:solidFill>
                <a:latin typeface="Consolas"/>
              </a:rPr>
              <a:t>100,0 %</a:t>
            </a:r>
          </a:p>
        </p:txBody>
      </p:sp>
      <p:sp>
        <p:nvSpPr>
          <p:cNvPr id="41" name="TextBox 40"/>
          <p:cNvSpPr txBox="1"/>
          <p:nvPr/>
        </p:nvSpPr>
        <p:spPr>
          <a:xfrm>
            <a:off x="7863840" y="4206240"/>
            <a:ext cx="1920240" cy="384048"/>
          </a:xfrm>
          <a:prstGeom prst="rect">
            <a:avLst/>
          </a:prstGeom>
          <a:noFill/>
        </p:spPr>
        <p:txBody>
          <a:bodyPr wrap="square" lIns="0" rIns="0" tIns="0" bIns="0" anchor="ctr">
            <a:spAutoFit/>
          </a:bodyPr>
          <a:lstStyle/>
          <a:p>
            <a:pPr algn="r"/>
            <a:r>
              <a:rPr sz="1250" b="0" i="0">
                <a:solidFill>
                  <a:srgbClr val="C9D1DE"/>
                </a:solidFill>
                <a:latin typeface="Consolas"/>
              </a:rPr>
              <a:t>97,8 %</a:t>
            </a:r>
          </a:p>
        </p:txBody>
      </p:sp>
      <p:sp>
        <p:nvSpPr>
          <p:cNvPr id="42" name="TextBox 41"/>
          <p:cNvSpPr txBox="1"/>
          <p:nvPr/>
        </p:nvSpPr>
        <p:spPr>
          <a:xfrm>
            <a:off x="9966960" y="4206240"/>
            <a:ext cx="1536192" cy="384048"/>
          </a:xfrm>
          <a:prstGeom prst="rect">
            <a:avLst/>
          </a:prstGeom>
          <a:noFill/>
        </p:spPr>
        <p:txBody>
          <a:bodyPr wrap="square" lIns="0" rIns="0" tIns="0" bIns="0" anchor="ctr">
            <a:spAutoFit/>
          </a:bodyPr>
          <a:lstStyle/>
          <a:p>
            <a:pPr algn="r"/>
            <a:r>
              <a:rPr sz="1250" b="0" i="0">
                <a:solidFill>
                  <a:srgbClr val="C9D1DE"/>
                </a:solidFill>
                <a:latin typeface="Consolas"/>
              </a:rPr>
              <a:t>100,0 %</a:t>
            </a:r>
          </a:p>
        </p:txBody>
      </p:sp>
      <p:sp>
        <p:nvSpPr>
          <p:cNvPr id="43" name="Rectangle 42"/>
          <p:cNvSpPr/>
          <p:nvPr/>
        </p:nvSpPr>
        <p:spPr>
          <a:xfrm>
            <a:off x="685800" y="4892040"/>
            <a:ext cx="10817352" cy="13716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800" y="4892040"/>
            <a:ext cx="54864" cy="137160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1832" y="5056631"/>
            <a:ext cx="10360152" cy="1097280"/>
          </a:xfrm>
          <a:prstGeom prst="rect">
            <a:avLst/>
          </a:prstGeom>
          <a:noFill/>
        </p:spPr>
        <p:txBody>
          <a:bodyPr wrap="square" lIns="0" rIns="0" tIns="0" bIns="0">
            <a:spAutoFit/>
          </a:bodyPr>
          <a:lstStyle/>
          <a:p>
            <a:pPr algn="l">
              <a:lnSpc>
                <a:spcPct val="110000"/>
              </a:lnSpc>
            </a:pPr>
            <a:r>
              <a:rPr sz="1300" b="1" i="0">
                <a:solidFill>
                  <a:srgbClr val="E6E9EF"/>
                </a:solidFill>
                <a:latin typeface="Segoe UI"/>
              </a:rPr>
              <a:t>Línea base: decir siempre «día normal» acierta el 79,4 %.</a:t>
            </a:r>
            <a:r>
              <a:rPr sz="1300" b="0" i="0">
                <a:solidFill>
                  <a:srgbClr val="C9D1DE"/>
                </a:solidFill>
                <a:latin typeface="Segoe UI"/>
              </a:rPr>
              <a:t> Con k = 2 se la supera desde las 9 h observadas (80,9 %). Con k = 3 el modelo nunca alcanza esa ventaja en la franja media de la mañana (70,6 % frente a 80,9 % a las 9 h) y reconoce la carga alta más tarde y peor en casi todo el recorrido (55,0 % a las 12 h, frente al 89,3 % de k = 2). Es un argumento de observabilidad, independiente de la silueta, para preferir k = 2 como variable de estado.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