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2 · K-Means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548640"/>
            <a:ext cx="310896" cy="310896"/>
          </a:xfrm>
          <a:prstGeom prst="roundRect">
            <a:avLst>
              <a:gd name="adj" fmla="val 4000"/>
            </a:avLst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5669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6E9EF"/>
                </a:solidFill>
                <a:latin typeface="Segoe UI Semibold"/>
              </a:rPr>
              <a:t>Shiro 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60350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7787"/>
                </a:solidFill>
                <a:latin typeface="Consolas"/>
              </a:rPr>
              <a:t>Aprendizaje de Máquina · Corte 2 · Taller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710A"/>
                </a:solidFill>
                <a:latin typeface="Consolas"/>
              </a:rPr>
              <a:t>EL HALLAZGO DE ESTE TALLER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>
                <a:solidFill>
                  <a:srgbClr val="E6E9EF"/>
                </a:solidFill>
                <a:latin typeface="Segoe UI Semibold"/>
              </a:rPr>
              <a:t>Esta casa tiene dos tipos de día.</a:t>
            </a:r>
          </a:p>
          <a:p>
            <a:pPr algn="l">
              <a:lnSpc>
                <a:spcPct val="100000"/>
              </a:lnSpc>
            </a:pPr>
            <a:r>
              <a:rPr sz="4400" b="0">
                <a:solidFill>
                  <a:srgbClr val="E6E9EF"/>
                </a:solidFill>
                <a:latin typeface="Segoe UI Semibold"/>
              </a:rPr>
              <a:t>El calendario no sabe cuál es cuál.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69080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AA3B2"/>
                </a:solidFill>
                <a:latin typeface="Segoe UI"/>
              </a:rPr>
              <a:t>K-Means sobre 136 días de consumo para construir la variable «tipo de día» del estado del MDP de Shiro — y descubrir a qué hora del día el agente puede conocerla.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257800"/>
            <a:ext cx="10820095" cy="9525"/>
          </a:xfrm>
          <a:prstGeom prst="rect">
            <a:avLst/>
          </a:prstGeom>
          <a:solidFill>
            <a:srgbClr val="23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4406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D1DE"/>
                </a:solidFill>
                <a:latin typeface="Segoe UI Semibold"/>
              </a:rPr>
              <a:t>Jose Leonardo Diazgranados · Sofía Londoño · Andrés Felipe Céspedes Rondón · Alex Duran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4243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7787"/>
                </a:solidFill>
                <a:latin typeface="Consolas"/>
              </a:rPr>
              <a:t>Universidad Sergio Arboleda · Semestre 26-2 · Docente: Hernán Darío Cruz Bueno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8295" y="54406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7787"/>
                </a:solidFill>
                <a:latin typeface="Consolas"/>
              </a:rPr>
              <a:t>Appliances Energy Prediction · UCI #374</a:t>
            </a:r>
          </a:p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7787"/>
                </a:solidFill>
                <a:latin typeface="Consolas"/>
              </a:rPr>
              <a:t>random_state = 42 · 23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2 · K-Means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ENCUADRE · QUÉ CONSTRUYE ESTE TALLER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El agente necesita saber qué tipo de día está viviendo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A3B2"/>
                </a:solidFill>
                <a:latin typeface="Segoe UI"/>
              </a:rPr>
              <a:t>El agente de Shiro decide cada 10 minutos sobre un estado. La propuesta prometía que los perfiles de rutina alimentarían ese estado; la variable no existía. Tres decisiones del MDP dependen de este taller: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9718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6E9EF"/>
                </a:solidFill>
                <a:latin typeface="Segoe UI Semibold"/>
              </a:rPr>
              <a:t>¿Cuántos tipos de día?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47472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Cada tipo multiplica la tabla Q del agente.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43434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BD992"/>
                </a:solidFill>
                <a:latin typeface="Consolas"/>
              </a:rPr>
              <a:t>PUNTO 1 · ELECCIÓN DE 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74320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9718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6E9EF"/>
                </a:solidFill>
                <a:latin typeface="Segoe UI Semibold"/>
              </a:rPr>
              <a:t>¿Basta el calendario?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47472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Si los tipos fueran laboral / fin de semana, sobraría el modelo.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43434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BD992"/>
                </a:solidFill>
                <a:latin typeface="Consolas"/>
              </a:rPr>
              <a:t>PUNTO 3 · CARACTERIZACIÓN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274320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29718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6E9EF"/>
                </a:solidFill>
                <a:latin typeface="Segoe UI Semibold"/>
              </a:rPr>
              <a:t>¿Cuándo lo sabe el agente?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347472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Un tipo definido con 24 h de curva no se conoce a las 8 a. 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43434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BD992"/>
                </a:solidFill>
                <a:latin typeface="Consolas"/>
              </a:rPr>
              <a:t>LA PREGUNTA QUE EL ENUNCIADO NO HACE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074920"/>
            <a:ext cx="10607040" cy="86868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5074920"/>
            <a:ext cx="54864" cy="86868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5257800"/>
            <a:ext cx="10149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9EF"/>
                </a:solidFill>
                <a:latin typeface="Segoe UI"/>
              </a:rPr>
              <a:t>Se agrupan días, no lecturas.</a:t>
            </a:r>
            <a:r>
              <a:rPr sz="1300" b="0">
                <a:solidFill>
                  <a:srgbClr val="C9D1DE"/>
                </a:solidFill>
                <a:latin typeface="Segoe UI"/>
              </a:rPr>
              <a:t> 136 curvas de consumo de 24 horas. Con las 19.735 lecturas de 10 minutos, el índice de Dunn de la clase necesitaría una matriz de distancias de 3,1 GB — y el resultado repetiría lo que el árbol ya encontró.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2 · K-Means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EL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De 19.735 lecturas a 136 días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6280" y="1700784"/>
            <a:ext cx="7528560" cy="3182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1_mapa_d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76" y="1783080"/>
            <a:ext cx="7363968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0" y="1783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7BD992"/>
                </a:solidFill>
                <a:latin typeface="Consolas"/>
              </a:rPr>
              <a:t>136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441448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días completos, uno por fila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(ene–may 2016, lecturas cada 10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88036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6E9EF"/>
                </a:solidFill>
                <a:latin typeface="Consolas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538728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horas por día: consumo medio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de cada hora, en Wh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93192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6E9EF"/>
                </a:solidFill>
                <a:latin typeface="Consolas"/>
              </a:rPr>
              <a:t>110 · 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590288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días de entrenamiento · días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de mayo para el control temporal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303520"/>
            <a:ext cx="10607040" cy="77724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5303520"/>
            <a:ext cx="54864" cy="77724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486400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6E9EF"/>
                </a:solidFill>
                <a:latin typeface="Segoe UI"/>
              </a:rPr>
              <a:t>No se estandariza por columna.</a:t>
            </a:r>
            <a:r>
              <a:rPr sz="1200" b="0">
                <a:solidFill>
                  <a:srgbClr val="C9D1DE"/>
                </a:solidFill>
                <a:latin typeface="Segoe UI"/>
              </a:rPr>
              <a:t> Las 24 horas están en Wh y su varianza va de 50 (4 a. m.) a 12.477 (11 a. m.). Estandarizar da los mismos grupos (ARI 1,000) pero degrada la silueta de 0,392 a 0,259: debilita la evidencia para elegir 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2 · K-Means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PUNTO 1 · ¿CUÁNTOS CLÚSTERS?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k = 2: esta vez las tres métricas coinciden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0930" y="1700784"/>
            <a:ext cx="10639660" cy="3136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2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226" y="1783080"/>
            <a:ext cx="10475068" cy="2971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02920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7BD992"/>
                </a:solidFill>
                <a:latin typeface="Consolas"/>
              </a:rPr>
              <a:t>−28 %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68756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inercia al pasar de 1 a 2 clústers;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menos de 9 % cada clúster más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502920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6E9EF"/>
                </a:solidFill>
                <a:latin typeface="Consolas"/>
              </a:rPr>
              <a:t>0,392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568756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Silhouette Score máximo (k = 2);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cae a 0,225 con k =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0292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6E9EF"/>
                </a:solidFill>
                <a:latin typeface="Consolas"/>
              </a:rPr>
              <a:t>0,260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5687568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índice de Dunn máximo (k = 2),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con la función vista en clase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2 · K-Means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PUNTO 1 · JUSTIFICACIÓN DEL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El k que prefieren las métricas es el que el agente puede sostener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920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SILUETA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920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DUNN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9202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TAMAÑOS DE LOS CLÚSTERS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212848"/>
            <a:ext cx="6949440" cy="9525"/>
          </a:xfrm>
          <a:prstGeom prst="rect">
            <a:avLst/>
          </a:prstGeom>
          <a:solidFill>
            <a:srgbClr val="2C3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249424"/>
            <a:ext cx="6949440" cy="347472"/>
          </a:xfrm>
          <a:prstGeom prst="rect">
            <a:avLst/>
          </a:prstGeom>
          <a:solidFill>
            <a:srgbClr val="1A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49424"/>
            <a:ext cx="9875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6E9E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249424"/>
            <a:ext cx="13533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1">
                <a:solidFill>
                  <a:srgbClr val="E6E9EF"/>
                </a:solidFill>
                <a:latin typeface="Consolas"/>
              </a:rPr>
              <a:t>0,392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249424"/>
            <a:ext cx="13533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1">
                <a:solidFill>
                  <a:srgbClr val="E6E9EF"/>
                </a:solidFill>
                <a:latin typeface="Consolas"/>
              </a:rPr>
              <a:t>0,260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249424"/>
            <a:ext cx="28163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1">
                <a:solidFill>
                  <a:srgbClr val="E6E9EF"/>
                </a:solidFill>
                <a:latin typeface="Consolas"/>
              </a:rPr>
              <a:t>108 / 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633472"/>
            <a:ext cx="9875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633472"/>
            <a:ext cx="13533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0,225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633472"/>
            <a:ext cx="13533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0,179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633472"/>
            <a:ext cx="28163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85 / 31 /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017520"/>
            <a:ext cx="9875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017520"/>
            <a:ext cx="13533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0,137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017520"/>
            <a:ext cx="13533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0,119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017520"/>
            <a:ext cx="28163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55 / 41 / 22 / 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401568"/>
            <a:ext cx="9875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3401568"/>
            <a:ext cx="13533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0,148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3401568"/>
            <a:ext cx="13533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0,116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3401568"/>
            <a:ext cx="28163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55 / 30 / 28 / 14 / 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1920240"/>
            <a:ext cx="3200400" cy="155448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1920240"/>
            <a:ext cx="54864" cy="155448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48472" y="2103120"/>
            <a:ext cx="27432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6E9EF"/>
                </a:solidFill>
                <a:latin typeface="Segoe UI"/>
              </a:rPr>
              <a:t>En el ejemplo de clase las métricas se contradecían.</a:t>
            </a:r>
            <a:r>
              <a:rPr sz="1250" b="0">
                <a:solidFill>
                  <a:srgbClr val="C9D1DE"/>
                </a:solidFill>
                <a:latin typeface="Segoe UI"/>
              </a:rPr>
              <a:t> Silueta y Dunn señalaban k = 2 y el codo, k = 4–5; la elección fue un compromiso. Aquí coinciden las tres.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160520"/>
            <a:ext cx="10607040" cy="109728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4160520"/>
            <a:ext cx="54864" cy="109728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4343400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6E9EF"/>
                </a:solidFill>
                <a:latin typeface="Segoe UI"/>
              </a:rPr>
              <a:t>Criterio propio de Shiro.</a:t>
            </a:r>
            <a:r>
              <a:rPr sz="1350" b="0">
                <a:solidFill>
                  <a:srgbClr val="C9D1DE"/>
                </a:solidFill>
                <a:latin typeface="Segoe UI"/>
              </a:rPr>
              <a:t> Cada tipo de día multiplica la tabla Q: 24 horas × k tipos × bandas de temperatura × acciones. Con k = 2 el agente visita cada estado muchas veces; con k = 8, no llega a visitarlos. Aquí no hay tensión entre métrica y arquitectura.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5440680"/>
            <a:ext cx="10607040" cy="73152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" y="5440680"/>
            <a:ext cx="54864" cy="73152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" y="5623560"/>
            <a:ext cx="10149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6E9EF"/>
                </a:solidFill>
                <a:latin typeface="Segoe UI"/>
              </a:rPr>
              <a:t>La forma no tiene estructura.</a:t>
            </a:r>
            <a:r>
              <a:rPr sz="1250" b="0">
                <a:solidFill>
                  <a:srgbClr val="C9D1DE"/>
                </a:solidFill>
                <a:latin typeface="Segoe UI"/>
              </a:rPr>
              <a:t> Agrupando la curva dividida por su total, la silueta se queda entre 0,13 y 0,15 para todo k: no hay k que elegir.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2 · K-Means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PUNTO 2 · VISUALIZACIÓN CON PCA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Con k = 2, un corte casi limpio sobre el primer componente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429" y="1700784"/>
            <a:ext cx="10560662" cy="3364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3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725" y="1783080"/>
            <a:ext cx="10396070" cy="3200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5257800"/>
            <a:ext cx="10607040" cy="96012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5257800"/>
            <a:ext cx="54864" cy="96012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544068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6E9EF"/>
                </a:solidFill>
                <a:latin typeface="Segoe UI"/>
              </a:rPr>
              <a:t>Por qué PCA separa bien.</a:t>
            </a:r>
            <a:r>
              <a:rPr sz="1250" b="0">
                <a:solidFill>
                  <a:srgbClr val="C9D1DE"/>
                </a:solidFill>
                <a:latin typeface="Segoe UI"/>
              </a:rPr>
              <a:t> PC1 y PC2 retienen la mitad de la varianza (37,2 % + 12,9 %). La diferencia entre los tipos es cuánto se consume de día — una dirección lineal, que es justo lo que PCA captura. Con k = 3 y 4 los clústers nuevos son cortes dentro de la nube principal, sin un espacio vacío que los separe: por eso la silueta cae.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2 · K-Means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PUNTO 2 · VISUALIZACIÓN CON T-SNE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t-SNE no revela nada que PCA no muestre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709155"/>
            <a:ext cx="6931152" cy="426264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4_ts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91451"/>
            <a:ext cx="6766560" cy="40980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01000" y="18288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B877"/>
                </a:solidFill>
                <a:latin typeface="Consolas"/>
              </a:rPr>
              <a:t>PERPLEXITY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121408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Segoe UI"/>
              </a:rPr>
              <a:t>La nube se rompe en hebras cortas: los días de carga alta quedan juntos localmente, pero en varios fragmentos. El gráfico sugiere más grupos de los que hay.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3474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BD992"/>
                </a:solidFill>
                <a:latin typeface="Consolas"/>
              </a:rPr>
              <a:t>PERPLEXITY 15 Y 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3767328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Segoe UI"/>
              </a:rPr>
              <a:t>Una sola nube con los días de carga alta en un borde: la misma lectura que PCA, con menos nitidez.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4892040"/>
            <a:ext cx="3291840" cy="100584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4892040"/>
            <a:ext cx="54864" cy="100584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5074920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Segoe UI"/>
              </a:rPr>
              <a:t>Cuando el patrón es una diferencia de intensidad y no una forma curva, </a:t>
            </a:r>
            <a:r>
              <a:rPr sz="1300" b="1">
                <a:solidFill>
                  <a:srgbClr val="E6E9EF"/>
                </a:solidFill>
                <a:latin typeface="Segoe UI"/>
              </a:rPr>
              <a:t>PCA basta</a:t>
            </a:r>
            <a:r>
              <a:rPr sz="1300" b="0">
                <a:solidFill>
                  <a:srgbClr val="C9D1DE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2 · K-Means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PUNTO 3 · CARACTERIZACIÓN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Día normal y día de carga alta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99647" y="1655064"/>
            <a:ext cx="9162226" cy="2862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5_per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43" y="1737360"/>
            <a:ext cx="8997634" cy="2697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617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MEDIA POR DÍA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46177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DÍA NORMAL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46177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CARGA ALTA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910328"/>
            <a:ext cx="6217920" cy="9525"/>
          </a:xfrm>
          <a:prstGeom prst="rect">
            <a:avLst/>
          </a:prstGeom>
          <a:solidFill>
            <a:srgbClr val="2C3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946904"/>
            <a:ext cx="26334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9D1DE"/>
                </a:solidFill>
                <a:latin typeface="Segoe UI"/>
              </a:rPr>
              <a:t>Días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4946904"/>
            <a:ext cx="16276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C9D1DE"/>
                </a:solidFill>
                <a:latin typeface="Consolas"/>
              </a:rPr>
              <a:t>108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4946904"/>
            <a:ext cx="16276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C9D1DE"/>
                </a:solidFill>
                <a:latin typeface="Consolas"/>
              </a:rPr>
              <a:t>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76088"/>
            <a:ext cx="26334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9D1DE"/>
                </a:solidFill>
                <a:latin typeface="Segoe UI"/>
              </a:rPr>
              <a:t>Consumo diario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5276088"/>
            <a:ext cx="16276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C9D1DE"/>
                </a:solidFill>
                <a:latin typeface="Consolas"/>
              </a:rPr>
              <a:t>12,23 kWh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5276088"/>
            <a:ext cx="16276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FFB877"/>
                </a:solidFill>
                <a:latin typeface="Consolas"/>
              </a:rPr>
              <a:t>20,94 kWh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05272"/>
            <a:ext cx="26334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9D1DE"/>
                </a:solidFill>
                <a:latin typeface="Segoe UI"/>
              </a:rPr>
              <a:t>Mañana · tarde (Wh)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5605272"/>
            <a:ext cx="16276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C9D1DE"/>
                </a:solidFill>
                <a:latin typeface="Consolas"/>
              </a:rPr>
              <a:t>83 · 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5605272"/>
            <a:ext cx="16276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FFB877"/>
                </a:solidFill>
                <a:latin typeface="Consolas"/>
              </a:rPr>
              <a:t>172 · 238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34456"/>
            <a:ext cx="26334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9D1DE"/>
                </a:solidFill>
                <a:latin typeface="Segoe UI"/>
              </a:rPr>
              <a:t>Hora pico más frecuente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5934456"/>
            <a:ext cx="16276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C9D1DE"/>
                </a:solidFill>
                <a:latin typeface="Consolas"/>
              </a:rPr>
              <a:t>18 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5934456"/>
            <a:ext cx="16276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FFB877"/>
                </a:solidFill>
                <a:latin typeface="Consolas"/>
              </a:rPr>
              <a:t>11 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20" y="4617720"/>
            <a:ext cx="3931920" cy="146304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0920" y="4617720"/>
            <a:ext cx="54864" cy="146304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16952" y="4800600"/>
            <a:ext cx="34747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6E9EF"/>
                </a:solidFill>
                <a:latin typeface="Segoe UI"/>
              </a:rPr>
              <a:t>Un bloque diurno de 8 a 18 h.</a:t>
            </a:r>
            <a:r>
              <a:rPr sz="1200" b="0">
                <a:solidFill>
                  <a:srgbClr val="C9D1DE"/>
                </a:solidFill>
                <a:latin typeface="Segoe UI"/>
              </a:rPr>
              <a:t> Madrugadas idénticas. Dos jorobas, a las 11 y a las 17 h. Un árbol de profundidad 2 lo reproduce en el 96,3 % de los días mirando la 1 de la tarde (h13 &gt; 199 Wh).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2 · K-Means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PUNTO 3 · QUÉ LOS DIFERENCIA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Ni el calendario ni el clima: la actividad de la casa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854963"/>
            <a:ext cx="5285232" cy="36052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9_vari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37259"/>
            <a:ext cx="5120640" cy="34406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178308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B877"/>
                </a:solidFill>
                <a:latin typeface="Consolas"/>
              </a:rPr>
              <a:t>V = 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41448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asociación con el fin de semana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(28 % frente a 29 % de fines de semana)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178308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6E9EF"/>
                </a:solidFill>
                <a:latin typeface="Consolas"/>
              </a:rPr>
              <a:t>7,3 · 7,4 °C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2441448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temperatura exterior media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en cada tipo: indistinguible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15468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7BD992"/>
                </a:solidFill>
                <a:latin typeface="Consolas"/>
              </a:rPr>
              <a:t>+39 %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13048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más iluminación (lights) en los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días de carga alta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315468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6E9EF"/>
                </a:solidFill>
                <a:latin typeface="Consolas"/>
              </a:rPr>
              <a:t>RH_3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3813048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humedad de la lavandería: la variable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que más sube fuera del consumo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4572000"/>
            <a:ext cx="4800600" cy="137160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4572000"/>
            <a:ext cx="54864" cy="137160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8272" y="4754880"/>
            <a:ext cx="4343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6E9EF"/>
                </a:solidFill>
                <a:latin typeface="Segoe UI"/>
              </a:rPr>
              <a:t>Significado en el sector.</a:t>
            </a:r>
            <a:r>
              <a:rPr sz="1250" b="0">
                <a:solidFill>
                  <a:srgbClr val="C9D1DE"/>
                </a:solidFill>
                <a:latin typeface="Segoe UI"/>
              </a:rPr>
              <a:t> Un día de carga alta no es frío ni de fin de semana: es un día en que se encienden lavadora, secadora, horno. Son las </a:t>
            </a:r>
            <a:r>
              <a:rPr sz="1250" b="1">
                <a:solidFill>
                  <a:srgbClr val="E6E9EF"/>
                </a:solidFill>
                <a:latin typeface="Segoe UI"/>
              </a:rPr>
              <a:t>cargas diferibles</a:t>
            </a:r>
            <a:r>
              <a:rPr sz="1250" b="0">
                <a:solidFill>
                  <a:srgbClr val="C9D1DE"/>
                </a:solidFill>
                <a:latin typeface="Segoe UI"/>
              </a:rPr>
              <a:t> del MDP — ahí está el ahorro de Shiro.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2 · K-Means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SEGUNDA TÉCNICA · JERÁRQUICO 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Dos algoritmos distintos, los mismos dos tipos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1138" y="1655064"/>
            <a:ext cx="9239244" cy="2999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6_dendr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434" y="1737360"/>
            <a:ext cx="9074652" cy="2834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8463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2788920" y="4846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ARI K-MEANS VS 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4846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LECTURA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138928"/>
            <a:ext cx="7040879" cy="9525"/>
          </a:xfrm>
          <a:prstGeom prst="rect">
            <a:avLst/>
          </a:prstGeom>
          <a:solidFill>
            <a:srgbClr val="2C3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5175504"/>
            <a:ext cx="7040879" cy="329184"/>
          </a:xfrm>
          <a:prstGeom prst="rect">
            <a:avLst/>
          </a:prstGeom>
          <a:solidFill>
            <a:srgbClr val="1A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175504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6E9EF"/>
                </a:solidFill>
                <a:latin typeface="Segoe UI"/>
              </a:rPr>
              <a:t>Nivel · k =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5175504"/>
            <a:ext cx="20848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E6E9EF"/>
                </a:solidFill>
                <a:latin typeface="Consolas"/>
              </a:rPr>
              <a:t>0,736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5175504"/>
            <a:ext cx="2633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E6E9EF"/>
                </a:solidFill>
                <a:latin typeface="Consolas"/>
              </a:rPr>
              <a:t>la estructura existe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41264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9D1DE"/>
                </a:solidFill>
                <a:latin typeface="Segoe UI"/>
              </a:rPr>
              <a:t>Forma · k =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5541264"/>
            <a:ext cx="20848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C9D1DE"/>
                </a:solidFill>
                <a:latin typeface="Consolas"/>
              </a:rPr>
              <a:t>0,188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5541264"/>
            <a:ext cx="2633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C9D1DE"/>
                </a:solidFill>
                <a:latin typeface="Consolas"/>
              </a:rPr>
              <a:t>depende del algoritmo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4846320"/>
            <a:ext cx="3108960" cy="109728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4846320"/>
            <a:ext cx="54864" cy="109728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1" y="502920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6E9EF"/>
                </a:solidFill>
                <a:latin typeface="Segoe UI"/>
              </a:rPr>
              <a:t>Criterio de cierre del proyecto.</a:t>
            </a:r>
            <a:r>
              <a:rPr sz="1250" b="0">
                <a:solidFill>
                  <a:srgbClr val="C9D1DE"/>
                </a:solidFill>
                <a:latin typeface="Segoe UI"/>
              </a:rPr>
              <a:t> «Al menos dos técnicas de clustering comparadas»: </a:t>
            </a:r>
            <a:r>
              <a:rPr sz="1250" b="1">
                <a:solidFill>
                  <a:srgbClr val="E6E9EF"/>
                </a:solidFill>
                <a:latin typeface="Segoe UI"/>
              </a:rPr>
              <a:t>cumplido</a:t>
            </a:r>
            <a:r>
              <a:rPr sz="1250" b="0">
                <a:solidFill>
                  <a:srgbClr val="C9D1DE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2 · K-Means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CONTROL TEMPORAL · MAYO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Los tipos de día no envejecen; su frecuencia sí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2018836"/>
            <a:ext cx="7388352" cy="236312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7_may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01132"/>
            <a:ext cx="7223760" cy="21985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0" y="17830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7BD992"/>
                </a:solidFill>
                <a:latin typeface="Consolas"/>
              </a:rPr>
              <a:t>0 de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44144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días de mayo más lejos de su centroide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que el p95 del entrenamiento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10896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B877"/>
                </a:solidFill>
                <a:latin typeface="Consolas"/>
              </a:rPr>
              <a:t>22,7 → 11,5 %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76732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proporción de días de carga alta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de enero–abril a mayo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937760"/>
            <a:ext cx="10607040" cy="100584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937760"/>
            <a:ext cx="54864" cy="100584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5120640"/>
            <a:ext cx="10149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9EF"/>
                </a:solidFill>
                <a:latin typeface="Segoe UI"/>
              </a:rPr>
              <a:t>El mismo patrón que el umbral del parcial.</a:t>
            </a:r>
            <a:r>
              <a:rPr sz="1300" b="0">
                <a:solidFill>
                  <a:srgbClr val="C9D1DE"/>
                </a:solidFill>
                <a:latin typeface="Segoe UI"/>
              </a:rPr>
              <a:t> La definición se sostiene; la frecuencia cambia con la estación. En el MDP el estado queda bien definido, pero la probabilidad de cada tipo en el simulador se recalibra con el tiempo.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2 · K-Means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FFB877"/>
                </a:solidFill>
                <a:latin typeface="Consolas"/>
              </a:rPr>
              <a:t>LA PREGUNTA QUE EL ENUNCIADO NO HACE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¿A qué hora sabe el agente qué tipo de día 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751755"/>
            <a:ext cx="6931152" cy="29887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8_observabil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34051"/>
            <a:ext cx="6766560" cy="28241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7830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28B82"/>
                </a:solidFill>
                <a:latin typeface="Consolas"/>
              </a:rPr>
              <a:t>&lt; 79,4 %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44144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hasta las 8 h, peor que decir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siempre «día normal»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632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7BD992"/>
                </a:solidFill>
                <a:latin typeface="Consolas"/>
              </a:rPr>
              <a:t>89,3 %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72160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días de carga alta reconocidos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con el día visto hasta las 12 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983480"/>
            <a:ext cx="10607040" cy="109728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983480"/>
            <a:ext cx="54864" cy="109728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5166360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9EF"/>
                </a:solidFill>
                <a:latin typeface="Segoe UI"/>
              </a:rPr>
              <a:t>Consecuencia de diseño.</a:t>
            </a:r>
            <a:r>
              <a:rPr sz="1300" b="0">
                <a:solidFill>
                  <a:srgbClr val="C9D1DE"/>
                </a:solidFill>
                <a:latin typeface="Segoe UI"/>
              </a:rPr>
              <a:t> El tipo de día no entra al estado como etiqueta: entra como </a:t>
            </a:r>
            <a:r>
              <a:rPr sz="1300" b="1">
                <a:solidFill>
                  <a:srgbClr val="E6E9EF"/>
                </a:solidFill>
                <a:latin typeface="Segoe UI"/>
              </a:rPr>
              <a:t>estimación que se actualiza durante el día</a:t>
            </a:r>
            <a:r>
              <a:rPr sz="1300" b="0">
                <a:solidFill>
                  <a:srgbClr val="C9D1DE"/>
                </a:solidFill>
                <a:latin typeface="Segoe UI"/>
              </a:rPr>
              <a:t>, «desconocida» hasta media mañana. Se revela con la joroba de las 11 h, así que no sirve para anticiparla — pero llega a tiempo para la de las 17 h, que es la ventana donde diferir una carga tiene sentido.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2 · K-Means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CIERRE · QUÉ CAMBIA EN SHIRO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Lo que el MDP recibe de este taller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BD992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7451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6E9EF"/>
                </a:solidFill>
                <a:latin typeface="Segoe UI Semibold"/>
              </a:rPr>
              <a:t>Una variable «tipo de día» con dos valores.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8599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Codo, silueta y Dunn coinciden en k = 2; Ward lo confirma.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87451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BD992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87451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6E9EF"/>
                </a:solidFill>
                <a:latin typeface="Segoe UI Semibold"/>
              </a:rPr>
              <a:t>No la sustituye el calendario.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28599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V de Cramér con el fin de semana = 0,000.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0039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BD992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0039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6E9EF"/>
                </a:solidFill>
                <a:latin typeface="Segoe UI Semibold"/>
              </a:rPr>
              <a:t>Entra como estimación, no como etiqueta.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1187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Desconocida hasta media mañana; fijada hacia las 17 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20039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BD992"/>
                </a:solidFill>
                <a:latin typeface="Consola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20039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6E9EF"/>
                </a:solidFill>
                <a:latin typeface="Segoe UI Semibold"/>
              </a:rPr>
              <a:t>La carga alta la deciden las personas.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61187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No el clima: ahí están las cargas diferibles.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2627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BD992"/>
                </a:solidFill>
                <a:latin typeface="Consola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52627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6E9EF"/>
                </a:solidFill>
                <a:latin typeface="Segoe UI Semibold"/>
              </a:rPr>
              <a:t>Tipos estables, frecuencia variable.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93775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22,7 % → 11,5 %: recalibrar como el umbral.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52627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BD992"/>
                </a:solidFill>
                <a:latin typeface="Consola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2627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6E9EF"/>
                </a:solidFill>
                <a:latin typeface="Segoe UI Semibold"/>
              </a:rPr>
              <a:t>Dos técnicas de clustering comparadas.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93775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Criterio de cierre del proyecto: cumplido.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