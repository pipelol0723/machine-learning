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Somos el grupo Shiro. En este corte hicimos cuatro talleres —boosting, K-Means, clustering jerárquico y DBSCAN— y los cuatro responden a una misma pregunta: qué necesita Shiro Twin, nuestro gemelo digital de una casa, para decidir bien. Cada taller decide una pieza concreta: el simulador, el detector de anomalías o el estado del agente. Toda cifra de esta presentación sale de un cuaderno ejecutado de principio 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Shiro Twin tiene tres piezas que se aprenden de los datos. El simulador predice el consumo de los próximos diez minutos; es la función de transición del gemelo. El agente de refuerzo decide sobre un estado y recibe una recompensa que combina costo de energía y confort. Y Guardian detecta consumos anómalos. Después del parcial, el simulador era una regresión lineal con retardos, con R² de 0,557 en mayo; el detector, un Random Forest con retardos que detecta el 86,9 % de los episodios; y el estado del agente no tenía ninguna variable de rutina. Una regla atraviesa todo: las decisiones se toman sobre la partición temporal.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taller responde una pregunta de Shiro. El de boosting pregunta si alguno de los cinco métodos reemplaza a los modelos vigentes. K-Means pregunta cuántos tipos de día tiene la casa. El jerárquico audita si esos tipos son reales o un artefacto de K-Means. Y DBSCAN busca lo que no encaja en ningún patrón. Los tres de clustering forman una cadena: encontrar, auditar y buscar lo que queda fuera.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dataset es Appliances Energy Prediction de UCI: una sola casa, 19.735 lecturas cada diez minutos de enero a mayo de 2016, con temperatura y humedad por habitación y clima exterior. Para los talleres de clustering usamos los 136 días completos. Mantenemos las convenciones del proyecto: dos particiones siempre, la temporal decide; el umbral de anomalía es el percentil 90 del entrenamiento, 200 Wh; los retardos siempre miran solo el pasado; y nada se ajusta mirando el conjunto de prueba.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presentación tiene cuatro bloques, uno por taller y uno por integrante, y un cierre común. Todos los bloques siguen el mismo orden: primero qué pieza de Shiro decide el taller, luego qué pide el enunciado, después los resultados y al final qué cambia en el diseño.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taller: boosting. El enunciado pide aplicar cinco métodos de forma exploratoria. Para Shiro la pregunta es concreta: después del parcial, el simulador y el detector ya tienen un modelo asignado. ¿Alguno de estos cinco los reemplaza?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Partimos de dos modelos vigentes: la regresión lineal con retardos como simulador, con R² de 0,557 en mayo, y Random Forest con retardos como detector, que encuentra el 86,9 % de los episodios con tres avisos al día. Antes de correr nada escribimos tres hipótesis: que los árboles no extrapolarían a mayo, que las hojas lineales de LightGBM podrían ser la excepción y que AdaBoost sería el más frágil.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cinco métodos encadenan árboles que corrigen al anterior, pero difieren en qué corrigen: AdaBoost repondera los datos, GBM ajusta residuos, XGBoost añade la segunda derivada y regularización, LightGBM crece hoja a hoja y es el más rápido, y CatBoost usa boosting ordenado y maneja categóricas. La diferencia con Random Forest es de fondo: el bosque reduce varianza promediando; el boosting reduce sesgo corrigiendo.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protocolo garantiza que la comparación sea justa. Todos usan las mismas variables y el mismo umbral, y el número de árboles se elige con una validación sacada del propio entrenamiento: en la partición temporal, el último 15 % en orden cronológico. Nunca se mira mayo. Declaramos una corrección: en una primera versión, detener la clasificación por log-loss hacía que LightGBM parara a los cinco árboles con F1 cero. Era un artefacto del protocolo y se corrigió usando average precision.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partición aleatoria el boosting gana como se esperaba: LightGBM, con 0,598, es el mejor regresor del proyecto en esa partición. Pero en la que decide, la temporal con retardos, LightGBM solo empata con la lineal —0,554 frente a 0,557— y con un sesgo de más nueve vatios-hora en mayo, frente a medio vatio-hora de la lineal. Un empate con más sesgo no justifica reemplazar a la lineal.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tabla completa. Fíjense en tres cosas. Sin retardos, en la partición temporal, todos los árboles colapsan y la lineal es la única positiva. Con retardos, solo LightGBM se acerca a la lineal. Y todos los modelos de árboles sobreestiman mayo, entre 9 y 64 vatios-hora; Random Forest, que sigue siendo el detector, es el peor regresor temporal de la tabla.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primera hipótesis se cumplió a medias: con retardos LightGBM se acerca, pero todos los árboles sobreestiman mayo. La segunda quedó refutada: las hojas lineales empeoran. La tercera se confirmó: la validación eligió apenas 14, 1 y 14 árboles para AdaBoost. Además, en la partición aleatoria varios modelos llegaron al tope de 3.000 árboles: es la autocorrelación, porque cada lectura tiene a su vecina de diez minutos en el entrenamiento.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 izquierda, el sesgo medio de cada modelo en mayo; a la derecha, dos días de mayo. Los árboles no se limitan a repetir el promedio del invierno: predicen entre 105 y 160 vatios-hora cuando la media real es 96. Están aplicando una regla aprendida en invierno que en mayo ya no vale.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más importante del taller. El 71,9 % de las lecturas de mayo son más cálidas que la lectura más cálida del entrenamiento. En invierno, una casa más cálida consumía más, porque parte del calor lo producían los propios aparatos. En mayo la casa está cálida por el clima. El árbol aplica la regla vieja a datos fuera de su rango. Lo decimos con cuidado: los datos son coherentes con esta explicación, no la prueban.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comprobarlo reentrenamos LightGBM quitando grupos de variables. Sin las once variables de temperatura, el sesgo en mayo cae de 47 a 3,8 vatios-hora y el R² pasa de negativo a positivo. Quitar el mes no lo arregla. Con retardos el efecto es menor, porque lag1 ya explica casi todo, pero va en la misma dirección. Qué cambia en Shiro: la temperatura interior se queda en el estado del MDP para medir el confort, pero no se usa para predecir consumo con modelos que no extrapolan.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las métricas del curso, en la partición temporal con retardos, cuatro de los cinco boostings ordenan mejor que el bosque: su AUC y su average precision son mayores. CatBoost tiene la mejor AP, 0,715. Pero no gana todo: en precisión, Random Forest supera a CatBoost, AdaBoost y GBM. Si nos quedáramos aquí, cambiaríamos el detector. La siguiente pregunta es si eso se nota en lo que vive la persona.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corregimos un método del parcial. El parcial comparó detectores con el mismo número de avisos por día, y eso se puede ganar con trampa: con un umbral muy bajo, GBM detecta el 98,8 % de los episodios con tres avisos diarios, porque cada aviso dura más de cinco horas y el sistema pasa el 67,5 % del tiempo en alerta. Lo justo es comparar con el mismo tiempo en alerta. Y mirado así, el punto de operación del parcial deja al sistema en alerta el 21,1 % del tiempo, con avisos de cien minutos.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mismo tiempo en alerta que el parcial, el 21,1 %, todos detectan entre el 84 y el 88 % de los episodios. Random Forest lo hace con menos avisos al día y con el menor porcentaje de avisos falsos, 37,3 %. Con un presupuesto ajustado del 4 % el bosque detecta mucho más: 63 % frente a 48 %. Solo en el 8,2 %, que es la tasa real de anomalías, XGBoost lo supera por poco más de un punto. Conclusión: el detector sigue siendo Random Forest.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LightGBM empata con la lineal sin superarla? Porque aprende casi lo mismo: el 86,5 % de su ganancia viene de los retardos, y casi tres cuartas partes solo de la lectura anterior. Lo que añade, un 8,9 % de sensores interiores, es justamente el bloque que trae el sesgo de mayo.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el bloque de boosting con seis puntos. El simulador y el detector no cambian. Encontramos la causa del colapso temporal de los árboles: la temperatura interior. Cambiamos la regla para comparar detectores: mismo tiempo en alerta. Y otra vez vemos que la métrica del curso y la del producto eligen modelos distintos. Le paso la palabra a Sofía con K-Means.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Segundo taller: K-Means. El enunciado pide elegir k con tres métricas, visualizar en dos dimensiones y caracterizar los grupos. Para Shiro, este taller construye una variable que la propuesta prometía y no existía: el tipo de día, que entra al estado del agente.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agente de Shiro decide cada diez minutos sobre un estado, y queríamos darle una variable de rutina. Tres decisiones dependen del taller: cuántos tipos de día hay, si basta con el calendario y en qué momento del día el agente puede saber qué tipo de día está viviendo. Por eso agrupamos días completos y no lecturas sueltas.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fila del mapa es un día y cada columna una hora. Las madrugadas son iguales todos los días; la diferencia aparece entre las siete de la mañana y las diez de la noche. Nos apartamos deliberadamente de la receta de estandarizar: las 24 columnas están en la misma unidad, y estandarizar habría amplificado el ruido de la madrugada. Lo comprobamos: los grupos son los mismos, pero la evidencia para elegir k se debilita.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Probamos k de 2 a 10 con las tres métricas. A diferencia del ejemplo de clase, aquí coinciden: el codo está en k igual a 2, la silueta es máxima en 2 con 0,392, y el índice de Dunn, calculado con la misma función de la clase sin modificarla, también es máximo en 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muestra la caída de las métricas a partir de k igual a 3. Agregamos un criterio de Shiro: cada tipo de día multiplica el tamaño de la tabla Q del agente, así que menos tipos significa un agente que aprende con más datos por estado. Aquí no hay tensión: el k que prefieren las métricas es también el más barato. Probamos además agrupar por la forma de la curva, y no hay estructura.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PCA, con k igual a 2, los días de carga alta se ordenan a lo largo del primer componente, que mide cuánto se consume durante el día. Con k igual a 3 o 4 los grupos nuevos son cortes dentro de la misma nube.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t-SNE probamos tres valores de perplexity. Con perplexity 5 la nube se fragmenta y sugiere grupos que no existen; con 15 y 30 vemos lo mismo que en PCA. La respuesta a qué técnica separa mejor es PCA: la diferencia entre tipos de día es de intensidad, y eso es lineal.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tabla de medias que pide el enunciado. Un día de carga alta consume 20,9 kilovatios-hora frente a 12,2 de un día normal. La madrugada es idéntica; la diferencia es un bloque diurno de ocho de la mañana a seis de la tarde, con dos jorobas a las 11 y a las 17. Un árbol de dos niveles reproduce el grupo en el 96 % de los días solo mirando la una de la tarde.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Caracterizamos con variables que no entraron al modelo, para evitar circularidad. El calendario no explica los tipos: la proporción de fines de semana es la misma y la V de Cramér es cero. El clima tampoco. Lo que se mueve es la actividad: más luces y más humedad en la lavandería y la cocina. En el sector, eso significa que el día de carga alta es el día de lavar, secar y cocinar: las cargas que Shiro puede mover de hora.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k igual a 3 aparece un tipo intermedio, la mañana activa, con casi la mitad de sus días en fin de semana: es la rutina laboral contra fin de semana que esperaba la propuesta. Pero cuesta calidad y observabilidad, así que se documenta y no se adopta. También contrastamos la hipótesis del plan: el nivel no separa estaciones, y la forma solo se asocia débilmente con el calendario.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control temporal ajustamos K-Means solo con enero a abril y asignamos los 26 días de mayo. Ningún día de mayo es un tipo nuevo, pero la proporción de días de carga alta cae a la mitad. Los tipos no envejecen; su frecuencia sí.</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pregunta no la pide el enunciado, pero es la que más le importa a Shiro. El tipo de día se definió con las 24 horas, y el agente decide en tiempo real. Hasta las ocho de la mañana, adivinar el tipo con la curva parcial es peor que decir siempre día normal. A mediodía ya reconoce nueve de cada diez días de carga alta. Por eso el tipo de día entra al estado como una estimación que se actualiza, no como una etiqueta fija.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 taller de K-Means, el MDP recibe una variable de dos valores que el calendario no puede sustituir y que entra como estimación. Queda una pregunta abierta: K-Means siempre devuelve los k grupos que se le piden. ¿Son reales? Eso lo responde Andrés con el clustering jerárquico.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 taller: clustering jerárquico. K-Means siempre devuelve k grupos, existan o no. El jerárquico es la auditoría natural: no parte de centroides y, según el enlace, aplica una definición distinta de qué es un grupo. Si varias definiciones llegan al mismo reparto, la variable es sólida.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Preparamos los datos como pide el enunciado. Seleccionamos solo la curva de consumo, la misma de K-Means, para poder comparar día por día. No hay valores faltantes; descartamos los dos días incompletos y conservamos los extremos. Y el escalado aquí sí importa: si estandarizamos, los enlaces complete y average terminan aislando dos noches raras. Por eso trabajamos en vatios-hora.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Aplicamos tres enlaces: Ward, que minimiza la varianza como K-Means; complete, que acota el diámetro del grupo; y average, que usa la distancia media. Generamos el dendrograma de cada uno y dibujamos la línea de corte en el k elegido. Ward tiene el salto más claro; complete llega al mismo tamaño de grupos; average es una cadena cuya última fusión solo añade un día, el 24 de enero.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tabla de silueta que pide el enunciado, para los tres enlaces y k de 2 a 10, con una columna que no pide y que resulta decisiva: el tamaño del clúster más pequeño. Exigimos que ningún tipo de día tenga menos del 5 % de los días. Con esa regla, Ward y complete eligen k igual a 2, y las etiquetas se asignan con fcluster: cortar por altura o por número da exactamente lo mismo.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trampa: la silueta más alta de toda la tabla, 0,423, y el Dunn más alto, 0,475, corresponden a la peor partición posible: un solo día contra los otros 135. Las métricas miden qué tan separados están los grupos; Shiro pregunta si la partición sirve como variable de estado. Por eso nunca elegimos k solo por la métrica.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Usamos las mismas proyecciones del taller de K-Means, con la misma semilla, así que cada día está en el mismo lugar. Ward y complete dibujan la misma frontera, y los ocho días que cambian de grupo están todos en la zona de contacto entre las dos nubes, ninguno en el interior.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interpretar cada grupo usamos otra vez variables que no entraron al clustering. Los dos tipos de Ward describen la misma casa que K-Means: el día de carga alta tiene un bloque diurno 2,5 veces más fuerte, más luces y más humedad en cocina y lavandería, y el mismo porcentaje de fines de semana que el día normal.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tabla de ejemplos representativos. Para cada tipo mostramos el medoide, el día real más parecido al resto de su grupo, y los dos siguientes. Y al final, los tres días que complete o average dejan aislados. Lo interesante es que no son los días de mayor consumo: son días que consumen mucho a una hora inusual.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curvas se ve por qué esos tres días son raros: el 24 de enero tiene la hora más cargada de todo el periodo a las ocho de la mañana; el 15 de abril empieza a consumir fuerte desde las seis. Ni siquiera los dos enlaces se ponen de acuerdo sobre su tipo.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árbol contiene todas las particiones a la vez. Con k igual a 3, el lado normal se parte en días bajos y un grupo intermedio con casi la mitad en fin de semana, que coincide con la mañana activa que K-Means había encontrado por su cuenta. Con k igual a 4 ya no hay estructura. El MDP usa dos tipos; la explicación puede usar tres.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preguntas de comparación. ¿Cambió la forma? Casi no: las dos técnicas ven un núcleo compacto y una periferia 1,7 veces más dispersa. ¿Se mantuvieron agrupamientos? Sí: 128 de 136 días conservan su grupo, y los ocho que cambian están todos junto a la frontera; son días de carga alta moderada. K-Means llega a una inercia 3,8 % más baja porque puede reasignar días; Ward toma fusiones que nunca deshace.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prueba que decide la comparación. Reentrenamos cada técnica solo con enero a abril. K-Means da exactamente el mismo reparto. El árbol de Ward no: su primera división cambia, porque el grupo intermedio se pasa al lado de carga alta. Para un sistema que recibe un día nuevo cada 24 horas, eso es inaceptable.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reflexión final que pide el enunciado. K-Means gana los criterios de producción: asigna días nuevos, es estable y permite estimar el tipo a medio día. El jerárquico gana los de auditoría: es determinista, muestra la jerarquía y aísla días raros. Para Shiro, K-Means asigna y el jerárquico audita cada mes.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 jerárquico, el MDP recibe una variable auditada y una medida de confianza: el margen al centroide. K-Means asigna en producción y el jerárquico audita. Y quedan días que no encajan en ningún tipo: buscarlos con un método hecho para eso es el trabajo de DBSCAN, que presenta Alex.</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Cuarto taller: DBSCAN. A diferencia de K-Means y del jerárquico, DBSCAN no obliga a cada punto a entrar en un grupo: lo que está en una zona de baja densidad queda como ruido. Lo usamos en dos niveles: días, para el gemelo, y lecturas, para Guardian.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Parte A trabaja con los mismos 136 días de los talleres anteriores. La Parte B trabaja con las lecturas de diez minutos, para construir una alarma que dependa del contexto y no solo de la magnitud. En los dos casos ajustamos con enero a abril y usamos mayo como control.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Seguimos los pasos del enunciado. Columnas: las 24 medias horarias, en vatios-hora, para que eps se pueda leer en unidades reales. El gráfico de k-distancias mide para cada día la distancia a su vecino número min_samples; el codo da eps igual a 208 con min_samples igual a 5. Probamos varios min_samples, incluida la regla de dimensiones más uno, y en ninguno aparece un segundo grupo.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Aplicamos DBSCAN y ocurre lo que anticipa el enunciado: un solo gran grupo. 82 días forman la rutina densa y 54 quedan como ruido, entre ellos los 28 días de carga alta. Para DBSCAN, la carga alta no es un grupo denso; es una periferia dispersa.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enunciado dice que, si todo es un gran grupo, hay que separar por grupos y que esa separación es una decisión. Separamos por tipo de día, y probamos el calendario como contraste. Con su propio eps, 24 de los 28 días de carga alta sí forman grupo: su densidad es 2,2 veces menor. Con el calendario, 27 de 28 siguen en el ruido. Para Shiro, el simulador es menos fiable los días de carga alta, y debe decirlo.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Recorrimos 147 combinaciones de eps y min_samples. Eps es el parámetro que manda: por debajo de 175 el resultado se fragmenta con mucho ruido; en el codo aparece el gran grupo; por encima de 450 casi todo se absorbe. Min_samples solo desplaza dónde ocurre ese mismo patrón. En ninguna configuración aparecen dos tipos de día.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día no debería ser atípico solo por haber elegido mal eps. Por eso definimos un atípico robusto: un día que es ruido en al menos 20 de 25 configuraciones distintas. Son 22 días, y entre ellos están los tres que había aislado el jerárquico. Se concentran en enero, el mes más cargado. Como son el 16 % de los días, no se borran: se marcan.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Usamos DBSCAN también como detector de novedad. Ajustamos con enero a abril, y un día de mayo es desconocido si no tiene ningún vecino denso de su tipo. Solo pasa con dos de 26 días. Para Shiro es una señal barata: si el día no se parece a nada de la historia, el agente debe ser conservador.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Parte B, el primer intento fue usar todas las columnas numéricas. DBSCAN no encontró patrones de consumo: encontró semanas del calendario, porque las lecturas consecutivas son casi iguales y los sensores derivan con la estación. Así que elegimos describir el consumo y su dinámica: la lectura actual y sus retardos.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Apareció un artefacto: el medidor redondea a diez vatios-hora, y miles de lecturas idénticas crean capas de densidad falsa; seis de los catorce clústers eran un solo valor exacto. Lo corregimos con dithering: sumar ruido uniforme de cinco vatios-hora, que es exactamente la incertidumbre del medidor. Y comprobamos que la transformación logarítmica decide qué significa raro: sin ella, DBSCAN solo repite el umbral.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 solo eps, la madrugada casi desaparece del ruido; por eso separamos por franja horaria, una segmentación que el proyecto ya usaba. Resultado: de madrugada DBSCAN marca lecturas modestas a horas inusuales que el umbral nunca vería; en la tarde deja pasar consumos altos, porque ahí son la rutina. Y como parte del ruido son bajadas, el final de un evento, Guardian debe alertar solo en las subidas.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Esperábamos que la densidad resolviera el envejecimiento del umbral, y no lo resolvió. En mayo DBSCAN marca un 33 % menos de lecturas, incluso más que el umbral fijo. Lo reportamos tal como sale. Lo que DBSCAN conserva es el reparto por franja. La conclusión para Shiro es que ninguna definición de anomalía es inmune a la estación: las dos se reajustan cada mes.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Respondo las cuatro preguntas del enunciado. Clústeres: en días, uno solo; en lecturas, un gran grupo. Ruido: todos los días de carga alta con un solo eps, y 22 atípicos robustos. Eps es el parámetro que manda. Y la implicación en el sector es concreta: el gemelo declara más incertidumbre los días de carga alta, marca los días raros y Guardian tiene dos alarmas.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DBSCAN con lo que reciben el gemelo y Guardian: incertidumbre por tipo de día, días marcados, la señal de día desconocido y una segunda alarma que entiende el contexto. Y una lección honesta: ninguna definición de anomalía es inmune a la estación.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resumen del corte para la arquitectura de Shiro. El simulador sigue siendo la lineal con retardos, pero ahora sabemos que su incertidumbre depende de la hora y del tipo de día. Guardian mantiene el bosque y gana una segunda alarma. El estado del agente gana una variable de rutina con su confianza. Y el gemelo aprende a marcar días raros y a recalibrarse cada mes.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resultados, el corte dejó reglas de método que el proyecto adopta desde ahora. Las más importantes: comparar detectores con el mismo tiempo en alerta, no elegir k solo por la métrica, y corregir los datos cuantizados antes de usar métodos de densidad.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este corte quedan cumplidos tres de los cinco criterios de cierre del proyecto. Lo que sigue es formalizar el MDP con todo lo que construimos aquí, entrenar el agente de Q-learning dentro del gemelo y construir el prototipo de Guardian con sus dos alarmas.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Gracias. Todo el material —cuadernos, documentos y figuras— está en la carpeta del segundo corte, y cada cifra sale de un cuaderno ejecutado de principio a fin.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01</a:t>
            </a:r>
          </a:p>
        </p:txBody>
      </p:sp>
      <p:sp>
        <p:nvSpPr>
          <p:cNvPr id="4" name="Rounded Rectangle 3"/>
          <p:cNvSpPr/>
          <p:nvPr/>
        </p:nvSpPr>
        <p:spPr>
          <a:xfrm>
            <a:off x="685800" y="548640"/>
            <a:ext cx="310896" cy="310896"/>
          </a:xfrm>
          <a:prstGeom prst="roundRect">
            <a:avLst>
              <a:gd name="adj" fmla="val 4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48640"/>
            <a:ext cx="310896" cy="310896"/>
          </a:xfrm>
          <a:prstGeom prst="rect">
            <a:avLst/>
          </a:prstGeom>
          <a:noFill/>
        </p:spPr>
        <p:txBody>
          <a:bodyPr wrap="square" lIns="0" rIns="0" tIns="0" bIns="0" anchor="ctr">
            <a:spAutoFit/>
          </a:bodyPr>
          <a:lstStyle/>
          <a:p>
            <a:pPr algn="ctr">
              <a:lnSpc>
                <a:spcPct val="115000"/>
              </a:lnSpc>
            </a:pPr>
            <a:r>
              <a:rPr sz="1300" b="1">
                <a:solidFill>
                  <a:srgbClr val="FFFFFF"/>
                </a:solidFill>
                <a:latin typeface="Consolas"/>
              </a:rPr>
              <a:t>S</a:t>
            </a:r>
          </a:p>
        </p:txBody>
      </p:sp>
      <p:sp>
        <p:nvSpPr>
          <p:cNvPr id="6" name="TextBox 5"/>
          <p:cNvSpPr txBox="1"/>
          <p:nvPr/>
        </p:nvSpPr>
        <p:spPr>
          <a:xfrm>
            <a:off x="1124712" y="566928"/>
            <a:ext cx="1828800" cy="274320"/>
          </a:xfrm>
          <a:prstGeom prst="rect">
            <a:avLst/>
          </a:prstGeom>
          <a:noFill/>
        </p:spPr>
        <p:txBody>
          <a:bodyPr wrap="square" lIns="0" rIns="0" tIns="0" bIns="0" anchor="t">
            <a:spAutoFit/>
          </a:bodyPr>
          <a:lstStyle/>
          <a:p>
            <a:pPr algn="l">
              <a:lnSpc>
                <a:spcPct val="115000"/>
              </a:lnSpc>
            </a:pPr>
            <a:r>
              <a:rPr sz="1300" b="0">
                <a:solidFill>
                  <a:srgbClr val="E6E9EF"/>
                </a:solidFill>
                <a:latin typeface="Segoe UI Semibold"/>
              </a:rPr>
              <a:t>Shiro Twin</a:t>
            </a:r>
          </a:p>
        </p:txBody>
      </p:sp>
      <p:sp>
        <p:nvSpPr>
          <p:cNvPr id="7" name="TextBox 6"/>
          <p:cNvSpPr txBox="1"/>
          <p:nvPr/>
        </p:nvSpPr>
        <p:spPr>
          <a:xfrm>
            <a:off x="2697480" y="603504"/>
            <a:ext cx="64008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Aprendizaje de Máquina · 2.º corte · Talleres 1 a 4</a:t>
            </a:r>
          </a:p>
        </p:txBody>
      </p:sp>
      <p:sp>
        <p:nvSpPr>
          <p:cNvPr id="8" name="TextBox 7"/>
          <p:cNvSpPr txBox="1"/>
          <p:nvPr/>
        </p:nvSpPr>
        <p:spPr>
          <a:xfrm>
            <a:off x="685800" y="1783080"/>
            <a:ext cx="91440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CUATRO TALLERES, CUATRO PIEZAS DE SHIRO</a:t>
            </a:r>
          </a:p>
        </p:txBody>
      </p:sp>
      <p:sp>
        <p:nvSpPr>
          <p:cNvPr id="9" name="TextBox 8"/>
          <p:cNvSpPr txBox="1"/>
          <p:nvPr/>
        </p:nvSpPr>
        <p:spPr>
          <a:xfrm>
            <a:off x="685800" y="2148840"/>
            <a:ext cx="10789920" cy="1645920"/>
          </a:xfrm>
          <a:prstGeom prst="rect">
            <a:avLst/>
          </a:prstGeom>
          <a:noFill/>
        </p:spPr>
        <p:txBody>
          <a:bodyPr wrap="square" lIns="0" rIns="0" tIns="0" bIns="0" anchor="t">
            <a:spAutoFit/>
          </a:bodyPr>
          <a:lstStyle/>
          <a:p>
            <a:pPr algn="l">
              <a:lnSpc>
                <a:spcPct val="100000"/>
              </a:lnSpc>
            </a:pPr>
            <a:r>
              <a:rPr sz="4200" b="0">
                <a:solidFill>
                  <a:srgbClr val="E6E9EF"/>
                </a:solidFill>
                <a:latin typeface="Segoe UI Semibold"/>
              </a:rPr>
              <a:t>Lo que el segundo corte cambió</a:t>
            </a:r>
          </a:p>
          <a:p>
            <a:pPr algn="l">
              <a:lnSpc>
                <a:spcPct val="100000"/>
              </a:lnSpc>
            </a:pPr>
            <a:r>
              <a:rPr sz="4200" b="0">
                <a:solidFill>
                  <a:srgbClr val="E6E9EF"/>
                </a:solidFill>
                <a:latin typeface="Segoe UI Semibold"/>
              </a:rPr>
              <a:t>en el gemelo digital de una casa.</a:t>
            </a:r>
          </a:p>
        </p:txBody>
      </p:sp>
      <p:sp>
        <p:nvSpPr>
          <p:cNvPr id="10" name="TextBox 9"/>
          <p:cNvSpPr txBox="1"/>
          <p:nvPr/>
        </p:nvSpPr>
        <p:spPr>
          <a:xfrm>
            <a:off x="685800" y="3931920"/>
            <a:ext cx="9326880" cy="822960"/>
          </a:xfrm>
          <a:prstGeom prst="rect">
            <a:avLst/>
          </a:prstGeom>
          <a:noFill/>
        </p:spPr>
        <p:txBody>
          <a:bodyPr wrap="square" lIns="0" rIns="0" tIns="0" bIns="0" anchor="t">
            <a:spAutoFit/>
          </a:bodyPr>
          <a:lstStyle/>
          <a:p>
            <a:pPr algn="l">
              <a:lnSpc>
                <a:spcPct val="115000"/>
              </a:lnSpc>
            </a:pPr>
            <a:r>
              <a:rPr sz="1600" b="0">
                <a:solidFill>
                  <a:srgbClr val="9AA3B2"/>
                </a:solidFill>
                <a:latin typeface="Segoe UI"/>
              </a:rPr>
              <a:t>Boosting, K-Means, clustering jerárquico y DBSCAN sobre el consumo de un hogar real, para decidir el simulador, el detector de anomalías y el estado del agente de Shiro Twin.</a:t>
            </a:r>
          </a:p>
        </p:txBody>
      </p:sp>
      <p:sp>
        <p:nvSpPr>
          <p:cNvPr id="11" name="Rectangle 10"/>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40680"/>
            <a:ext cx="786384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13" name="TextBox 12"/>
          <p:cNvSpPr txBox="1"/>
          <p:nvPr/>
        </p:nvSpPr>
        <p:spPr>
          <a:xfrm>
            <a:off x="685800" y="5742432"/>
            <a:ext cx="786384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Universidad Sergio Arboleda · Semestre 26-2 · Docente: Hernán Darío Cruz Bueno</a:t>
            </a:r>
          </a:p>
        </p:txBody>
      </p:sp>
      <p:sp>
        <p:nvSpPr>
          <p:cNvPr id="14" name="TextBox 13"/>
          <p:cNvSpPr txBox="1"/>
          <p:nvPr/>
        </p:nvSpPr>
        <p:spPr>
          <a:xfrm>
            <a:off x="7848295" y="5440680"/>
            <a:ext cx="3657600" cy="548640"/>
          </a:xfrm>
          <a:prstGeom prst="rect">
            <a:avLst/>
          </a:prstGeom>
          <a:noFill/>
        </p:spPr>
        <p:txBody>
          <a:bodyPr wrap="square" lIns="0" rIns="0" tIns="0" bIns="0" anchor="t">
            <a:spAutoFit/>
          </a:bodyPr>
          <a:lstStyle/>
          <a:p>
            <a:pPr algn="r">
              <a:lnSpc>
                <a:spcPct val="115000"/>
              </a:lnSpc>
            </a:pPr>
            <a:r>
              <a:rPr sz="1000" b="0">
                <a:solidFill>
                  <a:srgbClr val="6F7787"/>
                </a:solidFill>
                <a:latin typeface="Consolas"/>
              </a:rPr>
              <a:t>Appliances Energy Prediction · UCI #374</a:t>
            </a:r>
          </a:p>
          <a:p>
            <a:pPr algn="r">
              <a:lnSpc>
                <a:spcPct val="115000"/>
              </a:lnSpc>
            </a:pPr>
            <a:r>
              <a:rPr sz="1000" b="0">
                <a:solidFill>
                  <a:srgbClr val="6F7787"/>
                </a:solidFill>
                <a:latin typeface="Consolas"/>
              </a:rPr>
              <a:t>random_state = 42 · 2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CONTEXTO · QUÉ ES SHIRO TWIN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 gemelo digital de la casa con tres piezas que aprender</a:t>
            </a:r>
          </a:p>
        </p:txBody>
      </p:sp>
      <p:sp>
        <p:nvSpPr>
          <p:cNvPr id="6" name="Rounded Rectangle 5"/>
          <p:cNvSpPr/>
          <p:nvPr/>
        </p:nvSpPr>
        <p:spPr>
          <a:xfrm>
            <a:off x="685800" y="1828800"/>
            <a:ext cx="3454298" cy="242316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Simulador</a:t>
            </a:r>
          </a:p>
        </p:txBody>
      </p:sp>
      <p:sp>
        <p:nvSpPr>
          <p:cNvPr id="8" name="TextBox 7"/>
          <p:cNvSpPr txBox="1"/>
          <p:nvPr/>
        </p:nvSpPr>
        <p:spPr>
          <a:xfrm>
            <a:off x="914400" y="2606040"/>
            <a:ext cx="2997098" cy="12344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Función de transición del gemelo: dado el estado de la casa, ¿cuánto consumirá en los próximos 10 minutos?</a:t>
            </a:r>
          </a:p>
        </p:txBody>
      </p:sp>
      <p:sp>
        <p:nvSpPr>
          <p:cNvPr id="9" name="TextBox 8"/>
          <p:cNvSpPr txBox="1"/>
          <p:nvPr/>
        </p:nvSpPr>
        <p:spPr>
          <a:xfrm>
            <a:off x="914400" y="386791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AL EMPEZAR: LINEAL + RETARDOS · R² 0,557</a:t>
            </a:r>
          </a:p>
        </p:txBody>
      </p:sp>
      <p:sp>
        <p:nvSpPr>
          <p:cNvPr id="10" name="Rounded Rectangle 9"/>
          <p:cNvSpPr/>
          <p:nvPr/>
        </p:nvSpPr>
        <p:spPr>
          <a:xfrm>
            <a:off x="4368698" y="1828800"/>
            <a:ext cx="3454298" cy="242316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7298"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Agente (MDP)</a:t>
            </a:r>
          </a:p>
        </p:txBody>
      </p:sp>
      <p:sp>
        <p:nvSpPr>
          <p:cNvPr id="12" name="TextBox 11"/>
          <p:cNvSpPr txBox="1"/>
          <p:nvPr/>
        </p:nvSpPr>
        <p:spPr>
          <a:xfrm>
            <a:off x="4597298" y="2606040"/>
            <a:ext cx="2997098" cy="12344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Decide cada 10 minutos qué hacer con las cargas. Recompensa = −(energía × tarifa) − λ · desviación de confort.</a:t>
            </a:r>
          </a:p>
        </p:txBody>
      </p:sp>
      <p:sp>
        <p:nvSpPr>
          <p:cNvPr id="13" name="TextBox 12"/>
          <p:cNvSpPr txBox="1"/>
          <p:nvPr/>
        </p:nvSpPr>
        <p:spPr>
          <a:xfrm>
            <a:off x="4597298" y="386791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AL EMPEZAR: ESTADO SIN RUTINA</a:t>
            </a:r>
          </a:p>
        </p:txBody>
      </p:sp>
      <p:sp>
        <p:nvSpPr>
          <p:cNvPr id="14" name="Rounded Rectangle 13"/>
          <p:cNvSpPr/>
          <p:nvPr/>
        </p:nvSpPr>
        <p:spPr>
          <a:xfrm>
            <a:off x="8051596" y="1828800"/>
            <a:ext cx="3454298" cy="242316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0196"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Guardian</a:t>
            </a:r>
          </a:p>
        </p:txBody>
      </p:sp>
      <p:sp>
        <p:nvSpPr>
          <p:cNvPr id="16" name="TextBox 15"/>
          <p:cNvSpPr txBox="1"/>
          <p:nvPr/>
        </p:nvSpPr>
        <p:spPr>
          <a:xfrm>
            <a:off x="8280196" y="2606040"/>
            <a:ext cx="2997098" cy="12344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Detecta consumos anómalos y avisa a la persona. Una anomalía perdida es recuperable; demasiadas falsas alarmas, no.</a:t>
            </a:r>
          </a:p>
        </p:txBody>
      </p:sp>
      <p:sp>
        <p:nvSpPr>
          <p:cNvPr id="17" name="TextBox 16"/>
          <p:cNvSpPr txBox="1"/>
          <p:nvPr/>
        </p:nvSpPr>
        <p:spPr>
          <a:xfrm>
            <a:off x="8280196" y="386791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AL EMPEZAR: RF + RETARDOS · 86,9 %</a:t>
            </a:r>
          </a:p>
        </p:txBody>
      </p:sp>
      <p:sp>
        <p:nvSpPr>
          <p:cNvPr id="18" name="Rectangle 17"/>
          <p:cNvSpPr/>
          <p:nvPr/>
        </p:nvSpPr>
        <p:spPr>
          <a:xfrm>
            <a:off x="685800" y="4526280"/>
            <a:ext cx="10820095"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52628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709160"/>
            <a:ext cx="10362895" cy="77724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La regla del proyecto.</a:t>
            </a:r>
            <a:r>
              <a:rPr sz="1350" b="0">
                <a:solidFill>
                  <a:srgbClr val="C9D1DE"/>
                </a:solidFill>
                <a:latin typeface="Segoe UI"/>
              </a:rPr>
              <a:t> Toda decisión de arquitectura se toma sobre la partición temporal (entrenar hasta abril y probar en mayo, un mes que el modelo nunca vio), no sobre la aleatoria. La aleatoria se reporta, pero no decide.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EL CORTE EN UNA TABLA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Cuatro talleres, cuatro preguntas de Shiro</a:t>
            </a:r>
          </a:p>
        </p:txBody>
      </p:sp>
      <p:sp>
        <p:nvSpPr>
          <p:cNvPr id="6" name="TextBox 5"/>
          <p:cNvSpPr txBox="1"/>
          <p:nvPr/>
        </p:nvSpPr>
        <p:spPr>
          <a:xfrm>
            <a:off x="685800" y="1874519"/>
            <a:ext cx="1920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TALLER</a:t>
            </a:r>
          </a:p>
        </p:txBody>
      </p:sp>
      <p:sp>
        <p:nvSpPr>
          <p:cNvPr id="7" name="TextBox 6"/>
          <p:cNvSpPr txBox="1"/>
          <p:nvPr/>
        </p:nvSpPr>
        <p:spPr>
          <a:xfrm>
            <a:off x="2606040" y="1874519"/>
            <a:ext cx="40233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PREGUNTA DE SHIRO</a:t>
            </a:r>
          </a:p>
        </p:txBody>
      </p:sp>
      <p:sp>
        <p:nvSpPr>
          <p:cNvPr id="8" name="TextBox 7"/>
          <p:cNvSpPr txBox="1"/>
          <p:nvPr/>
        </p:nvSpPr>
        <p:spPr>
          <a:xfrm>
            <a:off x="6629400" y="1874519"/>
            <a:ext cx="20116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PIEZA</a:t>
            </a:r>
          </a:p>
        </p:txBody>
      </p:sp>
      <p:sp>
        <p:nvSpPr>
          <p:cNvPr id="9" name="TextBox 8"/>
          <p:cNvSpPr txBox="1"/>
          <p:nvPr/>
        </p:nvSpPr>
        <p:spPr>
          <a:xfrm>
            <a:off x="8641080" y="1874519"/>
            <a:ext cx="28346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RESPUESTA CORTA</a:t>
            </a:r>
          </a:p>
        </p:txBody>
      </p:sp>
      <p:sp>
        <p:nvSpPr>
          <p:cNvPr id="10" name="Rectangle 9"/>
          <p:cNvSpPr/>
          <p:nvPr/>
        </p:nvSpPr>
        <p:spPr>
          <a:xfrm>
            <a:off x="685800" y="2167127"/>
            <a:ext cx="10789919"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03703"/>
            <a:ext cx="18105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1 · Boosting</a:t>
            </a:r>
          </a:p>
        </p:txBody>
      </p:sp>
      <p:sp>
        <p:nvSpPr>
          <p:cNvPr id="12" name="TextBox 11"/>
          <p:cNvSpPr txBox="1"/>
          <p:nvPr/>
        </p:nvSpPr>
        <p:spPr>
          <a:xfrm>
            <a:off x="2697480" y="2203703"/>
            <a:ext cx="391363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¿Algún boosting reemplaza al simulador o al detector?</a:t>
            </a:r>
          </a:p>
        </p:txBody>
      </p:sp>
      <p:sp>
        <p:nvSpPr>
          <p:cNvPr id="13" name="TextBox 12"/>
          <p:cNvSpPr txBox="1"/>
          <p:nvPr/>
        </p:nvSpPr>
        <p:spPr>
          <a:xfrm>
            <a:off x="6720840" y="2203703"/>
            <a:ext cx="190195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Simulador · Guardian</a:t>
            </a:r>
          </a:p>
        </p:txBody>
      </p:sp>
      <p:sp>
        <p:nvSpPr>
          <p:cNvPr id="14" name="TextBox 13"/>
          <p:cNvSpPr txBox="1"/>
          <p:nvPr/>
        </p:nvSpPr>
        <p:spPr>
          <a:xfrm>
            <a:off x="8732520" y="2203703"/>
            <a:ext cx="27249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No. Y aparece la causa del colapso temporal</a:t>
            </a:r>
          </a:p>
        </p:txBody>
      </p:sp>
      <p:sp>
        <p:nvSpPr>
          <p:cNvPr id="15" name="TextBox 14"/>
          <p:cNvSpPr txBox="1"/>
          <p:nvPr/>
        </p:nvSpPr>
        <p:spPr>
          <a:xfrm>
            <a:off x="777240" y="2770631"/>
            <a:ext cx="18105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2 · K-Means</a:t>
            </a:r>
          </a:p>
        </p:txBody>
      </p:sp>
      <p:sp>
        <p:nvSpPr>
          <p:cNvPr id="16" name="TextBox 15"/>
          <p:cNvSpPr txBox="1"/>
          <p:nvPr/>
        </p:nvSpPr>
        <p:spPr>
          <a:xfrm>
            <a:off x="2697480" y="2770631"/>
            <a:ext cx="391363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¿Cuántos tipos de día tiene esta casa?</a:t>
            </a:r>
          </a:p>
        </p:txBody>
      </p:sp>
      <p:sp>
        <p:nvSpPr>
          <p:cNvPr id="17" name="TextBox 16"/>
          <p:cNvSpPr txBox="1"/>
          <p:nvPr/>
        </p:nvSpPr>
        <p:spPr>
          <a:xfrm>
            <a:off x="6720840" y="2770631"/>
            <a:ext cx="190195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Estado del MDP</a:t>
            </a:r>
          </a:p>
        </p:txBody>
      </p:sp>
      <p:sp>
        <p:nvSpPr>
          <p:cNvPr id="18" name="TextBox 17"/>
          <p:cNvSpPr txBox="1"/>
          <p:nvPr/>
        </p:nvSpPr>
        <p:spPr>
          <a:xfrm>
            <a:off x="8732520" y="2770631"/>
            <a:ext cx="27249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Dos: normal y carga alta</a:t>
            </a:r>
          </a:p>
        </p:txBody>
      </p:sp>
      <p:sp>
        <p:nvSpPr>
          <p:cNvPr id="19" name="TextBox 18"/>
          <p:cNvSpPr txBox="1"/>
          <p:nvPr/>
        </p:nvSpPr>
        <p:spPr>
          <a:xfrm>
            <a:off x="777240" y="3337559"/>
            <a:ext cx="18105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3 · Jerárquico</a:t>
            </a:r>
          </a:p>
        </p:txBody>
      </p:sp>
      <p:sp>
        <p:nvSpPr>
          <p:cNvPr id="20" name="TextBox 19"/>
          <p:cNvSpPr txBox="1"/>
          <p:nvPr/>
        </p:nvSpPr>
        <p:spPr>
          <a:xfrm>
            <a:off x="2697480" y="3337559"/>
            <a:ext cx="391363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¿Son reales o un artefacto de K-Means?</a:t>
            </a:r>
          </a:p>
        </p:txBody>
      </p:sp>
      <p:sp>
        <p:nvSpPr>
          <p:cNvPr id="21" name="TextBox 20"/>
          <p:cNvSpPr txBox="1"/>
          <p:nvPr/>
        </p:nvSpPr>
        <p:spPr>
          <a:xfrm>
            <a:off x="6720840" y="3337559"/>
            <a:ext cx="190195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Estado del MDP</a:t>
            </a:r>
          </a:p>
        </p:txBody>
      </p:sp>
      <p:sp>
        <p:nvSpPr>
          <p:cNvPr id="22" name="TextBox 21"/>
          <p:cNvSpPr txBox="1"/>
          <p:nvPr/>
        </p:nvSpPr>
        <p:spPr>
          <a:xfrm>
            <a:off x="8732520" y="3337559"/>
            <a:ext cx="27249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Reales; K-Means los asigna</a:t>
            </a:r>
          </a:p>
        </p:txBody>
      </p:sp>
      <p:sp>
        <p:nvSpPr>
          <p:cNvPr id="23" name="TextBox 22"/>
          <p:cNvSpPr txBox="1"/>
          <p:nvPr/>
        </p:nvSpPr>
        <p:spPr>
          <a:xfrm>
            <a:off x="777240" y="3904487"/>
            <a:ext cx="18105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4 · DBSCAN</a:t>
            </a:r>
          </a:p>
        </p:txBody>
      </p:sp>
      <p:sp>
        <p:nvSpPr>
          <p:cNvPr id="24" name="TextBox 23"/>
          <p:cNvSpPr txBox="1"/>
          <p:nvPr/>
        </p:nvSpPr>
        <p:spPr>
          <a:xfrm>
            <a:off x="2697480" y="3904487"/>
            <a:ext cx="391363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¿Qué no pertenece a ningún patrón?</a:t>
            </a:r>
          </a:p>
        </p:txBody>
      </p:sp>
      <p:sp>
        <p:nvSpPr>
          <p:cNvPr id="25" name="TextBox 24"/>
          <p:cNvSpPr txBox="1"/>
          <p:nvPr/>
        </p:nvSpPr>
        <p:spPr>
          <a:xfrm>
            <a:off x="6720840" y="3904487"/>
            <a:ext cx="190195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Gemelo · Guardian</a:t>
            </a:r>
          </a:p>
        </p:txBody>
      </p:sp>
      <p:sp>
        <p:nvSpPr>
          <p:cNvPr id="26" name="TextBox 25"/>
          <p:cNvSpPr txBox="1"/>
          <p:nvPr/>
        </p:nvSpPr>
        <p:spPr>
          <a:xfrm>
            <a:off x="8732520" y="3904487"/>
            <a:ext cx="2724912" cy="56692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Días atípicos y anomalía por franja</a:t>
            </a:r>
          </a:p>
        </p:txBody>
      </p:sp>
      <p:sp>
        <p:nvSpPr>
          <p:cNvPr id="27" name="Rectangle 26"/>
          <p:cNvSpPr/>
          <p:nvPr/>
        </p:nvSpPr>
        <p:spPr>
          <a:xfrm>
            <a:off x="685800" y="4892040"/>
            <a:ext cx="10820095" cy="777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4892040"/>
            <a:ext cx="54864" cy="7772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5074920"/>
            <a:ext cx="10362895" cy="457200"/>
          </a:xfrm>
          <a:prstGeom prst="rect">
            <a:avLst/>
          </a:prstGeom>
          <a:noFill/>
        </p:spPr>
        <p:txBody>
          <a:bodyPr wrap="square" lIns="0" rIns="0" tIns="0" bIns="0" anchor="t">
            <a:spAutoFit/>
          </a:bodyPr>
          <a:lstStyle/>
          <a:p>
            <a:pPr algn="l">
              <a:lnSpc>
                <a:spcPct val="115000"/>
              </a:lnSpc>
            </a:pPr>
            <a:r>
              <a:rPr sz="1400" b="0">
                <a:solidFill>
                  <a:srgbClr val="C9D1DE"/>
                </a:solidFill>
                <a:latin typeface="Segoe UI"/>
              </a:rPr>
              <a:t>Los tres talleres de clustering forman una cadena: </a:t>
            </a:r>
            <a:r>
              <a:rPr sz="1400" b="1">
                <a:solidFill>
                  <a:srgbClr val="E6E9EF"/>
                </a:solidFill>
                <a:latin typeface="Segoe UI"/>
              </a:rPr>
              <a:t>K-Means encuentra los tipos de día, el jerárquico los audita y DBSCAN busca lo que queda fuera.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DATASET Y CONVENCIONES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Una casa en Bélgica, 4,5 meses, una lectura cada 10 minutos</a:t>
            </a:r>
          </a:p>
        </p:txBody>
      </p:sp>
      <p:sp>
        <p:nvSpPr>
          <p:cNvPr id="6" name="TextBox 5"/>
          <p:cNvSpPr txBox="1"/>
          <p:nvPr/>
        </p:nvSpPr>
        <p:spPr>
          <a:xfrm>
            <a:off x="685800" y="1828800"/>
            <a:ext cx="2560320" cy="640080"/>
          </a:xfrm>
          <a:prstGeom prst="rect">
            <a:avLst/>
          </a:prstGeom>
          <a:noFill/>
        </p:spPr>
        <p:txBody>
          <a:bodyPr wrap="square" lIns="0" rIns="0" tIns="0" bIns="0" anchor="t">
            <a:spAutoFit/>
          </a:bodyPr>
          <a:lstStyle/>
          <a:p>
            <a:pPr algn="l">
              <a:lnSpc>
                <a:spcPct val="115000"/>
              </a:lnSpc>
            </a:pPr>
            <a:r>
              <a:rPr sz="3200" b="1">
                <a:solidFill>
                  <a:srgbClr val="7BD992"/>
                </a:solidFill>
                <a:latin typeface="Consolas"/>
              </a:rPr>
              <a:t>19.735</a:t>
            </a:r>
          </a:p>
        </p:txBody>
      </p:sp>
      <p:sp>
        <p:nvSpPr>
          <p:cNvPr id="7" name="TextBox 6"/>
          <p:cNvSpPr txBox="1"/>
          <p:nvPr/>
        </p:nvSpPr>
        <p:spPr>
          <a:xfrm>
            <a:off x="685800" y="248716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lecturas de 10 minutos</a:t>
            </a:r>
          </a:p>
          <a:p>
            <a:pPr algn="l">
              <a:lnSpc>
                <a:spcPct val="115000"/>
              </a:lnSpc>
            </a:pPr>
            <a:r>
              <a:rPr sz="1150" b="0">
                <a:solidFill>
                  <a:srgbClr val="9AA3B2"/>
                </a:solidFill>
                <a:latin typeface="Segoe UI"/>
              </a:rPr>
              <a:t>(11-ene a 27-may de 2016)</a:t>
            </a:r>
          </a:p>
        </p:txBody>
      </p:sp>
      <p:sp>
        <p:nvSpPr>
          <p:cNvPr id="8" name="TextBox 7"/>
          <p:cNvSpPr txBox="1"/>
          <p:nvPr/>
        </p:nvSpPr>
        <p:spPr>
          <a:xfrm>
            <a:off x="3429000" y="1828800"/>
            <a:ext cx="2560320" cy="640080"/>
          </a:xfrm>
          <a:prstGeom prst="rect">
            <a:avLst/>
          </a:prstGeom>
          <a:noFill/>
        </p:spPr>
        <p:txBody>
          <a:bodyPr wrap="square" lIns="0" rIns="0" tIns="0" bIns="0" anchor="t">
            <a:spAutoFit/>
          </a:bodyPr>
          <a:lstStyle/>
          <a:p>
            <a:pPr algn="l">
              <a:lnSpc>
                <a:spcPct val="115000"/>
              </a:lnSpc>
            </a:pPr>
            <a:r>
              <a:rPr sz="3200" b="1">
                <a:solidFill>
                  <a:srgbClr val="E6E9EF"/>
                </a:solidFill>
                <a:latin typeface="Consolas"/>
              </a:rPr>
              <a:t>136</a:t>
            </a:r>
          </a:p>
        </p:txBody>
      </p:sp>
      <p:sp>
        <p:nvSpPr>
          <p:cNvPr id="9" name="TextBox 8"/>
          <p:cNvSpPr txBox="1"/>
          <p:nvPr/>
        </p:nvSpPr>
        <p:spPr>
          <a:xfrm>
            <a:off x="3429000" y="248716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completos para el</a:t>
            </a:r>
          </a:p>
          <a:p>
            <a:pPr algn="l">
              <a:lnSpc>
                <a:spcPct val="115000"/>
              </a:lnSpc>
            </a:pPr>
            <a:r>
              <a:rPr sz="1150" b="0">
                <a:solidFill>
                  <a:srgbClr val="9AA3B2"/>
                </a:solidFill>
                <a:latin typeface="Segoe UI"/>
              </a:rPr>
              <a:t>análisis por día (110 + 26)</a:t>
            </a:r>
          </a:p>
        </p:txBody>
      </p:sp>
      <p:sp>
        <p:nvSpPr>
          <p:cNvPr id="10" name="TextBox 9"/>
          <p:cNvSpPr txBox="1"/>
          <p:nvPr/>
        </p:nvSpPr>
        <p:spPr>
          <a:xfrm>
            <a:off x="6172200" y="1828800"/>
            <a:ext cx="2560320" cy="640080"/>
          </a:xfrm>
          <a:prstGeom prst="rect">
            <a:avLst/>
          </a:prstGeom>
          <a:noFill/>
        </p:spPr>
        <p:txBody>
          <a:bodyPr wrap="square" lIns="0" rIns="0" tIns="0" bIns="0" anchor="t">
            <a:spAutoFit/>
          </a:bodyPr>
          <a:lstStyle/>
          <a:p>
            <a:pPr algn="l">
              <a:lnSpc>
                <a:spcPct val="115000"/>
              </a:lnSpc>
            </a:pPr>
            <a:r>
              <a:rPr sz="3200" b="1">
                <a:solidFill>
                  <a:srgbClr val="E6E9EF"/>
                </a:solidFill>
                <a:latin typeface="Consolas"/>
              </a:rPr>
              <a:t>29</a:t>
            </a:r>
          </a:p>
        </p:txBody>
      </p:sp>
      <p:sp>
        <p:nvSpPr>
          <p:cNvPr id="11" name="TextBox 10"/>
          <p:cNvSpPr txBox="1"/>
          <p:nvPr/>
        </p:nvSpPr>
        <p:spPr>
          <a:xfrm>
            <a:off x="6172200" y="248716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variables predictoras: hora,</a:t>
            </a:r>
          </a:p>
          <a:p>
            <a:pPr algn="l">
              <a:lnSpc>
                <a:spcPct val="115000"/>
              </a:lnSpc>
            </a:pPr>
            <a:r>
              <a:rPr sz="1150" b="0">
                <a:solidFill>
                  <a:srgbClr val="9AA3B2"/>
                </a:solidFill>
                <a:latin typeface="Segoe UI"/>
              </a:rPr>
              <a:t>luces, 18 sensores, 6 de clima</a:t>
            </a:r>
          </a:p>
        </p:txBody>
      </p:sp>
      <p:sp>
        <p:nvSpPr>
          <p:cNvPr id="12" name="TextBox 11"/>
          <p:cNvSpPr txBox="1"/>
          <p:nvPr/>
        </p:nvSpPr>
        <p:spPr>
          <a:xfrm>
            <a:off x="8915400" y="1828800"/>
            <a:ext cx="2560320" cy="640080"/>
          </a:xfrm>
          <a:prstGeom prst="rect">
            <a:avLst/>
          </a:prstGeom>
          <a:noFill/>
        </p:spPr>
        <p:txBody>
          <a:bodyPr wrap="square" lIns="0" rIns="0" tIns="0" bIns="0" anchor="t">
            <a:spAutoFit/>
          </a:bodyPr>
          <a:lstStyle/>
          <a:p>
            <a:pPr algn="l">
              <a:lnSpc>
                <a:spcPct val="115000"/>
              </a:lnSpc>
            </a:pPr>
            <a:r>
              <a:rPr sz="3200" b="1">
                <a:solidFill>
                  <a:srgbClr val="FFB877"/>
                </a:solidFill>
                <a:latin typeface="Consolas"/>
              </a:rPr>
              <a:t>200 Wh</a:t>
            </a:r>
          </a:p>
        </p:txBody>
      </p:sp>
      <p:sp>
        <p:nvSpPr>
          <p:cNvPr id="13" name="TextBox 12"/>
          <p:cNvSpPr txBox="1"/>
          <p:nvPr/>
        </p:nvSpPr>
        <p:spPr>
          <a:xfrm>
            <a:off x="8915400" y="248716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umbral de anomalía: p90 del</a:t>
            </a:r>
          </a:p>
          <a:p>
            <a:pPr algn="l">
              <a:lnSpc>
                <a:spcPct val="115000"/>
              </a:lnSpc>
            </a:pPr>
            <a:r>
              <a:rPr sz="1150" b="0">
                <a:solidFill>
                  <a:srgbClr val="9AA3B2"/>
                </a:solidFill>
                <a:latin typeface="Segoe UI"/>
              </a:rPr>
              <a:t>consumo de entrenamiento</a:t>
            </a:r>
          </a:p>
        </p:txBody>
      </p:sp>
      <p:sp>
        <p:nvSpPr>
          <p:cNvPr id="14" name="TextBox 13"/>
          <p:cNvSpPr txBox="1"/>
          <p:nvPr/>
        </p:nvSpPr>
        <p:spPr>
          <a:xfrm>
            <a:off x="685800" y="3429000"/>
            <a:ext cx="10820095" cy="2377440"/>
          </a:xfrm>
          <a:prstGeom prst="rect">
            <a:avLst/>
          </a:prstGeom>
          <a:noFill/>
        </p:spPr>
        <p:txBody>
          <a:bodyPr wrap="square" lIns="0" rIns="0" tIns="0" bIns="0" anchor="t">
            <a:spAutoFit/>
          </a:bodyPr>
          <a:lstStyle/>
          <a:p>
            <a:pPr algn="l">
              <a:lnSpc>
                <a:spcPct val="125000"/>
              </a:lnSpc>
            </a:pPr>
            <a:r>
              <a:rPr sz="1400" b="0">
                <a:solidFill>
                  <a:srgbClr val="C9D1DE"/>
                </a:solidFill>
                <a:latin typeface="Segoe UI"/>
              </a:rPr>
              <a:t>▸  Dos particiones siempre: aleatoria 80/20 (la del curso) y temporal (entrena hasta el 30-abr, prueba en mayo). La temporal decide.</a:t>
            </a:r>
          </a:p>
          <a:p>
            <a:pPr algn="l">
              <a:lnSpc>
                <a:spcPct val="125000"/>
              </a:lnSpc>
            </a:pPr>
            <a:r>
              <a:rPr sz="1400" b="0">
                <a:solidFill>
                  <a:srgbClr val="C9D1DE"/>
                </a:solidFill>
                <a:latin typeface="Segoe UI"/>
              </a:rPr>
              <a:t>▸  Retardos del parcial: lag1, lag2, lag3, lag6, media, máximo y desviación de la última hora, siempre con shift(1) para no mirar el presente.</a:t>
            </a:r>
          </a:p>
          <a:p>
            <a:pPr algn="l">
              <a:lnSpc>
                <a:spcPct val="125000"/>
              </a:lnSpc>
            </a:pPr>
            <a:r>
              <a:rPr sz="1400" b="0">
                <a:solidFill>
                  <a:srgbClr val="C9D1DE"/>
                </a:solidFill>
                <a:latin typeface="Segoe UI"/>
              </a:rPr>
              <a:t>▸  Semilla 42 en todo; hiperparámetros y parada temprana sin mirar nunca el conjunto de prueba.</a:t>
            </a:r>
          </a:p>
          <a:p>
            <a:pPr algn="l">
              <a:lnSpc>
                <a:spcPct val="125000"/>
              </a:lnSpc>
            </a:pPr>
            <a:r>
              <a:rPr sz="1400" b="0">
                <a:solidFill>
                  <a:srgbClr val="C9D1DE"/>
                </a:solidFill>
                <a:latin typeface="Segoe UI"/>
              </a:rPr>
              <a:t>▸  Se excluyen rv1 y rv2: son ruido inyectado por los autores del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CÓMO ESTÁ ORGANIZADA LA PRESENTACIÓN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Cuatro bloques, cuatro voces</a:t>
            </a:r>
          </a:p>
        </p:txBody>
      </p:sp>
      <p:sp>
        <p:nvSpPr>
          <p:cNvPr id="6" name="Rounded Rectangle 5"/>
          <p:cNvSpPr/>
          <p:nvPr/>
        </p:nvSpPr>
        <p:spPr>
          <a:xfrm>
            <a:off x="685800" y="1828800"/>
            <a:ext cx="2533573"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2076373" cy="548640"/>
          </a:xfrm>
          <a:prstGeom prst="rect">
            <a:avLst/>
          </a:prstGeom>
          <a:noFill/>
        </p:spPr>
        <p:txBody>
          <a:bodyPr wrap="square" lIns="0" rIns="0" tIns="0" bIns="0" anchor="t">
            <a:spAutoFit/>
          </a:bodyPr>
          <a:lstStyle/>
          <a:p>
            <a:pPr algn="l">
              <a:lnSpc>
                <a:spcPct val="115000"/>
              </a:lnSpc>
            </a:pPr>
            <a:r>
              <a:rPr sz="1800" b="0">
                <a:solidFill>
                  <a:srgbClr val="E6E9EF"/>
                </a:solidFill>
                <a:latin typeface="Segoe UI Semibold"/>
              </a:rPr>
              <a:t>01 · Boosting</a:t>
            </a:r>
          </a:p>
        </p:txBody>
      </p:sp>
      <p:sp>
        <p:nvSpPr>
          <p:cNvPr id="8" name="TextBox 7"/>
          <p:cNvSpPr txBox="1"/>
          <p:nvPr/>
        </p:nvSpPr>
        <p:spPr>
          <a:xfrm>
            <a:off x="914400" y="2606040"/>
            <a:ext cx="2076373" cy="914400"/>
          </a:xfrm>
          <a:prstGeom prst="rect">
            <a:avLst/>
          </a:prstGeom>
          <a:noFill/>
        </p:spPr>
        <p:txBody>
          <a:bodyPr wrap="square" lIns="0" rIns="0" tIns="0" bIns="0" anchor="t">
            <a:spAutoFit/>
          </a:bodyPr>
          <a:lstStyle/>
          <a:p>
            <a:pPr algn="l">
              <a:lnSpc>
                <a:spcPct val="115000"/>
              </a:lnSpc>
            </a:pPr>
            <a:r>
              <a:rPr sz="1350" b="0">
                <a:solidFill>
                  <a:srgbClr val="9AA3B2"/>
                </a:solidFill>
                <a:latin typeface="Segoe UI"/>
              </a:rPr>
              <a:t>Cinco métodos contra el simulador y el detector vigentes.</a:t>
            </a:r>
          </a:p>
        </p:txBody>
      </p:sp>
      <p:sp>
        <p:nvSpPr>
          <p:cNvPr id="9" name="TextBox 8"/>
          <p:cNvSpPr txBox="1"/>
          <p:nvPr/>
        </p:nvSpPr>
        <p:spPr>
          <a:xfrm>
            <a:off x="914400" y="3547872"/>
            <a:ext cx="2076373"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JOSE LEONARDO DIAZGRANADOS</a:t>
            </a:r>
          </a:p>
        </p:txBody>
      </p:sp>
      <p:sp>
        <p:nvSpPr>
          <p:cNvPr id="10" name="Rounded Rectangle 9"/>
          <p:cNvSpPr/>
          <p:nvPr/>
        </p:nvSpPr>
        <p:spPr>
          <a:xfrm>
            <a:off x="3447973" y="1828800"/>
            <a:ext cx="2533573"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6573" y="2029968"/>
            <a:ext cx="2076373" cy="548640"/>
          </a:xfrm>
          <a:prstGeom prst="rect">
            <a:avLst/>
          </a:prstGeom>
          <a:noFill/>
        </p:spPr>
        <p:txBody>
          <a:bodyPr wrap="square" lIns="0" rIns="0" tIns="0" bIns="0" anchor="t">
            <a:spAutoFit/>
          </a:bodyPr>
          <a:lstStyle/>
          <a:p>
            <a:pPr algn="l">
              <a:lnSpc>
                <a:spcPct val="115000"/>
              </a:lnSpc>
            </a:pPr>
            <a:r>
              <a:rPr sz="1800" b="0">
                <a:solidFill>
                  <a:srgbClr val="E6E9EF"/>
                </a:solidFill>
                <a:latin typeface="Segoe UI Semibold"/>
              </a:rPr>
              <a:t>02 · K-Means</a:t>
            </a:r>
          </a:p>
        </p:txBody>
      </p:sp>
      <p:sp>
        <p:nvSpPr>
          <p:cNvPr id="12" name="TextBox 11"/>
          <p:cNvSpPr txBox="1"/>
          <p:nvPr/>
        </p:nvSpPr>
        <p:spPr>
          <a:xfrm>
            <a:off x="3676573" y="2606040"/>
            <a:ext cx="2076373" cy="914400"/>
          </a:xfrm>
          <a:prstGeom prst="rect">
            <a:avLst/>
          </a:prstGeom>
          <a:noFill/>
        </p:spPr>
        <p:txBody>
          <a:bodyPr wrap="square" lIns="0" rIns="0" tIns="0" bIns="0" anchor="t">
            <a:spAutoFit/>
          </a:bodyPr>
          <a:lstStyle/>
          <a:p>
            <a:pPr algn="l">
              <a:lnSpc>
                <a:spcPct val="115000"/>
              </a:lnSpc>
            </a:pPr>
            <a:r>
              <a:rPr sz="1350" b="0">
                <a:solidFill>
                  <a:srgbClr val="9AA3B2"/>
                </a:solidFill>
                <a:latin typeface="Segoe UI"/>
              </a:rPr>
              <a:t>Los tipos de día del estado del MDP.</a:t>
            </a:r>
          </a:p>
        </p:txBody>
      </p:sp>
      <p:sp>
        <p:nvSpPr>
          <p:cNvPr id="13" name="TextBox 12"/>
          <p:cNvSpPr txBox="1"/>
          <p:nvPr/>
        </p:nvSpPr>
        <p:spPr>
          <a:xfrm>
            <a:off x="3676573" y="3547872"/>
            <a:ext cx="2076373"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SOFÍA LONDOÑO</a:t>
            </a:r>
          </a:p>
        </p:txBody>
      </p:sp>
      <p:sp>
        <p:nvSpPr>
          <p:cNvPr id="14" name="Rounded Rectangle 13"/>
          <p:cNvSpPr/>
          <p:nvPr/>
        </p:nvSpPr>
        <p:spPr>
          <a:xfrm>
            <a:off x="6210147" y="1828800"/>
            <a:ext cx="2533573"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8747" y="2029968"/>
            <a:ext cx="2076373" cy="548640"/>
          </a:xfrm>
          <a:prstGeom prst="rect">
            <a:avLst/>
          </a:prstGeom>
          <a:noFill/>
        </p:spPr>
        <p:txBody>
          <a:bodyPr wrap="square" lIns="0" rIns="0" tIns="0" bIns="0" anchor="t">
            <a:spAutoFit/>
          </a:bodyPr>
          <a:lstStyle/>
          <a:p>
            <a:pPr algn="l">
              <a:lnSpc>
                <a:spcPct val="115000"/>
              </a:lnSpc>
            </a:pPr>
            <a:r>
              <a:rPr sz="1800" b="0">
                <a:solidFill>
                  <a:srgbClr val="E6E9EF"/>
                </a:solidFill>
                <a:latin typeface="Segoe UI Semibold"/>
              </a:rPr>
              <a:t>03 · Jerárquico</a:t>
            </a:r>
          </a:p>
        </p:txBody>
      </p:sp>
      <p:sp>
        <p:nvSpPr>
          <p:cNvPr id="16" name="TextBox 15"/>
          <p:cNvSpPr txBox="1"/>
          <p:nvPr/>
        </p:nvSpPr>
        <p:spPr>
          <a:xfrm>
            <a:off x="6438747" y="2606040"/>
            <a:ext cx="2076373" cy="914400"/>
          </a:xfrm>
          <a:prstGeom prst="rect">
            <a:avLst/>
          </a:prstGeom>
          <a:noFill/>
        </p:spPr>
        <p:txBody>
          <a:bodyPr wrap="square" lIns="0" rIns="0" tIns="0" bIns="0" anchor="t">
            <a:spAutoFit/>
          </a:bodyPr>
          <a:lstStyle/>
          <a:p>
            <a:pPr algn="l">
              <a:lnSpc>
                <a:spcPct val="115000"/>
              </a:lnSpc>
            </a:pPr>
            <a:r>
              <a:rPr sz="1350" b="0">
                <a:solidFill>
                  <a:srgbClr val="9AA3B2"/>
                </a:solidFill>
                <a:latin typeface="Segoe UI"/>
              </a:rPr>
              <a:t>La auditoría de esos tipos y quién los asigna.</a:t>
            </a:r>
          </a:p>
        </p:txBody>
      </p:sp>
      <p:sp>
        <p:nvSpPr>
          <p:cNvPr id="17" name="TextBox 16"/>
          <p:cNvSpPr txBox="1"/>
          <p:nvPr/>
        </p:nvSpPr>
        <p:spPr>
          <a:xfrm>
            <a:off x="6438747" y="3547872"/>
            <a:ext cx="2076373"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ANDRÉS FELIPE CÉSPEDES RONDÓN</a:t>
            </a:r>
          </a:p>
        </p:txBody>
      </p:sp>
      <p:sp>
        <p:nvSpPr>
          <p:cNvPr id="18" name="Rounded Rectangle 17"/>
          <p:cNvSpPr/>
          <p:nvPr/>
        </p:nvSpPr>
        <p:spPr>
          <a:xfrm>
            <a:off x="8972321" y="1828800"/>
            <a:ext cx="2533573"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0921" y="2029968"/>
            <a:ext cx="2076373" cy="548640"/>
          </a:xfrm>
          <a:prstGeom prst="rect">
            <a:avLst/>
          </a:prstGeom>
          <a:noFill/>
        </p:spPr>
        <p:txBody>
          <a:bodyPr wrap="square" lIns="0" rIns="0" tIns="0" bIns="0" anchor="t">
            <a:spAutoFit/>
          </a:bodyPr>
          <a:lstStyle/>
          <a:p>
            <a:pPr algn="l">
              <a:lnSpc>
                <a:spcPct val="115000"/>
              </a:lnSpc>
            </a:pPr>
            <a:r>
              <a:rPr sz="1800" b="0">
                <a:solidFill>
                  <a:srgbClr val="E6E9EF"/>
                </a:solidFill>
                <a:latin typeface="Segoe UI Semibold"/>
              </a:rPr>
              <a:t>04 · DBSCAN</a:t>
            </a:r>
          </a:p>
        </p:txBody>
      </p:sp>
      <p:sp>
        <p:nvSpPr>
          <p:cNvPr id="20" name="TextBox 19"/>
          <p:cNvSpPr txBox="1"/>
          <p:nvPr/>
        </p:nvSpPr>
        <p:spPr>
          <a:xfrm>
            <a:off x="9200921" y="2606040"/>
            <a:ext cx="2076373" cy="914400"/>
          </a:xfrm>
          <a:prstGeom prst="rect">
            <a:avLst/>
          </a:prstGeom>
          <a:noFill/>
        </p:spPr>
        <p:txBody>
          <a:bodyPr wrap="square" lIns="0" rIns="0" tIns="0" bIns="0" anchor="t">
            <a:spAutoFit/>
          </a:bodyPr>
          <a:lstStyle/>
          <a:p>
            <a:pPr algn="l">
              <a:lnSpc>
                <a:spcPct val="115000"/>
              </a:lnSpc>
            </a:pPr>
            <a:r>
              <a:rPr sz="1350" b="0">
                <a:solidFill>
                  <a:srgbClr val="9AA3B2"/>
                </a:solidFill>
                <a:latin typeface="Segoe UI"/>
              </a:rPr>
              <a:t>Días atípicos y anomalía según la hora.</a:t>
            </a:r>
          </a:p>
        </p:txBody>
      </p:sp>
      <p:sp>
        <p:nvSpPr>
          <p:cNvPr id="21" name="TextBox 20"/>
          <p:cNvSpPr txBox="1"/>
          <p:nvPr/>
        </p:nvSpPr>
        <p:spPr>
          <a:xfrm>
            <a:off x="9200921" y="3547872"/>
            <a:ext cx="2076373"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ALEX DURAN</a:t>
            </a:r>
          </a:p>
        </p:txBody>
      </p:sp>
      <p:sp>
        <p:nvSpPr>
          <p:cNvPr id="22" name="Rectangle 21"/>
          <p:cNvSpPr/>
          <p:nvPr/>
        </p:nvSpPr>
        <p:spPr>
          <a:xfrm>
            <a:off x="685800" y="4251960"/>
            <a:ext cx="10820095"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251960"/>
            <a:ext cx="54864" cy="9144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4434840"/>
            <a:ext cx="10362895" cy="594360"/>
          </a:xfrm>
          <a:prstGeom prst="rect">
            <a:avLst/>
          </a:prstGeom>
          <a:noFill/>
        </p:spPr>
        <p:txBody>
          <a:bodyPr wrap="square" lIns="0" rIns="0" tIns="0" bIns="0" anchor="t">
            <a:spAutoFit/>
          </a:bodyPr>
          <a:lstStyle/>
          <a:p>
            <a:pPr algn="l">
              <a:lnSpc>
                <a:spcPct val="115000"/>
              </a:lnSpc>
            </a:pPr>
            <a:r>
              <a:rPr sz="1400" b="1">
                <a:solidFill>
                  <a:srgbClr val="E6E9EF"/>
                </a:solidFill>
                <a:latin typeface="Segoe UI"/>
              </a:rPr>
              <a:t>Cada bloque sigue el mismo orden:</a:t>
            </a:r>
            <a:r>
              <a:rPr sz="1400" b="0">
                <a:solidFill>
                  <a:srgbClr val="C9D1DE"/>
                </a:solidFill>
                <a:latin typeface="Segoe UI"/>
              </a:rPr>
              <a:t> qué pieza de Shiro decide → qué pide el enunciado → resultados → qué cambia en Shiro. Al final, un cierre común con lo que el corte dejó en la arquitectura.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06</a:t>
            </a:r>
          </a:p>
        </p:txBody>
      </p:sp>
      <p:sp>
        <p:nvSpPr>
          <p:cNvPr id="4" name="TextBox 3"/>
          <p:cNvSpPr txBox="1"/>
          <p:nvPr/>
        </p:nvSpPr>
        <p:spPr>
          <a:xfrm>
            <a:off x="685800" y="822960"/>
            <a:ext cx="54864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TALLER 1 · 2.º CORTE</a:t>
            </a:r>
          </a:p>
        </p:txBody>
      </p:sp>
      <p:sp>
        <p:nvSpPr>
          <p:cNvPr id="5" name="TextBox 4"/>
          <p:cNvSpPr txBox="1"/>
          <p:nvPr/>
        </p:nvSpPr>
        <p:spPr>
          <a:xfrm>
            <a:off x="685800" y="1188720"/>
            <a:ext cx="2743200" cy="1463040"/>
          </a:xfrm>
          <a:prstGeom prst="rect">
            <a:avLst/>
          </a:prstGeom>
          <a:noFill/>
        </p:spPr>
        <p:txBody>
          <a:bodyPr wrap="square" lIns="0" rIns="0" tIns="0" bIns="0" anchor="t">
            <a:spAutoFit/>
          </a:bodyPr>
          <a:lstStyle/>
          <a:p>
            <a:pPr algn="l">
              <a:lnSpc>
                <a:spcPct val="115000"/>
              </a:lnSpc>
            </a:pPr>
            <a:r>
              <a:rPr sz="9600" b="1">
                <a:solidFill>
                  <a:srgbClr val="7BD992"/>
                </a:solidFill>
                <a:latin typeface="Consolas"/>
              </a:rPr>
              <a:t>01</a:t>
            </a:r>
          </a:p>
        </p:txBody>
      </p:sp>
      <p:sp>
        <p:nvSpPr>
          <p:cNvPr id="6" name="TextBox 5"/>
          <p:cNvSpPr txBox="1"/>
          <p:nvPr/>
        </p:nvSpPr>
        <p:spPr>
          <a:xfrm>
            <a:off x="3337560" y="1417320"/>
            <a:ext cx="8046720" cy="822960"/>
          </a:xfrm>
          <a:prstGeom prst="rect">
            <a:avLst/>
          </a:prstGeom>
          <a:noFill/>
        </p:spPr>
        <p:txBody>
          <a:bodyPr wrap="square" lIns="0" rIns="0" tIns="0" bIns="0" anchor="t">
            <a:spAutoFit/>
          </a:bodyPr>
          <a:lstStyle/>
          <a:p>
            <a:pPr algn="l">
              <a:lnSpc>
                <a:spcPct val="115000"/>
              </a:lnSpc>
            </a:pPr>
            <a:r>
              <a:rPr sz="4000" b="0">
                <a:solidFill>
                  <a:srgbClr val="E6E9EF"/>
                </a:solidFill>
                <a:latin typeface="Segoe UI Semibold"/>
              </a:rPr>
              <a:t>Boosting</a:t>
            </a:r>
          </a:p>
        </p:txBody>
      </p:sp>
      <p:sp>
        <p:nvSpPr>
          <p:cNvPr id="7" name="TextBox 6"/>
          <p:cNvSpPr txBox="1"/>
          <p:nvPr/>
        </p:nvSpPr>
        <p:spPr>
          <a:xfrm>
            <a:off x="3337560" y="2240280"/>
            <a:ext cx="8046720" cy="822960"/>
          </a:xfrm>
          <a:prstGeom prst="rect">
            <a:avLst/>
          </a:prstGeom>
          <a:noFill/>
        </p:spPr>
        <p:txBody>
          <a:bodyPr wrap="square" lIns="0" rIns="0" tIns="0" bIns="0" anchor="t">
            <a:spAutoFit/>
          </a:bodyPr>
          <a:lstStyle/>
          <a:p>
            <a:pPr algn="l">
              <a:lnSpc>
                <a:spcPct val="115000"/>
              </a:lnSpc>
            </a:pPr>
            <a:r>
              <a:rPr sz="2000" b="0">
                <a:solidFill>
                  <a:srgbClr val="C9D1DE"/>
                </a:solidFill>
                <a:latin typeface="Segoe UI"/>
              </a:rPr>
              <a:t>¿Algún boosting reemplaza al simulador o al detector de Shiro?</a:t>
            </a:r>
          </a:p>
        </p:txBody>
      </p:sp>
      <p:sp>
        <p:nvSpPr>
          <p:cNvPr id="8" name="Rectangle 7"/>
          <p:cNvSpPr/>
          <p:nvPr/>
        </p:nvSpPr>
        <p:spPr>
          <a:xfrm>
            <a:off x="685800" y="34290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11880"/>
            <a:ext cx="36576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EL ENUNCIADO</a:t>
            </a:r>
          </a:p>
        </p:txBody>
      </p:sp>
      <p:sp>
        <p:nvSpPr>
          <p:cNvPr id="10" name="TextBox 9"/>
          <p:cNvSpPr txBox="1"/>
          <p:nvPr/>
        </p:nvSpPr>
        <p:spPr>
          <a:xfrm>
            <a:off x="685800" y="3931920"/>
            <a:ext cx="6766560" cy="14630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De forma exploratoria, aplicar sobre su contexto AdaBoost, Gradient Boosting (GBM), XGBoost, LightGBM y CatBoost, y mostrar resultados.</a:t>
            </a:r>
          </a:p>
        </p:txBody>
      </p:sp>
      <p:sp>
        <p:nvSpPr>
          <p:cNvPr id="11" name="TextBox 10"/>
          <p:cNvSpPr txBox="1"/>
          <p:nvPr/>
        </p:nvSpPr>
        <p:spPr>
          <a:xfrm>
            <a:off x="8001000" y="361188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PIEZA DE SHIRO</a:t>
            </a:r>
          </a:p>
        </p:txBody>
      </p:sp>
      <p:sp>
        <p:nvSpPr>
          <p:cNvPr id="12" name="TextBox 11"/>
          <p:cNvSpPr txBox="1"/>
          <p:nvPr/>
        </p:nvSpPr>
        <p:spPr>
          <a:xfrm>
            <a:off x="8001000" y="3931920"/>
            <a:ext cx="3474720" cy="91440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Simulador y detector (Guardian)</a:t>
            </a:r>
          </a:p>
        </p:txBody>
      </p:sp>
      <p:sp>
        <p:nvSpPr>
          <p:cNvPr id="13" name="TextBox 12"/>
          <p:cNvSpPr txBox="1"/>
          <p:nvPr/>
        </p:nvSpPr>
        <p:spPr>
          <a:xfrm>
            <a:off x="8001000" y="489204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PRESENTA</a:t>
            </a:r>
          </a:p>
        </p:txBody>
      </p:sp>
      <p:sp>
        <p:nvSpPr>
          <p:cNvPr id="14" name="TextBox 13"/>
          <p:cNvSpPr txBox="1"/>
          <p:nvPr/>
        </p:nvSpPr>
        <p:spPr>
          <a:xfrm>
            <a:off x="8001000" y="5212080"/>
            <a:ext cx="3474720" cy="457200"/>
          </a:xfrm>
          <a:prstGeom prst="rect">
            <a:avLst/>
          </a:prstGeom>
          <a:noFill/>
        </p:spPr>
        <p:txBody>
          <a:bodyPr wrap="square" lIns="0" rIns="0" tIns="0" bIns="0" anchor="t">
            <a:spAutoFit/>
          </a:bodyPr>
          <a:lstStyle/>
          <a:p>
            <a:pPr algn="l">
              <a:lnSpc>
                <a:spcPct val="115000"/>
              </a:lnSpc>
            </a:pPr>
            <a:r>
              <a:rPr sz="1400" b="0">
                <a:solidFill>
                  <a:srgbClr val="7BD992"/>
                </a:solidFill>
                <a:latin typeface="Segoe UI Semibold"/>
              </a:rPr>
              <a:t>Jose Leonardo Diazgranados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ENCUADRE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Dos piezas con dueño, y tres hipótesis antes de mirar</a:t>
            </a:r>
          </a:p>
        </p:txBody>
      </p:sp>
      <p:sp>
        <p:nvSpPr>
          <p:cNvPr id="6" name="TextBox 5"/>
          <p:cNvSpPr txBox="1"/>
          <p:nvPr/>
        </p:nvSpPr>
        <p:spPr>
          <a:xfrm>
            <a:off x="685800" y="1874519"/>
            <a:ext cx="27432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PIEZA DE SHIRO</a:t>
            </a:r>
          </a:p>
        </p:txBody>
      </p:sp>
      <p:sp>
        <p:nvSpPr>
          <p:cNvPr id="7" name="TextBox 6"/>
          <p:cNvSpPr txBox="1"/>
          <p:nvPr/>
        </p:nvSpPr>
        <p:spPr>
          <a:xfrm>
            <a:off x="3429000" y="1874519"/>
            <a:ext cx="32918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MODELO VIGENTE</a:t>
            </a:r>
          </a:p>
        </p:txBody>
      </p:sp>
      <p:sp>
        <p:nvSpPr>
          <p:cNvPr id="8" name="TextBox 7"/>
          <p:cNvSpPr txBox="1"/>
          <p:nvPr/>
        </p:nvSpPr>
        <p:spPr>
          <a:xfrm>
            <a:off x="6720840" y="1874519"/>
            <a:ext cx="47548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CIFRA A SUPERAR (PARTICIÓN TEMPORAL)</a:t>
            </a:r>
          </a:p>
        </p:txBody>
      </p:sp>
      <p:sp>
        <p:nvSpPr>
          <p:cNvPr id="9" name="Rectangle 8"/>
          <p:cNvSpPr/>
          <p:nvPr/>
        </p:nvSpPr>
        <p:spPr>
          <a:xfrm>
            <a:off x="685800" y="2167127"/>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03703"/>
            <a:ext cx="263347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Simulador</a:t>
            </a:r>
          </a:p>
        </p:txBody>
      </p:sp>
      <p:sp>
        <p:nvSpPr>
          <p:cNvPr id="11" name="TextBox 10"/>
          <p:cNvSpPr txBox="1"/>
          <p:nvPr/>
        </p:nvSpPr>
        <p:spPr>
          <a:xfrm>
            <a:off x="3520440" y="2203703"/>
            <a:ext cx="31821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Lineal + retardos</a:t>
            </a:r>
          </a:p>
        </p:txBody>
      </p:sp>
      <p:sp>
        <p:nvSpPr>
          <p:cNvPr id="12" name="TextBox 11"/>
          <p:cNvSpPr txBox="1"/>
          <p:nvPr/>
        </p:nvSpPr>
        <p:spPr>
          <a:xfrm>
            <a:off x="6812280" y="2203703"/>
            <a:ext cx="464515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R² 0,557 · MAE 28,17 Wh</a:t>
            </a:r>
          </a:p>
        </p:txBody>
      </p:sp>
      <p:sp>
        <p:nvSpPr>
          <p:cNvPr id="13" name="TextBox 12"/>
          <p:cNvSpPr txBox="1"/>
          <p:nvPr/>
        </p:nvSpPr>
        <p:spPr>
          <a:xfrm>
            <a:off x="777240" y="2660903"/>
            <a:ext cx="263347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Detector</a:t>
            </a:r>
          </a:p>
        </p:txBody>
      </p:sp>
      <p:sp>
        <p:nvSpPr>
          <p:cNvPr id="14" name="TextBox 13"/>
          <p:cNvSpPr txBox="1"/>
          <p:nvPr/>
        </p:nvSpPr>
        <p:spPr>
          <a:xfrm>
            <a:off x="3520440" y="2660903"/>
            <a:ext cx="31821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Random Forest + retardos</a:t>
            </a:r>
          </a:p>
        </p:txBody>
      </p:sp>
      <p:sp>
        <p:nvSpPr>
          <p:cNvPr id="15" name="TextBox 14"/>
          <p:cNvSpPr txBox="1"/>
          <p:nvPr/>
        </p:nvSpPr>
        <p:spPr>
          <a:xfrm>
            <a:off x="6812280" y="2660903"/>
            <a:ext cx="464515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86,9 % de episodios · 3,0 avisos/día</a:t>
            </a:r>
          </a:p>
        </p:txBody>
      </p:sp>
      <p:sp>
        <p:nvSpPr>
          <p:cNvPr id="16" name="Rounded Rectangle 15"/>
          <p:cNvSpPr/>
          <p:nvPr/>
        </p:nvSpPr>
        <p:spPr>
          <a:xfrm>
            <a:off x="685800" y="3520440"/>
            <a:ext cx="3454298"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21608"/>
            <a:ext cx="2997098" cy="548640"/>
          </a:xfrm>
          <a:prstGeom prst="rect">
            <a:avLst/>
          </a:prstGeom>
          <a:noFill/>
        </p:spPr>
        <p:txBody>
          <a:bodyPr wrap="square" lIns="0" rIns="0" tIns="0" bIns="0" anchor="t">
            <a:spAutoFit/>
          </a:bodyPr>
          <a:lstStyle/>
          <a:p>
            <a:pPr algn="l">
              <a:lnSpc>
                <a:spcPct val="115000"/>
              </a:lnSpc>
            </a:pPr>
            <a:r>
              <a:rPr sz="2000" b="0">
                <a:solidFill>
                  <a:srgbClr val="E6E9EF"/>
                </a:solidFill>
                <a:latin typeface="Segoe UI Semibold"/>
              </a:rPr>
              <a:t>H1</a:t>
            </a:r>
          </a:p>
        </p:txBody>
      </p:sp>
      <p:sp>
        <p:nvSpPr>
          <p:cNvPr id="18" name="TextBox 17"/>
          <p:cNvSpPr txBox="1"/>
          <p:nvPr/>
        </p:nvSpPr>
        <p:spPr>
          <a:xfrm>
            <a:off x="914400" y="4297680"/>
            <a:ext cx="2997098"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Los boostings de árboles no extrapolarán: fallarán en mayo, como el bosque (sesgo de +64 Wh).</a:t>
            </a:r>
          </a:p>
        </p:txBody>
      </p:sp>
      <p:sp>
        <p:nvSpPr>
          <p:cNvPr id="19" name="TextBox 18"/>
          <p:cNvSpPr txBox="1"/>
          <p:nvPr/>
        </p:nvSpPr>
        <p:spPr>
          <a:xfrm>
            <a:off x="914400" y="51480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HIPÓTESIS</a:t>
            </a:r>
          </a:p>
        </p:txBody>
      </p:sp>
      <p:sp>
        <p:nvSpPr>
          <p:cNvPr id="20" name="Rounded Rectangle 19"/>
          <p:cNvSpPr/>
          <p:nvPr/>
        </p:nvSpPr>
        <p:spPr>
          <a:xfrm>
            <a:off x="4368698" y="3520440"/>
            <a:ext cx="3454298"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7298" y="3721608"/>
            <a:ext cx="2997098" cy="548640"/>
          </a:xfrm>
          <a:prstGeom prst="rect">
            <a:avLst/>
          </a:prstGeom>
          <a:noFill/>
        </p:spPr>
        <p:txBody>
          <a:bodyPr wrap="square" lIns="0" rIns="0" tIns="0" bIns="0" anchor="t">
            <a:spAutoFit/>
          </a:bodyPr>
          <a:lstStyle/>
          <a:p>
            <a:pPr algn="l">
              <a:lnSpc>
                <a:spcPct val="115000"/>
              </a:lnSpc>
            </a:pPr>
            <a:r>
              <a:rPr sz="2000" b="0">
                <a:solidFill>
                  <a:srgbClr val="E6E9EF"/>
                </a:solidFill>
                <a:latin typeface="Segoe UI Semibold"/>
              </a:rPr>
              <a:t>H2</a:t>
            </a:r>
          </a:p>
        </p:txBody>
      </p:sp>
      <p:sp>
        <p:nvSpPr>
          <p:cNvPr id="22" name="TextBox 21"/>
          <p:cNvSpPr txBox="1"/>
          <p:nvPr/>
        </p:nvSpPr>
        <p:spPr>
          <a:xfrm>
            <a:off x="4597298" y="4297680"/>
            <a:ext cx="2997098"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LightGBM con hojas lineales sí podría extrapolar: el mejor candidato posible a simulador.</a:t>
            </a:r>
          </a:p>
        </p:txBody>
      </p:sp>
      <p:sp>
        <p:nvSpPr>
          <p:cNvPr id="23" name="TextBox 22"/>
          <p:cNvSpPr txBox="1"/>
          <p:nvPr/>
        </p:nvSpPr>
        <p:spPr>
          <a:xfrm>
            <a:off x="4597298" y="51480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HIPÓTESIS</a:t>
            </a:r>
          </a:p>
        </p:txBody>
      </p:sp>
      <p:sp>
        <p:nvSpPr>
          <p:cNvPr id="24" name="Rounded Rectangle 23"/>
          <p:cNvSpPr/>
          <p:nvPr/>
        </p:nvSpPr>
        <p:spPr>
          <a:xfrm>
            <a:off x="8051596" y="3520440"/>
            <a:ext cx="3454298"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0196" y="3721608"/>
            <a:ext cx="2997098" cy="548640"/>
          </a:xfrm>
          <a:prstGeom prst="rect">
            <a:avLst/>
          </a:prstGeom>
          <a:noFill/>
        </p:spPr>
        <p:txBody>
          <a:bodyPr wrap="square" lIns="0" rIns="0" tIns="0" bIns="0" anchor="t">
            <a:spAutoFit/>
          </a:bodyPr>
          <a:lstStyle/>
          <a:p>
            <a:pPr algn="l">
              <a:lnSpc>
                <a:spcPct val="115000"/>
              </a:lnSpc>
            </a:pPr>
            <a:r>
              <a:rPr sz="2000" b="0">
                <a:solidFill>
                  <a:srgbClr val="E6E9EF"/>
                </a:solidFill>
                <a:latin typeface="Segoe UI Semibold"/>
              </a:rPr>
              <a:t>H3</a:t>
            </a:r>
          </a:p>
        </p:txBody>
      </p:sp>
      <p:sp>
        <p:nvSpPr>
          <p:cNvPr id="26" name="TextBox 25"/>
          <p:cNvSpPr txBox="1"/>
          <p:nvPr/>
        </p:nvSpPr>
        <p:spPr>
          <a:xfrm>
            <a:off x="8280196" y="4297680"/>
            <a:ext cx="2997098"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AdaBoost será el más frágil: repondera los picos más difíciles hasta que dominan.</a:t>
            </a:r>
          </a:p>
        </p:txBody>
      </p:sp>
      <p:sp>
        <p:nvSpPr>
          <p:cNvPr id="27" name="TextBox 26"/>
          <p:cNvSpPr txBox="1"/>
          <p:nvPr/>
        </p:nvSpPr>
        <p:spPr>
          <a:xfrm>
            <a:off x="8280196" y="51480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HIPÓTESIS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LOS CINCO MÉTODOS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Todos encadenan árboles; difieren en qué corrige cada uno</a:t>
            </a:r>
          </a:p>
        </p:txBody>
      </p:sp>
      <p:sp>
        <p:nvSpPr>
          <p:cNvPr id="6" name="TextBox 5"/>
          <p:cNvSpPr txBox="1"/>
          <p:nvPr/>
        </p:nvSpPr>
        <p:spPr>
          <a:xfrm>
            <a:off x="685800" y="1874519"/>
            <a:ext cx="21031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MÉTODO</a:t>
            </a:r>
          </a:p>
        </p:txBody>
      </p:sp>
      <p:sp>
        <p:nvSpPr>
          <p:cNvPr id="7" name="TextBox 6"/>
          <p:cNvSpPr txBox="1"/>
          <p:nvPr/>
        </p:nvSpPr>
        <p:spPr>
          <a:xfrm>
            <a:off x="2788920" y="1874519"/>
            <a:ext cx="4206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QUÉ CORRIGE CADA ÁRBOL NUEVO</a:t>
            </a:r>
          </a:p>
        </p:txBody>
      </p:sp>
      <p:sp>
        <p:nvSpPr>
          <p:cNvPr id="8" name="TextBox 7"/>
          <p:cNvSpPr txBox="1"/>
          <p:nvPr/>
        </p:nvSpPr>
        <p:spPr>
          <a:xfrm>
            <a:off x="6995160" y="1874519"/>
            <a:ext cx="44805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LO QUE LO DISTINGUE</a:t>
            </a:r>
          </a:p>
        </p:txBody>
      </p:sp>
      <p:sp>
        <p:nvSpPr>
          <p:cNvPr id="9" name="Rectangle 8"/>
          <p:cNvSpPr/>
          <p:nvPr/>
        </p:nvSpPr>
        <p:spPr>
          <a:xfrm>
            <a:off x="685800" y="2167127"/>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03703"/>
            <a:ext cx="199339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AdaBoost</a:t>
            </a:r>
          </a:p>
        </p:txBody>
      </p:sp>
      <p:sp>
        <p:nvSpPr>
          <p:cNvPr id="11" name="TextBox 10"/>
          <p:cNvSpPr txBox="1"/>
          <p:nvPr/>
        </p:nvSpPr>
        <p:spPr>
          <a:xfrm>
            <a:off x="2880360" y="2203703"/>
            <a:ext cx="40965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Los datos, reponderados</a:t>
            </a:r>
          </a:p>
        </p:txBody>
      </p:sp>
      <p:sp>
        <p:nvSpPr>
          <p:cNvPr id="12" name="TextBox 11"/>
          <p:cNvSpPr txBox="1"/>
          <p:nvPr/>
        </p:nvSpPr>
        <p:spPr>
          <a:xfrm>
            <a:off x="7086600" y="2203703"/>
            <a:ext cx="437083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El primero; persigue los extremos</a:t>
            </a:r>
          </a:p>
        </p:txBody>
      </p:sp>
      <p:sp>
        <p:nvSpPr>
          <p:cNvPr id="13" name="TextBox 12"/>
          <p:cNvSpPr txBox="1"/>
          <p:nvPr/>
        </p:nvSpPr>
        <p:spPr>
          <a:xfrm>
            <a:off x="777240" y="2660903"/>
            <a:ext cx="199339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GBM</a:t>
            </a:r>
          </a:p>
        </p:txBody>
      </p:sp>
      <p:sp>
        <p:nvSpPr>
          <p:cNvPr id="14" name="TextBox 13"/>
          <p:cNvSpPr txBox="1"/>
          <p:nvPr/>
        </p:nvSpPr>
        <p:spPr>
          <a:xfrm>
            <a:off x="2880360" y="2660903"/>
            <a:ext cx="40965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Los residuos (gradiente)</a:t>
            </a:r>
          </a:p>
        </p:txBody>
      </p:sp>
      <p:sp>
        <p:nvSpPr>
          <p:cNvPr id="15" name="TextBox 14"/>
          <p:cNvSpPr txBox="1"/>
          <p:nvPr/>
        </p:nvSpPr>
        <p:spPr>
          <a:xfrm>
            <a:off x="7086600" y="2660903"/>
            <a:ext cx="437083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Cualquier pérdida; secuencial y lento</a:t>
            </a:r>
          </a:p>
        </p:txBody>
      </p:sp>
      <p:sp>
        <p:nvSpPr>
          <p:cNvPr id="16" name="TextBox 15"/>
          <p:cNvSpPr txBox="1"/>
          <p:nvPr/>
        </p:nvSpPr>
        <p:spPr>
          <a:xfrm>
            <a:off x="777240" y="3118103"/>
            <a:ext cx="199339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XGBoost</a:t>
            </a:r>
          </a:p>
        </p:txBody>
      </p:sp>
      <p:sp>
        <p:nvSpPr>
          <p:cNvPr id="17" name="TextBox 16"/>
          <p:cNvSpPr txBox="1"/>
          <p:nvPr/>
        </p:nvSpPr>
        <p:spPr>
          <a:xfrm>
            <a:off x="2880360" y="3118103"/>
            <a:ext cx="40965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Residuos + segunda derivada</a:t>
            </a:r>
          </a:p>
        </p:txBody>
      </p:sp>
      <p:sp>
        <p:nvSpPr>
          <p:cNvPr id="18" name="TextBox 17"/>
          <p:cNvSpPr txBox="1"/>
          <p:nvPr/>
        </p:nvSpPr>
        <p:spPr>
          <a:xfrm>
            <a:off x="7086600" y="3118103"/>
            <a:ext cx="437083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Regularización y paralelismo</a:t>
            </a:r>
          </a:p>
        </p:txBody>
      </p:sp>
      <p:sp>
        <p:nvSpPr>
          <p:cNvPr id="19" name="TextBox 18"/>
          <p:cNvSpPr txBox="1"/>
          <p:nvPr/>
        </p:nvSpPr>
        <p:spPr>
          <a:xfrm>
            <a:off x="777240" y="3575303"/>
            <a:ext cx="199339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LightGBM</a:t>
            </a:r>
          </a:p>
        </p:txBody>
      </p:sp>
      <p:sp>
        <p:nvSpPr>
          <p:cNvPr id="20" name="TextBox 19"/>
          <p:cNvSpPr txBox="1"/>
          <p:nvPr/>
        </p:nvSpPr>
        <p:spPr>
          <a:xfrm>
            <a:off x="2880360" y="3575303"/>
            <a:ext cx="40965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Residuos, hoja a hoja</a:t>
            </a:r>
          </a:p>
        </p:txBody>
      </p:sp>
      <p:sp>
        <p:nvSpPr>
          <p:cNvPr id="21" name="TextBox 20"/>
          <p:cNvSpPr txBox="1"/>
          <p:nvPr/>
        </p:nvSpPr>
        <p:spPr>
          <a:xfrm>
            <a:off x="7086600" y="3575303"/>
            <a:ext cx="437083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El más rápido; admite hojas lineales</a:t>
            </a:r>
          </a:p>
        </p:txBody>
      </p:sp>
      <p:sp>
        <p:nvSpPr>
          <p:cNvPr id="22" name="TextBox 21"/>
          <p:cNvSpPr txBox="1"/>
          <p:nvPr/>
        </p:nvSpPr>
        <p:spPr>
          <a:xfrm>
            <a:off x="777240" y="4032503"/>
            <a:ext cx="199339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CatBoost</a:t>
            </a:r>
          </a:p>
        </p:txBody>
      </p:sp>
      <p:sp>
        <p:nvSpPr>
          <p:cNvPr id="23" name="TextBox 22"/>
          <p:cNvSpPr txBox="1"/>
          <p:nvPr/>
        </p:nvSpPr>
        <p:spPr>
          <a:xfrm>
            <a:off x="2880360" y="4032503"/>
            <a:ext cx="409651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Residuos, boosting ordenado</a:t>
            </a:r>
          </a:p>
        </p:txBody>
      </p:sp>
      <p:sp>
        <p:nvSpPr>
          <p:cNvPr id="24" name="TextBox 23"/>
          <p:cNvSpPr txBox="1"/>
          <p:nvPr/>
        </p:nvSpPr>
        <p:spPr>
          <a:xfrm>
            <a:off x="7086600" y="4032503"/>
            <a:ext cx="4370832" cy="457200"/>
          </a:xfrm>
          <a:prstGeom prst="rect">
            <a:avLst/>
          </a:prstGeom>
          <a:noFill/>
        </p:spPr>
        <p:txBody>
          <a:bodyPr wrap="square" lIns="0" rIns="0" tIns="0" bIns="0" anchor="ctr">
            <a:spAutoFit/>
          </a:bodyPr>
          <a:lstStyle/>
          <a:p>
            <a:pPr algn="l">
              <a:lnSpc>
                <a:spcPct val="115000"/>
              </a:lnSpc>
            </a:pPr>
            <a:r>
              <a:rPr sz="1400" b="0">
                <a:solidFill>
                  <a:srgbClr val="C9D1DE"/>
                </a:solidFill>
                <a:latin typeface="Segoe UI"/>
              </a:rPr>
              <a:t>Categóricas nativas sin fuga</a:t>
            </a:r>
          </a:p>
        </p:txBody>
      </p:sp>
      <p:sp>
        <p:nvSpPr>
          <p:cNvPr id="25" name="Rectangle 24"/>
          <p:cNvSpPr/>
          <p:nvPr/>
        </p:nvSpPr>
        <p:spPr>
          <a:xfrm>
            <a:off x="685800" y="4846320"/>
            <a:ext cx="10820095" cy="10058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846320"/>
            <a:ext cx="54864" cy="10058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5029200"/>
            <a:ext cx="10362895" cy="68580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Frente a Random Forest.</a:t>
            </a:r>
            <a:r>
              <a:rPr sz="1350" b="0">
                <a:solidFill>
                  <a:srgbClr val="C9D1DE"/>
                </a:solidFill>
                <a:latin typeface="Segoe UI"/>
              </a:rPr>
              <a:t> El bosque reduce varianza: promedia árboles profundos e independientes. El boosting reduce sesgo: suma árboles pequeños que se corrigen entre sí. Por eso suele ser más preciso, y por eso puede sobreajustar si no se detiene a tiempo.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PROTOCOLO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Comparables entre sí, y sin mirar nunca mayo</a:t>
            </a:r>
          </a:p>
        </p:txBody>
      </p:sp>
      <p:sp>
        <p:nvSpPr>
          <p:cNvPr id="6" name="TextBox 5"/>
          <p:cNvSpPr txBox="1"/>
          <p:nvPr/>
        </p:nvSpPr>
        <p:spPr>
          <a:xfrm>
            <a:off x="685800" y="1828800"/>
            <a:ext cx="6949440" cy="4023360"/>
          </a:xfrm>
          <a:prstGeom prst="rect">
            <a:avLst/>
          </a:prstGeom>
          <a:noFill/>
        </p:spPr>
        <p:txBody>
          <a:bodyPr wrap="square" lIns="0" rIns="0" tIns="0" bIns="0" anchor="t">
            <a:spAutoFit/>
          </a:bodyPr>
          <a:lstStyle/>
          <a:p>
            <a:pPr algn="l">
              <a:lnSpc>
                <a:spcPct val="125000"/>
              </a:lnSpc>
            </a:pPr>
            <a:r>
              <a:rPr sz="1400" b="0">
                <a:solidFill>
                  <a:srgbClr val="C9D1DE"/>
                </a:solidFill>
                <a:latin typeface="Segoe UI"/>
              </a:rPr>
              <a:t>▸  Mismas 29 variables, mismo umbral (200 Wh), semilla 42.</a:t>
            </a:r>
          </a:p>
          <a:p>
            <a:pPr algn="l">
              <a:lnSpc>
                <a:spcPct val="125000"/>
              </a:lnSpc>
            </a:pPr>
            <a:r>
              <a:rPr sz="1400" b="0">
                <a:solidFill>
                  <a:srgbClr val="C9D1DE"/>
                </a:solidFill>
                <a:latin typeface="Segoe UI"/>
              </a:rPr>
              <a:t>▸  Tres configuraciones: aleatoria, temporal, y temporal con retardos (la que decide).</a:t>
            </a:r>
          </a:p>
          <a:p>
            <a:pPr algn="l">
              <a:lnSpc>
                <a:spcPct val="125000"/>
              </a:lnSpc>
            </a:pPr>
            <a:r>
              <a:rPr sz="1400" b="0">
                <a:solidFill>
                  <a:srgbClr val="C9D1DE"/>
                </a:solidFill>
                <a:latin typeface="Segoe UI"/>
              </a:rPr>
              <a:t>▸  El número de árboles se elige con una validación sacada del entrenamiento: el último 15 % cronológico en la temporal. Parada temprana en XGBoost, LightGBM y CatBoost; predicciones por etapas en AdaBoost y GBM.</a:t>
            </a:r>
          </a:p>
          <a:p>
            <a:pPr algn="l">
              <a:lnSpc>
                <a:spcPct val="125000"/>
              </a:lnSpc>
            </a:pPr>
            <a:r>
              <a:rPr sz="1400" b="0">
                <a:solidFill>
                  <a:srgbClr val="C9D1DE"/>
                </a:solidFill>
                <a:latin typeface="Segoe UI"/>
              </a:rPr>
              <a:t>▸  Desbalance con la herramienta nativa de cada librería (scale_pos_weight, is_unbalance, auto_class_weights, pesos por muestra).</a:t>
            </a:r>
          </a:p>
          <a:p>
            <a:pPr algn="l">
              <a:lnSpc>
                <a:spcPct val="125000"/>
              </a:lnSpc>
            </a:pPr>
            <a:r>
              <a:rPr sz="1400" b="0">
                <a:solidFill>
                  <a:srgbClr val="C9D1DE"/>
                </a:solidFill>
                <a:latin typeface="Segoe UI"/>
              </a:rPr>
              <a:t>▸  Clasificación detenida por average precision, no por log-loss.</a:t>
            </a:r>
          </a:p>
          <a:p>
            <a:pPr algn="l">
              <a:lnSpc>
                <a:spcPct val="125000"/>
              </a:lnSpc>
            </a:pPr>
            <a:r>
              <a:rPr sz="1400" b="0">
                <a:solidFill>
                  <a:srgbClr val="C9D1DE"/>
                </a:solidFill>
                <a:latin typeface="Segoe UI"/>
              </a:rPr>
              <a:t>▸  Referencias recalculadas en el mismo cuaderno: Random Forest de 200 árboles y regresión lineal.</a:t>
            </a:r>
          </a:p>
        </p:txBody>
      </p:sp>
      <p:sp>
        <p:nvSpPr>
          <p:cNvPr id="7" name="Rectangle 6"/>
          <p:cNvSpPr/>
          <p:nvPr/>
        </p:nvSpPr>
        <p:spPr>
          <a:xfrm>
            <a:off x="7909560" y="1828800"/>
            <a:ext cx="3566160" cy="29260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09560" y="1828800"/>
            <a:ext cx="54864" cy="29260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2011680"/>
            <a:ext cx="3108960" cy="26060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Una corrección que se declara.</a:t>
            </a:r>
            <a:r>
              <a:rPr sz="1250" b="0">
                <a:solidFill>
                  <a:srgbClr val="C9D1DE"/>
                </a:solidFill>
                <a:latin typeface="Segoe UI"/>
              </a:rPr>
              <a:t> La primera versión detenía la clasificación por log-loss, y LightGBM paró a los 5 árboles con F1 = 0,000: el balanceo de clases empeora el log-loss sobre una validación sin pesos. Era un artefacto del protocolo, no del modelo. Con average precision desaparece.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REGRESIÓN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Gana la aleatoria, empata en la temporal, no reemplaza a la lineal</a:t>
            </a:r>
          </a:p>
        </p:txBody>
      </p:sp>
      <p:sp>
        <p:nvSpPr>
          <p:cNvPr id="6" name="Rounded Rectangle 5"/>
          <p:cNvSpPr/>
          <p:nvPr/>
        </p:nvSpPr>
        <p:spPr>
          <a:xfrm>
            <a:off x="1040199" y="1655064"/>
            <a:ext cx="10081121" cy="33192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1_r2_escenarios.png"/>
          <p:cNvPicPr>
            <a:picLocks noChangeAspect="1"/>
          </p:cNvPicPr>
          <p:nvPr/>
        </p:nvPicPr>
        <p:blipFill>
          <a:blip r:embed="rId2"/>
          <a:stretch>
            <a:fillRect/>
          </a:stretch>
        </p:blipFill>
        <p:spPr>
          <a:xfrm>
            <a:off x="1122495" y="1737360"/>
            <a:ext cx="9916529" cy="3154680"/>
          </a:xfrm>
          <a:prstGeom prst="rect">
            <a:avLst/>
          </a:prstGeom>
        </p:spPr>
      </p:pic>
      <p:sp>
        <p:nvSpPr>
          <p:cNvPr id="8" name="TextBox 7"/>
          <p:cNvSpPr txBox="1"/>
          <p:nvPr/>
        </p:nvSpPr>
        <p:spPr>
          <a:xfrm>
            <a:off x="685800" y="5074920"/>
            <a:ext cx="338328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0,598</a:t>
            </a:r>
          </a:p>
        </p:txBody>
      </p:sp>
      <p:sp>
        <p:nvSpPr>
          <p:cNvPr id="9" name="TextBox 8"/>
          <p:cNvSpPr txBox="1"/>
          <p:nvPr/>
        </p:nvSpPr>
        <p:spPr>
          <a:xfrm>
            <a:off x="685800" y="573328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LightGBM en la aleatoria: el mejor</a:t>
            </a:r>
          </a:p>
          <a:p>
            <a:pPr algn="l">
              <a:lnSpc>
                <a:spcPct val="115000"/>
              </a:lnSpc>
            </a:pPr>
            <a:r>
              <a:rPr sz="1150" b="0">
                <a:solidFill>
                  <a:srgbClr val="9AA3B2"/>
                </a:solidFill>
                <a:latin typeface="Segoe UI"/>
              </a:rPr>
              <a:t>regresor del proyecto (RF 0,567)</a:t>
            </a:r>
          </a:p>
        </p:txBody>
      </p:sp>
      <p:sp>
        <p:nvSpPr>
          <p:cNvPr id="10" name="TextBox 9"/>
          <p:cNvSpPr txBox="1"/>
          <p:nvPr/>
        </p:nvSpPr>
        <p:spPr>
          <a:xfrm>
            <a:off x="4343400" y="5074920"/>
            <a:ext cx="347472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0,554 · 0,557</a:t>
            </a:r>
          </a:p>
        </p:txBody>
      </p:sp>
      <p:sp>
        <p:nvSpPr>
          <p:cNvPr id="11" name="TextBox 10"/>
          <p:cNvSpPr txBox="1"/>
          <p:nvPr/>
        </p:nvSpPr>
        <p:spPr>
          <a:xfrm>
            <a:off x="4343400" y="573328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LightGBM frente a la lineal en la</a:t>
            </a:r>
          </a:p>
          <a:p>
            <a:pPr algn="l">
              <a:lnSpc>
                <a:spcPct val="115000"/>
              </a:lnSpc>
            </a:pPr>
            <a:r>
              <a:rPr sz="1150" b="0">
                <a:solidFill>
                  <a:srgbClr val="9AA3B2"/>
                </a:solidFill>
                <a:latin typeface="Segoe UI"/>
              </a:rPr>
              <a:t>temporal con retardos: empate</a:t>
            </a:r>
          </a:p>
        </p:txBody>
      </p:sp>
      <p:sp>
        <p:nvSpPr>
          <p:cNvPr id="12" name="TextBox 11"/>
          <p:cNvSpPr txBox="1"/>
          <p:nvPr/>
        </p:nvSpPr>
        <p:spPr>
          <a:xfrm>
            <a:off x="8092440" y="5074920"/>
            <a:ext cx="338328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+9,1 · +0,5 Wh</a:t>
            </a:r>
          </a:p>
        </p:txBody>
      </p:sp>
      <p:sp>
        <p:nvSpPr>
          <p:cNvPr id="13" name="TextBox 12"/>
          <p:cNvSpPr txBox="1"/>
          <p:nvPr/>
        </p:nvSpPr>
        <p:spPr>
          <a:xfrm>
            <a:off x="8092440" y="573328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sesgo sobre mayo: LightGBM</a:t>
            </a:r>
          </a:p>
          <a:p>
            <a:pPr algn="l">
              <a:lnSpc>
                <a:spcPct val="115000"/>
              </a:lnSpc>
            </a:pPr>
            <a:r>
              <a:rPr sz="1150" b="0">
                <a:solidFill>
                  <a:srgbClr val="9AA3B2"/>
                </a:solidFill>
                <a:latin typeface="Segoe UI"/>
              </a:rPr>
              <a:t>frente a la lineal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REGRESIÓN, LA TABLA COMPLETA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Nueve modelos, tres configuraciones</a:t>
            </a:r>
          </a:p>
        </p:txBody>
      </p:sp>
      <p:sp>
        <p:nvSpPr>
          <p:cNvPr id="6" name="TextBox 5"/>
          <p:cNvSpPr txBox="1"/>
          <p:nvPr/>
        </p:nvSpPr>
        <p:spPr>
          <a:xfrm>
            <a:off x="685800" y="1783080"/>
            <a:ext cx="32918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MODELO</a:t>
            </a:r>
          </a:p>
        </p:txBody>
      </p:sp>
      <p:sp>
        <p:nvSpPr>
          <p:cNvPr id="7" name="TextBox 6"/>
          <p:cNvSpPr txBox="1"/>
          <p:nvPr/>
        </p:nvSpPr>
        <p:spPr>
          <a:xfrm>
            <a:off x="3977640" y="178308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R² ALEATORIA</a:t>
            </a:r>
          </a:p>
        </p:txBody>
      </p:sp>
      <p:sp>
        <p:nvSpPr>
          <p:cNvPr id="8" name="TextBox 7"/>
          <p:cNvSpPr txBox="1"/>
          <p:nvPr/>
        </p:nvSpPr>
        <p:spPr>
          <a:xfrm>
            <a:off x="5715000" y="178308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R² TEMPORAL</a:t>
            </a:r>
          </a:p>
        </p:txBody>
      </p:sp>
      <p:sp>
        <p:nvSpPr>
          <p:cNvPr id="9" name="TextBox 8"/>
          <p:cNvSpPr txBox="1"/>
          <p:nvPr/>
        </p:nvSpPr>
        <p:spPr>
          <a:xfrm>
            <a:off x="7452360" y="1783080"/>
            <a:ext cx="23774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R² TEMPORAL + RETARDOS</a:t>
            </a:r>
          </a:p>
        </p:txBody>
      </p:sp>
      <p:sp>
        <p:nvSpPr>
          <p:cNvPr id="10" name="TextBox 9"/>
          <p:cNvSpPr txBox="1"/>
          <p:nvPr/>
        </p:nvSpPr>
        <p:spPr>
          <a:xfrm>
            <a:off x="9829800" y="1783080"/>
            <a:ext cx="16459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SESGO EN MAYO*</a:t>
            </a:r>
          </a:p>
        </p:txBody>
      </p:sp>
      <p:sp>
        <p:nvSpPr>
          <p:cNvPr id="11" name="Rectangle 10"/>
          <p:cNvSpPr/>
          <p:nvPr/>
        </p:nvSpPr>
        <p:spPr>
          <a:xfrm>
            <a:off x="685800" y="2075688"/>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12264"/>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AdaBoost</a:t>
            </a:r>
          </a:p>
        </p:txBody>
      </p:sp>
      <p:sp>
        <p:nvSpPr>
          <p:cNvPr id="13" name="TextBox 12"/>
          <p:cNvSpPr txBox="1"/>
          <p:nvPr/>
        </p:nvSpPr>
        <p:spPr>
          <a:xfrm>
            <a:off x="3977640" y="2112264"/>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0,211</a:t>
            </a:r>
          </a:p>
        </p:txBody>
      </p:sp>
      <p:sp>
        <p:nvSpPr>
          <p:cNvPr id="14" name="TextBox 13"/>
          <p:cNvSpPr txBox="1"/>
          <p:nvPr/>
        </p:nvSpPr>
        <p:spPr>
          <a:xfrm>
            <a:off x="5715000" y="2112264"/>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−3,463</a:t>
            </a:r>
          </a:p>
        </p:txBody>
      </p:sp>
      <p:sp>
        <p:nvSpPr>
          <p:cNvPr id="15" name="TextBox 14"/>
          <p:cNvSpPr txBox="1"/>
          <p:nvPr/>
        </p:nvSpPr>
        <p:spPr>
          <a:xfrm>
            <a:off x="7452360" y="2112264"/>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0,341</a:t>
            </a:r>
          </a:p>
        </p:txBody>
      </p:sp>
      <p:sp>
        <p:nvSpPr>
          <p:cNvPr id="16" name="TextBox 15"/>
          <p:cNvSpPr txBox="1"/>
          <p:nvPr/>
        </p:nvSpPr>
        <p:spPr>
          <a:xfrm>
            <a:off x="9829800" y="2112264"/>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+11,1 Wh</a:t>
            </a:r>
          </a:p>
        </p:txBody>
      </p:sp>
      <p:sp>
        <p:nvSpPr>
          <p:cNvPr id="17" name="TextBox 16"/>
          <p:cNvSpPr txBox="1"/>
          <p:nvPr/>
        </p:nvSpPr>
        <p:spPr>
          <a:xfrm>
            <a:off x="777240" y="2487168"/>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GBM</a:t>
            </a:r>
          </a:p>
        </p:txBody>
      </p:sp>
      <p:sp>
        <p:nvSpPr>
          <p:cNvPr id="18" name="TextBox 17"/>
          <p:cNvSpPr txBox="1"/>
          <p:nvPr/>
        </p:nvSpPr>
        <p:spPr>
          <a:xfrm>
            <a:off x="3977640" y="2487168"/>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0,467</a:t>
            </a:r>
          </a:p>
        </p:txBody>
      </p:sp>
      <p:sp>
        <p:nvSpPr>
          <p:cNvPr id="19" name="TextBox 18"/>
          <p:cNvSpPr txBox="1"/>
          <p:nvPr/>
        </p:nvSpPr>
        <p:spPr>
          <a:xfrm>
            <a:off x="5715000" y="2487168"/>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−0,333</a:t>
            </a:r>
          </a:p>
        </p:txBody>
      </p:sp>
      <p:sp>
        <p:nvSpPr>
          <p:cNvPr id="20" name="TextBox 19"/>
          <p:cNvSpPr txBox="1"/>
          <p:nvPr/>
        </p:nvSpPr>
        <p:spPr>
          <a:xfrm>
            <a:off x="7452360" y="2487168"/>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−0,201</a:t>
            </a:r>
          </a:p>
        </p:txBody>
      </p:sp>
      <p:sp>
        <p:nvSpPr>
          <p:cNvPr id="21" name="TextBox 20"/>
          <p:cNvSpPr txBox="1"/>
          <p:nvPr/>
        </p:nvSpPr>
        <p:spPr>
          <a:xfrm>
            <a:off x="9829800" y="2487168"/>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+39,6 Wh</a:t>
            </a:r>
          </a:p>
        </p:txBody>
      </p:sp>
      <p:sp>
        <p:nvSpPr>
          <p:cNvPr id="22" name="TextBox 21"/>
          <p:cNvSpPr txBox="1"/>
          <p:nvPr/>
        </p:nvSpPr>
        <p:spPr>
          <a:xfrm>
            <a:off x="777240" y="2862072"/>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XGBoost</a:t>
            </a:r>
          </a:p>
        </p:txBody>
      </p:sp>
      <p:sp>
        <p:nvSpPr>
          <p:cNvPr id="23" name="TextBox 22"/>
          <p:cNvSpPr txBox="1"/>
          <p:nvPr/>
        </p:nvSpPr>
        <p:spPr>
          <a:xfrm>
            <a:off x="3977640" y="2862072"/>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0,596</a:t>
            </a:r>
          </a:p>
        </p:txBody>
      </p:sp>
      <p:sp>
        <p:nvSpPr>
          <p:cNvPr id="24" name="TextBox 23"/>
          <p:cNvSpPr txBox="1"/>
          <p:nvPr/>
        </p:nvSpPr>
        <p:spPr>
          <a:xfrm>
            <a:off x="5715000" y="2862072"/>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−0,221</a:t>
            </a:r>
          </a:p>
        </p:txBody>
      </p:sp>
      <p:sp>
        <p:nvSpPr>
          <p:cNvPr id="25" name="TextBox 24"/>
          <p:cNvSpPr txBox="1"/>
          <p:nvPr/>
        </p:nvSpPr>
        <p:spPr>
          <a:xfrm>
            <a:off x="7452360" y="2862072"/>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0,303</a:t>
            </a:r>
          </a:p>
        </p:txBody>
      </p:sp>
      <p:sp>
        <p:nvSpPr>
          <p:cNvPr id="26" name="TextBox 25"/>
          <p:cNvSpPr txBox="1"/>
          <p:nvPr/>
        </p:nvSpPr>
        <p:spPr>
          <a:xfrm>
            <a:off x="9829800" y="2862072"/>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+26,9 Wh</a:t>
            </a:r>
          </a:p>
        </p:txBody>
      </p:sp>
      <p:sp>
        <p:nvSpPr>
          <p:cNvPr id="27" name="TextBox 26"/>
          <p:cNvSpPr txBox="1"/>
          <p:nvPr/>
        </p:nvSpPr>
        <p:spPr>
          <a:xfrm>
            <a:off x="777240" y="3236976"/>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LightGBM</a:t>
            </a:r>
          </a:p>
        </p:txBody>
      </p:sp>
      <p:sp>
        <p:nvSpPr>
          <p:cNvPr id="28" name="TextBox 27"/>
          <p:cNvSpPr txBox="1"/>
          <p:nvPr/>
        </p:nvSpPr>
        <p:spPr>
          <a:xfrm>
            <a:off x="3977640" y="3236976"/>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0,598</a:t>
            </a:r>
          </a:p>
        </p:txBody>
      </p:sp>
      <p:sp>
        <p:nvSpPr>
          <p:cNvPr id="29" name="TextBox 28"/>
          <p:cNvSpPr txBox="1"/>
          <p:nvPr/>
        </p:nvSpPr>
        <p:spPr>
          <a:xfrm>
            <a:off x="5715000" y="3236976"/>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−0,320</a:t>
            </a:r>
          </a:p>
        </p:txBody>
      </p:sp>
      <p:sp>
        <p:nvSpPr>
          <p:cNvPr id="30" name="TextBox 29"/>
          <p:cNvSpPr txBox="1"/>
          <p:nvPr/>
        </p:nvSpPr>
        <p:spPr>
          <a:xfrm>
            <a:off x="7452360" y="3236976"/>
            <a:ext cx="2267712" cy="374904"/>
          </a:xfrm>
          <a:prstGeom prst="rect">
            <a:avLst/>
          </a:prstGeom>
          <a:noFill/>
        </p:spPr>
        <p:txBody>
          <a:bodyPr wrap="square" lIns="0" rIns="0" tIns="0" bIns="0" anchor="ctr">
            <a:spAutoFit/>
          </a:bodyPr>
          <a:lstStyle/>
          <a:p>
            <a:pPr algn="r">
              <a:lnSpc>
                <a:spcPct val="115000"/>
              </a:lnSpc>
            </a:pPr>
            <a:r>
              <a:rPr sz="1250" b="0">
                <a:solidFill>
                  <a:srgbClr val="7BD992"/>
                </a:solidFill>
                <a:latin typeface="Consolas"/>
              </a:rPr>
              <a:t>0,554</a:t>
            </a:r>
          </a:p>
        </p:txBody>
      </p:sp>
      <p:sp>
        <p:nvSpPr>
          <p:cNvPr id="31" name="TextBox 30"/>
          <p:cNvSpPr txBox="1"/>
          <p:nvPr/>
        </p:nvSpPr>
        <p:spPr>
          <a:xfrm>
            <a:off x="9829800" y="3236976"/>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+9,1 Wh</a:t>
            </a:r>
          </a:p>
        </p:txBody>
      </p:sp>
      <p:sp>
        <p:nvSpPr>
          <p:cNvPr id="32" name="TextBox 31"/>
          <p:cNvSpPr txBox="1"/>
          <p:nvPr/>
        </p:nvSpPr>
        <p:spPr>
          <a:xfrm>
            <a:off x="777240" y="3611880"/>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LightGBM (hojas lineales)</a:t>
            </a:r>
          </a:p>
        </p:txBody>
      </p:sp>
      <p:sp>
        <p:nvSpPr>
          <p:cNvPr id="33" name="TextBox 32"/>
          <p:cNvSpPr txBox="1"/>
          <p:nvPr/>
        </p:nvSpPr>
        <p:spPr>
          <a:xfrm>
            <a:off x="3977640" y="3611880"/>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0,508</a:t>
            </a:r>
          </a:p>
        </p:txBody>
      </p:sp>
      <p:sp>
        <p:nvSpPr>
          <p:cNvPr id="34" name="TextBox 33"/>
          <p:cNvSpPr txBox="1"/>
          <p:nvPr/>
        </p:nvSpPr>
        <p:spPr>
          <a:xfrm>
            <a:off x="5715000" y="3611880"/>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−2,553</a:t>
            </a:r>
          </a:p>
        </p:txBody>
      </p:sp>
      <p:sp>
        <p:nvSpPr>
          <p:cNvPr id="35" name="TextBox 34"/>
          <p:cNvSpPr txBox="1"/>
          <p:nvPr/>
        </p:nvSpPr>
        <p:spPr>
          <a:xfrm>
            <a:off x="7452360" y="3611880"/>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0,426</a:t>
            </a:r>
          </a:p>
        </p:txBody>
      </p:sp>
      <p:sp>
        <p:nvSpPr>
          <p:cNvPr id="36" name="TextBox 35"/>
          <p:cNvSpPr txBox="1"/>
          <p:nvPr/>
        </p:nvSpPr>
        <p:spPr>
          <a:xfrm>
            <a:off x="9829800" y="3611880"/>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+13,0 Wh</a:t>
            </a:r>
          </a:p>
        </p:txBody>
      </p:sp>
      <p:sp>
        <p:nvSpPr>
          <p:cNvPr id="37" name="TextBox 36"/>
          <p:cNvSpPr txBox="1"/>
          <p:nvPr/>
        </p:nvSpPr>
        <p:spPr>
          <a:xfrm>
            <a:off x="777240" y="3986784"/>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CatBoost</a:t>
            </a:r>
          </a:p>
        </p:txBody>
      </p:sp>
      <p:sp>
        <p:nvSpPr>
          <p:cNvPr id="38" name="TextBox 37"/>
          <p:cNvSpPr txBox="1"/>
          <p:nvPr/>
        </p:nvSpPr>
        <p:spPr>
          <a:xfrm>
            <a:off x="3977640" y="3986784"/>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0,516</a:t>
            </a:r>
          </a:p>
        </p:txBody>
      </p:sp>
      <p:sp>
        <p:nvSpPr>
          <p:cNvPr id="39" name="TextBox 38"/>
          <p:cNvSpPr txBox="1"/>
          <p:nvPr/>
        </p:nvSpPr>
        <p:spPr>
          <a:xfrm>
            <a:off x="5715000" y="3986784"/>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−0,062</a:t>
            </a:r>
          </a:p>
        </p:txBody>
      </p:sp>
      <p:sp>
        <p:nvSpPr>
          <p:cNvPr id="40" name="TextBox 39"/>
          <p:cNvSpPr txBox="1"/>
          <p:nvPr/>
        </p:nvSpPr>
        <p:spPr>
          <a:xfrm>
            <a:off x="7452360" y="3986784"/>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0,508</a:t>
            </a:r>
          </a:p>
        </p:txBody>
      </p:sp>
      <p:sp>
        <p:nvSpPr>
          <p:cNvPr id="41" name="TextBox 40"/>
          <p:cNvSpPr txBox="1"/>
          <p:nvPr/>
        </p:nvSpPr>
        <p:spPr>
          <a:xfrm>
            <a:off x="9829800" y="3986784"/>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+16,7 Wh</a:t>
            </a:r>
          </a:p>
        </p:txBody>
      </p:sp>
      <p:sp>
        <p:nvSpPr>
          <p:cNvPr id="42" name="TextBox 41"/>
          <p:cNvSpPr txBox="1"/>
          <p:nvPr/>
        </p:nvSpPr>
        <p:spPr>
          <a:xfrm>
            <a:off x="777240" y="4361688"/>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CatBoost (hora categórica)</a:t>
            </a:r>
          </a:p>
        </p:txBody>
      </p:sp>
      <p:sp>
        <p:nvSpPr>
          <p:cNvPr id="43" name="TextBox 42"/>
          <p:cNvSpPr txBox="1"/>
          <p:nvPr/>
        </p:nvSpPr>
        <p:spPr>
          <a:xfrm>
            <a:off x="3977640" y="4361688"/>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0,518</a:t>
            </a:r>
          </a:p>
        </p:txBody>
      </p:sp>
      <p:sp>
        <p:nvSpPr>
          <p:cNvPr id="44" name="TextBox 43"/>
          <p:cNvSpPr txBox="1"/>
          <p:nvPr/>
        </p:nvSpPr>
        <p:spPr>
          <a:xfrm>
            <a:off x="5715000" y="4361688"/>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−0,149</a:t>
            </a:r>
          </a:p>
        </p:txBody>
      </p:sp>
      <p:sp>
        <p:nvSpPr>
          <p:cNvPr id="45" name="TextBox 44"/>
          <p:cNvSpPr txBox="1"/>
          <p:nvPr/>
        </p:nvSpPr>
        <p:spPr>
          <a:xfrm>
            <a:off x="7452360" y="4361688"/>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0,478</a:t>
            </a:r>
          </a:p>
        </p:txBody>
      </p:sp>
      <p:sp>
        <p:nvSpPr>
          <p:cNvPr id="46" name="TextBox 45"/>
          <p:cNvSpPr txBox="1"/>
          <p:nvPr/>
        </p:nvSpPr>
        <p:spPr>
          <a:xfrm>
            <a:off x="9829800" y="4361688"/>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+24,1 Wh</a:t>
            </a:r>
          </a:p>
        </p:txBody>
      </p:sp>
      <p:sp>
        <p:nvSpPr>
          <p:cNvPr id="47" name="TextBox 46"/>
          <p:cNvSpPr txBox="1"/>
          <p:nvPr/>
        </p:nvSpPr>
        <p:spPr>
          <a:xfrm>
            <a:off x="777240" y="4736592"/>
            <a:ext cx="3182112" cy="374904"/>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Random Forest (ref.)</a:t>
            </a:r>
          </a:p>
        </p:txBody>
      </p:sp>
      <p:sp>
        <p:nvSpPr>
          <p:cNvPr id="48" name="TextBox 47"/>
          <p:cNvSpPr txBox="1"/>
          <p:nvPr/>
        </p:nvSpPr>
        <p:spPr>
          <a:xfrm>
            <a:off x="3977640" y="4736592"/>
            <a:ext cx="162763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0,567</a:t>
            </a:r>
          </a:p>
        </p:txBody>
      </p:sp>
      <p:sp>
        <p:nvSpPr>
          <p:cNvPr id="49" name="TextBox 48"/>
          <p:cNvSpPr txBox="1"/>
          <p:nvPr/>
        </p:nvSpPr>
        <p:spPr>
          <a:xfrm>
            <a:off x="5715000" y="4736592"/>
            <a:ext cx="1627632" cy="374904"/>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−4,459</a:t>
            </a:r>
          </a:p>
        </p:txBody>
      </p:sp>
      <p:sp>
        <p:nvSpPr>
          <p:cNvPr id="50" name="TextBox 49"/>
          <p:cNvSpPr txBox="1"/>
          <p:nvPr/>
        </p:nvSpPr>
        <p:spPr>
          <a:xfrm>
            <a:off x="7452360" y="4736592"/>
            <a:ext cx="226771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−0,484</a:t>
            </a:r>
          </a:p>
        </p:txBody>
      </p:sp>
      <p:sp>
        <p:nvSpPr>
          <p:cNvPr id="51" name="TextBox 50"/>
          <p:cNvSpPr txBox="1"/>
          <p:nvPr/>
        </p:nvSpPr>
        <p:spPr>
          <a:xfrm>
            <a:off x="9829800" y="4736592"/>
            <a:ext cx="1536192" cy="374904"/>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+63,9 Wh</a:t>
            </a:r>
          </a:p>
        </p:txBody>
      </p:sp>
      <p:sp>
        <p:nvSpPr>
          <p:cNvPr id="52" name="Rectangle 51"/>
          <p:cNvSpPr/>
          <p:nvPr/>
        </p:nvSpPr>
        <p:spPr>
          <a:xfrm>
            <a:off x="685800" y="5111496"/>
            <a:ext cx="10789920" cy="338328"/>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111496"/>
            <a:ext cx="3182112" cy="374904"/>
          </a:xfrm>
          <a:prstGeom prst="rect">
            <a:avLst/>
          </a:prstGeom>
          <a:noFill/>
        </p:spPr>
        <p:txBody>
          <a:bodyPr wrap="square" lIns="0" rIns="0" tIns="0" bIns="0" anchor="ctr">
            <a:spAutoFit/>
          </a:bodyPr>
          <a:lstStyle/>
          <a:p>
            <a:pPr algn="l">
              <a:lnSpc>
                <a:spcPct val="115000"/>
              </a:lnSpc>
            </a:pPr>
            <a:r>
              <a:rPr sz="1250" b="1">
                <a:solidFill>
                  <a:srgbClr val="E6E9EF"/>
                </a:solidFill>
                <a:latin typeface="Segoe UI"/>
              </a:rPr>
              <a:t>Regresión lineal (ref.)</a:t>
            </a:r>
          </a:p>
        </p:txBody>
      </p:sp>
      <p:sp>
        <p:nvSpPr>
          <p:cNvPr id="54" name="TextBox 53"/>
          <p:cNvSpPr txBox="1"/>
          <p:nvPr/>
        </p:nvSpPr>
        <p:spPr>
          <a:xfrm>
            <a:off x="3977640" y="5111496"/>
            <a:ext cx="1627632" cy="374904"/>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0,171</a:t>
            </a:r>
          </a:p>
        </p:txBody>
      </p:sp>
      <p:sp>
        <p:nvSpPr>
          <p:cNvPr id="55" name="TextBox 54"/>
          <p:cNvSpPr txBox="1"/>
          <p:nvPr/>
        </p:nvSpPr>
        <p:spPr>
          <a:xfrm>
            <a:off x="5715000" y="5111496"/>
            <a:ext cx="1627632" cy="374904"/>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+0,106</a:t>
            </a:r>
          </a:p>
        </p:txBody>
      </p:sp>
      <p:sp>
        <p:nvSpPr>
          <p:cNvPr id="56" name="TextBox 55"/>
          <p:cNvSpPr txBox="1"/>
          <p:nvPr/>
        </p:nvSpPr>
        <p:spPr>
          <a:xfrm>
            <a:off x="7452360" y="5111496"/>
            <a:ext cx="2267712" cy="374904"/>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0,557</a:t>
            </a:r>
          </a:p>
        </p:txBody>
      </p:sp>
      <p:sp>
        <p:nvSpPr>
          <p:cNvPr id="57" name="TextBox 56"/>
          <p:cNvSpPr txBox="1"/>
          <p:nvPr/>
        </p:nvSpPr>
        <p:spPr>
          <a:xfrm>
            <a:off x="9829800" y="5111496"/>
            <a:ext cx="1536192" cy="374904"/>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+0,5 Wh</a:t>
            </a:r>
          </a:p>
        </p:txBody>
      </p:sp>
      <p:sp>
        <p:nvSpPr>
          <p:cNvPr id="58" name="TextBox 57"/>
          <p:cNvSpPr txBox="1"/>
          <p:nvPr/>
        </p:nvSpPr>
        <p:spPr>
          <a:xfrm>
            <a:off x="685800" y="5760720"/>
            <a:ext cx="10820095" cy="274320"/>
          </a:xfrm>
          <a:prstGeom prst="rect">
            <a:avLst/>
          </a:prstGeom>
          <a:noFill/>
        </p:spPr>
        <p:txBody>
          <a:bodyPr wrap="square" lIns="0" rIns="0" tIns="0" bIns="0" anchor="t">
            <a:spAutoFit/>
          </a:bodyPr>
          <a:lstStyle/>
          <a:p>
            <a:pPr algn="l">
              <a:lnSpc>
                <a:spcPct val="115000"/>
              </a:lnSpc>
            </a:pPr>
            <a:r>
              <a:rPr sz="1050" b="0">
                <a:solidFill>
                  <a:srgbClr val="6F7787"/>
                </a:solidFill>
                <a:latin typeface="Segoe UI"/>
              </a:rPr>
              <a:t>* Sesgo medio sobre mayo (predicho − real) en la configuración temporal con retardos.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LAS HIPÓTESIS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Una a medias, una refutada, una confirmada</a:t>
            </a:r>
          </a:p>
        </p:txBody>
      </p:sp>
      <p:sp>
        <p:nvSpPr>
          <p:cNvPr id="6" name="TextBox 5"/>
          <p:cNvSpPr txBox="1"/>
          <p:nvPr/>
        </p:nvSpPr>
        <p:spPr>
          <a:xfrm>
            <a:off x="685800" y="1874519"/>
            <a:ext cx="32918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HIPÓTESIS</a:t>
            </a:r>
          </a:p>
        </p:txBody>
      </p:sp>
      <p:sp>
        <p:nvSpPr>
          <p:cNvPr id="7" name="TextBox 6"/>
          <p:cNvSpPr txBox="1"/>
          <p:nvPr/>
        </p:nvSpPr>
        <p:spPr>
          <a:xfrm>
            <a:off x="3977640" y="1874519"/>
            <a:ext cx="1554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VEREDICTO</a:t>
            </a:r>
          </a:p>
        </p:txBody>
      </p:sp>
      <p:sp>
        <p:nvSpPr>
          <p:cNvPr id="8" name="TextBox 7"/>
          <p:cNvSpPr txBox="1"/>
          <p:nvPr/>
        </p:nvSpPr>
        <p:spPr>
          <a:xfrm>
            <a:off x="5532120" y="1874519"/>
            <a:ext cx="5943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EVIDENCIA</a:t>
            </a:r>
          </a:p>
        </p:txBody>
      </p:sp>
      <p:sp>
        <p:nvSpPr>
          <p:cNvPr id="9" name="Rectangle 8"/>
          <p:cNvSpPr/>
          <p:nvPr/>
        </p:nvSpPr>
        <p:spPr>
          <a:xfrm>
            <a:off x="685800" y="2167127"/>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03703"/>
            <a:ext cx="318211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H1 · los árboles no extrapolan</a:t>
            </a:r>
          </a:p>
        </p:txBody>
      </p:sp>
      <p:sp>
        <p:nvSpPr>
          <p:cNvPr id="11" name="TextBox 10"/>
          <p:cNvSpPr txBox="1"/>
          <p:nvPr/>
        </p:nvSpPr>
        <p:spPr>
          <a:xfrm>
            <a:off x="4069080" y="2203703"/>
            <a:ext cx="1444752" cy="502920"/>
          </a:xfrm>
          <a:prstGeom prst="rect">
            <a:avLst/>
          </a:prstGeom>
          <a:noFill/>
        </p:spPr>
        <p:txBody>
          <a:bodyPr wrap="square" lIns="0" rIns="0" tIns="0" bIns="0" anchor="ctr">
            <a:spAutoFit/>
          </a:bodyPr>
          <a:lstStyle/>
          <a:p>
            <a:pPr algn="l">
              <a:lnSpc>
                <a:spcPct val="115000"/>
              </a:lnSpc>
            </a:pPr>
            <a:r>
              <a:rPr sz="1350" b="0">
                <a:solidFill>
                  <a:srgbClr val="FFB877"/>
                </a:solidFill>
                <a:latin typeface="Segoe UI"/>
              </a:rPr>
              <a:t>a medias</a:t>
            </a:r>
          </a:p>
        </p:txBody>
      </p:sp>
      <p:sp>
        <p:nvSpPr>
          <p:cNvPr id="12" name="TextBox 11"/>
          <p:cNvSpPr txBox="1"/>
          <p:nvPr/>
        </p:nvSpPr>
        <p:spPr>
          <a:xfrm>
            <a:off x="5623560" y="2203703"/>
            <a:ext cx="583387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Con retardos LightGBM se acerca; todos sobreestiman mayo (+9 a +64 Wh)</a:t>
            </a:r>
          </a:p>
        </p:txBody>
      </p:sp>
      <p:sp>
        <p:nvSpPr>
          <p:cNvPr id="13" name="TextBox 12"/>
          <p:cNvSpPr txBox="1"/>
          <p:nvPr/>
        </p:nvSpPr>
        <p:spPr>
          <a:xfrm>
            <a:off x="777240" y="2706623"/>
            <a:ext cx="318211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H2 · las hojas lineales sí</a:t>
            </a:r>
          </a:p>
        </p:txBody>
      </p:sp>
      <p:sp>
        <p:nvSpPr>
          <p:cNvPr id="14" name="TextBox 13"/>
          <p:cNvSpPr txBox="1"/>
          <p:nvPr/>
        </p:nvSpPr>
        <p:spPr>
          <a:xfrm>
            <a:off x="4069080" y="2706623"/>
            <a:ext cx="1444752" cy="502920"/>
          </a:xfrm>
          <a:prstGeom prst="rect">
            <a:avLst/>
          </a:prstGeom>
          <a:noFill/>
        </p:spPr>
        <p:txBody>
          <a:bodyPr wrap="square" lIns="0" rIns="0" tIns="0" bIns="0" anchor="ctr">
            <a:spAutoFit/>
          </a:bodyPr>
          <a:lstStyle/>
          <a:p>
            <a:pPr algn="l">
              <a:lnSpc>
                <a:spcPct val="115000"/>
              </a:lnSpc>
            </a:pPr>
            <a:r>
              <a:rPr sz="1350" b="0">
                <a:solidFill>
                  <a:srgbClr val="F28B82"/>
                </a:solidFill>
                <a:latin typeface="Segoe UI"/>
              </a:rPr>
              <a:t>refutada</a:t>
            </a:r>
          </a:p>
        </p:txBody>
      </p:sp>
      <p:sp>
        <p:nvSpPr>
          <p:cNvPr id="15" name="TextBox 14"/>
          <p:cNvSpPr txBox="1"/>
          <p:nvPr/>
        </p:nvSpPr>
        <p:spPr>
          <a:xfrm>
            <a:off x="5623560" y="2706623"/>
            <a:ext cx="583387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Empeoran: 0,426 frente a 0,554; sin retardos, −2,553</a:t>
            </a:r>
          </a:p>
        </p:txBody>
      </p:sp>
      <p:sp>
        <p:nvSpPr>
          <p:cNvPr id="16" name="TextBox 15"/>
          <p:cNvSpPr txBox="1"/>
          <p:nvPr/>
        </p:nvSpPr>
        <p:spPr>
          <a:xfrm>
            <a:off x="777240" y="3209543"/>
            <a:ext cx="318211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H3 · AdaBoost, el más frágil</a:t>
            </a:r>
          </a:p>
        </p:txBody>
      </p:sp>
      <p:sp>
        <p:nvSpPr>
          <p:cNvPr id="17" name="TextBox 16"/>
          <p:cNvSpPr txBox="1"/>
          <p:nvPr/>
        </p:nvSpPr>
        <p:spPr>
          <a:xfrm>
            <a:off x="4069080" y="3209543"/>
            <a:ext cx="1444752" cy="502920"/>
          </a:xfrm>
          <a:prstGeom prst="rect">
            <a:avLst/>
          </a:prstGeom>
          <a:noFill/>
        </p:spPr>
        <p:txBody>
          <a:bodyPr wrap="square" lIns="0" rIns="0" tIns="0" bIns="0" anchor="ctr">
            <a:spAutoFit/>
          </a:bodyPr>
          <a:lstStyle/>
          <a:p>
            <a:pPr algn="l">
              <a:lnSpc>
                <a:spcPct val="115000"/>
              </a:lnSpc>
            </a:pPr>
            <a:r>
              <a:rPr sz="1350" b="0">
                <a:solidFill>
                  <a:srgbClr val="7BD992"/>
                </a:solidFill>
                <a:latin typeface="Segoe UI"/>
              </a:rPr>
              <a:t>confirmada</a:t>
            </a:r>
          </a:p>
        </p:txBody>
      </p:sp>
      <p:sp>
        <p:nvSpPr>
          <p:cNvPr id="18" name="TextBox 17"/>
          <p:cNvSpPr txBox="1"/>
          <p:nvPr/>
        </p:nvSpPr>
        <p:spPr>
          <a:xfrm>
            <a:off x="5623560" y="3209543"/>
            <a:ext cx="5833872" cy="50292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La validación elige 14, 1 y 14 árboles</a:t>
            </a:r>
          </a:p>
        </p:txBody>
      </p:sp>
      <p:sp>
        <p:nvSpPr>
          <p:cNvPr id="19" name="Rectangle 18"/>
          <p:cNvSpPr/>
          <p:nvPr/>
        </p:nvSpPr>
        <p:spPr>
          <a:xfrm>
            <a:off x="685800" y="4069080"/>
            <a:ext cx="5257800" cy="17373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69080"/>
            <a:ext cx="54864" cy="17373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251960"/>
            <a:ext cx="4800600" cy="141732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El síntoma de la autocorrelación.</a:t>
            </a:r>
            <a:r>
              <a:rPr sz="1300" b="0">
                <a:solidFill>
                  <a:srgbClr val="C9D1DE"/>
                </a:solidFill>
                <a:latin typeface="Segoe UI"/>
              </a:rPr>
              <a:t> En la aleatoria, XGBoost, LightGBM y CatBoost llegan al tope de 3.000 árboles sin que la validación deje de mejorar: los vecinos de 10 minutos de cada lectura están en el entrenamiento. En la temporal, la misma parada corta entre 1 y 180 árboles.</a:t>
            </a:r>
          </a:p>
        </p:txBody>
      </p:sp>
      <p:sp>
        <p:nvSpPr>
          <p:cNvPr id="22" name="Rectangle 21"/>
          <p:cNvSpPr/>
          <p:nvPr/>
        </p:nvSpPr>
        <p:spPr>
          <a:xfrm>
            <a:off x="6217920" y="4069080"/>
            <a:ext cx="5257800" cy="17373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4069080"/>
            <a:ext cx="54864" cy="173736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4251960"/>
            <a:ext cx="4800600" cy="141732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La hora como categórica no aporta.</a:t>
            </a:r>
            <a:r>
              <a:rPr sz="1300" b="0">
                <a:solidFill>
                  <a:srgbClr val="C9D1DE"/>
                </a:solidFill>
                <a:latin typeface="Segoe UI"/>
              </a:rPr>
              <a:t> CatBoost con hora y día categóricos: 0,518 frente a 0,516 en la aleatoria, y mucho más lento. Los árboles ya cortan la hora donde conviene; codificarla solo importa en KNN.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EL SESGO DE LOS ÁRBOLES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Todos sobreestiman mayo; la lineal, no</a:t>
            </a:r>
          </a:p>
        </p:txBody>
      </p:sp>
      <p:sp>
        <p:nvSpPr>
          <p:cNvPr id="6" name="Rounded Rectangle 5"/>
          <p:cNvSpPr/>
          <p:nvPr/>
        </p:nvSpPr>
        <p:spPr>
          <a:xfrm>
            <a:off x="798615" y="1655064"/>
            <a:ext cx="10564290" cy="34564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2_sesgo_mayo.png"/>
          <p:cNvPicPr>
            <a:picLocks noChangeAspect="1"/>
          </p:cNvPicPr>
          <p:nvPr/>
        </p:nvPicPr>
        <p:blipFill>
          <a:blip r:embed="rId2"/>
          <a:stretch>
            <a:fillRect/>
          </a:stretch>
        </p:blipFill>
        <p:spPr>
          <a:xfrm>
            <a:off x="880911" y="1737360"/>
            <a:ext cx="10399698" cy="3291840"/>
          </a:xfrm>
          <a:prstGeom prst="rect">
            <a:avLst/>
          </a:prstGeom>
        </p:spPr>
      </p:pic>
      <p:sp>
        <p:nvSpPr>
          <p:cNvPr id="8" name="Rectangle 7"/>
          <p:cNvSpPr/>
          <p:nvPr/>
        </p:nvSpPr>
        <p:spPr>
          <a:xfrm>
            <a:off x="685800" y="5212080"/>
            <a:ext cx="10820095"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1208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394960"/>
            <a:ext cx="10362895"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Anclados al invierno, pero no a su promedio.</a:t>
            </a:r>
            <a:r>
              <a:rPr sz="1300" b="0">
                <a:solidFill>
                  <a:srgbClr val="C9D1DE"/>
                </a:solidFill>
                <a:latin typeface="Segoe UI"/>
              </a:rPr>
              <a:t> La media del entrenamiento ronda 98 Wh y la de mayo 96; los árboles predicen entre 105 y 160 Wh. No repiten el promedio del invierno: aplican a mayo una regla aprendida en invierno que ya no vale. La siguiente diapositiva muestra cuál.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LA CAUSA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temperatura interior cambia de significado con la estación</a:t>
            </a:r>
          </a:p>
        </p:txBody>
      </p:sp>
      <p:sp>
        <p:nvSpPr>
          <p:cNvPr id="6" name="Rounded Rectangle 5"/>
          <p:cNvSpPr/>
          <p:nvPr/>
        </p:nvSpPr>
        <p:spPr>
          <a:xfrm>
            <a:off x="694944" y="1802067"/>
            <a:ext cx="7114032" cy="224802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5_temperatura.png"/>
          <p:cNvPicPr>
            <a:picLocks noChangeAspect="1"/>
          </p:cNvPicPr>
          <p:nvPr/>
        </p:nvPicPr>
        <p:blipFill>
          <a:blip r:embed="rId2"/>
          <a:stretch>
            <a:fillRect/>
          </a:stretch>
        </p:blipFill>
        <p:spPr>
          <a:xfrm>
            <a:off x="777240" y="1884363"/>
            <a:ext cx="6949440" cy="2083433"/>
          </a:xfrm>
          <a:prstGeom prst="rect">
            <a:avLst/>
          </a:prstGeom>
        </p:spPr>
      </p:pic>
      <p:sp>
        <p:nvSpPr>
          <p:cNvPr id="8" name="TextBox 7"/>
          <p:cNvSpPr txBox="1"/>
          <p:nvPr/>
        </p:nvSpPr>
        <p:spPr>
          <a:xfrm>
            <a:off x="8001000" y="1783080"/>
            <a:ext cx="3474720" cy="640080"/>
          </a:xfrm>
          <a:prstGeom prst="rect">
            <a:avLst/>
          </a:prstGeom>
          <a:noFill/>
        </p:spPr>
        <p:txBody>
          <a:bodyPr wrap="square" lIns="0" rIns="0" tIns="0" bIns="0" anchor="t">
            <a:spAutoFit/>
          </a:bodyPr>
          <a:lstStyle/>
          <a:p>
            <a:pPr algn="l">
              <a:lnSpc>
                <a:spcPct val="115000"/>
              </a:lnSpc>
            </a:pPr>
            <a:r>
              <a:rPr sz="3200" b="1">
                <a:solidFill>
                  <a:srgbClr val="FFB877"/>
                </a:solidFill>
                <a:latin typeface="Consolas"/>
              </a:rPr>
              <a:t>71,9 %</a:t>
            </a:r>
          </a:p>
        </p:txBody>
      </p:sp>
      <p:sp>
        <p:nvSpPr>
          <p:cNvPr id="9" name="TextBox 8"/>
          <p:cNvSpPr txBox="1"/>
          <p:nvPr/>
        </p:nvSpPr>
        <p:spPr>
          <a:xfrm>
            <a:off x="8001000" y="244144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las lecturas de mayo, más cálidas</a:t>
            </a:r>
          </a:p>
          <a:p>
            <a:pPr algn="l">
              <a:lnSpc>
                <a:spcPct val="115000"/>
              </a:lnSpc>
            </a:pPr>
            <a:r>
              <a:rPr sz="1150" b="0">
                <a:solidFill>
                  <a:srgbClr val="9AA3B2"/>
                </a:solidFill>
                <a:latin typeface="Segoe UI"/>
              </a:rPr>
              <a:t>que la más cálida del invierno</a:t>
            </a:r>
          </a:p>
        </p:txBody>
      </p:sp>
      <p:sp>
        <p:nvSpPr>
          <p:cNvPr id="10" name="TextBox 9"/>
          <p:cNvSpPr txBox="1"/>
          <p:nvPr/>
        </p:nvSpPr>
        <p:spPr>
          <a:xfrm>
            <a:off x="8001000" y="2971800"/>
            <a:ext cx="3474720" cy="640080"/>
          </a:xfrm>
          <a:prstGeom prst="rect">
            <a:avLst/>
          </a:prstGeom>
          <a:noFill/>
        </p:spPr>
        <p:txBody>
          <a:bodyPr wrap="square" lIns="0" rIns="0" tIns="0" bIns="0" anchor="t">
            <a:spAutoFit/>
          </a:bodyPr>
          <a:lstStyle/>
          <a:p>
            <a:pPr algn="l">
              <a:lnSpc>
                <a:spcPct val="115000"/>
              </a:lnSpc>
            </a:pPr>
            <a:r>
              <a:rPr sz="2600" b="1">
                <a:solidFill>
                  <a:srgbClr val="E6E9EF"/>
                </a:solidFill>
                <a:latin typeface="Consolas"/>
              </a:rPr>
              <a:t>20,2 → 23,4 °C</a:t>
            </a:r>
          </a:p>
        </p:txBody>
      </p:sp>
      <p:sp>
        <p:nvSpPr>
          <p:cNvPr id="11" name="TextBox 10"/>
          <p:cNvSpPr txBox="1"/>
          <p:nvPr/>
        </p:nvSpPr>
        <p:spPr>
          <a:xfrm>
            <a:off x="8001000" y="363016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temperatura interior media:</a:t>
            </a:r>
          </a:p>
          <a:p>
            <a:pPr algn="l">
              <a:lnSpc>
                <a:spcPct val="115000"/>
              </a:lnSpc>
            </a:pPr>
            <a:r>
              <a:rPr sz="1150" b="0">
                <a:solidFill>
                  <a:srgbClr val="9AA3B2"/>
                </a:solidFill>
                <a:latin typeface="Segoe UI"/>
              </a:rPr>
              <a:t>entrenamiento frente a mayo</a:t>
            </a:r>
          </a:p>
        </p:txBody>
      </p:sp>
      <p:sp>
        <p:nvSpPr>
          <p:cNvPr id="12" name="Rectangle 11"/>
          <p:cNvSpPr/>
          <p:nvPr/>
        </p:nvSpPr>
        <p:spPr>
          <a:xfrm>
            <a:off x="685800" y="4343400"/>
            <a:ext cx="10820095" cy="11430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343400"/>
            <a:ext cx="54864" cy="11430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526280"/>
            <a:ext cx="10362895" cy="8229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Por qué.</a:t>
            </a:r>
            <a:r>
              <a:rPr sz="1300" b="0">
                <a:solidFill>
                  <a:srgbClr val="C9D1DE"/>
                </a:solidFill>
                <a:latin typeface="Segoe UI"/>
              </a:rPr>
              <a:t> En invierno, la casa más cálida era la que más consumía (113,9 frente a 87,8 Wh): parte del calor lo producían los aparatos (secadora, horno). En mayo la casa está cálida por el clima. Misma variable, otro significado; un árbol no puede extrapolar fuera de lo que vio.</a:t>
            </a:r>
          </a:p>
        </p:txBody>
      </p:sp>
      <p:sp>
        <p:nvSpPr>
          <p:cNvPr id="15" name="TextBox 14"/>
          <p:cNvSpPr txBox="1"/>
          <p:nvPr/>
        </p:nvSpPr>
        <p:spPr>
          <a:xfrm>
            <a:off x="685800" y="5623560"/>
            <a:ext cx="10820095" cy="274320"/>
          </a:xfrm>
          <a:prstGeom prst="rect">
            <a:avLst/>
          </a:prstGeom>
          <a:noFill/>
        </p:spPr>
        <p:txBody>
          <a:bodyPr wrap="square" lIns="0" rIns="0" tIns="0" bIns="0" anchor="t">
            <a:spAutoFit/>
          </a:bodyPr>
          <a:lstStyle/>
          <a:p>
            <a:pPr algn="l">
              <a:lnSpc>
                <a:spcPct val="115000"/>
              </a:lnSpc>
            </a:pPr>
            <a:r>
              <a:rPr sz="1050" b="0">
                <a:solidFill>
                  <a:srgbClr val="6F7787"/>
                </a:solidFill>
                <a:latin typeface="Segoe UI"/>
              </a:rPr>
              <a:t>Coherente con, no prueba de: la causalidad no se puede establecer con estos datos.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LA PRUEBA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Quitar las temperaturas arregla LightGBM; quitar el mes, no</a:t>
            </a:r>
          </a:p>
        </p:txBody>
      </p:sp>
      <p:sp>
        <p:nvSpPr>
          <p:cNvPr id="6" name="TextBox 5"/>
          <p:cNvSpPr txBox="1"/>
          <p:nvPr/>
        </p:nvSpPr>
        <p:spPr>
          <a:xfrm>
            <a:off x="685800" y="1828800"/>
            <a:ext cx="4206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VARIABLES (PARTICIÓN TEMPORAL)</a:t>
            </a:r>
          </a:p>
        </p:txBody>
      </p:sp>
      <p:sp>
        <p:nvSpPr>
          <p:cNvPr id="7" name="TextBox 6"/>
          <p:cNvSpPr txBox="1"/>
          <p:nvPr/>
        </p:nvSpPr>
        <p:spPr>
          <a:xfrm>
            <a:off x="4892040" y="182880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N</a:t>
            </a:r>
          </a:p>
        </p:txBody>
      </p:sp>
      <p:sp>
        <p:nvSpPr>
          <p:cNvPr id="8" name="TextBox 7"/>
          <p:cNvSpPr txBox="1"/>
          <p:nvPr/>
        </p:nvSpPr>
        <p:spPr>
          <a:xfrm>
            <a:off x="5715000" y="182880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LIGHTGBM R²</a:t>
            </a:r>
          </a:p>
        </p:txBody>
      </p:sp>
      <p:sp>
        <p:nvSpPr>
          <p:cNvPr id="9" name="TextBox 8"/>
          <p:cNvSpPr txBox="1"/>
          <p:nvPr/>
        </p:nvSpPr>
        <p:spPr>
          <a:xfrm>
            <a:off x="7543800" y="1828800"/>
            <a:ext cx="21031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LIGHTGBM SESGO</a:t>
            </a:r>
          </a:p>
        </p:txBody>
      </p:sp>
      <p:sp>
        <p:nvSpPr>
          <p:cNvPr id="10" name="TextBox 9"/>
          <p:cNvSpPr txBox="1"/>
          <p:nvPr/>
        </p:nvSpPr>
        <p:spPr>
          <a:xfrm>
            <a:off x="9646920" y="182880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LINEAL R²</a:t>
            </a:r>
          </a:p>
        </p:txBody>
      </p:sp>
      <p:sp>
        <p:nvSpPr>
          <p:cNvPr id="11" name="Rectangle 10"/>
          <p:cNvSpPr/>
          <p:nvPr/>
        </p:nvSpPr>
        <p:spPr>
          <a:xfrm>
            <a:off x="685800" y="2121408"/>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57984"/>
            <a:ext cx="409651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Sin retardos · las 29</a:t>
            </a:r>
          </a:p>
        </p:txBody>
      </p:sp>
      <p:sp>
        <p:nvSpPr>
          <p:cNvPr id="13" name="TextBox 12"/>
          <p:cNvSpPr txBox="1"/>
          <p:nvPr/>
        </p:nvSpPr>
        <p:spPr>
          <a:xfrm>
            <a:off x="4892040" y="2157984"/>
            <a:ext cx="7132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29</a:t>
            </a:r>
          </a:p>
        </p:txBody>
      </p:sp>
      <p:sp>
        <p:nvSpPr>
          <p:cNvPr id="14" name="TextBox 13"/>
          <p:cNvSpPr txBox="1"/>
          <p:nvPr/>
        </p:nvSpPr>
        <p:spPr>
          <a:xfrm>
            <a:off x="5715000" y="215798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−0,320</a:t>
            </a:r>
          </a:p>
        </p:txBody>
      </p:sp>
      <p:sp>
        <p:nvSpPr>
          <p:cNvPr id="15" name="TextBox 14"/>
          <p:cNvSpPr txBox="1"/>
          <p:nvPr/>
        </p:nvSpPr>
        <p:spPr>
          <a:xfrm>
            <a:off x="7543800" y="2157984"/>
            <a:ext cx="19933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+47,0 Wh</a:t>
            </a:r>
          </a:p>
        </p:txBody>
      </p:sp>
      <p:sp>
        <p:nvSpPr>
          <p:cNvPr id="16" name="TextBox 15"/>
          <p:cNvSpPr txBox="1"/>
          <p:nvPr/>
        </p:nvSpPr>
        <p:spPr>
          <a:xfrm>
            <a:off x="9646920" y="215798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0,106</a:t>
            </a:r>
          </a:p>
        </p:txBody>
      </p:sp>
      <p:sp>
        <p:nvSpPr>
          <p:cNvPr id="17" name="Rectangle 16"/>
          <p:cNvSpPr/>
          <p:nvPr/>
        </p:nvSpPr>
        <p:spPr>
          <a:xfrm>
            <a:off x="685800" y="2569464"/>
            <a:ext cx="10789920" cy="37490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569464"/>
            <a:ext cx="4096512" cy="411480"/>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Sin retardos · sin temperaturas</a:t>
            </a:r>
          </a:p>
        </p:txBody>
      </p:sp>
      <p:sp>
        <p:nvSpPr>
          <p:cNvPr id="19" name="TextBox 18"/>
          <p:cNvSpPr txBox="1"/>
          <p:nvPr/>
        </p:nvSpPr>
        <p:spPr>
          <a:xfrm>
            <a:off x="4892040" y="2569464"/>
            <a:ext cx="71323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18</a:t>
            </a:r>
          </a:p>
        </p:txBody>
      </p:sp>
      <p:sp>
        <p:nvSpPr>
          <p:cNvPr id="20" name="TextBox 19"/>
          <p:cNvSpPr txBox="1"/>
          <p:nvPr/>
        </p:nvSpPr>
        <p:spPr>
          <a:xfrm>
            <a:off x="5715000" y="2569464"/>
            <a:ext cx="171907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+0,110</a:t>
            </a:r>
          </a:p>
        </p:txBody>
      </p:sp>
      <p:sp>
        <p:nvSpPr>
          <p:cNvPr id="21" name="TextBox 20"/>
          <p:cNvSpPr txBox="1"/>
          <p:nvPr/>
        </p:nvSpPr>
        <p:spPr>
          <a:xfrm>
            <a:off x="7543800" y="2569464"/>
            <a:ext cx="199339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+3,8 Wh</a:t>
            </a:r>
          </a:p>
        </p:txBody>
      </p:sp>
      <p:sp>
        <p:nvSpPr>
          <p:cNvPr id="22" name="TextBox 21"/>
          <p:cNvSpPr txBox="1"/>
          <p:nvPr/>
        </p:nvSpPr>
        <p:spPr>
          <a:xfrm>
            <a:off x="9646920" y="2569464"/>
            <a:ext cx="171907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0,074</a:t>
            </a:r>
          </a:p>
        </p:txBody>
      </p:sp>
      <p:sp>
        <p:nvSpPr>
          <p:cNvPr id="23" name="TextBox 22"/>
          <p:cNvSpPr txBox="1"/>
          <p:nvPr/>
        </p:nvSpPr>
        <p:spPr>
          <a:xfrm>
            <a:off x="777240" y="2980944"/>
            <a:ext cx="409651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Sin retardos · sin sensores interiores</a:t>
            </a:r>
          </a:p>
        </p:txBody>
      </p:sp>
      <p:sp>
        <p:nvSpPr>
          <p:cNvPr id="24" name="TextBox 23"/>
          <p:cNvSpPr txBox="1"/>
          <p:nvPr/>
        </p:nvSpPr>
        <p:spPr>
          <a:xfrm>
            <a:off x="4892040" y="2980944"/>
            <a:ext cx="7132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11</a:t>
            </a:r>
          </a:p>
        </p:txBody>
      </p:sp>
      <p:sp>
        <p:nvSpPr>
          <p:cNvPr id="25" name="TextBox 24"/>
          <p:cNvSpPr txBox="1"/>
          <p:nvPr/>
        </p:nvSpPr>
        <p:spPr>
          <a:xfrm>
            <a:off x="5715000" y="298094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+0,092</a:t>
            </a:r>
          </a:p>
        </p:txBody>
      </p:sp>
      <p:sp>
        <p:nvSpPr>
          <p:cNvPr id="26" name="TextBox 25"/>
          <p:cNvSpPr txBox="1"/>
          <p:nvPr/>
        </p:nvSpPr>
        <p:spPr>
          <a:xfrm>
            <a:off x="7543800" y="2980944"/>
            <a:ext cx="19933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−2,8 Wh</a:t>
            </a:r>
          </a:p>
        </p:txBody>
      </p:sp>
      <p:sp>
        <p:nvSpPr>
          <p:cNvPr id="27" name="TextBox 26"/>
          <p:cNvSpPr txBox="1"/>
          <p:nvPr/>
        </p:nvSpPr>
        <p:spPr>
          <a:xfrm>
            <a:off x="9646920" y="298094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0,031</a:t>
            </a:r>
          </a:p>
        </p:txBody>
      </p:sp>
      <p:sp>
        <p:nvSpPr>
          <p:cNvPr id="28" name="TextBox 27"/>
          <p:cNvSpPr txBox="1"/>
          <p:nvPr/>
        </p:nvSpPr>
        <p:spPr>
          <a:xfrm>
            <a:off x="777240" y="3392424"/>
            <a:ext cx="409651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Sin retardos · sin mes</a:t>
            </a:r>
          </a:p>
        </p:txBody>
      </p:sp>
      <p:sp>
        <p:nvSpPr>
          <p:cNvPr id="29" name="TextBox 28"/>
          <p:cNvSpPr txBox="1"/>
          <p:nvPr/>
        </p:nvSpPr>
        <p:spPr>
          <a:xfrm>
            <a:off x="4892040" y="3392424"/>
            <a:ext cx="7132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28</a:t>
            </a:r>
          </a:p>
        </p:txBody>
      </p:sp>
      <p:sp>
        <p:nvSpPr>
          <p:cNvPr id="30" name="TextBox 29"/>
          <p:cNvSpPr txBox="1"/>
          <p:nvPr/>
        </p:nvSpPr>
        <p:spPr>
          <a:xfrm>
            <a:off x="5715000" y="339242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+0,024</a:t>
            </a:r>
          </a:p>
        </p:txBody>
      </p:sp>
      <p:sp>
        <p:nvSpPr>
          <p:cNvPr id="31" name="TextBox 30"/>
          <p:cNvSpPr txBox="1"/>
          <p:nvPr/>
        </p:nvSpPr>
        <p:spPr>
          <a:xfrm>
            <a:off x="7543800" y="3392424"/>
            <a:ext cx="19933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+24,4 Wh</a:t>
            </a:r>
          </a:p>
        </p:txBody>
      </p:sp>
      <p:sp>
        <p:nvSpPr>
          <p:cNvPr id="32" name="TextBox 31"/>
          <p:cNvSpPr txBox="1"/>
          <p:nvPr/>
        </p:nvSpPr>
        <p:spPr>
          <a:xfrm>
            <a:off x="9646920" y="339242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0,099</a:t>
            </a:r>
          </a:p>
        </p:txBody>
      </p:sp>
      <p:sp>
        <p:nvSpPr>
          <p:cNvPr id="33" name="TextBox 32"/>
          <p:cNvSpPr txBox="1"/>
          <p:nvPr/>
        </p:nvSpPr>
        <p:spPr>
          <a:xfrm>
            <a:off x="777240" y="3803904"/>
            <a:ext cx="409651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Con retardos · las 29 (+ 7 retardos)</a:t>
            </a:r>
          </a:p>
        </p:txBody>
      </p:sp>
      <p:sp>
        <p:nvSpPr>
          <p:cNvPr id="34" name="TextBox 33"/>
          <p:cNvSpPr txBox="1"/>
          <p:nvPr/>
        </p:nvSpPr>
        <p:spPr>
          <a:xfrm>
            <a:off x="4892040" y="3803904"/>
            <a:ext cx="7132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36</a:t>
            </a:r>
          </a:p>
        </p:txBody>
      </p:sp>
      <p:sp>
        <p:nvSpPr>
          <p:cNvPr id="35" name="TextBox 34"/>
          <p:cNvSpPr txBox="1"/>
          <p:nvPr/>
        </p:nvSpPr>
        <p:spPr>
          <a:xfrm>
            <a:off x="5715000" y="380390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0,554</a:t>
            </a:r>
          </a:p>
        </p:txBody>
      </p:sp>
      <p:sp>
        <p:nvSpPr>
          <p:cNvPr id="36" name="TextBox 35"/>
          <p:cNvSpPr txBox="1"/>
          <p:nvPr/>
        </p:nvSpPr>
        <p:spPr>
          <a:xfrm>
            <a:off x="7543800" y="3803904"/>
            <a:ext cx="19933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+9,1 Wh</a:t>
            </a:r>
          </a:p>
        </p:txBody>
      </p:sp>
      <p:sp>
        <p:nvSpPr>
          <p:cNvPr id="37" name="TextBox 36"/>
          <p:cNvSpPr txBox="1"/>
          <p:nvPr/>
        </p:nvSpPr>
        <p:spPr>
          <a:xfrm>
            <a:off x="9646920" y="380390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0,557</a:t>
            </a:r>
          </a:p>
        </p:txBody>
      </p:sp>
      <p:sp>
        <p:nvSpPr>
          <p:cNvPr id="38" name="TextBox 37"/>
          <p:cNvSpPr txBox="1"/>
          <p:nvPr/>
        </p:nvSpPr>
        <p:spPr>
          <a:xfrm>
            <a:off x="777240" y="4215384"/>
            <a:ext cx="409651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Con retardos · sin temperaturas</a:t>
            </a:r>
          </a:p>
        </p:txBody>
      </p:sp>
      <p:sp>
        <p:nvSpPr>
          <p:cNvPr id="39" name="TextBox 38"/>
          <p:cNvSpPr txBox="1"/>
          <p:nvPr/>
        </p:nvSpPr>
        <p:spPr>
          <a:xfrm>
            <a:off x="4892040" y="4215384"/>
            <a:ext cx="7132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25</a:t>
            </a:r>
          </a:p>
        </p:txBody>
      </p:sp>
      <p:sp>
        <p:nvSpPr>
          <p:cNvPr id="40" name="TextBox 39"/>
          <p:cNvSpPr txBox="1"/>
          <p:nvPr/>
        </p:nvSpPr>
        <p:spPr>
          <a:xfrm>
            <a:off x="5715000" y="421538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0,561</a:t>
            </a:r>
          </a:p>
        </p:txBody>
      </p:sp>
      <p:sp>
        <p:nvSpPr>
          <p:cNvPr id="41" name="TextBox 40"/>
          <p:cNvSpPr txBox="1"/>
          <p:nvPr/>
        </p:nvSpPr>
        <p:spPr>
          <a:xfrm>
            <a:off x="7543800" y="4215384"/>
            <a:ext cx="19933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+4,1 Wh</a:t>
            </a:r>
          </a:p>
        </p:txBody>
      </p:sp>
      <p:sp>
        <p:nvSpPr>
          <p:cNvPr id="42" name="TextBox 41"/>
          <p:cNvSpPr txBox="1"/>
          <p:nvPr/>
        </p:nvSpPr>
        <p:spPr>
          <a:xfrm>
            <a:off x="9646920" y="4215384"/>
            <a:ext cx="17190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0,559</a:t>
            </a:r>
          </a:p>
        </p:txBody>
      </p:sp>
      <p:sp>
        <p:nvSpPr>
          <p:cNvPr id="43" name="Rectangle 42"/>
          <p:cNvSpPr/>
          <p:nvPr/>
        </p:nvSpPr>
        <p:spPr>
          <a:xfrm>
            <a:off x="685800" y="4892040"/>
            <a:ext cx="10820095" cy="960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4892040"/>
            <a:ext cx="54864" cy="9601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5074920"/>
            <a:ext cx="10362895" cy="64008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«Sin temperaturas» = fuera las 11 variables de temperatura (T1–T9, T_out y Tdewpoint). Sin ellas, el sesgo de LightGBM en mayo cae de </a:t>
            </a:r>
            <a:r>
              <a:rPr sz="1300" b="1">
                <a:solidFill>
                  <a:srgbClr val="E6E9EF"/>
                </a:solidFill>
                <a:latin typeface="Segoe UI"/>
              </a:rPr>
              <a:t>+47,0 a +3,8 Wh</a:t>
            </a:r>
            <a:r>
              <a:rPr sz="1300" b="0">
                <a:solidFill>
                  <a:srgbClr val="C9D1DE"/>
                </a:solidFill>
                <a:latin typeface="Segoe UI"/>
              </a:rPr>
              <a:t>. Quitar el mes deja +24,4 Wh: el problema no es el mes nunca visto sino las temperaturas nunca vistas.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CLASIFICACIÓN CON LAS MÉTRICAS DEL CURSO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Por lectura, el boosting ordena mejor</a:t>
            </a:r>
          </a:p>
        </p:txBody>
      </p:sp>
      <p:sp>
        <p:nvSpPr>
          <p:cNvPr id="6" name="TextBox 5"/>
          <p:cNvSpPr txBox="1"/>
          <p:nvPr/>
        </p:nvSpPr>
        <p:spPr>
          <a:xfrm>
            <a:off x="685800" y="1828800"/>
            <a:ext cx="26517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TEMPORAL + RETARDOS</a:t>
            </a:r>
          </a:p>
        </p:txBody>
      </p:sp>
      <p:sp>
        <p:nvSpPr>
          <p:cNvPr id="7" name="TextBox 6"/>
          <p:cNvSpPr txBox="1"/>
          <p:nvPr/>
        </p:nvSpPr>
        <p:spPr>
          <a:xfrm>
            <a:off x="3337560" y="182880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PRECISIÓN</a:t>
            </a:r>
          </a:p>
        </p:txBody>
      </p:sp>
      <p:sp>
        <p:nvSpPr>
          <p:cNvPr id="8" name="TextBox 7"/>
          <p:cNvSpPr txBox="1"/>
          <p:nvPr/>
        </p:nvSpPr>
        <p:spPr>
          <a:xfrm>
            <a:off x="4434840" y="1828800"/>
            <a:ext cx="10058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RECALL</a:t>
            </a:r>
          </a:p>
        </p:txBody>
      </p:sp>
      <p:sp>
        <p:nvSpPr>
          <p:cNvPr id="9" name="TextBox 8"/>
          <p:cNvSpPr txBox="1"/>
          <p:nvPr/>
        </p:nvSpPr>
        <p:spPr>
          <a:xfrm>
            <a:off x="5440680" y="182880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F1</a:t>
            </a:r>
          </a:p>
        </p:txBody>
      </p:sp>
      <p:sp>
        <p:nvSpPr>
          <p:cNvPr id="10" name="TextBox 9"/>
          <p:cNvSpPr txBox="1"/>
          <p:nvPr/>
        </p:nvSpPr>
        <p:spPr>
          <a:xfrm>
            <a:off x="6355080" y="182880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AUC</a:t>
            </a:r>
          </a:p>
        </p:txBody>
      </p:sp>
      <p:sp>
        <p:nvSpPr>
          <p:cNvPr id="11" name="TextBox 10"/>
          <p:cNvSpPr txBox="1"/>
          <p:nvPr/>
        </p:nvSpPr>
        <p:spPr>
          <a:xfrm>
            <a:off x="7269480" y="182880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AP</a:t>
            </a:r>
          </a:p>
        </p:txBody>
      </p:sp>
      <p:sp>
        <p:nvSpPr>
          <p:cNvPr id="12" name="Rectangle 11"/>
          <p:cNvSpPr/>
          <p:nvPr/>
        </p:nvSpPr>
        <p:spPr>
          <a:xfrm>
            <a:off x="685800" y="2121408"/>
            <a:ext cx="7498079"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57984"/>
            <a:ext cx="25420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AdaBoost</a:t>
            </a:r>
          </a:p>
        </p:txBody>
      </p:sp>
      <p:sp>
        <p:nvSpPr>
          <p:cNvPr id="14" name="TextBox 13"/>
          <p:cNvSpPr txBox="1"/>
          <p:nvPr/>
        </p:nvSpPr>
        <p:spPr>
          <a:xfrm>
            <a:off x="3337560" y="2157984"/>
            <a:ext cx="98755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0,510</a:t>
            </a:r>
          </a:p>
        </p:txBody>
      </p:sp>
      <p:sp>
        <p:nvSpPr>
          <p:cNvPr id="15" name="TextBox 14"/>
          <p:cNvSpPr txBox="1"/>
          <p:nvPr/>
        </p:nvSpPr>
        <p:spPr>
          <a:xfrm>
            <a:off x="4434840" y="2157984"/>
            <a:ext cx="89611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0,772</a:t>
            </a:r>
          </a:p>
        </p:txBody>
      </p:sp>
      <p:sp>
        <p:nvSpPr>
          <p:cNvPr id="16" name="TextBox 15"/>
          <p:cNvSpPr txBox="1"/>
          <p:nvPr/>
        </p:nvSpPr>
        <p:spPr>
          <a:xfrm>
            <a:off x="5440680" y="215798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0,614</a:t>
            </a:r>
          </a:p>
        </p:txBody>
      </p:sp>
      <p:sp>
        <p:nvSpPr>
          <p:cNvPr id="17" name="TextBox 16"/>
          <p:cNvSpPr txBox="1"/>
          <p:nvPr/>
        </p:nvSpPr>
        <p:spPr>
          <a:xfrm>
            <a:off x="6355080" y="215798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0,930</a:t>
            </a:r>
          </a:p>
        </p:txBody>
      </p:sp>
      <p:sp>
        <p:nvSpPr>
          <p:cNvPr id="18" name="TextBox 17"/>
          <p:cNvSpPr txBox="1"/>
          <p:nvPr/>
        </p:nvSpPr>
        <p:spPr>
          <a:xfrm>
            <a:off x="7269480" y="215798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0,682</a:t>
            </a:r>
          </a:p>
        </p:txBody>
      </p:sp>
      <p:sp>
        <p:nvSpPr>
          <p:cNvPr id="19" name="TextBox 18"/>
          <p:cNvSpPr txBox="1"/>
          <p:nvPr/>
        </p:nvSpPr>
        <p:spPr>
          <a:xfrm>
            <a:off x="777240" y="2569464"/>
            <a:ext cx="25420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GBM</a:t>
            </a:r>
          </a:p>
        </p:txBody>
      </p:sp>
      <p:sp>
        <p:nvSpPr>
          <p:cNvPr id="20" name="TextBox 19"/>
          <p:cNvSpPr txBox="1"/>
          <p:nvPr/>
        </p:nvSpPr>
        <p:spPr>
          <a:xfrm>
            <a:off x="3337560" y="2569464"/>
            <a:ext cx="98755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0,398</a:t>
            </a:r>
          </a:p>
        </p:txBody>
      </p:sp>
      <p:sp>
        <p:nvSpPr>
          <p:cNvPr id="21" name="TextBox 20"/>
          <p:cNvSpPr txBox="1"/>
          <p:nvPr/>
        </p:nvSpPr>
        <p:spPr>
          <a:xfrm>
            <a:off x="4434840" y="2569464"/>
            <a:ext cx="89611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0,401</a:t>
            </a:r>
          </a:p>
        </p:txBody>
      </p:sp>
      <p:sp>
        <p:nvSpPr>
          <p:cNvPr id="22" name="TextBox 21"/>
          <p:cNvSpPr txBox="1"/>
          <p:nvPr/>
        </p:nvSpPr>
        <p:spPr>
          <a:xfrm>
            <a:off x="5440680" y="256946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0,399</a:t>
            </a:r>
          </a:p>
        </p:txBody>
      </p:sp>
      <p:sp>
        <p:nvSpPr>
          <p:cNvPr id="23" name="TextBox 22"/>
          <p:cNvSpPr txBox="1"/>
          <p:nvPr/>
        </p:nvSpPr>
        <p:spPr>
          <a:xfrm>
            <a:off x="6355080" y="256946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0,850</a:t>
            </a:r>
          </a:p>
        </p:txBody>
      </p:sp>
      <p:sp>
        <p:nvSpPr>
          <p:cNvPr id="24" name="TextBox 23"/>
          <p:cNvSpPr txBox="1"/>
          <p:nvPr/>
        </p:nvSpPr>
        <p:spPr>
          <a:xfrm>
            <a:off x="7269480" y="256946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0,425</a:t>
            </a:r>
          </a:p>
        </p:txBody>
      </p:sp>
      <p:sp>
        <p:nvSpPr>
          <p:cNvPr id="25" name="TextBox 24"/>
          <p:cNvSpPr txBox="1"/>
          <p:nvPr/>
        </p:nvSpPr>
        <p:spPr>
          <a:xfrm>
            <a:off x="777240" y="2980944"/>
            <a:ext cx="25420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XGBoost</a:t>
            </a:r>
          </a:p>
        </p:txBody>
      </p:sp>
      <p:sp>
        <p:nvSpPr>
          <p:cNvPr id="26" name="TextBox 25"/>
          <p:cNvSpPr txBox="1"/>
          <p:nvPr/>
        </p:nvSpPr>
        <p:spPr>
          <a:xfrm>
            <a:off x="3337560" y="2980944"/>
            <a:ext cx="98755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0,714</a:t>
            </a:r>
          </a:p>
        </p:txBody>
      </p:sp>
      <p:sp>
        <p:nvSpPr>
          <p:cNvPr id="27" name="TextBox 26"/>
          <p:cNvSpPr txBox="1"/>
          <p:nvPr/>
        </p:nvSpPr>
        <p:spPr>
          <a:xfrm>
            <a:off x="4434840" y="2980944"/>
            <a:ext cx="89611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0,639</a:t>
            </a:r>
          </a:p>
        </p:txBody>
      </p:sp>
      <p:sp>
        <p:nvSpPr>
          <p:cNvPr id="28" name="TextBox 27"/>
          <p:cNvSpPr txBox="1"/>
          <p:nvPr/>
        </p:nvSpPr>
        <p:spPr>
          <a:xfrm>
            <a:off x="5440680" y="2980944"/>
            <a:ext cx="804672" cy="411480"/>
          </a:xfrm>
          <a:prstGeom prst="rect">
            <a:avLst/>
          </a:prstGeom>
          <a:noFill/>
        </p:spPr>
        <p:txBody>
          <a:bodyPr wrap="square" lIns="0" rIns="0" tIns="0" bIns="0" anchor="ctr">
            <a:spAutoFit/>
          </a:bodyPr>
          <a:lstStyle/>
          <a:p>
            <a:pPr algn="r">
              <a:lnSpc>
                <a:spcPct val="115000"/>
              </a:lnSpc>
            </a:pPr>
            <a:r>
              <a:rPr sz="1300" b="0">
                <a:solidFill>
                  <a:srgbClr val="7BD992"/>
                </a:solidFill>
                <a:latin typeface="Consolas"/>
              </a:rPr>
              <a:t>0,674</a:t>
            </a:r>
          </a:p>
        </p:txBody>
      </p:sp>
      <p:sp>
        <p:nvSpPr>
          <p:cNvPr id="29" name="TextBox 28"/>
          <p:cNvSpPr txBox="1"/>
          <p:nvPr/>
        </p:nvSpPr>
        <p:spPr>
          <a:xfrm>
            <a:off x="6355080" y="298094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0,929</a:t>
            </a:r>
          </a:p>
        </p:txBody>
      </p:sp>
      <p:sp>
        <p:nvSpPr>
          <p:cNvPr id="30" name="TextBox 29"/>
          <p:cNvSpPr txBox="1"/>
          <p:nvPr/>
        </p:nvSpPr>
        <p:spPr>
          <a:xfrm>
            <a:off x="7269480" y="298094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0,703</a:t>
            </a:r>
          </a:p>
        </p:txBody>
      </p:sp>
      <p:sp>
        <p:nvSpPr>
          <p:cNvPr id="31" name="TextBox 30"/>
          <p:cNvSpPr txBox="1"/>
          <p:nvPr/>
        </p:nvSpPr>
        <p:spPr>
          <a:xfrm>
            <a:off x="777240" y="3392424"/>
            <a:ext cx="25420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LightGBM</a:t>
            </a:r>
          </a:p>
        </p:txBody>
      </p:sp>
      <p:sp>
        <p:nvSpPr>
          <p:cNvPr id="32" name="TextBox 31"/>
          <p:cNvSpPr txBox="1"/>
          <p:nvPr/>
        </p:nvSpPr>
        <p:spPr>
          <a:xfrm>
            <a:off x="3337560" y="3392424"/>
            <a:ext cx="98755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0,640</a:t>
            </a:r>
          </a:p>
        </p:txBody>
      </p:sp>
      <p:sp>
        <p:nvSpPr>
          <p:cNvPr id="33" name="TextBox 32"/>
          <p:cNvSpPr txBox="1"/>
          <p:nvPr/>
        </p:nvSpPr>
        <p:spPr>
          <a:xfrm>
            <a:off x="4434840" y="3392424"/>
            <a:ext cx="89611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0,654</a:t>
            </a:r>
          </a:p>
        </p:txBody>
      </p:sp>
      <p:sp>
        <p:nvSpPr>
          <p:cNvPr id="34" name="TextBox 33"/>
          <p:cNvSpPr txBox="1"/>
          <p:nvPr/>
        </p:nvSpPr>
        <p:spPr>
          <a:xfrm>
            <a:off x="5440680" y="339242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0,647</a:t>
            </a:r>
          </a:p>
        </p:txBody>
      </p:sp>
      <p:sp>
        <p:nvSpPr>
          <p:cNvPr id="35" name="TextBox 34"/>
          <p:cNvSpPr txBox="1"/>
          <p:nvPr/>
        </p:nvSpPr>
        <p:spPr>
          <a:xfrm>
            <a:off x="6355080" y="339242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0,924</a:t>
            </a:r>
          </a:p>
        </p:txBody>
      </p:sp>
      <p:sp>
        <p:nvSpPr>
          <p:cNvPr id="36" name="TextBox 35"/>
          <p:cNvSpPr txBox="1"/>
          <p:nvPr/>
        </p:nvSpPr>
        <p:spPr>
          <a:xfrm>
            <a:off x="7269480" y="339242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0,670</a:t>
            </a:r>
          </a:p>
        </p:txBody>
      </p:sp>
      <p:sp>
        <p:nvSpPr>
          <p:cNvPr id="37" name="TextBox 36"/>
          <p:cNvSpPr txBox="1"/>
          <p:nvPr/>
        </p:nvSpPr>
        <p:spPr>
          <a:xfrm>
            <a:off x="777240" y="3803904"/>
            <a:ext cx="25420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CatBoost</a:t>
            </a:r>
          </a:p>
        </p:txBody>
      </p:sp>
      <p:sp>
        <p:nvSpPr>
          <p:cNvPr id="38" name="TextBox 37"/>
          <p:cNvSpPr txBox="1"/>
          <p:nvPr/>
        </p:nvSpPr>
        <p:spPr>
          <a:xfrm>
            <a:off x="3337560" y="3803904"/>
            <a:ext cx="98755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0,508</a:t>
            </a:r>
          </a:p>
        </p:txBody>
      </p:sp>
      <p:sp>
        <p:nvSpPr>
          <p:cNvPr id="39" name="TextBox 38"/>
          <p:cNvSpPr txBox="1"/>
          <p:nvPr/>
        </p:nvSpPr>
        <p:spPr>
          <a:xfrm>
            <a:off x="4434840" y="3803904"/>
            <a:ext cx="89611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0,784</a:t>
            </a:r>
          </a:p>
        </p:txBody>
      </p:sp>
      <p:sp>
        <p:nvSpPr>
          <p:cNvPr id="40" name="TextBox 39"/>
          <p:cNvSpPr txBox="1"/>
          <p:nvPr/>
        </p:nvSpPr>
        <p:spPr>
          <a:xfrm>
            <a:off x="5440680" y="380390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0,617</a:t>
            </a:r>
          </a:p>
        </p:txBody>
      </p:sp>
      <p:sp>
        <p:nvSpPr>
          <p:cNvPr id="41" name="TextBox 40"/>
          <p:cNvSpPr txBox="1"/>
          <p:nvPr/>
        </p:nvSpPr>
        <p:spPr>
          <a:xfrm>
            <a:off x="6355080" y="3803904"/>
            <a:ext cx="80467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0,937</a:t>
            </a:r>
          </a:p>
        </p:txBody>
      </p:sp>
      <p:sp>
        <p:nvSpPr>
          <p:cNvPr id="42" name="TextBox 41"/>
          <p:cNvSpPr txBox="1"/>
          <p:nvPr/>
        </p:nvSpPr>
        <p:spPr>
          <a:xfrm>
            <a:off x="7269480" y="3803904"/>
            <a:ext cx="804672" cy="411480"/>
          </a:xfrm>
          <a:prstGeom prst="rect">
            <a:avLst/>
          </a:prstGeom>
          <a:noFill/>
        </p:spPr>
        <p:txBody>
          <a:bodyPr wrap="square" lIns="0" rIns="0" tIns="0" bIns="0" anchor="ctr">
            <a:spAutoFit/>
          </a:bodyPr>
          <a:lstStyle/>
          <a:p>
            <a:pPr algn="r">
              <a:lnSpc>
                <a:spcPct val="115000"/>
              </a:lnSpc>
            </a:pPr>
            <a:r>
              <a:rPr sz="1300" b="0">
                <a:solidFill>
                  <a:srgbClr val="7BD992"/>
                </a:solidFill>
                <a:latin typeface="Consolas"/>
              </a:rPr>
              <a:t>0,715</a:t>
            </a:r>
          </a:p>
        </p:txBody>
      </p:sp>
      <p:sp>
        <p:nvSpPr>
          <p:cNvPr id="43" name="Rectangle 42"/>
          <p:cNvSpPr/>
          <p:nvPr/>
        </p:nvSpPr>
        <p:spPr>
          <a:xfrm>
            <a:off x="685800" y="4215384"/>
            <a:ext cx="7498079" cy="37490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4215384"/>
            <a:ext cx="2542032" cy="411480"/>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Random Forest (ref.)</a:t>
            </a:r>
          </a:p>
        </p:txBody>
      </p:sp>
      <p:sp>
        <p:nvSpPr>
          <p:cNvPr id="45" name="TextBox 44"/>
          <p:cNvSpPr txBox="1"/>
          <p:nvPr/>
        </p:nvSpPr>
        <p:spPr>
          <a:xfrm>
            <a:off x="3337560" y="4215384"/>
            <a:ext cx="98755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0,564</a:t>
            </a:r>
          </a:p>
        </p:txBody>
      </p:sp>
      <p:sp>
        <p:nvSpPr>
          <p:cNvPr id="46" name="TextBox 45"/>
          <p:cNvSpPr txBox="1"/>
          <p:nvPr/>
        </p:nvSpPr>
        <p:spPr>
          <a:xfrm>
            <a:off x="4434840" y="4215384"/>
            <a:ext cx="89611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0,574</a:t>
            </a:r>
          </a:p>
        </p:txBody>
      </p:sp>
      <p:sp>
        <p:nvSpPr>
          <p:cNvPr id="47" name="TextBox 46"/>
          <p:cNvSpPr txBox="1"/>
          <p:nvPr/>
        </p:nvSpPr>
        <p:spPr>
          <a:xfrm>
            <a:off x="5440680" y="4215384"/>
            <a:ext cx="80467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0,569</a:t>
            </a:r>
          </a:p>
        </p:txBody>
      </p:sp>
      <p:sp>
        <p:nvSpPr>
          <p:cNvPr id="48" name="TextBox 47"/>
          <p:cNvSpPr txBox="1"/>
          <p:nvPr/>
        </p:nvSpPr>
        <p:spPr>
          <a:xfrm>
            <a:off x="6355080" y="4215384"/>
            <a:ext cx="80467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0,911</a:t>
            </a:r>
          </a:p>
        </p:txBody>
      </p:sp>
      <p:sp>
        <p:nvSpPr>
          <p:cNvPr id="49" name="TextBox 48"/>
          <p:cNvSpPr txBox="1"/>
          <p:nvPr/>
        </p:nvSpPr>
        <p:spPr>
          <a:xfrm>
            <a:off x="7269480" y="4215384"/>
            <a:ext cx="80467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0,605</a:t>
            </a:r>
          </a:p>
        </p:txBody>
      </p:sp>
      <p:sp>
        <p:nvSpPr>
          <p:cNvPr id="50" name="Rectangle 49"/>
          <p:cNvSpPr/>
          <p:nvPr/>
        </p:nvSpPr>
        <p:spPr>
          <a:xfrm>
            <a:off x="8458200" y="1828800"/>
            <a:ext cx="3017520" cy="27889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458200" y="1828800"/>
            <a:ext cx="54864" cy="27889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14232" y="2011680"/>
            <a:ext cx="2560320" cy="24688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Lectura honesta.</a:t>
            </a:r>
            <a:r>
              <a:rPr sz="1200" b="0">
                <a:solidFill>
                  <a:srgbClr val="C9D1DE"/>
                </a:solidFill>
                <a:latin typeface="Segoe UI"/>
              </a:rPr>
              <a:t> En AUC y average precision, AdaBoost, XGBoost, LightGBM y CatBoost superan al bosque (AP 0,670–0,715 frente a 0,605); GBM es la excepción débil. En precisión no hay victoria general: Random Forest (0,564) supera a CatBoost, AdaBoost y GBM. Por las métricas del curso, el boosting ganaría el puesto de detector.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UNA CORRECCIÓN AL PARCIAL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Contar avisos por día se puede ganar con trampa</a:t>
            </a:r>
          </a:p>
        </p:txBody>
      </p:sp>
      <p:sp>
        <p:nvSpPr>
          <p:cNvPr id="6" name="Rounded Rectangle 5"/>
          <p:cNvSpPr/>
          <p:nvPr/>
        </p:nvSpPr>
        <p:spPr>
          <a:xfrm>
            <a:off x="1385039" y="1655064"/>
            <a:ext cx="9391442" cy="32278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3_detector.png"/>
          <p:cNvPicPr>
            <a:picLocks noChangeAspect="1"/>
          </p:cNvPicPr>
          <p:nvPr/>
        </p:nvPicPr>
        <p:blipFill>
          <a:blip r:embed="rId2"/>
          <a:stretch>
            <a:fillRect/>
          </a:stretch>
        </p:blipFill>
        <p:spPr>
          <a:xfrm>
            <a:off x="1467335" y="1737360"/>
            <a:ext cx="9226850" cy="3063240"/>
          </a:xfrm>
          <a:prstGeom prst="rect">
            <a:avLst/>
          </a:prstGeom>
        </p:spPr>
      </p:pic>
      <p:sp>
        <p:nvSpPr>
          <p:cNvPr id="8" name="TextBox 7"/>
          <p:cNvSpPr txBox="1"/>
          <p:nvPr/>
        </p:nvSpPr>
        <p:spPr>
          <a:xfrm>
            <a:off x="685800" y="4937760"/>
            <a:ext cx="2926080" cy="274320"/>
          </a:xfrm>
          <a:prstGeom prst="rect">
            <a:avLst/>
          </a:prstGeom>
          <a:noFill/>
        </p:spPr>
        <p:txBody>
          <a:bodyPr wrap="square" lIns="0" rIns="0" tIns="0" bIns="0" anchor="t">
            <a:spAutoFit/>
          </a:bodyPr>
          <a:lstStyle/>
          <a:p>
            <a:pPr algn="l">
              <a:lnSpc>
                <a:spcPct val="115000"/>
              </a:lnSpc>
            </a:pPr>
          </a:p>
        </p:txBody>
      </p:sp>
      <p:sp>
        <p:nvSpPr>
          <p:cNvPr id="9" name="TextBox 8"/>
          <p:cNvSpPr txBox="1"/>
          <p:nvPr/>
        </p:nvSpPr>
        <p:spPr>
          <a:xfrm>
            <a:off x="3611880" y="493776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EPISODIOS DETECTADOS</a:t>
            </a:r>
          </a:p>
        </p:txBody>
      </p:sp>
      <p:sp>
        <p:nvSpPr>
          <p:cNvPr id="10" name="TextBox 9"/>
          <p:cNvSpPr txBox="1"/>
          <p:nvPr/>
        </p:nvSpPr>
        <p:spPr>
          <a:xfrm>
            <a:off x="5440680" y="493776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AVISOS/DÍA</a:t>
            </a:r>
          </a:p>
        </p:txBody>
      </p:sp>
      <p:sp>
        <p:nvSpPr>
          <p:cNvPr id="11" name="TextBox 10"/>
          <p:cNvSpPr txBox="1"/>
          <p:nvPr/>
        </p:nvSpPr>
        <p:spPr>
          <a:xfrm>
            <a:off x="6720840" y="4937760"/>
            <a:ext cx="16459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DURACIÓN MEDIA</a:t>
            </a:r>
          </a:p>
        </p:txBody>
      </p:sp>
      <p:sp>
        <p:nvSpPr>
          <p:cNvPr id="12" name="TextBox 11"/>
          <p:cNvSpPr txBox="1"/>
          <p:nvPr/>
        </p:nvSpPr>
        <p:spPr>
          <a:xfrm>
            <a:off x="8366760" y="493776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TIEMPO EN ALERTA</a:t>
            </a:r>
          </a:p>
        </p:txBody>
      </p:sp>
      <p:sp>
        <p:nvSpPr>
          <p:cNvPr id="13" name="TextBox 12"/>
          <p:cNvSpPr txBox="1"/>
          <p:nvPr/>
        </p:nvSpPr>
        <p:spPr>
          <a:xfrm>
            <a:off x="10104120" y="493776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AVISOS FALSOS</a:t>
            </a:r>
          </a:p>
        </p:txBody>
      </p:sp>
      <p:sp>
        <p:nvSpPr>
          <p:cNvPr id="14" name="Rectangle 13"/>
          <p:cNvSpPr/>
          <p:nvPr/>
        </p:nvSpPr>
        <p:spPr>
          <a:xfrm>
            <a:off x="685800" y="5230368"/>
            <a:ext cx="108813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266944"/>
            <a:ext cx="2816352" cy="365760"/>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GBM, umbral 0,05</a:t>
            </a:r>
          </a:p>
        </p:txBody>
      </p:sp>
      <p:sp>
        <p:nvSpPr>
          <p:cNvPr id="16" name="TextBox 15"/>
          <p:cNvSpPr txBox="1"/>
          <p:nvPr/>
        </p:nvSpPr>
        <p:spPr>
          <a:xfrm>
            <a:off x="3611880" y="5266944"/>
            <a:ext cx="1719072" cy="365760"/>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98,8 %</a:t>
            </a:r>
          </a:p>
        </p:txBody>
      </p:sp>
      <p:sp>
        <p:nvSpPr>
          <p:cNvPr id="17" name="TextBox 16"/>
          <p:cNvSpPr txBox="1"/>
          <p:nvPr/>
        </p:nvSpPr>
        <p:spPr>
          <a:xfrm>
            <a:off x="5440680" y="5266944"/>
            <a:ext cx="1170432" cy="365760"/>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3,1</a:t>
            </a:r>
          </a:p>
        </p:txBody>
      </p:sp>
      <p:sp>
        <p:nvSpPr>
          <p:cNvPr id="18" name="TextBox 17"/>
          <p:cNvSpPr txBox="1"/>
          <p:nvPr/>
        </p:nvSpPr>
        <p:spPr>
          <a:xfrm>
            <a:off x="6720840" y="5266944"/>
            <a:ext cx="1536192" cy="365760"/>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317 min</a:t>
            </a:r>
          </a:p>
        </p:txBody>
      </p:sp>
      <p:sp>
        <p:nvSpPr>
          <p:cNvPr id="19" name="TextBox 18"/>
          <p:cNvSpPr txBox="1"/>
          <p:nvPr/>
        </p:nvSpPr>
        <p:spPr>
          <a:xfrm>
            <a:off x="8366760" y="5266944"/>
            <a:ext cx="1627632" cy="365760"/>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67,5 %</a:t>
            </a:r>
          </a:p>
        </p:txBody>
      </p:sp>
      <p:sp>
        <p:nvSpPr>
          <p:cNvPr id="20" name="TextBox 19"/>
          <p:cNvSpPr txBox="1"/>
          <p:nvPr/>
        </p:nvSpPr>
        <p:spPr>
          <a:xfrm>
            <a:off x="10104120" y="5266944"/>
            <a:ext cx="1353312" cy="365760"/>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61,9 %</a:t>
            </a:r>
          </a:p>
        </p:txBody>
      </p:sp>
      <p:sp>
        <p:nvSpPr>
          <p:cNvPr id="21" name="Rectangle 20"/>
          <p:cNvSpPr/>
          <p:nvPr/>
        </p:nvSpPr>
        <p:spPr>
          <a:xfrm>
            <a:off x="685800" y="5632704"/>
            <a:ext cx="10881360" cy="32918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632704"/>
            <a:ext cx="2816352" cy="365760"/>
          </a:xfrm>
          <a:prstGeom prst="rect">
            <a:avLst/>
          </a:prstGeom>
          <a:noFill/>
        </p:spPr>
        <p:txBody>
          <a:bodyPr wrap="square" lIns="0" rIns="0" tIns="0" bIns="0" anchor="ctr">
            <a:spAutoFit/>
          </a:bodyPr>
          <a:lstStyle/>
          <a:p>
            <a:pPr algn="l">
              <a:lnSpc>
                <a:spcPct val="115000"/>
              </a:lnSpc>
            </a:pPr>
            <a:r>
              <a:rPr sz="1250" b="1">
                <a:solidFill>
                  <a:srgbClr val="E6E9EF"/>
                </a:solidFill>
                <a:latin typeface="Segoe UI"/>
              </a:rPr>
              <a:t>RF, umbral 0,40 (parcial)</a:t>
            </a:r>
          </a:p>
        </p:txBody>
      </p:sp>
      <p:sp>
        <p:nvSpPr>
          <p:cNvPr id="23" name="TextBox 22"/>
          <p:cNvSpPr txBox="1"/>
          <p:nvPr/>
        </p:nvSpPr>
        <p:spPr>
          <a:xfrm>
            <a:off x="3611880" y="5632704"/>
            <a:ext cx="1719072" cy="365760"/>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86,9 %</a:t>
            </a:r>
          </a:p>
        </p:txBody>
      </p:sp>
      <p:sp>
        <p:nvSpPr>
          <p:cNvPr id="24" name="TextBox 23"/>
          <p:cNvSpPr txBox="1"/>
          <p:nvPr/>
        </p:nvSpPr>
        <p:spPr>
          <a:xfrm>
            <a:off x="5440680" y="5632704"/>
            <a:ext cx="1170432" cy="365760"/>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3,0</a:t>
            </a:r>
          </a:p>
        </p:txBody>
      </p:sp>
      <p:sp>
        <p:nvSpPr>
          <p:cNvPr id="25" name="TextBox 24"/>
          <p:cNvSpPr txBox="1"/>
          <p:nvPr/>
        </p:nvSpPr>
        <p:spPr>
          <a:xfrm>
            <a:off x="6720840" y="5632704"/>
            <a:ext cx="1536192" cy="365760"/>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100 min</a:t>
            </a:r>
          </a:p>
        </p:txBody>
      </p:sp>
      <p:sp>
        <p:nvSpPr>
          <p:cNvPr id="26" name="TextBox 25"/>
          <p:cNvSpPr txBox="1"/>
          <p:nvPr/>
        </p:nvSpPr>
        <p:spPr>
          <a:xfrm>
            <a:off x="8366760" y="5632704"/>
            <a:ext cx="1627632" cy="365760"/>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21,1 %</a:t>
            </a:r>
          </a:p>
        </p:txBody>
      </p:sp>
      <p:sp>
        <p:nvSpPr>
          <p:cNvPr id="27" name="TextBox 26"/>
          <p:cNvSpPr txBox="1"/>
          <p:nvPr/>
        </p:nvSpPr>
        <p:spPr>
          <a:xfrm>
            <a:off x="10104120" y="5632704"/>
            <a:ext cx="1353312" cy="365760"/>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37,3 %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CON EL MISMO TIEMPO EN ALERTA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bosque detecta lo mismo y molesta menos</a:t>
            </a:r>
          </a:p>
        </p:txBody>
      </p:sp>
      <p:sp>
        <p:nvSpPr>
          <p:cNvPr id="6" name="TextBox 5"/>
          <p:cNvSpPr txBox="1"/>
          <p:nvPr/>
        </p:nvSpPr>
        <p:spPr>
          <a:xfrm>
            <a:off x="685800" y="1828800"/>
            <a:ext cx="23774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21,1 % DEL TIEMPO EN ALERTA</a:t>
            </a:r>
          </a:p>
        </p:txBody>
      </p:sp>
      <p:sp>
        <p:nvSpPr>
          <p:cNvPr id="7" name="TextBox 6"/>
          <p:cNvSpPr txBox="1"/>
          <p:nvPr/>
        </p:nvSpPr>
        <p:spPr>
          <a:xfrm>
            <a:off x="3063240" y="182880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EPISODIOS</a:t>
            </a:r>
          </a:p>
        </p:txBody>
      </p:sp>
      <p:sp>
        <p:nvSpPr>
          <p:cNvPr id="8" name="TextBox 7"/>
          <p:cNvSpPr txBox="1"/>
          <p:nvPr/>
        </p:nvSpPr>
        <p:spPr>
          <a:xfrm>
            <a:off x="4251960" y="182880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AVISOS/DÍA</a:t>
            </a:r>
          </a:p>
        </p:txBody>
      </p:sp>
      <p:sp>
        <p:nvSpPr>
          <p:cNvPr id="9" name="TextBox 8"/>
          <p:cNvSpPr txBox="1"/>
          <p:nvPr/>
        </p:nvSpPr>
        <p:spPr>
          <a:xfrm>
            <a:off x="5440680" y="182880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FALSOS</a:t>
            </a:r>
          </a:p>
        </p:txBody>
      </p:sp>
      <p:sp>
        <p:nvSpPr>
          <p:cNvPr id="10" name="TextBox 9"/>
          <p:cNvSpPr txBox="1"/>
          <p:nvPr/>
        </p:nvSpPr>
        <p:spPr>
          <a:xfrm>
            <a:off x="6629400" y="182880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DURACIÓN</a:t>
            </a:r>
          </a:p>
        </p:txBody>
      </p:sp>
      <p:sp>
        <p:nvSpPr>
          <p:cNvPr id="11" name="Rectangle 10"/>
          <p:cNvSpPr/>
          <p:nvPr/>
        </p:nvSpPr>
        <p:spPr>
          <a:xfrm>
            <a:off x="685800" y="2121408"/>
            <a:ext cx="71323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57984"/>
            <a:ext cx="2267712" cy="39319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AdaBoost</a:t>
            </a:r>
          </a:p>
        </p:txBody>
      </p:sp>
      <p:sp>
        <p:nvSpPr>
          <p:cNvPr id="13" name="TextBox 12"/>
          <p:cNvSpPr txBox="1"/>
          <p:nvPr/>
        </p:nvSpPr>
        <p:spPr>
          <a:xfrm>
            <a:off x="3063240" y="2157984"/>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84,5 %</a:t>
            </a:r>
          </a:p>
        </p:txBody>
      </p:sp>
      <p:sp>
        <p:nvSpPr>
          <p:cNvPr id="14" name="TextBox 13"/>
          <p:cNvSpPr txBox="1"/>
          <p:nvPr/>
        </p:nvSpPr>
        <p:spPr>
          <a:xfrm>
            <a:off x="4251960" y="2157984"/>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3,6</a:t>
            </a:r>
          </a:p>
        </p:txBody>
      </p:sp>
      <p:sp>
        <p:nvSpPr>
          <p:cNvPr id="15" name="TextBox 14"/>
          <p:cNvSpPr txBox="1"/>
          <p:nvPr/>
        </p:nvSpPr>
        <p:spPr>
          <a:xfrm>
            <a:off x="5440680" y="2157984"/>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49,0 %</a:t>
            </a:r>
          </a:p>
        </p:txBody>
      </p:sp>
      <p:sp>
        <p:nvSpPr>
          <p:cNvPr id="16" name="TextBox 15"/>
          <p:cNvSpPr txBox="1"/>
          <p:nvPr/>
        </p:nvSpPr>
        <p:spPr>
          <a:xfrm>
            <a:off x="6629400" y="2157984"/>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85 min</a:t>
            </a:r>
          </a:p>
        </p:txBody>
      </p:sp>
      <p:sp>
        <p:nvSpPr>
          <p:cNvPr id="17" name="TextBox 16"/>
          <p:cNvSpPr txBox="1"/>
          <p:nvPr/>
        </p:nvSpPr>
        <p:spPr>
          <a:xfrm>
            <a:off x="777240" y="2551176"/>
            <a:ext cx="2267712" cy="39319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GBM</a:t>
            </a:r>
          </a:p>
        </p:txBody>
      </p:sp>
      <p:sp>
        <p:nvSpPr>
          <p:cNvPr id="18" name="TextBox 17"/>
          <p:cNvSpPr txBox="1"/>
          <p:nvPr/>
        </p:nvSpPr>
        <p:spPr>
          <a:xfrm>
            <a:off x="3063240" y="2551176"/>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84,5 %</a:t>
            </a:r>
          </a:p>
        </p:txBody>
      </p:sp>
      <p:sp>
        <p:nvSpPr>
          <p:cNvPr id="19" name="TextBox 18"/>
          <p:cNvSpPr txBox="1"/>
          <p:nvPr/>
        </p:nvSpPr>
        <p:spPr>
          <a:xfrm>
            <a:off x="4251960" y="2551176"/>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3,3</a:t>
            </a:r>
          </a:p>
        </p:txBody>
      </p:sp>
      <p:sp>
        <p:nvSpPr>
          <p:cNvPr id="20" name="TextBox 19"/>
          <p:cNvSpPr txBox="1"/>
          <p:nvPr/>
        </p:nvSpPr>
        <p:spPr>
          <a:xfrm>
            <a:off x="5440680" y="2551176"/>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44,0 %</a:t>
            </a:r>
          </a:p>
        </p:txBody>
      </p:sp>
      <p:sp>
        <p:nvSpPr>
          <p:cNvPr id="21" name="TextBox 20"/>
          <p:cNvSpPr txBox="1"/>
          <p:nvPr/>
        </p:nvSpPr>
        <p:spPr>
          <a:xfrm>
            <a:off x="6629400" y="2551176"/>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92 min</a:t>
            </a:r>
          </a:p>
        </p:txBody>
      </p:sp>
      <p:sp>
        <p:nvSpPr>
          <p:cNvPr id="22" name="TextBox 21"/>
          <p:cNvSpPr txBox="1"/>
          <p:nvPr/>
        </p:nvSpPr>
        <p:spPr>
          <a:xfrm>
            <a:off x="777240" y="2944368"/>
            <a:ext cx="2267712" cy="39319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XGBoost</a:t>
            </a:r>
          </a:p>
        </p:txBody>
      </p:sp>
      <p:sp>
        <p:nvSpPr>
          <p:cNvPr id="23" name="TextBox 22"/>
          <p:cNvSpPr txBox="1"/>
          <p:nvPr/>
        </p:nvSpPr>
        <p:spPr>
          <a:xfrm>
            <a:off x="3063240" y="2944368"/>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86,9 %</a:t>
            </a:r>
          </a:p>
        </p:txBody>
      </p:sp>
      <p:sp>
        <p:nvSpPr>
          <p:cNvPr id="24" name="TextBox 23"/>
          <p:cNvSpPr txBox="1"/>
          <p:nvPr/>
        </p:nvSpPr>
        <p:spPr>
          <a:xfrm>
            <a:off x="4251960" y="2944368"/>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3,8</a:t>
            </a:r>
          </a:p>
        </p:txBody>
      </p:sp>
      <p:sp>
        <p:nvSpPr>
          <p:cNvPr id="25" name="TextBox 24"/>
          <p:cNvSpPr txBox="1"/>
          <p:nvPr/>
        </p:nvSpPr>
        <p:spPr>
          <a:xfrm>
            <a:off x="5440680" y="2944368"/>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51,0 %</a:t>
            </a:r>
          </a:p>
        </p:txBody>
      </p:sp>
      <p:sp>
        <p:nvSpPr>
          <p:cNvPr id="26" name="TextBox 25"/>
          <p:cNvSpPr txBox="1"/>
          <p:nvPr/>
        </p:nvSpPr>
        <p:spPr>
          <a:xfrm>
            <a:off x="6629400" y="2944368"/>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80 min</a:t>
            </a:r>
          </a:p>
        </p:txBody>
      </p:sp>
      <p:sp>
        <p:nvSpPr>
          <p:cNvPr id="27" name="TextBox 26"/>
          <p:cNvSpPr txBox="1"/>
          <p:nvPr/>
        </p:nvSpPr>
        <p:spPr>
          <a:xfrm>
            <a:off x="777240" y="3337560"/>
            <a:ext cx="2267712" cy="39319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LightGBM</a:t>
            </a:r>
          </a:p>
        </p:txBody>
      </p:sp>
      <p:sp>
        <p:nvSpPr>
          <p:cNvPr id="28" name="TextBox 27"/>
          <p:cNvSpPr txBox="1"/>
          <p:nvPr/>
        </p:nvSpPr>
        <p:spPr>
          <a:xfrm>
            <a:off x="3063240" y="3337560"/>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88,1 %</a:t>
            </a:r>
          </a:p>
        </p:txBody>
      </p:sp>
      <p:sp>
        <p:nvSpPr>
          <p:cNvPr id="29" name="TextBox 28"/>
          <p:cNvSpPr txBox="1"/>
          <p:nvPr/>
        </p:nvSpPr>
        <p:spPr>
          <a:xfrm>
            <a:off x="4251960" y="3337560"/>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3,5</a:t>
            </a:r>
          </a:p>
        </p:txBody>
      </p:sp>
      <p:sp>
        <p:nvSpPr>
          <p:cNvPr id="30" name="TextBox 29"/>
          <p:cNvSpPr txBox="1"/>
          <p:nvPr/>
        </p:nvSpPr>
        <p:spPr>
          <a:xfrm>
            <a:off x="5440680" y="3337560"/>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44,3 %</a:t>
            </a:r>
          </a:p>
        </p:txBody>
      </p:sp>
      <p:sp>
        <p:nvSpPr>
          <p:cNvPr id="31" name="TextBox 30"/>
          <p:cNvSpPr txBox="1"/>
          <p:nvPr/>
        </p:nvSpPr>
        <p:spPr>
          <a:xfrm>
            <a:off x="6629400" y="3337560"/>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86 min</a:t>
            </a:r>
          </a:p>
        </p:txBody>
      </p:sp>
      <p:sp>
        <p:nvSpPr>
          <p:cNvPr id="32" name="TextBox 31"/>
          <p:cNvSpPr txBox="1"/>
          <p:nvPr/>
        </p:nvSpPr>
        <p:spPr>
          <a:xfrm>
            <a:off x="777240" y="3730752"/>
            <a:ext cx="2267712" cy="39319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CatBoost</a:t>
            </a:r>
          </a:p>
        </p:txBody>
      </p:sp>
      <p:sp>
        <p:nvSpPr>
          <p:cNvPr id="33" name="TextBox 32"/>
          <p:cNvSpPr txBox="1"/>
          <p:nvPr/>
        </p:nvSpPr>
        <p:spPr>
          <a:xfrm>
            <a:off x="3063240" y="3730752"/>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84,5 %</a:t>
            </a:r>
          </a:p>
        </p:txBody>
      </p:sp>
      <p:sp>
        <p:nvSpPr>
          <p:cNvPr id="34" name="TextBox 33"/>
          <p:cNvSpPr txBox="1"/>
          <p:nvPr/>
        </p:nvSpPr>
        <p:spPr>
          <a:xfrm>
            <a:off x="4251960" y="3730752"/>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3,2</a:t>
            </a:r>
          </a:p>
        </p:txBody>
      </p:sp>
      <p:sp>
        <p:nvSpPr>
          <p:cNvPr id="35" name="TextBox 34"/>
          <p:cNvSpPr txBox="1"/>
          <p:nvPr/>
        </p:nvSpPr>
        <p:spPr>
          <a:xfrm>
            <a:off x="5440680" y="3730752"/>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42,5 %</a:t>
            </a:r>
          </a:p>
        </p:txBody>
      </p:sp>
      <p:sp>
        <p:nvSpPr>
          <p:cNvPr id="36" name="TextBox 35"/>
          <p:cNvSpPr txBox="1"/>
          <p:nvPr/>
        </p:nvSpPr>
        <p:spPr>
          <a:xfrm>
            <a:off x="6629400" y="3730752"/>
            <a:ext cx="1078992" cy="39319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96 min</a:t>
            </a:r>
          </a:p>
        </p:txBody>
      </p:sp>
      <p:sp>
        <p:nvSpPr>
          <p:cNvPr id="37" name="Rectangle 36"/>
          <p:cNvSpPr/>
          <p:nvPr/>
        </p:nvSpPr>
        <p:spPr>
          <a:xfrm>
            <a:off x="685800" y="4123944"/>
            <a:ext cx="7132320" cy="35661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123944"/>
            <a:ext cx="2267712" cy="393192"/>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Random Forest (ref.)</a:t>
            </a:r>
          </a:p>
        </p:txBody>
      </p:sp>
      <p:sp>
        <p:nvSpPr>
          <p:cNvPr id="39" name="TextBox 38"/>
          <p:cNvSpPr txBox="1"/>
          <p:nvPr/>
        </p:nvSpPr>
        <p:spPr>
          <a:xfrm>
            <a:off x="3063240" y="4123944"/>
            <a:ext cx="1078992" cy="39319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86,9 %</a:t>
            </a:r>
          </a:p>
        </p:txBody>
      </p:sp>
      <p:sp>
        <p:nvSpPr>
          <p:cNvPr id="40" name="TextBox 39"/>
          <p:cNvSpPr txBox="1"/>
          <p:nvPr/>
        </p:nvSpPr>
        <p:spPr>
          <a:xfrm>
            <a:off x="4251960" y="4123944"/>
            <a:ext cx="1078992" cy="39319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3,0</a:t>
            </a:r>
          </a:p>
        </p:txBody>
      </p:sp>
      <p:sp>
        <p:nvSpPr>
          <p:cNvPr id="41" name="TextBox 40"/>
          <p:cNvSpPr txBox="1"/>
          <p:nvPr/>
        </p:nvSpPr>
        <p:spPr>
          <a:xfrm>
            <a:off x="5440680" y="4123944"/>
            <a:ext cx="1078992" cy="39319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37,3 %</a:t>
            </a:r>
          </a:p>
        </p:txBody>
      </p:sp>
      <p:sp>
        <p:nvSpPr>
          <p:cNvPr id="42" name="TextBox 41"/>
          <p:cNvSpPr txBox="1"/>
          <p:nvPr/>
        </p:nvSpPr>
        <p:spPr>
          <a:xfrm>
            <a:off x="6629400" y="4123944"/>
            <a:ext cx="1078992" cy="39319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100 min</a:t>
            </a:r>
          </a:p>
        </p:txBody>
      </p:sp>
      <p:sp>
        <p:nvSpPr>
          <p:cNvPr id="43" name="TextBox 42"/>
          <p:cNvSpPr txBox="1"/>
          <p:nvPr/>
        </p:nvSpPr>
        <p:spPr>
          <a:xfrm>
            <a:off x="8275320" y="1828800"/>
            <a:ext cx="10058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EN ALERTA</a:t>
            </a:r>
          </a:p>
        </p:txBody>
      </p:sp>
      <p:sp>
        <p:nvSpPr>
          <p:cNvPr id="44" name="TextBox 43"/>
          <p:cNvSpPr txBox="1"/>
          <p:nvPr/>
        </p:nvSpPr>
        <p:spPr>
          <a:xfrm>
            <a:off x="9281160" y="182880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RF</a:t>
            </a:r>
          </a:p>
        </p:txBody>
      </p:sp>
      <p:sp>
        <p:nvSpPr>
          <p:cNvPr id="45" name="TextBox 44"/>
          <p:cNvSpPr txBox="1"/>
          <p:nvPr/>
        </p:nvSpPr>
        <p:spPr>
          <a:xfrm>
            <a:off x="10195560" y="182880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MEJOR BOOSTING</a:t>
            </a:r>
          </a:p>
        </p:txBody>
      </p:sp>
      <p:sp>
        <p:nvSpPr>
          <p:cNvPr id="46" name="Rectangle 45"/>
          <p:cNvSpPr/>
          <p:nvPr/>
        </p:nvSpPr>
        <p:spPr>
          <a:xfrm>
            <a:off x="8275320" y="2121408"/>
            <a:ext cx="32004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66760" y="2157984"/>
            <a:ext cx="896112" cy="393192"/>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4 %</a:t>
            </a:r>
          </a:p>
        </p:txBody>
      </p:sp>
      <p:sp>
        <p:nvSpPr>
          <p:cNvPr id="48" name="TextBox 47"/>
          <p:cNvSpPr txBox="1"/>
          <p:nvPr/>
        </p:nvSpPr>
        <p:spPr>
          <a:xfrm>
            <a:off x="9281160" y="2157984"/>
            <a:ext cx="804672" cy="393192"/>
          </a:xfrm>
          <a:prstGeom prst="rect">
            <a:avLst/>
          </a:prstGeom>
          <a:noFill/>
        </p:spPr>
        <p:txBody>
          <a:bodyPr wrap="square" lIns="0" rIns="0" tIns="0" bIns="0" anchor="ctr">
            <a:spAutoFit/>
          </a:bodyPr>
          <a:lstStyle/>
          <a:p>
            <a:pPr algn="r">
              <a:lnSpc>
                <a:spcPct val="115000"/>
              </a:lnSpc>
            </a:pPr>
            <a:r>
              <a:rPr sz="1200" b="0">
                <a:solidFill>
                  <a:srgbClr val="7BD992"/>
                </a:solidFill>
                <a:latin typeface="Consolas"/>
              </a:rPr>
              <a:t>63,1 %</a:t>
            </a:r>
          </a:p>
        </p:txBody>
      </p:sp>
      <p:sp>
        <p:nvSpPr>
          <p:cNvPr id="49" name="TextBox 48"/>
          <p:cNvSpPr txBox="1"/>
          <p:nvPr/>
        </p:nvSpPr>
        <p:spPr>
          <a:xfrm>
            <a:off x="10195560" y="2157984"/>
            <a:ext cx="1170432" cy="393192"/>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47,6 %</a:t>
            </a:r>
          </a:p>
        </p:txBody>
      </p:sp>
      <p:sp>
        <p:nvSpPr>
          <p:cNvPr id="50" name="TextBox 49"/>
          <p:cNvSpPr txBox="1"/>
          <p:nvPr/>
        </p:nvSpPr>
        <p:spPr>
          <a:xfrm>
            <a:off x="8366760" y="2551176"/>
            <a:ext cx="896112" cy="393192"/>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8,2 %</a:t>
            </a:r>
          </a:p>
        </p:txBody>
      </p:sp>
      <p:sp>
        <p:nvSpPr>
          <p:cNvPr id="51" name="TextBox 50"/>
          <p:cNvSpPr txBox="1"/>
          <p:nvPr/>
        </p:nvSpPr>
        <p:spPr>
          <a:xfrm>
            <a:off x="9281160" y="2551176"/>
            <a:ext cx="804672" cy="393192"/>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75,0 %</a:t>
            </a:r>
          </a:p>
        </p:txBody>
      </p:sp>
      <p:sp>
        <p:nvSpPr>
          <p:cNvPr id="52" name="TextBox 51"/>
          <p:cNvSpPr txBox="1"/>
          <p:nvPr/>
        </p:nvSpPr>
        <p:spPr>
          <a:xfrm>
            <a:off x="10195560" y="2551176"/>
            <a:ext cx="1170432" cy="393192"/>
          </a:xfrm>
          <a:prstGeom prst="rect">
            <a:avLst/>
          </a:prstGeom>
          <a:noFill/>
        </p:spPr>
        <p:txBody>
          <a:bodyPr wrap="square" lIns="0" rIns="0" tIns="0" bIns="0" anchor="ctr">
            <a:spAutoFit/>
          </a:bodyPr>
          <a:lstStyle/>
          <a:p>
            <a:pPr algn="r">
              <a:lnSpc>
                <a:spcPct val="115000"/>
              </a:lnSpc>
            </a:pPr>
            <a:r>
              <a:rPr sz="1200" b="0">
                <a:solidFill>
                  <a:srgbClr val="FFB877"/>
                </a:solidFill>
                <a:latin typeface="Consolas"/>
              </a:rPr>
              <a:t>76,2 %</a:t>
            </a:r>
          </a:p>
        </p:txBody>
      </p:sp>
      <p:sp>
        <p:nvSpPr>
          <p:cNvPr id="53" name="Rectangle 52"/>
          <p:cNvSpPr/>
          <p:nvPr/>
        </p:nvSpPr>
        <p:spPr>
          <a:xfrm>
            <a:off x="685800" y="4800600"/>
            <a:ext cx="10820095"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800" y="480060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1832" y="4983480"/>
            <a:ext cx="10362895" cy="54864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Con presupuestos ajustados el bosque detecta mucho más (4 %: 63,1 % frente a 47,6 %). Solo con el 8,2 % —la tasa real de anomalías— XGBoost lo supera, por poco. </a:t>
            </a:r>
            <a:r>
              <a:rPr sz="1300" b="1">
                <a:solidFill>
                  <a:srgbClr val="E6E9EF"/>
                </a:solidFill>
                <a:latin typeface="Segoe UI"/>
              </a:rPr>
              <a:t>El detector no cambia.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DE QUÉ APRENDE EL MEJOR BOOSTING</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LightGBM aprende casi lo mismo que la lineal</a:t>
            </a:r>
          </a:p>
        </p:txBody>
      </p:sp>
      <p:sp>
        <p:nvSpPr>
          <p:cNvPr id="6" name="Rounded Rectangle 5"/>
          <p:cNvSpPr/>
          <p:nvPr/>
        </p:nvSpPr>
        <p:spPr>
          <a:xfrm>
            <a:off x="694944" y="1759135"/>
            <a:ext cx="6382512" cy="260821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4_importancia.png"/>
          <p:cNvPicPr>
            <a:picLocks noChangeAspect="1"/>
          </p:cNvPicPr>
          <p:nvPr/>
        </p:nvPicPr>
        <p:blipFill>
          <a:blip r:embed="rId2"/>
          <a:stretch>
            <a:fillRect/>
          </a:stretch>
        </p:blipFill>
        <p:spPr>
          <a:xfrm>
            <a:off x="777240" y="1841431"/>
            <a:ext cx="6217920" cy="2443618"/>
          </a:xfrm>
          <a:prstGeom prst="rect">
            <a:avLst/>
          </a:prstGeom>
        </p:spPr>
      </p:pic>
      <p:sp>
        <p:nvSpPr>
          <p:cNvPr id="8" name="TextBox 7"/>
          <p:cNvSpPr txBox="1"/>
          <p:nvPr/>
        </p:nvSpPr>
        <p:spPr>
          <a:xfrm>
            <a:off x="7360920" y="1783080"/>
            <a:ext cx="4023360" cy="640080"/>
          </a:xfrm>
          <a:prstGeom prst="rect">
            <a:avLst/>
          </a:prstGeom>
          <a:noFill/>
        </p:spPr>
        <p:txBody>
          <a:bodyPr wrap="square" lIns="0" rIns="0" tIns="0" bIns="0" anchor="t">
            <a:spAutoFit/>
          </a:bodyPr>
          <a:lstStyle/>
          <a:p>
            <a:pPr algn="l">
              <a:lnSpc>
                <a:spcPct val="115000"/>
              </a:lnSpc>
            </a:pPr>
            <a:r>
              <a:rPr sz="3200" b="1">
                <a:solidFill>
                  <a:srgbClr val="7BD992"/>
                </a:solidFill>
                <a:latin typeface="Consolas"/>
              </a:rPr>
              <a:t>86,5 %</a:t>
            </a:r>
          </a:p>
        </p:txBody>
      </p:sp>
      <p:sp>
        <p:nvSpPr>
          <p:cNvPr id="9" name="TextBox 8"/>
          <p:cNvSpPr txBox="1"/>
          <p:nvPr/>
        </p:nvSpPr>
        <p:spPr>
          <a:xfrm>
            <a:off x="7360920" y="2441448"/>
            <a:ext cx="40233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 ganancia viene de los retardos</a:t>
            </a:r>
          </a:p>
          <a:p>
            <a:pPr algn="l">
              <a:lnSpc>
                <a:spcPct val="115000"/>
              </a:lnSpc>
            </a:pPr>
            <a:r>
              <a:rPr sz="1150" b="0">
                <a:solidFill>
                  <a:srgbClr val="9AA3B2"/>
                </a:solidFill>
                <a:latin typeface="Segoe UI"/>
              </a:rPr>
              <a:t>(74,9 % solo de lag1)</a:t>
            </a:r>
          </a:p>
        </p:txBody>
      </p:sp>
      <p:sp>
        <p:nvSpPr>
          <p:cNvPr id="10" name="TextBox 9"/>
          <p:cNvSpPr txBox="1"/>
          <p:nvPr/>
        </p:nvSpPr>
        <p:spPr>
          <a:xfrm>
            <a:off x="7360920" y="3017520"/>
            <a:ext cx="4023360" cy="640080"/>
          </a:xfrm>
          <a:prstGeom prst="rect">
            <a:avLst/>
          </a:prstGeom>
          <a:noFill/>
        </p:spPr>
        <p:txBody>
          <a:bodyPr wrap="square" lIns="0" rIns="0" tIns="0" bIns="0" anchor="t">
            <a:spAutoFit/>
          </a:bodyPr>
          <a:lstStyle/>
          <a:p>
            <a:pPr algn="l">
              <a:lnSpc>
                <a:spcPct val="115000"/>
              </a:lnSpc>
            </a:pPr>
            <a:r>
              <a:rPr sz="3200" b="1">
                <a:solidFill>
                  <a:srgbClr val="FFB877"/>
                </a:solidFill>
                <a:latin typeface="Consolas"/>
              </a:rPr>
              <a:t>8,9 %</a:t>
            </a:r>
          </a:p>
        </p:txBody>
      </p:sp>
      <p:sp>
        <p:nvSpPr>
          <p:cNvPr id="11" name="TextBox 10"/>
          <p:cNvSpPr txBox="1"/>
          <p:nvPr/>
        </p:nvSpPr>
        <p:spPr>
          <a:xfrm>
            <a:off x="7360920" y="3675888"/>
            <a:ext cx="40233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los sensores interiores: justo el</a:t>
            </a:r>
          </a:p>
          <a:p>
            <a:pPr algn="l">
              <a:lnSpc>
                <a:spcPct val="115000"/>
              </a:lnSpc>
            </a:pPr>
            <a:r>
              <a:rPr sz="1150" b="0">
                <a:solidFill>
                  <a:srgbClr val="9AA3B2"/>
                </a:solidFill>
                <a:latin typeface="Segoe UI"/>
              </a:rPr>
              <a:t>bloque que trae el sesgo estacional</a:t>
            </a:r>
          </a:p>
        </p:txBody>
      </p:sp>
      <p:sp>
        <p:nvSpPr>
          <p:cNvPr id="12" name="Rectangle 11"/>
          <p:cNvSpPr/>
          <p:nvPr/>
        </p:nvSpPr>
        <p:spPr>
          <a:xfrm>
            <a:off x="685800" y="4572000"/>
            <a:ext cx="10820095"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57200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754880"/>
            <a:ext cx="10362895" cy="7772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Por eso empata y no supera.</a:t>
            </a:r>
            <a:r>
              <a:rPr sz="1300" b="0">
                <a:solidFill>
                  <a:srgbClr val="C9D1DE"/>
                </a:solidFill>
                <a:latin typeface="Segoe UI"/>
              </a:rPr>
              <a:t> Comparte la información de la lineal y le añade lo que no generaliza. A igual rendimiento, la lineal gana por interpretabilidad, velocidad y ausencia de sesgo. La importancia se lee por bloque, nunca por sensor: T1–T9 están correlacionados.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BOOSTING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Shiro se lleva del taller de boosting</a:t>
            </a:r>
          </a:p>
        </p:txBody>
      </p:sp>
      <p:sp>
        <p:nvSpPr>
          <p:cNvPr id="6" name="TextBox 5"/>
          <p:cNvSpPr txBox="1"/>
          <p:nvPr/>
        </p:nvSpPr>
        <p:spPr>
          <a:xfrm>
            <a:off x="68580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simulador no cambia.</a:t>
            </a:r>
          </a:p>
        </p:txBody>
      </p:sp>
      <p:sp>
        <p:nvSpPr>
          <p:cNvPr id="8" name="TextBox 7"/>
          <p:cNvSpPr txBox="1"/>
          <p:nvPr/>
        </p:nvSpPr>
        <p:spPr>
          <a:xfrm>
            <a:off x="128016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Lineal + retardos: LightGBM la iguala (0,554 vs 0,557) sin superarla.</a:t>
            </a:r>
          </a:p>
        </p:txBody>
      </p:sp>
      <p:sp>
        <p:nvSpPr>
          <p:cNvPr id="9" name="TextBox 8"/>
          <p:cNvSpPr txBox="1"/>
          <p:nvPr/>
        </p:nvSpPr>
        <p:spPr>
          <a:xfrm>
            <a:off x="612648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detector no cambia.</a:t>
            </a:r>
          </a:p>
        </p:txBody>
      </p:sp>
      <p:sp>
        <p:nvSpPr>
          <p:cNvPr id="11" name="TextBox 10"/>
          <p:cNvSpPr txBox="1"/>
          <p:nvPr/>
        </p:nvSpPr>
        <p:spPr>
          <a:xfrm>
            <a:off x="672084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RF + retardos: mismo alcance, menos avisos, menos falsos.</a:t>
            </a:r>
          </a:p>
        </p:txBody>
      </p:sp>
      <p:sp>
        <p:nvSpPr>
          <p:cNvPr id="12" name="TextBox 11"/>
          <p:cNvSpPr txBox="1"/>
          <p:nvPr/>
        </p:nvSpPr>
        <p:spPr>
          <a:xfrm>
            <a:off x="68580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causa del colapso temporal.</a:t>
            </a:r>
          </a:p>
        </p:txBody>
      </p:sp>
      <p:sp>
        <p:nvSpPr>
          <p:cNvPr id="14" name="TextBox 13"/>
          <p:cNvSpPr txBox="1"/>
          <p:nvPr/>
        </p:nvSpPr>
        <p:spPr>
          <a:xfrm>
            <a:off x="128016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Temperatura interior: 71,9 % de mayo fuera de rango. Entra al MDP como confort, no como predictor.</a:t>
            </a:r>
          </a:p>
        </p:txBody>
      </p:sp>
      <p:sp>
        <p:nvSpPr>
          <p:cNvPr id="15" name="TextBox 14"/>
          <p:cNvSpPr txBox="1"/>
          <p:nvPr/>
        </p:nvSpPr>
        <p:spPr>
          <a:xfrm>
            <a:off x="612648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Nueva regla de evaluación.</a:t>
            </a:r>
          </a:p>
        </p:txBody>
      </p:sp>
      <p:sp>
        <p:nvSpPr>
          <p:cNvPr id="17" name="TextBox 16"/>
          <p:cNvSpPr txBox="1"/>
          <p:nvPr/>
        </p:nvSpPr>
        <p:spPr>
          <a:xfrm>
            <a:off x="672084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detector se compara con igual tiempo en alerta, y se reporta la duración del aviso.</a:t>
            </a:r>
          </a:p>
        </p:txBody>
      </p:sp>
      <p:sp>
        <p:nvSpPr>
          <p:cNvPr id="18" name="TextBox 17"/>
          <p:cNvSpPr txBox="1"/>
          <p:nvPr/>
        </p:nvSpPr>
        <p:spPr>
          <a:xfrm>
            <a:off x="68580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interfaz debe mostrarlo.</a:t>
            </a:r>
          </a:p>
        </p:txBody>
      </p:sp>
      <p:sp>
        <p:nvSpPr>
          <p:cNvPr id="20" name="TextBox 19"/>
          <p:cNvSpPr txBox="1"/>
          <p:nvPr/>
        </p:nvSpPr>
        <p:spPr>
          <a:xfrm>
            <a:off x="128016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punto del parcial deja al sistema en alerta el 21 % del día.</a:t>
            </a:r>
          </a:p>
        </p:txBody>
      </p:sp>
      <p:sp>
        <p:nvSpPr>
          <p:cNvPr id="21" name="TextBox 20"/>
          <p:cNvSpPr txBox="1"/>
          <p:nvPr/>
        </p:nvSpPr>
        <p:spPr>
          <a:xfrm>
            <a:off x="612648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métrica del curso no decide.</a:t>
            </a:r>
          </a:p>
        </p:txBody>
      </p:sp>
      <p:sp>
        <p:nvSpPr>
          <p:cNvPr id="23" name="TextBox 22"/>
          <p:cNvSpPr txBox="1"/>
          <p:nvPr/>
        </p:nvSpPr>
        <p:spPr>
          <a:xfrm>
            <a:off x="672084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AP y AUC eligen boosting; el producto, el bosque.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21</a:t>
            </a:r>
          </a:p>
        </p:txBody>
      </p:sp>
      <p:sp>
        <p:nvSpPr>
          <p:cNvPr id="4" name="TextBox 3"/>
          <p:cNvSpPr txBox="1"/>
          <p:nvPr/>
        </p:nvSpPr>
        <p:spPr>
          <a:xfrm>
            <a:off x="685800" y="822960"/>
            <a:ext cx="54864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TALLER 2 · 2.º CORTE</a:t>
            </a:r>
          </a:p>
        </p:txBody>
      </p:sp>
      <p:sp>
        <p:nvSpPr>
          <p:cNvPr id="5" name="TextBox 4"/>
          <p:cNvSpPr txBox="1"/>
          <p:nvPr/>
        </p:nvSpPr>
        <p:spPr>
          <a:xfrm>
            <a:off x="685800" y="1188720"/>
            <a:ext cx="2743200" cy="1463040"/>
          </a:xfrm>
          <a:prstGeom prst="rect">
            <a:avLst/>
          </a:prstGeom>
          <a:noFill/>
        </p:spPr>
        <p:txBody>
          <a:bodyPr wrap="square" lIns="0" rIns="0" tIns="0" bIns="0" anchor="t">
            <a:spAutoFit/>
          </a:bodyPr>
          <a:lstStyle/>
          <a:p>
            <a:pPr algn="l">
              <a:lnSpc>
                <a:spcPct val="115000"/>
              </a:lnSpc>
            </a:pPr>
            <a:r>
              <a:rPr sz="9600" b="1">
                <a:solidFill>
                  <a:srgbClr val="7BD992"/>
                </a:solidFill>
                <a:latin typeface="Consolas"/>
              </a:rPr>
              <a:t>02</a:t>
            </a:r>
          </a:p>
        </p:txBody>
      </p:sp>
      <p:sp>
        <p:nvSpPr>
          <p:cNvPr id="6" name="TextBox 5"/>
          <p:cNvSpPr txBox="1"/>
          <p:nvPr/>
        </p:nvSpPr>
        <p:spPr>
          <a:xfrm>
            <a:off x="3337560" y="1417320"/>
            <a:ext cx="8046720" cy="822960"/>
          </a:xfrm>
          <a:prstGeom prst="rect">
            <a:avLst/>
          </a:prstGeom>
          <a:noFill/>
        </p:spPr>
        <p:txBody>
          <a:bodyPr wrap="square" lIns="0" rIns="0" tIns="0" bIns="0" anchor="t">
            <a:spAutoFit/>
          </a:bodyPr>
          <a:lstStyle/>
          <a:p>
            <a:pPr algn="l">
              <a:lnSpc>
                <a:spcPct val="115000"/>
              </a:lnSpc>
            </a:pPr>
            <a:r>
              <a:rPr sz="4000" b="0">
                <a:solidFill>
                  <a:srgbClr val="E6E9EF"/>
                </a:solidFill>
                <a:latin typeface="Segoe UI Semibold"/>
              </a:rPr>
              <a:t>K-Means</a:t>
            </a:r>
          </a:p>
        </p:txBody>
      </p:sp>
      <p:sp>
        <p:nvSpPr>
          <p:cNvPr id="7" name="TextBox 6"/>
          <p:cNvSpPr txBox="1"/>
          <p:nvPr/>
        </p:nvSpPr>
        <p:spPr>
          <a:xfrm>
            <a:off x="3337560" y="2240280"/>
            <a:ext cx="8046720" cy="822960"/>
          </a:xfrm>
          <a:prstGeom prst="rect">
            <a:avLst/>
          </a:prstGeom>
          <a:noFill/>
        </p:spPr>
        <p:txBody>
          <a:bodyPr wrap="square" lIns="0" rIns="0" tIns="0" bIns="0" anchor="t">
            <a:spAutoFit/>
          </a:bodyPr>
          <a:lstStyle/>
          <a:p>
            <a:pPr algn="l">
              <a:lnSpc>
                <a:spcPct val="115000"/>
              </a:lnSpc>
            </a:pPr>
            <a:r>
              <a:rPr sz="2000" b="0">
                <a:solidFill>
                  <a:srgbClr val="C9D1DE"/>
                </a:solidFill>
                <a:latin typeface="Segoe UI"/>
              </a:rPr>
              <a:t>¿Cuántos tipos de día tiene esta casa, y cuándo puede saberlo el agente?</a:t>
            </a:r>
          </a:p>
        </p:txBody>
      </p:sp>
      <p:sp>
        <p:nvSpPr>
          <p:cNvPr id="8" name="Rectangle 7"/>
          <p:cNvSpPr/>
          <p:nvPr/>
        </p:nvSpPr>
        <p:spPr>
          <a:xfrm>
            <a:off x="685800" y="34290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11880"/>
            <a:ext cx="36576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EL ENUNCIADO</a:t>
            </a:r>
          </a:p>
        </p:txBody>
      </p:sp>
      <p:sp>
        <p:nvSpPr>
          <p:cNvPr id="10" name="TextBox 9"/>
          <p:cNvSpPr txBox="1"/>
          <p:nvPr/>
        </p:nvSpPr>
        <p:spPr>
          <a:xfrm>
            <a:off x="685800" y="3931920"/>
            <a:ext cx="6766560" cy="14630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Aplicar K-Means con k de 2 a 10 usando codo, silueta y Dunn y justificar k; visualizar con PCA y t-SNE; caracterizar los clústers con una tabla de medias; presentar dataset, k, visualización y conclusiones.</a:t>
            </a:r>
          </a:p>
        </p:txBody>
      </p:sp>
      <p:sp>
        <p:nvSpPr>
          <p:cNvPr id="11" name="TextBox 10"/>
          <p:cNvSpPr txBox="1"/>
          <p:nvPr/>
        </p:nvSpPr>
        <p:spPr>
          <a:xfrm>
            <a:off x="8001000" y="361188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PIEZA DE SHIRO</a:t>
            </a:r>
          </a:p>
        </p:txBody>
      </p:sp>
      <p:sp>
        <p:nvSpPr>
          <p:cNvPr id="12" name="TextBox 11"/>
          <p:cNvSpPr txBox="1"/>
          <p:nvPr/>
        </p:nvSpPr>
        <p:spPr>
          <a:xfrm>
            <a:off x="8001000" y="3931920"/>
            <a:ext cx="3474720" cy="91440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Estado del MDP: variable «tipo de día»</a:t>
            </a:r>
          </a:p>
        </p:txBody>
      </p:sp>
      <p:sp>
        <p:nvSpPr>
          <p:cNvPr id="13" name="TextBox 12"/>
          <p:cNvSpPr txBox="1"/>
          <p:nvPr/>
        </p:nvSpPr>
        <p:spPr>
          <a:xfrm>
            <a:off x="8001000" y="489204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PRESENTA</a:t>
            </a:r>
          </a:p>
        </p:txBody>
      </p:sp>
      <p:sp>
        <p:nvSpPr>
          <p:cNvPr id="14" name="TextBox 13"/>
          <p:cNvSpPr txBox="1"/>
          <p:nvPr/>
        </p:nvSpPr>
        <p:spPr>
          <a:xfrm>
            <a:off x="8001000" y="5212080"/>
            <a:ext cx="3474720" cy="457200"/>
          </a:xfrm>
          <a:prstGeom prst="rect">
            <a:avLst/>
          </a:prstGeom>
          <a:noFill/>
        </p:spPr>
        <p:txBody>
          <a:bodyPr wrap="square" lIns="0" rIns="0" tIns="0" bIns="0" anchor="t">
            <a:spAutoFit/>
          </a:bodyPr>
          <a:lstStyle/>
          <a:p>
            <a:pPr algn="l">
              <a:lnSpc>
                <a:spcPct val="115000"/>
              </a:lnSpc>
            </a:pPr>
            <a:r>
              <a:rPr sz="1400" b="0">
                <a:solidFill>
                  <a:srgbClr val="7BD992"/>
                </a:solidFill>
                <a:latin typeface="Segoe UI Semibold"/>
              </a:rPr>
              <a:t>Sofía Londoño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ENCUADRE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agente necesita saber qué tipo de día está viviendo</a:t>
            </a:r>
          </a:p>
        </p:txBody>
      </p:sp>
      <p:sp>
        <p:nvSpPr>
          <p:cNvPr id="6" name="Rounded Rectangle 5"/>
          <p:cNvSpPr/>
          <p:nvPr/>
        </p:nvSpPr>
        <p:spPr>
          <a:xfrm>
            <a:off x="685800" y="1828800"/>
            <a:ext cx="3454298"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¿Cuántos tipos?</a:t>
            </a:r>
          </a:p>
        </p:txBody>
      </p:sp>
      <p:sp>
        <p:nvSpPr>
          <p:cNvPr id="8" name="TextBox 7"/>
          <p:cNvSpPr txBox="1"/>
          <p:nvPr/>
        </p:nvSpPr>
        <p:spPr>
          <a:xfrm>
            <a:off x="914400" y="2606040"/>
            <a:ext cx="2997098" cy="91440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Cada tipo de día multiplica el tamaño de la tabla Q del agente.</a:t>
            </a:r>
          </a:p>
        </p:txBody>
      </p:sp>
      <p:sp>
        <p:nvSpPr>
          <p:cNvPr id="9" name="TextBox 8"/>
          <p:cNvSpPr txBox="1"/>
          <p:nvPr/>
        </p:nvSpPr>
        <p:spPr>
          <a:xfrm>
            <a:off x="914400" y="35478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PUNTO 1 · ELEGIR K</a:t>
            </a:r>
          </a:p>
        </p:txBody>
      </p:sp>
      <p:sp>
        <p:nvSpPr>
          <p:cNvPr id="10" name="Rounded Rectangle 9"/>
          <p:cNvSpPr/>
          <p:nvPr/>
        </p:nvSpPr>
        <p:spPr>
          <a:xfrm>
            <a:off x="4368698" y="1828800"/>
            <a:ext cx="3454298"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7298"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¿Basta el calendario?</a:t>
            </a:r>
          </a:p>
        </p:txBody>
      </p:sp>
      <p:sp>
        <p:nvSpPr>
          <p:cNvPr id="12" name="TextBox 11"/>
          <p:cNvSpPr txBox="1"/>
          <p:nvPr/>
        </p:nvSpPr>
        <p:spPr>
          <a:xfrm>
            <a:off x="4597298" y="2606040"/>
            <a:ext cx="2997098" cy="91440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 los tipos fueran laborable y fin de semana, sobraría el modelo.</a:t>
            </a:r>
          </a:p>
        </p:txBody>
      </p:sp>
      <p:sp>
        <p:nvSpPr>
          <p:cNvPr id="13" name="TextBox 12"/>
          <p:cNvSpPr txBox="1"/>
          <p:nvPr/>
        </p:nvSpPr>
        <p:spPr>
          <a:xfrm>
            <a:off x="4597298" y="35478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PUNTO 3 · CARACTERIZAR</a:t>
            </a:r>
          </a:p>
        </p:txBody>
      </p:sp>
      <p:sp>
        <p:nvSpPr>
          <p:cNvPr id="14" name="Rounded Rectangle 13"/>
          <p:cNvSpPr/>
          <p:nvPr/>
        </p:nvSpPr>
        <p:spPr>
          <a:xfrm>
            <a:off x="8051596" y="1828800"/>
            <a:ext cx="3454298" cy="210312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0196"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¿Cuándo lo sabe?</a:t>
            </a:r>
          </a:p>
        </p:txBody>
      </p:sp>
      <p:sp>
        <p:nvSpPr>
          <p:cNvPr id="16" name="TextBox 15"/>
          <p:cNvSpPr txBox="1"/>
          <p:nvPr/>
        </p:nvSpPr>
        <p:spPr>
          <a:xfrm>
            <a:off x="8280196" y="2606040"/>
            <a:ext cx="2997098" cy="91440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Un tipo definido con 24 horas no se conoce a las 8 de la mañana.</a:t>
            </a:r>
          </a:p>
        </p:txBody>
      </p:sp>
      <p:sp>
        <p:nvSpPr>
          <p:cNvPr id="17" name="TextBox 16"/>
          <p:cNvSpPr txBox="1"/>
          <p:nvPr/>
        </p:nvSpPr>
        <p:spPr>
          <a:xfrm>
            <a:off x="8280196" y="354787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PREGUNTA PROPIA</a:t>
            </a:r>
          </a:p>
        </p:txBody>
      </p:sp>
      <p:sp>
        <p:nvSpPr>
          <p:cNvPr id="18" name="Rectangle 17"/>
          <p:cNvSpPr/>
          <p:nvPr/>
        </p:nvSpPr>
        <p:spPr>
          <a:xfrm>
            <a:off x="685800" y="4206240"/>
            <a:ext cx="10820095"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20624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389120"/>
            <a:ext cx="10362895" cy="77724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Se agrupan días, no lecturas.</a:t>
            </a:r>
            <a:r>
              <a:rPr sz="1350" b="0">
                <a:solidFill>
                  <a:srgbClr val="C9D1DE"/>
                </a:solidFill>
                <a:latin typeface="Segoe UI"/>
              </a:rPr>
              <a:t> Cada día es su curva de 24 medias horarias en Wh: 136 puntos. Con las 19.735 lecturas, el índice de Dunn de la clase necesitaría una matriz de distancias de 3,1 GB, y el resultado repetiría lo que el árbol del primer corte ya encontró (hora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EL DATASET</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De 19.735 lecturas a 136 días</a:t>
            </a:r>
          </a:p>
        </p:txBody>
      </p:sp>
      <p:sp>
        <p:nvSpPr>
          <p:cNvPr id="6" name="Rounded Rectangle 5"/>
          <p:cNvSpPr/>
          <p:nvPr/>
        </p:nvSpPr>
        <p:spPr>
          <a:xfrm>
            <a:off x="716280" y="1655064"/>
            <a:ext cx="7528560" cy="3182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1_mapa_dias.png"/>
          <p:cNvPicPr>
            <a:picLocks noChangeAspect="1"/>
          </p:cNvPicPr>
          <p:nvPr/>
        </p:nvPicPr>
        <p:blipFill>
          <a:blip r:embed="rId2"/>
          <a:stretch>
            <a:fillRect/>
          </a:stretch>
        </p:blipFill>
        <p:spPr>
          <a:xfrm>
            <a:off x="798576" y="1737360"/>
            <a:ext cx="7363968" cy="3017520"/>
          </a:xfrm>
          <a:prstGeom prst="rect">
            <a:avLst/>
          </a:prstGeom>
        </p:spPr>
      </p:pic>
      <p:sp>
        <p:nvSpPr>
          <p:cNvPr id="8" name="TextBox 7"/>
          <p:cNvSpPr txBox="1"/>
          <p:nvPr/>
        </p:nvSpPr>
        <p:spPr>
          <a:xfrm>
            <a:off x="8641079" y="1783080"/>
            <a:ext cx="283464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136 × 24</a:t>
            </a:r>
          </a:p>
        </p:txBody>
      </p:sp>
      <p:sp>
        <p:nvSpPr>
          <p:cNvPr id="9" name="TextBox 8"/>
          <p:cNvSpPr txBox="1"/>
          <p:nvPr/>
        </p:nvSpPr>
        <p:spPr>
          <a:xfrm>
            <a:off x="8641079" y="2441448"/>
            <a:ext cx="28346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completos × medias</a:t>
            </a:r>
          </a:p>
          <a:p>
            <a:pPr algn="l">
              <a:lnSpc>
                <a:spcPct val="115000"/>
              </a:lnSpc>
            </a:pPr>
            <a:r>
              <a:rPr sz="1150" b="0">
                <a:solidFill>
                  <a:srgbClr val="9AA3B2"/>
                </a:solidFill>
                <a:latin typeface="Segoe UI"/>
              </a:rPr>
              <a:t>horarias (Wh)</a:t>
            </a:r>
          </a:p>
        </p:txBody>
      </p:sp>
      <p:sp>
        <p:nvSpPr>
          <p:cNvPr id="10" name="TextBox 9"/>
          <p:cNvSpPr txBox="1"/>
          <p:nvPr/>
        </p:nvSpPr>
        <p:spPr>
          <a:xfrm>
            <a:off x="8641079" y="3017520"/>
            <a:ext cx="283464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110 · 26</a:t>
            </a:r>
          </a:p>
        </p:txBody>
      </p:sp>
      <p:sp>
        <p:nvSpPr>
          <p:cNvPr id="11" name="TextBox 10"/>
          <p:cNvSpPr txBox="1"/>
          <p:nvPr/>
        </p:nvSpPr>
        <p:spPr>
          <a:xfrm>
            <a:off x="8641079" y="3675888"/>
            <a:ext cx="28346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entrenamiento ·</a:t>
            </a:r>
          </a:p>
          <a:p>
            <a:pPr algn="l">
              <a:lnSpc>
                <a:spcPct val="115000"/>
              </a:lnSpc>
            </a:pPr>
            <a:r>
              <a:rPr sz="1150" b="0">
                <a:solidFill>
                  <a:srgbClr val="9AA3B2"/>
                </a:solidFill>
                <a:latin typeface="Segoe UI"/>
              </a:rPr>
              <a:t>días de mayo (control)</a:t>
            </a:r>
          </a:p>
        </p:txBody>
      </p:sp>
      <p:sp>
        <p:nvSpPr>
          <p:cNvPr id="12" name="Rectangle 11"/>
          <p:cNvSpPr/>
          <p:nvPr/>
        </p:nvSpPr>
        <p:spPr>
          <a:xfrm>
            <a:off x="685800" y="4983480"/>
            <a:ext cx="10820095"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83480"/>
            <a:ext cx="54864" cy="9144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166360"/>
            <a:ext cx="10362895" cy="5943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Una desviación deliberada: no se estandariza.</a:t>
            </a:r>
            <a:r>
              <a:rPr sz="1300" b="0">
                <a:solidFill>
                  <a:srgbClr val="C9D1DE"/>
                </a:solidFill>
                <a:latin typeface="Segoe UI"/>
              </a:rPr>
              <a:t> Las 24 columnas están en Wh y su varianza va de 50 (4 a. m.) a 12.477 (11 a. m.). Estandarizar amplificaría unas 16 veces el ruido nocturno. Se verificó: da los mismos grupos (ARI 1,000), pero baja la silueta de 0,392 a 0,259.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1</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k = 2: las tres métricas coinciden</a:t>
            </a:r>
          </a:p>
        </p:txBody>
      </p:sp>
      <p:sp>
        <p:nvSpPr>
          <p:cNvPr id="6" name="Rounded Rectangle 5"/>
          <p:cNvSpPr/>
          <p:nvPr/>
        </p:nvSpPr>
        <p:spPr>
          <a:xfrm>
            <a:off x="694944" y="1659204"/>
            <a:ext cx="10771632" cy="31738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2_metricas.png"/>
          <p:cNvPicPr>
            <a:picLocks noChangeAspect="1"/>
          </p:cNvPicPr>
          <p:nvPr/>
        </p:nvPicPr>
        <p:blipFill>
          <a:blip r:embed="rId2"/>
          <a:stretch>
            <a:fillRect/>
          </a:stretch>
        </p:blipFill>
        <p:spPr>
          <a:xfrm>
            <a:off x="777240" y="1741500"/>
            <a:ext cx="10607040" cy="3009240"/>
          </a:xfrm>
          <a:prstGeom prst="rect">
            <a:avLst/>
          </a:prstGeom>
        </p:spPr>
      </p:pic>
      <p:sp>
        <p:nvSpPr>
          <p:cNvPr id="8" name="TextBox 7"/>
          <p:cNvSpPr txBox="1"/>
          <p:nvPr/>
        </p:nvSpPr>
        <p:spPr>
          <a:xfrm>
            <a:off x="685800" y="4983480"/>
            <a:ext cx="329184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−28 %</a:t>
            </a:r>
          </a:p>
        </p:txBody>
      </p:sp>
      <p:sp>
        <p:nvSpPr>
          <p:cNvPr id="9" name="TextBox 8"/>
          <p:cNvSpPr txBox="1"/>
          <p:nvPr/>
        </p:nvSpPr>
        <p:spPr>
          <a:xfrm>
            <a:off x="685800" y="56418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inercia al pasar de 1 a 2 clústers;</a:t>
            </a:r>
          </a:p>
          <a:p>
            <a:pPr algn="l">
              <a:lnSpc>
                <a:spcPct val="115000"/>
              </a:lnSpc>
            </a:pPr>
            <a:r>
              <a:rPr sz="1150" b="0">
                <a:solidFill>
                  <a:srgbClr val="9AA3B2"/>
                </a:solidFill>
                <a:latin typeface="Segoe UI"/>
              </a:rPr>
              <a:t>menos de 9 % cada clúster más</a:t>
            </a:r>
          </a:p>
        </p:txBody>
      </p:sp>
      <p:sp>
        <p:nvSpPr>
          <p:cNvPr id="10" name="TextBox 9"/>
          <p:cNvSpPr txBox="1"/>
          <p:nvPr/>
        </p:nvSpPr>
        <p:spPr>
          <a:xfrm>
            <a:off x="4297680" y="4983480"/>
            <a:ext cx="329184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0,392</a:t>
            </a:r>
          </a:p>
        </p:txBody>
      </p:sp>
      <p:sp>
        <p:nvSpPr>
          <p:cNvPr id="11" name="TextBox 10"/>
          <p:cNvSpPr txBox="1"/>
          <p:nvPr/>
        </p:nvSpPr>
        <p:spPr>
          <a:xfrm>
            <a:off x="4297680" y="56418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Silhouette Score máximo (k = 2);</a:t>
            </a:r>
          </a:p>
          <a:p>
            <a:pPr algn="l">
              <a:lnSpc>
                <a:spcPct val="115000"/>
              </a:lnSpc>
            </a:pPr>
            <a:r>
              <a:rPr sz="1150" b="0">
                <a:solidFill>
                  <a:srgbClr val="9AA3B2"/>
                </a:solidFill>
                <a:latin typeface="Segoe UI"/>
              </a:rPr>
              <a:t>cae a 0,225 con k = 3</a:t>
            </a:r>
          </a:p>
        </p:txBody>
      </p:sp>
      <p:sp>
        <p:nvSpPr>
          <p:cNvPr id="12" name="TextBox 11"/>
          <p:cNvSpPr txBox="1"/>
          <p:nvPr/>
        </p:nvSpPr>
        <p:spPr>
          <a:xfrm>
            <a:off x="7909560" y="4983480"/>
            <a:ext cx="338328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0,260</a:t>
            </a:r>
          </a:p>
        </p:txBody>
      </p:sp>
      <p:sp>
        <p:nvSpPr>
          <p:cNvPr id="13" name="TextBox 12"/>
          <p:cNvSpPr txBox="1"/>
          <p:nvPr/>
        </p:nvSpPr>
        <p:spPr>
          <a:xfrm>
            <a:off x="7909560" y="564184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índice de Dunn máximo (k = 2),</a:t>
            </a:r>
          </a:p>
          <a:p>
            <a:pPr algn="l">
              <a:lnSpc>
                <a:spcPct val="115000"/>
              </a:lnSpc>
            </a:pPr>
            <a:r>
              <a:rPr sz="1150" b="0">
                <a:solidFill>
                  <a:srgbClr val="9AA3B2"/>
                </a:solidFill>
                <a:latin typeface="Segoe UI"/>
              </a:rPr>
              <a:t>con la función vista en clase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1, JUSTIFICACIÓN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k que prefieren las métricas es el que el agente puede sostener</a:t>
            </a:r>
          </a:p>
        </p:txBody>
      </p:sp>
      <p:sp>
        <p:nvSpPr>
          <p:cNvPr id="6" name="TextBox 5"/>
          <p:cNvSpPr txBox="1"/>
          <p:nvPr/>
        </p:nvSpPr>
        <p:spPr>
          <a:xfrm>
            <a:off x="685800" y="1828800"/>
            <a:ext cx="8229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a:t>
            </a:r>
          </a:p>
        </p:txBody>
      </p:sp>
      <p:sp>
        <p:nvSpPr>
          <p:cNvPr id="7" name="TextBox 6"/>
          <p:cNvSpPr txBox="1"/>
          <p:nvPr/>
        </p:nvSpPr>
        <p:spPr>
          <a:xfrm>
            <a:off x="1508760" y="182880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SILUETA</a:t>
            </a:r>
          </a:p>
        </p:txBody>
      </p:sp>
      <p:sp>
        <p:nvSpPr>
          <p:cNvPr id="8" name="TextBox 7"/>
          <p:cNvSpPr txBox="1"/>
          <p:nvPr/>
        </p:nvSpPr>
        <p:spPr>
          <a:xfrm>
            <a:off x="2788920" y="182880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DUNN</a:t>
            </a:r>
          </a:p>
        </p:txBody>
      </p:sp>
      <p:sp>
        <p:nvSpPr>
          <p:cNvPr id="9" name="TextBox 8"/>
          <p:cNvSpPr txBox="1"/>
          <p:nvPr/>
        </p:nvSpPr>
        <p:spPr>
          <a:xfrm>
            <a:off x="4069080" y="1828800"/>
            <a:ext cx="3474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TAMAÑOS</a:t>
            </a:r>
          </a:p>
        </p:txBody>
      </p:sp>
      <p:sp>
        <p:nvSpPr>
          <p:cNvPr id="10" name="Rectangle 9"/>
          <p:cNvSpPr/>
          <p:nvPr/>
        </p:nvSpPr>
        <p:spPr>
          <a:xfrm>
            <a:off x="685800" y="2121408"/>
            <a:ext cx="68580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157984"/>
            <a:ext cx="6858000" cy="37490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57984"/>
            <a:ext cx="713232" cy="411480"/>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2</a:t>
            </a:r>
          </a:p>
        </p:txBody>
      </p:sp>
      <p:sp>
        <p:nvSpPr>
          <p:cNvPr id="13" name="TextBox 12"/>
          <p:cNvSpPr txBox="1"/>
          <p:nvPr/>
        </p:nvSpPr>
        <p:spPr>
          <a:xfrm>
            <a:off x="1508760" y="2157984"/>
            <a:ext cx="117043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0,392</a:t>
            </a:r>
          </a:p>
        </p:txBody>
      </p:sp>
      <p:sp>
        <p:nvSpPr>
          <p:cNvPr id="14" name="TextBox 13"/>
          <p:cNvSpPr txBox="1"/>
          <p:nvPr/>
        </p:nvSpPr>
        <p:spPr>
          <a:xfrm>
            <a:off x="2788920" y="2157984"/>
            <a:ext cx="117043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0,260</a:t>
            </a:r>
          </a:p>
        </p:txBody>
      </p:sp>
      <p:sp>
        <p:nvSpPr>
          <p:cNvPr id="15" name="TextBox 14"/>
          <p:cNvSpPr txBox="1"/>
          <p:nvPr/>
        </p:nvSpPr>
        <p:spPr>
          <a:xfrm>
            <a:off x="4069080" y="2157984"/>
            <a:ext cx="3364992" cy="41148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108 / 28</a:t>
            </a:r>
          </a:p>
        </p:txBody>
      </p:sp>
      <p:sp>
        <p:nvSpPr>
          <p:cNvPr id="16" name="TextBox 15"/>
          <p:cNvSpPr txBox="1"/>
          <p:nvPr/>
        </p:nvSpPr>
        <p:spPr>
          <a:xfrm>
            <a:off x="777240" y="2569464"/>
            <a:ext cx="7132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3</a:t>
            </a:r>
          </a:p>
        </p:txBody>
      </p:sp>
      <p:sp>
        <p:nvSpPr>
          <p:cNvPr id="17" name="TextBox 16"/>
          <p:cNvSpPr txBox="1"/>
          <p:nvPr/>
        </p:nvSpPr>
        <p:spPr>
          <a:xfrm>
            <a:off x="1508760" y="256946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0,225</a:t>
            </a:r>
          </a:p>
        </p:txBody>
      </p:sp>
      <p:sp>
        <p:nvSpPr>
          <p:cNvPr id="18" name="TextBox 17"/>
          <p:cNvSpPr txBox="1"/>
          <p:nvPr/>
        </p:nvSpPr>
        <p:spPr>
          <a:xfrm>
            <a:off x="2788920" y="256946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0,179</a:t>
            </a:r>
          </a:p>
        </p:txBody>
      </p:sp>
      <p:sp>
        <p:nvSpPr>
          <p:cNvPr id="19" name="TextBox 18"/>
          <p:cNvSpPr txBox="1"/>
          <p:nvPr/>
        </p:nvSpPr>
        <p:spPr>
          <a:xfrm>
            <a:off x="4069080" y="2569464"/>
            <a:ext cx="33649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85 / 31 / 20</a:t>
            </a:r>
          </a:p>
        </p:txBody>
      </p:sp>
      <p:sp>
        <p:nvSpPr>
          <p:cNvPr id="20" name="TextBox 19"/>
          <p:cNvSpPr txBox="1"/>
          <p:nvPr/>
        </p:nvSpPr>
        <p:spPr>
          <a:xfrm>
            <a:off x="777240" y="2980944"/>
            <a:ext cx="7132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4</a:t>
            </a:r>
          </a:p>
        </p:txBody>
      </p:sp>
      <p:sp>
        <p:nvSpPr>
          <p:cNvPr id="21" name="TextBox 20"/>
          <p:cNvSpPr txBox="1"/>
          <p:nvPr/>
        </p:nvSpPr>
        <p:spPr>
          <a:xfrm>
            <a:off x="1508760" y="298094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0,137</a:t>
            </a:r>
          </a:p>
        </p:txBody>
      </p:sp>
      <p:sp>
        <p:nvSpPr>
          <p:cNvPr id="22" name="TextBox 21"/>
          <p:cNvSpPr txBox="1"/>
          <p:nvPr/>
        </p:nvSpPr>
        <p:spPr>
          <a:xfrm>
            <a:off x="2788920" y="298094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0,119</a:t>
            </a:r>
          </a:p>
        </p:txBody>
      </p:sp>
      <p:sp>
        <p:nvSpPr>
          <p:cNvPr id="23" name="TextBox 22"/>
          <p:cNvSpPr txBox="1"/>
          <p:nvPr/>
        </p:nvSpPr>
        <p:spPr>
          <a:xfrm>
            <a:off x="4069080" y="2980944"/>
            <a:ext cx="33649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55 / 41 / 22 / 18</a:t>
            </a:r>
          </a:p>
        </p:txBody>
      </p:sp>
      <p:sp>
        <p:nvSpPr>
          <p:cNvPr id="24" name="TextBox 23"/>
          <p:cNvSpPr txBox="1"/>
          <p:nvPr/>
        </p:nvSpPr>
        <p:spPr>
          <a:xfrm>
            <a:off x="777240" y="3392424"/>
            <a:ext cx="7132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5</a:t>
            </a:r>
          </a:p>
        </p:txBody>
      </p:sp>
      <p:sp>
        <p:nvSpPr>
          <p:cNvPr id="25" name="TextBox 24"/>
          <p:cNvSpPr txBox="1"/>
          <p:nvPr/>
        </p:nvSpPr>
        <p:spPr>
          <a:xfrm>
            <a:off x="1508760" y="339242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0,148</a:t>
            </a:r>
          </a:p>
        </p:txBody>
      </p:sp>
      <p:sp>
        <p:nvSpPr>
          <p:cNvPr id="26" name="TextBox 25"/>
          <p:cNvSpPr txBox="1"/>
          <p:nvPr/>
        </p:nvSpPr>
        <p:spPr>
          <a:xfrm>
            <a:off x="2788920" y="339242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0,116</a:t>
            </a:r>
          </a:p>
        </p:txBody>
      </p:sp>
      <p:sp>
        <p:nvSpPr>
          <p:cNvPr id="27" name="TextBox 26"/>
          <p:cNvSpPr txBox="1"/>
          <p:nvPr/>
        </p:nvSpPr>
        <p:spPr>
          <a:xfrm>
            <a:off x="4069080" y="3392424"/>
            <a:ext cx="33649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55 / 30 / 28 / 14 / 9</a:t>
            </a:r>
          </a:p>
        </p:txBody>
      </p:sp>
      <p:sp>
        <p:nvSpPr>
          <p:cNvPr id="28" name="TextBox 27"/>
          <p:cNvSpPr txBox="1"/>
          <p:nvPr/>
        </p:nvSpPr>
        <p:spPr>
          <a:xfrm>
            <a:off x="777240" y="3803904"/>
            <a:ext cx="7132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6</a:t>
            </a:r>
          </a:p>
        </p:txBody>
      </p:sp>
      <p:sp>
        <p:nvSpPr>
          <p:cNvPr id="29" name="TextBox 28"/>
          <p:cNvSpPr txBox="1"/>
          <p:nvPr/>
        </p:nvSpPr>
        <p:spPr>
          <a:xfrm>
            <a:off x="1508760" y="380390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0,105</a:t>
            </a:r>
          </a:p>
        </p:txBody>
      </p:sp>
      <p:sp>
        <p:nvSpPr>
          <p:cNvPr id="30" name="TextBox 29"/>
          <p:cNvSpPr txBox="1"/>
          <p:nvPr/>
        </p:nvSpPr>
        <p:spPr>
          <a:xfrm>
            <a:off x="2788920" y="380390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0,079</a:t>
            </a:r>
          </a:p>
        </p:txBody>
      </p:sp>
      <p:sp>
        <p:nvSpPr>
          <p:cNvPr id="31" name="TextBox 30"/>
          <p:cNvSpPr txBox="1"/>
          <p:nvPr/>
        </p:nvSpPr>
        <p:spPr>
          <a:xfrm>
            <a:off x="4069080" y="3803904"/>
            <a:ext cx="33649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48 / 31 / 23 / 16 / 10 / 8</a:t>
            </a:r>
          </a:p>
        </p:txBody>
      </p:sp>
      <p:sp>
        <p:nvSpPr>
          <p:cNvPr id="32" name="TextBox 31"/>
          <p:cNvSpPr txBox="1"/>
          <p:nvPr/>
        </p:nvSpPr>
        <p:spPr>
          <a:xfrm>
            <a:off x="777240" y="4215384"/>
            <a:ext cx="713232" cy="41148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10</a:t>
            </a:r>
          </a:p>
        </p:txBody>
      </p:sp>
      <p:sp>
        <p:nvSpPr>
          <p:cNvPr id="33" name="TextBox 32"/>
          <p:cNvSpPr txBox="1"/>
          <p:nvPr/>
        </p:nvSpPr>
        <p:spPr>
          <a:xfrm>
            <a:off x="1508760" y="421538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0,121</a:t>
            </a:r>
          </a:p>
        </p:txBody>
      </p:sp>
      <p:sp>
        <p:nvSpPr>
          <p:cNvPr id="34" name="TextBox 33"/>
          <p:cNvSpPr txBox="1"/>
          <p:nvPr/>
        </p:nvSpPr>
        <p:spPr>
          <a:xfrm>
            <a:off x="2788920" y="4215384"/>
            <a:ext cx="117043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0,105</a:t>
            </a:r>
          </a:p>
        </p:txBody>
      </p:sp>
      <p:sp>
        <p:nvSpPr>
          <p:cNvPr id="35" name="TextBox 34"/>
          <p:cNvSpPr txBox="1"/>
          <p:nvPr/>
        </p:nvSpPr>
        <p:spPr>
          <a:xfrm>
            <a:off x="4069080" y="4215384"/>
            <a:ext cx="3364992" cy="41148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36 / 30 / 20 / …</a:t>
            </a:r>
          </a:p>
        </p:txBody>
      </p:sp>
      <p:sp>
        <p:nvSpPr>
          <p:cNvPr id="36" name="Rectangle 35"/>
          <p:cNvSpPr/>
          <p:nvPr/>
        </p:nvSpPr>
        <p:spPr>
          <a:xfrm>
            <a:off x="7909560" y="1828800"/>
            <a:ext cx="3566160" cy="16916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09560" y="1828800"/>
            <a:ext cx="54864" cy="16916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5592" y="2011680"/>
            <a:ext cx="3108960" cy="137160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Criterio propio de Shiro.</a:t>
            </a:r>
            <a:r>
              <a:rPr sz="1250" b="0">
                <a:solidFill>
                  <a:srgbClr val="C9D1DE"/>
                </a:solidFill>
                <a:latin typeface="Segoe UI"/>
              </a:rPr>
              <a:t> Cada tipo multiplica la tabla Q: 24 horas × k tipos × bandas de temperatura × acciones. Con k = 2 el agente visita cada estado muchas veces; con k = 8, no.</a:t>
            </a:r>
          </a:p>
        </p:txBody>
      </p:sp>
      <p:sp>
        <p:nvSpPr>
          <p:cNvPr id="39" name="Rectangle 38"/>
          <p:cNvSpPr/>
          <p:nvPr/>
        </p:nvSpPr>
        <p:spPr>
          <a:xfrm>
            <a:off x="7909560" y="3703320"/>
            <a:ext cx="3566160"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09560" y="3703320"/>
            <a:ext cx="54864" cy="13716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65592" y="3886200"/>
            <a:ext cx="3108960" cy="10515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La forma no tiene estructura.</a:t>
            </a:r>
            <a:r>
              <a:rPr sz="1250" b="0">
                <a:solidFill>
                  <a:srgbClr val="C9D1DE"/>
                </a:solidFill>
                <a:latin typeface="Segoe UI"/>
              </a:rPr>
              <a:t> Agrupando la curva dividida por su total, la silueta queda entre 0,13 y 0,15 para todo k: no hay k que elegir.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2, PCA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 k = 2, un corte casi limpio sobre el primer componente</a:t>
            </a:r>
          </a:p>
        </p:txBody>
      </p:sp>
      <p:sp>
        <p:nvSpPr>
          <p:cNvPr id="6" name="Rounded Rectangle 5"/>
          <p:cNvSpPr/>
          <p:nvPr/>
        </p:nvSpPr>
        <p:spPr>
          <a:xfrm>
            <a:off x="694944" y="1668311"/>
            <a:ext cx="10771632" cy="342993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3_pca.png"/>
          <p:cNvPicPr>
            <a:picLocks noChangeAspect="1"/>
          </p:cNvPicPr>
          <p:nvPr/>
        </p:nvPicPr>
        <p:blipFill>
          <a:blip r:embed="rId2"/>
          <a:stretch>
            <a:fillRect/>
          </a:stretch>
        </p:blipFill>
        <p:spPr>
          <a:xfrm>
            <a:off x="777240" y="1750607"/>
            <a:ext cx="10607040" cy="3265346"/>
          </a:xfrm>
          <a:prstGeom prst="rect">
            <a:avLst/>
          </a:prstGeom>
        </p:spPr>
      </p:pic>
      <p:sp>
        <p:nvSpPr>
          <p:cNvPr id="8" name="Rectangle 7"/>
          <p:cNvSpPr/>
          <p:nvPr/>
        </p:nvSpPr>
        <p:spPr>
          <a:xfrm>
            <a:off x="685800" y="5212080"/>
            <a:ext cx="10820095"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1208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394960"/>
            <a:ext cx="10362895" cy="5486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Por qué PCA separa bien.</a:t>
            </a:r>
            <a:r>
              <a:rPr sz="1250" b="0">
                <a:solidFill>
                  <a:srgbClr val="C9D1DE"/>
                </a:solidFill>
                <a:latin typeface="Segoe UI"/>
              </a:rPr>
              <a:t> PC1 y PC2 retienen el 50,1 % de la varianza (37,2 % + 12,9 %). La diferencia entre tipos es cuánto se consume de día: una dirección lineal, justo lo que PCA captura. Con k = 3 y 4 los clústers nuevos son cortes dentro de la misma nube, sin espacio vacío: por eso cae la silueta.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2, T-SNE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t-SNE no muestra nada que PCA no muestre</a:t>
            </a:r>
          </a:p>
        </p:txBody>
      </p:sp>
      <p:sp>
        <p:nvSpPr>
          <p:cNvPr id="6" name="Rounded Rectangle 5"/>
          <p:cNvSpPr/>
          <p:nvPr/>
        </p:nvSpPr>
        <p:spPr>
          <a:xfrm>
            <a:off x="694944" y="1663435"/>
            <a:ext cx="6931152" cy="426264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4_tsne.png"/>
          <p:cNvPicPr>
            <a:picLocks noChangeAspect="1"/>
          </p:cNvPicPr>
          <p:nvPr/>
        </p:nvPicPr>
        <p:blipFill>
          <a:blip r:embed="rId2"/>
          <a:stretch>
            <a:fillRect/>
          </a:stretch>
        </p:blipFill>
        <p:spPr>
          <a:xfrm>
            <a:off x="777240" y="1745731"/>
            <a:ext cx="6766560" cy="4098057"/>
          </a:xfrm>
          <a:prstGeom prst="rect">
            <a:avLst/>
          </a:prstGeom>
        </p:spPr>
      </p:pic>
      <p:sp>
        <p:nvSpPr>
          <p:cNvPr id="8" name="Rectangle 7"/>
          <p:cNvSpPr/>
          <p:nvPr/>
        </p:nvSpPr>
        <p:spPr>
          <a:xfrm>
            <a:off x="7909560" y="1783080"/>
            <a:ext cx="356616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09560" y="1783080"/>
            <a:ext cx="54864" cy="10972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965960"/>
            <a:ext cx="3108960" cy="7772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Perplexity 5.</a:t>
            </a:r>
            <a:r>
              <a:rPr sz="1250" b="0">
                <a:solidFill>
                  <a:srgbClr val="C9D1DE"/>
                </a:solidFill>
                <a:latin typeface="Segoe UI"/>
              </a:rPr>
              <a:t> La nube se rompe en hebras cortas: sugiere más grupos de los que hay.</a:t>
            </a:r>
          </a:p>
        </p:txBody>
      </p:sp>
      <p:sp>
        <p:nvSpPr>
          <p:cNvPr id="11" name="Rectangle 10"/>
          <p:cNvSpPr/>
          <p:nvPr/>
        </p:nvSpPr>
        <p:spPr>
          <a:xfrm>
            <a:off x="7909560" y="3017520"/>
            <a:ext cx="3566160" cy="12801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09560" y="3017520"/>
            <a:ext cx="54864" cy="12801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3200400"/>
            <a:ext cx="3108960" cy="96012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Perplexity 15 y 30.</a:t>
            </a:r>
            <a:r>
              <a:rPr sz="1250" b="0">
                <a:solidFill>
                  <a:srgbClr val="C9D1DE"/>
                </a:solidFill>
                <a:latin typeface="Segoe UI"/>
              </a:rPr>
              <a:t> Una sola nube con los días de carga alta en un borde: la misma lectura de PCA, menos nítida.</a:t>
            </a:r>
          </a:p>
        </p:txBody>
      </p:sp>
      <p:sp>
        <p:nvSpPr>
          <p:cNvPr id="14" name="Rectangle 13"/>
          <p:cNvSpPr/>
          <p:nvPr/>
        </p:nvSpPr>
        <p:spPr>
          <a:xfrm>
            <a:off x="7909560" y="4434840"/>
            <a:ext cx="3566160"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4434840"/>
            <a:ext cx="54864" cy="13716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4617720"/>
            <a:ext cx="3108960" cy="10515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Cuál separa mejor.</a:t>
            </a:r>
            <a:r>
              <a:rPr sz="1250" b="0">
                <a:solidFill>
                  <a:srgbClr val="C9D1DE"/>
                </a:solidFill>
                <a:latin typeface="Segoe UI"/>
              </a:rPr>
              <a:t> PCA, porque la diferencia es de intensidad y no de forma. Y en t-SNE las distancias entre grupos no tienen significado.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3, CARACTERIZACIÓN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Día normal y día de carga alta</a:t>
            </a:r>
          </a:p>
        </p:txBody>
      </p:sp>
      <p:sp>
        <p:nvSpPr>
          <p:cNvPr id="6" name="Rounded Rectangle 5"/>
          <p:cNvSpPr/>
          <p:nvPr/>
        </p:nvSpPr>
        <p:spPr>
          <a:xfrm>
            <a:off x="694944" y="1719734"/>
            <a:ext cx="6748271" cy="2138371"/>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5_perfiles.png"/>
          <p:cNvPicPr>
            <a:picLocks noChangeAspect="1"/>
          </p:cNvPicPr>
          <p:nvPr/>
        </p:nvPicPr>
        <p:blipFill>
          <a:blip r:embed="rId2"/>
          <a:stretch>
            <a:fillRect/>
          </a:stretch>
        </p:blipFill>
        <p:spPr>
          <a:xfrm>
            <a:off x="777240" y="1802030"/>
            <a:ext cx="6583679" cy="1973779"/>
          </a:xfrm>
          <a:prstGeom prst="rect">
            <a:avLst/>
          </a:prstGeom>
        </p:spPr>
      </p:pic>
      <p:sp>
        <p:nvSpPr>
          <p:cNvPr id="8" name="TextBox 7"/>
          <p:cNvSpPr txBox="1"/>
          <p:nvPr/>
        </p:nvSpPr>
        <p:spPr>
          <a:xfrm>
            <a:off x="7635240" y="1783080"/>
            <a:ext cx="20116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MEDIA POR DÍA</a:t>
            </a:r>
          </a:p>
        </p:txBody>
      </p:sp>
      <p:sp>
        <p:nvSpPr>
          <p:cNvPr id="9" name="TextBox 8"/>
          <p:cNvSpPr txBox="1"/>
          <p:nvPr/>
        </p:nvSpPr>
        <p:spPr>
          <a:xfrm>
            <a:off x="964692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NORMAL</a:t>
            </a:r>
          </a:p>
        </p:txBody>
      </p:sp>
      <p:sp>
        <p:nvSpPr>
          <p:cNvPr id="10" name="TextBox 9"/>
          <p:cNvSpPr txBox="1"/>
          <p:nvPr/>
        </p:nvSpPr>
        <p:spPr>
          <a:xfrm>
            <a:off x="1056132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a:t>
            </a:r>
          </a:p>
        </p:txBody>
      </p:sp>
      <p:sp>
        <p:nvSpPr>
          <p:cNvPr id="11" name="Rectangle 10"/>
          <p:cNvSpPr/>
          <p:nvPr/>
        </p:nvSpPr>
        <p:spPr>
          <a:xfrm>
            <a:off x="7635240" y="2075688"/>
            <a:ext cx="384048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80" y="211226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Días</a:t>
            </a:r>
          </a:p>
        </p:txBody>
      </p:sp>
      <p:sp>
        <p:nvSpPr>
          <p:cNvPr id="13" name="TextBox 12"/>
          <p:cNvSpPr txBox="1"/>
          <p:nvPr/>
        </p:nvSpPr>
        <p:spPr>
          <a:xfrm>
            <a:off x="9646920" y="211226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108</a:t>
            </a:r>
          </a:p>
        </p:txBody>
      </p:sp>
      <p:sp>
        <p:nvSpPr>
          <p:cNvPr id="14" name="TextBox 13"/>
          <p:cNvSpPr txBox="1"/>
          <p:nvPr/>
        </p:nvSpPr>
        <p:spPr>
          <a:xfrm>
            <a:off x="10561320" y="211226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28</a:t>
            </a:r>
          </a:p>
        </p:txBody>
      </p:sp>
      <p:sp>
        <p:nvSpPr>
          <p:cNvPr id="15" name="TextBox 14"/>
          <p:cNvSpPr txBox="1"/>
          <p:nvPr/>
        </p:nvSpPr>
        <p:spPr>
          <a:xfrm>
            <a:off x="7726680" y="247802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Consumo diario</a:t>
            </a:r>
          </a:p>
        </p:txBody>
      </p:sp>
      <p:sp>
        <p:nvSpPr>
          <p:cNvPr id="16" name="TextBox 15"/>
          <p:cNvSpPr txBox="1"/>
          <p:nvPr/>
        </p:nvSpPr>
        <p:spPr>
          <a:xfrm>
            <a:off x="9646920" y="247802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12,23 kWh</a:t>
            </a:r>
          </a:p>
        </p:txBody>
      </p:sp>
      <p:sp>
        <p:nvSpPr>
          <p:cNvPr id="17" name="TextBox 16"/>
          <p:cNvSpPr txBox="1"/>
          <p:nvPr/>
        </p:nvSpPr>
        <p:spPr>
          <a:xfrm>
            <a:off x="10561320" y="247802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20,94 kWh</a:t>
            </a:r>
          </a:p>
        </p:txBody>
      </p:sp>
      <p:sp>
        <p:nvSpPr>
          <p:cNvPr id="18" name="TextBox 17"/>
          <p:cNvSpPr txBox="1"/>
          <p:nvPr/>
        </p:nvSpPr>
        <p:spPr>
          <a:xfrm>
            <a:off x="7726680" y="284378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Hora pico más frecuente</a:t>
            </a:r>
          </a:p>
        </p:txBody>
      </p:sp>
      <p:sp>
        <p:nvSpPr>
          <p:cNvPr id="19" name="TextBox 18"/>
          <p:cNvSpPr txBox="1"/>
          <p:nvPr/>
        </p:nvSpPr>
        <p:spPr>
          <a:xfrm>
            <a:off x="9646920" y="284378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18 h</a:t>
            </a:r>
          </a:p>
        </p:txBody>
      </p:sp>
      <p:sp>
        <p:nvSpPr>
          <p:cNvPr id="20" name="TextBox 19"/>
          <p:cNvSpPr txBox="1"/>
          <p:nvPr/>
        </p:nvSpPr>
        <p:spPr>
          <a:xfrm>
            <a:off x="10561320" y="284378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11 h</a:t>
            </a:r>
          </a:p>
        </p:txBody>
      </p:sp>
      <p:sp>
        <p:nvSpPr>
          <p:cNvPr id="21" name="TextBox 20"/>
          <p:cNvSpPr txBox="1"/>
          <p:nvPr/>
        </p:nvSpPr>
        <p:spPr>
          <a:xfrm>
            <a:off x="7726680" y="320954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Madrugada · mañana (Wh)</a:t>
            </a:r>
          </a:p>
        </p:txBody>
      </p:sp>
      <p:sp>
        <p:nvSpPr>
          <p:cNvPr id="22" name="TextBox 21"/>
          <p:cNvSpPr txBox="1"/>
          <p:nvPr/>
        </p:nvSpPr>
        <p:spPr>
          <a:xfrm>
            <a:off x="9646920" y="320954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51 · 83</a:t>
            </a:r>
          </a:p>
        </p:txBody>
      </p:sp>
      <p:sp>
        <p:nvSpPr>
          <p:cNvPr id="23" name="TextBox 22"/>
          <p:cNvSpPr txBox="1"/>
          <p:nvPr/>
        </p:nvSpPr>
        <p:spPr>
          <a:xfrm>
            <a:off x="10561320" y="320954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49 · 172</a:t>
            </a:r>
          </a:p>
        </p:txBody>
      </p:sp>
      <p:sp>
        <p:nvSpPr>
          <p:cNvPr id="24" name="TextBox 23"/>
          <p:cNvSpPr txBox="1"/>
          <p:nvPr/>
        </p:nvSpPr>
        <p:spPr>
          <a:xfrm>
            <a:off x="7726680" y="357530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Tarde · noche (Wh)</a:t>
            </a:r>
          </a:p>
        </p:txBody>
      </p:sp>
      <p:sp>
        <p:nvSpPr>
          <p:cNvPr id="25" name="TextBox 24"/>
          <p:cNvSpPr txBox="1"/>
          <p:nvPr/>
        </p:nvSpPr>
        <p:spPr>
          <a:xfrm>
            <a:off x="9646920" y="357530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94 · 111</a:t>
            </a:r>
          </a:p>
        </p:txBody>
      </p:sp>
      <p:sp>
        <p:nvSpPr>
          <p:cNvPr id="26" name="TextBox 25"/>
          <p:cNvSpPr txBox="1"/>
          <p:nvPr/>
        </p:nvSpPr>
        <p:spPr>
          <a:xfrm>
            <a:off x="10561320" y="357530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238 · 122</a:t>
            </a:r>
          </a:p>
        </p:txBody>
      </p:sp>
      <p:sp>
        <p:nvSpPr>
          <p:cNvPr id="27" name="TextBox 26"/>
          <p:cNvSpPr txBox="1"/>
          <p:nvPr/>
        </p:nvSpPr>
        <p:spPr>
          <a:xfrm>
            <a:off x="7726680" y="394106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 de fin de semana</a:t>
            </a:r>
          </a:p>
        </p:txBody>
      </p:sp>
      <p:sp>
        <p:nvSpPr>
          <p:cNvPr id="28" name="TextBox 27"/>
          <p:cNvSpPr txBox="1"/>
          <p:nvPr/>
        </p:nvSpPr>
        <p:spPr>
          <a:xfrm>
            <a:off x="9646920" y="394106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27,8 %</a:t>
            </a:r>
          </a:p>
        </p:txBody>
      </p:sp>
      <p:sp>
        <p:nvSpPr>
          <p:cNvPr id="29" name="TextBox 28"/>
          <p:cNvSpPr txBox="1"/>
          <p:nvPr/>
        </p:nvSpPr>
        <p:spPr>
          <a:xfrm>
            <a:off x="10561320" y="394106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28,6 %</a:t>
            </a:r>
          </a:p>
        </p:txBody>
      </p:sp>
      <p:sp>
        <p:nvSpPr>
          <p:cNvPr id="30" name="TextBox 29"/>
          <p:cNvSpPr txBox="1"/>
          <p:nvPr/>
        </p:nvSpPr>
        <p:spPr>
          <a:xfrm>
            <a:off x="7726680" y="430682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T exterior</a:t>
            </a:r>
          </a:p>
        </p:txBody>
      </p:sp>
      <p:sp>
        <p:nvSpPr>
          <p:cNvPr id="31" name="TextBox 30"/>
          <p:cNvSpPr txBox="1"/>
          <p:nvPr/>
        </p:nvSpPr>
        <p:spPr>
          <a:xfrm>
            <a:off x="9646920" y="430682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7,4 °C</a:t>
            </a:r>
          </a:p>
        </p:txBody>
      </p:sp>
      <p:sp>
        <p:nvSpPr>
          <p:cNvPr id="32" name="TextBox 31"/>
          <p:cNvSpPr txBox="1"/>
          <p:nvPr/>
        </p:nvSpPr>
        <p:spPr>
          <a:xfrm>
            <a:off x="10561320" y="430682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7,3 °C</a:t>
            </a:r>
          </a:p>
        </p:txBody>
      </p:sp>
      <p:sp>
        <p:nvSpPr>
          <p:cNvPr id="33" name="TextBox 32"/>
          <p:cNvSpPr txBox="1"/>
          <p:nvPr/>
        </p:nvSpPr>
        <p:spPr>
          <a:xfrm>
            <a:off x="7726680" y="467258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T interior</a:t>
            </a:r>
          </a:p>
        </p:txBody>
      </p:sp>
      <p:sp>
        <p:nvSpPr>
          <p:cNvPr id="34" name="TextBox 33"/>
          <p:cNvSpPr txBox="1"/>
          <p:nvPr/>
        </p:nvSpPr>
        <p:spPr>
          <a:xfrm>
            <a:off x="9646920" y="467258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19,4 °C</a:t>
            </a:r>
          </a:p>
        </p:txBody>
      </p:sp>
      <p:sp>
        <p:nvSpPr>
          <p:cNvPr id="35" name="TextBox 34"/>
          <p:cNvSpPr txBox="1"/>
          <p:nvPr/>
        </p:nvSpPr>
        <p:spPr>
          <a:xfrm>
            <a:off x="10561320" y="467258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19,3 °C</a:t>
            </a:r>
          </a:p>
        </p:txBody>
      </p:sp>
      <p:sp>
        <p:nvSpPr>
          <p:cNvPr id="36" name="TextBox 35"/>
          <p:cNvSpPr txBox="1"/>
          <p:nvPr/>
        </p:nvSpPr>
        <p:spPr>
          <a:xfrm>
            <a:off x="7726680" y="5038344"/>
            <a:ext cx="1901952" cy="36576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Iluminación (lights)</a:t>
            </a:r>
          </a:p>
        </p:txBody>
      </p:sp>
      <p:sp>
        <p:nvSpPr>
          <p:cNvPr id="37" name="TextBox 36"/>
          <p:cNvSpPr txBox="1"/>
          <p:nvPr/>
        </p:nvSpPr>
        <p:spPr>
          <a:xfrm>
            <a:off x="9646920" y="503834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502 Wh</a:t>
            </a:r>
          </a:p>
        </p:txBody>
      </p:sp>
      <p:sp>
        <p:nvSpPr>
          <p:cNvPr id="38" name="TextBox 37"/>
          <p:cNvSpPr txBox="1"/>
          <p:nvPr/>
        </p:nvSpPr>
        <p:spPr>
          <a:xfrm>
            <a:off x="10561320" y="5038344"/>
            <a:ext cx="804672" cy="36576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697 Wh</a:t>
            </a:r>
          </a:p>
        </p:txBody>
      </p:sp>
      <p:sp>
        <p:nvSpPr>
          <p:cNvPr id="39" name="Rectangle 38"/>
          <p:cNvSpPr/>
          <p:nvPr/>
        </p:nvSpPr>
        <p:spPr>
          <a:xfrm>
            <a:off x="685800" y="4069080"/>
            <a:ext cx="6583680"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 y="4069080"/>
            <a:ext cx="54864" cy="13716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 y="4251960"/>
            <a:ext cx="6126480" cy="1051560"/>
          </a:xfrm>
          <a:prstGeom prst="rect">
            <a:avLst/>
          </a:prstGeom>
          <a:noFill/>
        </p:spPr>
        <p:txBody>
          <a:bodyPr wrap="square" lIns="0" rIns="0" tIns="0" bIns="0" anchor="t">
            <a:spAutoFit/>
          </a:bodyPr>
          <a:lstStyle/>
          <a:p>
            <a:pPr algn="l">
              <a:lnSpc>
                <a:spcPct val="115000"/>
              </a:lnSpc>
            </a:pPr>
            <a:r>
              <a:rPr sz="1250" b="0">
                <a:solidFill>
                  <a:srgbClr val="C9D1DE"/>
                </a:solidFill>
                <a:latin typeface="Segoe UI"/>
              </a:rPr>
              <a:t>Madrugadas idénticas; la diferencia es un </a:t>
            </a:r>
            <a:r>
              <a:rPr sz="1250" b="1">
                <a:solidFill>
                  <a:srgbClr val="E6E9EF"/>
                </a:solidFill>
                <a:latin typeface="Segoe UI"/>
              </a:rPr>
              <a:t>bloque diurno de 8 a 18 h</a:t>
            </a:r>
            <a:r>
              <a:rPr sz="1250" b="0">
                <a:solidFill>
                  <a:srgbClr val="C9D1DE"/>
                </a:solidFill>
                <a:latin typeface="Segoe UI"/>
              </a:rPr>
              <a:t> con dos jorobas (11 y 17 h). Un árbol de profundidad 2 reproduce el clúster en el 96,3 % de los días mirando la 1 de la tarde (h13 &gt; 199 Wh).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PUNTO 3, QUÉ LOS DIFERENCIA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Ni el calendario ni el clima: la actividad de la casa</a:t>
            </a:r>
          </a:p>
        </p:txBody>
      </p:sp>
      <p:sp>
        <p:nvSpPr>
          <p:cNvPr id="6" name="Rounded Rectangle 5"/>
          <p:cNvSpPr/>
          <p:nvPr/>
        </p:nvSpPr>
        <p:spPr>
          <a:xfrm>
            <a:off x="694944" y="1672083"/>
            <a:ext cx="5285232" cy="360527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9_variables.png"/>
          <p:cNvPicPr>
            <a:picLocks noChangeAspect="1"/>
          </p:cNvPicPr>
          <p:nvPr/>
        </p:nvPicPr>
        <p:blipFill>
          <a:blip r:embed="rId2"/>
          <a:stretch>
            <a:fillRect/>
          </a:stretch>
        </p:blipFill>
        <p:spPr>
          <a:xfrm>
            <a:off x="777240" y="1754379"/>
            <a:ext cx="5120640" cy="3440682"/>
          </a:xfrm>
          <a:prstGeom prst="rect">
            <a:avLst/>
          </a:prstGeom>
        </p:spPr>
      </p:pic>
      <p:sp>
        <p:nvSpPr>
          <p:cNvPr id="8" name="TextBox 7"/>
          <p:cNvSpPr txBox="1"/>
          <p:nvPr/>
        </p:nvSpPr>
        <p:spPr>
          <a:xfrm>
            <a:off x="6355080" y="1783080"/>
            <a:ext cx="256032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V = 0,000</a:t>
            </a:r>
          </a:p>
        </p:txBody>
      </p:sp>
      <p:sp>
        <p:nvSpPr>
          <p:cNvPr id="9" name="TextBox 8"/>
          <p:cNvSpPr txBox="1"/>
          <p:nvPr/>
        </p:nvSpPr>
        <p:spPr>
          <a:xfrm>
            <a:off x="6355080" y="244144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asociación con el fin de semana</a:t>
            </a:r>
          </a:p>
          <a:p>
            <a:pPr algn="l">
              <a:lnSpc>
                <a:spcPct val="115000"/>
              </a:lnSpc>
            </a:pPr>
            <a:r>
              <a:rPr sz="1150" b="0">
                <a:solidFill>
                  <a:srgbClr val="9AA3B2"/>
                </a:solidFill>
                <a:latin typeface="Segoe UI"/>
              </a:rPr>
              <a:t>(28 % frente a 29 %)</a:t>
            </a:r>
          </a:p>
        </p:txBody>
      </p:sp>
      <p:sp>
        <p:nvSpPr>
          <p:cNvPr id="10" name="TextBox 9"/>
          <p:cNvSpPr txBox="1"/>
          <p:nvPr/>
        </p:nvSpPr>
        <p:spPr>
          <a:xfrm>
            <a:off x="9006840" y="1783080"/>
            <a:ext cx="256032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7,3 · 7,4 °C</a:t>
            </a:r>
          </a:p>
        </p:txBody>
      </p:sp>
      <p:sp>
        <p:nvSpPr>
          <p:cNvPr id="11" name="TextBox 10"/>
          <p:cNvSpPr txBox="1"/>
          <p:nvPr/>
        </p:nvSpPr>
        <p:spPr>
          <a:xfrm>
            <a:off x="9006840" y="244144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temperatura exterior media</a:t>
            </a:r>
          </a:p>
          <a:p>
            <a:pPr algn="l">
              <a:lnSpc>
                <a:spcPct val="115000"/>
              </a:lnSpc>
            </a:pPr>
            <a:r>
              <a:rPr sz="1150" b="0">
                <a:solidFill>
                  <a:srgbClr val="9AA3B2"/>
                </a:solidFill>
                <a:latin typeface="Segoe UI"/>
              </a:rPr>
              <a:t>en cada tipo</a:t>
            </a:r>
          </a:p>
        </p:txBody>
      </p:sp>
      <p:sp>
        <p:nvSpPr>
          <p:cNvPr id="12" name="TextBox 11"/>
          <p:cNvSpPr txBox="1"/>
          <p:nvPr/>
        </p:nvSpPr>
        <p:spPr>
          <a:xfrm>
            <a:off x="6355080" y="3063240"/>
            <a:ext cx="2560320" cy="640080"/>
          </a:xfrm>
          <a:prstGeom prst="rect">
            <a:avLst/>
          </a:prstGeom>
          <a:noFill/>
        </p:spPr>
        <p:txBody>
          <a:bodyPr wrap="square" lIns="0" rIns="0" tIns="0" bIns="0" anchor="t">
            <a:spAutoFit/>
          </a:bodyPr>
          <a:lstStyle/>
          <a:p>
            <a:pPr algn="l">
              <a:lnSpc>
                <a:spcPct val="115000"/>
              </a:lnSpc>
            </a:pPr>
            <a:r>
              <a:rPr sz="2800" b="1">
                <a:solidFill>
                  <a:srgbClr val="FFB877"/>
                </a:solidFill>
                <a:latin typeface="Consolas"/>
              </a:rPr>
              <a:t>+39 %</a:t>
            </a:r>
          </a:p>
        </p:txBody>
      </p:sp>
      <p:sp>
        <p:nvSpPr>
          <p:cNvPr id="13" name="TextBox 12"/>
          <p:cNvSpPr txBox="1"/>
          <p:nvPr/>
        </p:nvSpPr>
        <p:spPr>
          <a:xfrm>
            <a:off x="6355080" y="372160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más iluminación en los días</a:t>
            </a:r>
          </a:p>
          <a:p>
            <a:pPr algn="l">
              <a:lnSpc>
                <a:spcPct val="115000"/>
              </a:lnSpc>
            </a:pPr>
            <a:r>
              <a:rPr sz="1150" b="0">
                <a:solidFill>
                  <a:srgbClr val="9AA3B2"/>
                </a:solidFill>
                <a:latin typeface="Segoe UI"/>
              </a:rPr>
              <a:t>de carga alta</a:t>
            </a:r>
          </a:p>
        </p:txBody>
      </p:sp>
      <p:sp>
        <p:nvSpPr>
          <p:cNvPr id="14" name="TextBox 13"/>
          <p:cNvSpPr txBox="1"/>
          <p:nvPr/>
        </p:nvSpPr>
        <p:spPr>
          <a:xfrm>
            <a:off x="9006840" y="3063240"/>
            <a:ext cx="256032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RH_3</a:t>
            </a:r>
          </a:p>
        </p:txBody>
      </p:sp>
      <p:sp>
        <p:nvSpPr>
          <p:cNvPr id="15" name="TextBox 14"/>
          <p:cNvSpPr txBox="1"/>
          <p:nvPr/>
        </p:nvSpPr>
        <p:spPr>
          <a:xfrm>
            <a:off x="9006840" y="3721608"/>
            <a:ext cx="25603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humedad de la lavandería: la que</a:t>
            </a:r>
          </a:p>
          <a:p>
            <a:pPr algn="l">
              <a:lnSpc>
                <a:spcPct val="115000"/>
              </a:lnSpc>
            </a:pPr>
            <a:r>
              <a:rPr sz="1150" b="0">
                <a:solidFill>
                  <a:srgbClr val="9AA3B2"/>
                </a:solidFill>
                <a:latin typeface="Segoe UI"/>
              </a:rPr>
              <a:t>más sube fuera del consumo</a:t>
            </a:r>
          </a:p>
        </p:txBody>
      </p:sp>
      <p:sp>
        <p:nvSpPr>
          <p:cNvPr id="16" name="Rectangle 15"/>
          <p:cNvSpPr/>
          <p:nvPr/>
        </p:nvSpPr>
        <p:spPr>
          <a:xfrm>
            <a:off x="6355080" y="4343400"/>
            <a:ext cx="5120640" cy="14173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343400"/>
            <a:ext cx="54864" cy="14173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4526280"/>
            <a:ext cx="4663440" cy="109728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Significado en el sector.</a:t>
            </a:r>
            <a:r>
              <a:rPr sz="1250" b="0">
                <a:solidFill>
                  <a:srgbClr val="C9D1DE"/>
                </a:solidFill>
                <a:latin typeface="Segoe UI"/>
              </a:rPr>
              <a:t> Un día de carga alta no es frío ni de fin de semana: es un día en que se encienden lavadora, secadora u horno. Son las cargas diferibles del MDP: ahí está el ahorro de Shiro.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¿Y SI K = 3?</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Aparece una «mañana activa» con firma de fin de semana</a:t>
            </a:r>
          </a:p>
        </p:txBody>
      </p:sp>
      <p:sp>
        <p:nvSpPr>
          <p:cNvPr id="6" name="TextBox 5"/>
          <p:cNvSpPr txBox="1"/>
          <p:nvPr/>
        </p:nvSpPr>
        <p:spPr>
          <a:xfrm>
            <a:off x="685800" y="1828800"/>
            <a:ext cx="23774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 = 3</a:t>
            </a:r>
          </a:p>
        </p:txBody>
      </p:sp>
      <p:sp>
        <p:nvSpPr>
          <p:cNvPr id="7" name="TextBox 6"/>
          <p:cNvSpPr txBox="1"/>
          <p:nvPr/>
        </p:nvSpPr>
        <p:spPr>
          <a:xfrm>
            <a:off x="3063240" y="182880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DÍAS</a:t>
            </a:r>
          </a:p>
        </p:txBody>
      </p:sp>
      <p:sp>
        <p:nvSpPr>
          <p:cNvPr id="8" name="TextBox 7"/>
          <p:cNvSpPr txBox="1"/>
          <p:nvPr/>
        </p:nvSpPr>
        <p:spPr>
          <a:xfrm>
            <a:off x="3977640" y="182880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KWH/DÍA</a:t>
            </a:r>
          </a:p>
        </p:txBody>
      </p:sp>
      <p:sp>
        <p:nvSpPr>
          <p:cNvPr id="9" name="TextBox 8"/>
          <p:cNvSpPr txBox="1"/>
          <p:nvPr/>
        </p:nvSpPr>
        <p:spPr>
          <a:xfrm>
            <a:off x="5257800" y="182880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HORA PICO</a:t>
            </a:r>
          </a:p>
        </p:txBody>
      </p:sp>
      <p:sp>
        <p:nvSpPr>
          <p:cNvPr id="10" name="TextBox 9"/>
          <p:cNvSpPr txBox="1"/>
          <p:nvPr/>
        </p:nvSpPr>
        <p:spPr>
          <a:xfrm>
            <a:off x="6537960" y="182880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 FIN DE SEMANA</a:t>
            </a:r>
          </a:p>
        </p:txBody>
      </p:sp>
      <p:sp>
        <p:nvSpPr>
          <p:cNvPr id="11" name="Rectangle 10"/>
          <p:cNvSpPr/>
          <p:nvPr/>
        </p:nvSpPr>
        <p:spPr>
          <a:xfrm>
            <a:off x="685800" y="2121408"/>
            <a:ext cx="75895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57984"/>
            <a:ext cx="2267712" cy="43891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Día normal</a:t>
            </a:r>
          </a:p>
        </p:txBody>
      </p:sp>
      <p:sp>
        <p:nvSpPr>
          <p:cNvPr id="13" name="TextBox 12"/>
          <p:cNvSpPr txBox="1"/>
          <p:nvPr/>
        </p:nvSpPr>
        <p:spPr>
          <a:xfrm>
            <a:off x="3063240" y="2157984"/>
            <a:ext cx="80467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85</a:t>
            </a:r>
          </a:p>
        </p:txBody>
      </p:sp>
      <p:sp>
        <p:nvSpPr>
          <p:cNvPr id="14" name="TextBox 13"/>
          <p:cNvSpPr txBox="1"/>
          <p:nvPr/>
        </p:nvSpPr>
        <p:spPr>
          <a:xfrm>
            <a:off x="3977640" y="2157984"/>
            <a:ext cx="11704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11,5</a:t>
            </a:r>
          </a:p>
        </p:txBody>
      </p:sp>
      <p:sp>
        <p:nvSpPr>
          <p:cNvPr id="15" name="TextBox 14"/>
          <p:cNvSpPr txBox="1"/>
          <p:nvPr/>
        </p:nvSpPr>
        <p:spPr>
          <a:xfrm>
            <a:off x="5257800" y="2157984"/>
            <a:ext cx="11704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18 h</a:t>
            </a:r>
          </a:p>
        </p:txBody>
      </p:sp>
      <p:sp>
        <p:nvSpPr>
          <p:cNvPr id="16" name="TextBox 15"/>
          <p:cNvSpPr txBox="1"/>
          <p:nvPr/>
        </p:nvSpPr>
        <p:spPr>
          <a:xfrm>
            <a:off x="6537960" y="2157984"/>
            <a:ext cx="16276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22 %</a:t>
            </a:r>
          </a:p>
        </p:txBody>
      </p:sp>
      <p:sp>
        <p:nvSpPr>
          <p:cNvPr id="17" name="Rectangle 16"/>
          <p:cNvSpPr/>
          <p:nvPr/>
        </p:nvSpPr>
        <p:spPr>
          <a:xfrm>
            <a:off x="685800" y="2596896"/>
            <a:ext cx="7589520" cy="40233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596896"/>
            <a:ext cx="2267712" cy="438912"/>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Mañana activa</a:t>
            </a:r>
          </a:p>
        </p:txBody>
      </p:sp>
      <p:sp>
        <p:nvSpPr>
          <p:cNvPr id="19" name="TextBox 18"/>
          <p:cNvSpPr txBox="1"/>
          <p:nvPr/>
        </p:nvSpPr>
        <p:spPr>
          <a:xfrm>
            <a:off x="3063240" y="2596896"/>
            <a:ext cx="804672" cy="43891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31</a:t>
            </a:r>
          </a:p>
        </p:txBody>
      </p:sp>
      <p:sp>
        <p:nvSpPr>
          <p:cNvPr id="20" name="TextBox 19"/>
          <p:cNvSpPr txBox="1"/>
          <p:nvPr/>
        </p:nvSpPr>
        <p:spPr>
          <a:xfrm>
            <a:off x="3977640" y="2596896"/>
            <a:ext cx="1170432" cy="43891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15,9</a:t>
            </a:r>
          </a:p>
        </p:txBody>
      </p:sp>
      <p:sp>
        <p:nvSpPr>
          <p:cNvPr id="21" name="TextBox 20"/>
          <p:cNvSpPr txBox="1"/>
          <p:nvPr/>
        </p:nvSpPr>
        <p:spPr>
          <a:xfrm>
            <a:off x="5257800" y="2596896"/>
            <a:ext cx="1170432" cy="43891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11 h</a:t>
            </a:r>
          </a:p>
        </p:txBody>
      </p:sp>
      <p:sp>
        <p:nvSpPr>
          <p:cNvPr id="22" name="TextBox 21"/>
          <p:cNvSpPr txBox="1"/>
          <p:nvPr/>
        </p:nvSpPr>
        <p:spPr>
          <a:xfrm>
            <a:off x="6537960" y="2596896"/>
            <a:ext cx="1627632" cy="438912"/>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48 %</a:t>
            </a:r>
          </a:p>
        </p:txBody>
      </p:sp>
      <p:sp>
        <p:nvSpPr>
          <p:cNvPr id="23" name="TextBox 22"/>
          <p:cNvSpPr txBox="1"/>
          <p:nvPr/>
        </p:nvSpPr>
        <p:spPr>
          <a:xfrm>
            <a:off x="777240" y="3035808"/>
            <a:ext cx="2267712" cy="438912"/>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Carga muy alta</a:t>
            </a:r>
          </a:p>
        </p:txBody>
      </p:sp>
      <p:sp>
        <p:nvSpPr>
          <p:cNvPr id="24" name="TextBox 23"/>
          <p:cNvSpPr txBox="1"/>
          <p:nvPr/>
        </p:nvSpPr>
        <p:spPr>
          <a:xfrm>
            <a:off x="3063240" y="3035808"/>
            <a:ext cx="80467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20</a:t>
            </a:r>
          </a:p>
        </p:txBody>
      </p:sp>
      <p:sp>
        <p:nvSpPr>
          <p:cNvPr id="25" name="TextBox 24"/>
          <p:cNvSpPr txBox="1"/>
          <p:nvPr/>
        </p:nvSpPr>
        <p:spPr>
          <a:xfrm>
            <a:off x="3977640" y="3035808"/>
            <a:ext cx="11704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22,0</a:t>
            </a:r>
          </a:p>
        </p:txBody>
      </p:sp>
      <p:sp>
        <p:nvSpPr>
          <p:cNvPr id="26" name="TextBox 25"/>
          <p:cNvSpPr txBox="1"/>
          <p:nvPr/>
        </p:nvSpPr>
        <p:spPr>
          <a:xfrm>
            <a:off x="5257800" y="3035808"/>
            <a:ext cx="11704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10 h</a:t>
            </a:r>
          </a:p>
        </p:txBody>
      </p:sp>
      <p:sp>
        <p:nvSpPr>
          <p:cNvPr id="27" name="TextBox 26"/>
          <p:cNvSpPr txBox="1"/>
          <p:nvPr/>
        </p:nvSpPr>
        <p:spPr>
          <a:xfrm>
            <a:off x="6537960" y="3035808"/>
            <a:ext cx="1627632" cy="438912"/>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20 %</a:t>
            </a:r>
          </a:p>
        </p:txBody>
      </p:sp>
      <p:sp>
        <p:nvSpPr>
          <p:cNvPr id="28" name="Rectangle 27"/>
          <p:cNvSpPr/>
          <p:nvPr/>
        </p:nvSpPr>
        <p:spPr>
          <a:xfrm>
            <a:off x="8549640" y="1828800"/>
            <a:ext cx="2926080" cy="21945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49640" y="1828800"/>
            <a:ext cx="54864" cy="219456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05672" y="2011680"/>
            <a:ext cx="2468880" cy="187452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Se documenta, no se adopta.</a:t>
            </a:r>
            <a:r>
              <a:rPr sz="1200" b="0">
                <a:solidFill>
                  <a:srgbClr val="C9D1DE"/>
                </a:solidFill>
                <a:latin typeface="Segoe UI"/>
              </a:rPr>
              <a:t> La asociación con el fin de semana deja de ser nula (V = 0,248, p = 0,015), pero la silueta cae de 0,392 a 0,225 y este tipo se reconoce más tarde en el día. Ojo: no es la carga alta partida en dos; reúne 23 días que con k = 2 eran normales y 8 de carga alta.</a:t>
            </a:r>
          </a:p>
        </p:txBody>
      </p:sp>
      <p:sp>
        <p:nvSpPr>
          <p:cNvPr id="31" name="Rectangle 30"/>
          <p:cNvSpPr/>
          <p:nvPr/>
        </p:nvSpPr>
        <p:spPr>
          <a:xfrm>
            <a:off x="685800" y="4160520"/>
            <a:ext cx="10820095"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16052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4343400"/>
            <a:ext cx="10362895" cy="86868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La hipótesis del plan, contrastada.</a:t>
            </a:r>
            <a:r>
              <a:rPr sz="1300" b="0">
                <a:solidFill>
                  <a:srgbClr val="C9D1DE"/>
                </a:solidFill>
                <a:latin typeface="Segoe UI"/>
              </a:rPr>
              <a:t> Esperábamos que el nivel separara estaciones y la forma, rutinas. Lo primero se refutó (V con el mes = 0,134, p = 0,655); lo segundo se cumplió solo a medias (forma vs fin de semana: V = 0,185, p = 0,031, sin estructura de clústers).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CONTROL TEMPORAL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Los tipos de día no envejecen; su frecuencia sí</a:t>
            </a:r>
          </a:p>
        </p:txBody>
      </p:sp>
      <p:sp>
        <p:nvSpPr>
          <p:cNvPr id="6" name="Rounded Rectangle 5"/>
          <p:cNvSpPr/>
          <p:nvPr/>
        </p:nvSpPr>
        <p:spPr>
          <a:xfrm>
            <a:off x="694944" y="2018836"/>
            <a:ext cx="7388352" cy="236312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7_mayo.png"/>
          <p:cNvPicPr>
            <a:picLocks noChangeAspect="1"/>
          </p:cNvPicPr>
          <p:nvPr/>
        </p:nvPicPr>
        <p:blipFill>
          <a:blip r:embed="rId2"/>
          <a:stretch>
            <a:fillRect/>
          </a:stretch>
        </p:blipFill>
        <p:spPr>
          <a:xfrm>
            <a:off x="777240" y="2101132"/>
            <a:ext cx="7223760" cy="2198535"/>
          </a:xfrm>
          <a:prstGeom prst="rect">
            <a:avLst/>
          </a:prstGeom>
        </p:spPr>
      </p:pic>
      <p:sp>
        <p:nvSpPr>
          <p:cNvPr id="8" name="TextBox 7"/>
          <p:cNvSpPr txBox="1"/>
          <p:nvPr/>
        </p:nvSpPr>
        <p:spPr>
          <a:xfrm>
            <a:off x="8503920" y="1783080"/>
            <a:ext cx="301752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0 de 26</a:t>
            </a:r>
          </a:p>
        </p:txBody>
      </p:sp>
      <p:sp>
        <p:nvSpPr>
          <p:cNvPr id="9" name="TextBox 8"/>
          <p:cNvSpPr txBox="1"/>
          <p:nvPr/>
        </p:nvSpPr>
        <p:spPr>
          <a:xfrm>
            <a:off x="8503920" y="244144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mayo más lejos de su</a:t>
            </a:r>
          </a:p>
          <a:p>
            <a:pPr algn="l">
              <a:lnSpc>
                <a:spcPct val="115000"/>
              </a:lnSpc>
            </a:pPr>
            <a:r>
              <a:rPr sz="1150" b="0">
                <a:solidFill>
                  <a:srgbClr val="9AA3B2"/>
                </a:solidFill>
                <a:latin typeface="Segoe UI"/>
              </a:rPr>
              <a:t>centroide que el p95 de enero–abril</a:t>
            </a:r>
          </a:p>
        </p:txBody>
      </p:sp>
      <p:sp>
        <p:nvSpPr>
          <p:cNvPr id="10" name="TextBox 9"/>
          <p:cNvSpPr txBox="1"/>
          <p:nvPr/>
        </p:nvSpPr>
        <p:spPr>
          <a:xfrm>
            <a:off x="8503920" y="3108960"/>
            <a:ext cx="3017520" cy="640080"/>
          </a:xfrm>
          <a:prstGeom prst="rect">
            <a:avLst/>
          </a:prstGeom>
          <a:noFill/>
        </p:spPr>
        <p:txBody>
          <a:bodyPr wrap="square" lIns="0" rIns="0" tIns="0" bIns="0" anchor="t">
            <a:spAutoFit/>
          </a:bodyPr>
          <a:lstStyle/>
          <a:p>
            <a:pPr algn="l">
              <a:lnSpc>
                <a:spcPct val="115000"/>
              </a:lnSpc>
            </a:pPr>
            <a:r>
              <a:rPr sz="2600" b="1">
                <a:solidFill>
                  <a:srgbClr val="FFB877"/>
                </a:solidFill>
                <a:latin typeface="Consolas"/>
              </a:rPr>
              <a:t>22,7 → 11,5 %</a:t>
            </a:r>
          </a:p>
        </p:txBody>
      </p:sp>
      <p:sp>
        <p:nvSpPr>
          <p:cNvPr id="11" name="TextBox 10"/>
          <p:cNvSpPr txBox="1"/>
          <p:nvPr/>
        </p:nvSpPr>
        <p:spPr>
          <a:xfrm>
            <a:off x="8503920" y="376732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carga alta:</a:t>
            </a:r>
          </a:p>
          <a:p>
            <a:pPr algn="l">
              <a:lnSpc>
                <a:spcPct val="115000"/>
              </a:lnSpc>
            </a:pPr>
            <a:r>
              <a:rPr sz="1150" b="0">
                <a:solidFill>
                  <a:srgbClr val="9AA3B2"/>
                </a:solidFill>
                <a:latin typeface="Segoe UI"/>
              </a:rPr>
              <a:t>enero–abril frente a mayo</a:t>
            </a:r>
          </a:p>
        </p:txBody>
      </p:sp>
      <p:sp>
        <p:nvSpPr>
          <p:cNvPr id="12" name="Rectangle 11"/>
          <p:cNvSpPr/>
          <p:nvPr/>
        </p:nvSpPr>
        <p:spPr>
          <a:xfrm>
            <a:off x="685800" y="4937760"/>
            <a:ext cx="10820095"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37760"/>
            <a:ext cx="54864" cy="8686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120640"/>
            <a:ext cx="10362895"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El mismo patrón que el umbral del parcial.</a:t>
            </a:r>
            <a:r>
              <a:rPr sz="1300" b="0">
                <a:solidFill>
                  <a:srgbClr val="C9D1DE"/>
                </a:solidFill>
                <a:latin typeface="Segoe UI"/>
              </a:rPr>
              <a:t> La definición se sostiene; la frecuencia cambia con la estación. En el simulador, la probabilidad de cada tipo de día se recalibra con el tiempo.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LA PREGUNTA QUE EL ENUNCIADO NO HACE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¿A qué hora sabe el agente qué tipo de día es?</a:t>
            </a:r>
          </a:p>
        </p:txBody>
      </p:sp>
      <p:sp>
        <p:nvSpPr>
          <p:cNvPr id="6" name="Rounded Rectangle 5"/>
          <p:cNvSpPr/>
          <p:nvPr/>
        </p:nvSpPr>
        <p:spPr>
          <a:xfrm>
            <a:off x="694944" y="1690923"/>
            <a:ext cx="6565392" cy="283607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8_observabilidad.png"/>
          <p:cNvPicPr>
            <a:picLocks noChangeAspect="1"/>
          </p:cNvPicPr>
          <p:nvPr/>
        </p:nvPicPr>
        <p:blipFill>
          <a:blip r:embed="rId2"/>
          <a:stretch>
            <a:fillRect/>
          </a:stretch>
        </p:blipFill>
        <p:spPr>
          <a:xfrm>
            <a:off x="777240" y="1773219"/>
            <a:ext cx="6400800" cy="2671482"/>
          </a:xfrm>
          <a:prstGeom prst="rect">
            <a:avLst/>
          </a:prstGeom>
        </p:spPr>
      </p:pic>
      <p:sp>
        <p:nvSpPr>
          <p:cNvPr id="8" name="TextBox 7"/>
          <p:cNvSpPr txBox="1"/>
          <p:nvPr/>
        </p:nvSpPr>
        <p:spPr>
          <a:xfrm>
            <a:off x="7452360" y="1783080"/>
            <a:ext cx="11887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VISTO HASTA</a:t>
            </a:r>
          </a:p>
        </p:txBody>
      </p:sp>
      <p:sp>
        <p:nvSpPr>
          <p:cNvPr id="9" name="TextBox 8"/>
          <p:cNvSpPr txBox="1"/>
          <p:nvPr/>
        </p:nvSpPr>
        <p:spPr>
          <a:xfrm>
            <a:off x="8641080" y="1783080"/>
            <a:ext cx="10058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ACIERTO K=2</a:t>
            </a:r>
          </a:p>
        </p:txBody>
      </p:sp>
      <p:sp>
        <p:nvSpPr>
          <p:cNvPr id="10" name="TextBox 9"/>
          <p:cNvSpPr txBox="1"/>
          <p:nvPr/>
        </p:nvSpPr>
        <p:spPr>
          <a:xfrm>
            <a:off x="9646920" y="178308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a:t>
            </a:r>
          </a:p>
        </p:txBody>
      </p:sp>
      <p:sp>
        <p:nvSpPr>
          <p:cNvPr id="11" name="TextBox 10"/>
          <p:cNvSpPr txBox="1"/>
          <p:nvPr/>
        </p:nvSpPr>
        <p:spPr>
          <a:xfrm>
            <a:off x="1083564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ACIERTO K=3</a:t>
            </a:r>
          </a:p>
        </p:txBody>
      </p:sp>
      <p:sp>
        <p:nvSpPr>
          <p:cNvPr id="12" name="Rectangle 11"/>
          <p:cNvSpPr/>
          <p:nvPr/>
        </p:nvSpPr>
        <p:spPr>
          <a:xfrm>
            <a:off x="7452360" y="2075688"/>
            <a:ext cx="42062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2112264"/>
            <a:ext cx="1078992" cy="41148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8 h</a:t>
            </a:r>
          </a:p>
        </p:txBody>
      </p:sp>
      <p:sp>
        <p:nvSpPr>
          <p:cNvPr id="14" name="TextBox 13"/>
          <p:cNvSpPr txBox="1"/>
          <p:nvPr/>
        </p:nvSpPr>
        <p:spPr>
          <a:xfrm>
            <a:off x="8641080" y="2112264"/>
            <a:ext cx="89611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72,1 %</a:t>
            </a:r>
          </a:p>
        </p:txBody>
      </p:sp>
      <p:sp>
        <p:nvSpPr>
          <p:cNvPr id="15" name="TextBox 14"/>
          <p:cNvSpPr txBox="1"/>
          <p:nvPr/>
        </p:nvSpPr>
        <p:spPr>
          <a:xfrm>
            <a:off x="9646920" y="2112264"/>
            <a:ext cx="107899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50,0 %</a:t>
            </a:r>
          </a:p>
        </p:txBody>
      </p:sp>
      <p:sp>
        <p:nvSpPr>
          <p:cNvPr id="16" name="TextBox 15"/>
          <p:cNvSpPr txBox="1"/>
          <p:nvPr/>
        </p:nvSpPr>
        <p:spPr>
          <a:xfrm>
            <a:off x="10835640" y="2112264"/>
            <a:ext cx="71323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59,6 %</a:t>
            </a:r>
          </a:p>
        </p:txBody>
      </p:sp>
      <p:sp>
        <p:nvSpPr>
          <p:cNvPr id="17" name="TextBox 16"/>
          <p:cNvSpPr txBox="1"/>
          <p:nvPr/>
        </p:nvSpPr>
        <p:spPr>
          <a:xfrm>
            <a:off x="7543800" y="2523744"/>
            <a:ext cx="1078992" cy="41148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9 h</a:t>
            </a:r>
          </a:p>
        </p:txBody>
      </p:sp>
      <p:sp>
        <p:nvSpPr>
          <p:cNvPr id="18" name="TextBox 17"/>
          <p:cNvSpPr txBox="1"/>
          <p:nvPr/>
        </p:nvSpPr>
        <p:spPr>
          <a:xfrm>
            <a:off x="8641080" y="2523744"/>
            <a:ext cx="89611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80,9 %</a:t>
            </a:r>
          </a:p>
        </p:txBody>
      </p:sp>
      <p:sp>
        <p:nvSpPr>
          <p:cNvPr id="19" name="TextBox 18"/>
          <p:cNvSpPr txBox="1"/>
          <p:nvPr/>
        </p:nvSpPr>
        <p:spPr>
          <a:xfrm>
            <a:off x="9646920" y="2523744"/>
            <a:ext cx="107899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60,7 %</a:t>
            </a:r>
          </a:p>
        </p:txBody>
      </p:sp>
      <p:sp>
        <p:nvSpPr>
          <p:cNvPr id="20" name="TextBox 19"/>
          <p:cNvSpPr txBox="1"/>
          <p:nvPr/>
        </p:nvSpPr>
        <p:spPr>
          <a:xfrm>
            <a:off x="10835640" y="2523744"/>
            <a:ext cx="71323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70,6 %</a:t>
            </a:r>
          </a:p>
        </p:txBody>
      </p:sp>
      <p:sp>
        <p:nvSpPr>
          <p:cNvPr id="21" name="TextBox 20"/>
          <p:cNvSpPr txBox="1"/>
          <p:nvPr/>
        </p:nvSpPr>
        <p:spPr>
          <a:xfrm>
            <a:off x="7543800" y="2935224"/>
            <a:ext cx="1078992" cy="41148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12 h</a:t>
            </a:r>
          </a:p>
        </p:txBody>
      </p:sp>
      <p:sp>
        <p:nvSpPr>
          <p:cNvPr id="22" name="TextBox 21"/>
          <p:cNvSpPr txBox="1"/>
          <p:nvPr/>
        </p:nvSpPr>
        <p:spPr>
          <a:xfrm>
            <a:off x="8641080" y="2935224"/>
            <a:ext cx="89611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90,4 %</a:t>
            </a:r>
          </a:p>
        </p:txBody>
      </p:sp>
      <p:sp>
        <p:nvSpPr>
          <p:cNvPr id="23" name="TextBox 22"/>
          <p:cNvSpPr txBox="1"/>
          <p:nvPr/>
        </p:nvSpPr>
        <p:spPr>
          <a:xfrm>
            <a:off x="9646920" y="2935224"/>
            <a:ext cx="107899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89,3 %</a:t>
            </a:r>
          </a:p>
        </p:txBody>
      </p:sp>
      <p:sp>
        <p:nvSpPr>
          <p:cNvPr id="24" name="TextBox 23"/>
          <p:cNvSpPr txBox="1"/>
          <p:nvPr/>
        </p:nvSpPr>
        <p:spPr>
          <a:xfrm>
            <a:off x="10835640" y="2935224"/>
            <a:ext cx="71323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84,6 %</a:t>
            </a:r>
          </a:p>
        </p:txBody>
      </p:sp>
      <p:sp>
        <p:nvSpPr>
          <p:cNvPr id="25" name="TextBox 24"/>
          <p:cNvSpPr txBox="1"/>
          <p:nvPr/>
        </p:nvSpPr>
        <p:spPr>
          <a:xfrm>
            <a:off x="7543800" y="3346704"/>
            <a:ext cx="1078992" cy="411480"/>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17 h</a:t>
            </a:r>
          </a:p>
        </p:txBody>
      </p:sp>
      <p:sp>
        <p:nvSpPr>
          <p:cNvPr id="26" name="TextBox 25"/>
          <p:cNvSpPr txBox="1"/>
          <p:nvPr/>
        </p:nvSpPr>
        <p:spPr>
          <a:xfrm>
            <a:off x="8641080" y="3346704"/>
            <a:ext cx="89611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99,3 %</a:t>
            </a:r>
          </a:p>
        </p:txBody>
      </p:sp>
      <p:sp>
        <p:nvSpPr>
          <p:cNvPr id="27" name="TextBox 26"/>
          <p:cNvSpPr txBox="1"/>
          <p:nvPr/>
        </p:nvSpPr>
        <p:spPr>
          <a:xfrm>
            <a:off x="9646920" y="3346704"/>
            <a:ext cx="107899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100,0 %</a:t>
            </a:r>
          </a:p>
        </p:txBody>
      </p:sp>
      <p:sp>
        <p:nvSpPr>
          <p:cNvPr id="28" name="TextBox 27"/>
          <p:cNvSpPr txBox="1"/>
          <p:nvPr/>
        </p:nvSpPr>
        <p:spPr>
          <a:xfrm>
            <a:off x="10835640" y="3346704"/>
            <a:ext cx="713232" cy="411480"/>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97,8 %</a:t>
            </a:r>
          </a:p>
        </p:txBody>
      </p:sp>
      <p:sp>
        <p:nvSpPr>
          <p:cNvPr id="29" name="Rectangle 28"/>
          <p:cNvSpPr/>
          <p:nvPr/>
        </p:nvSpPr>
        <p:spPr>
          <a:xfrm>
            <a:off x="685800" y="4663440"/>
            <a:ext cx="10820095"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66344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4846320"/>
            <a:ext cx="10362895" cy="86868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Consecuencia de diseño.</a:t>
            </a:r>
            <a:r>
              <a:rPr sz="1300" b="0">
                <a:solidFill>
                  <a:srgbClr val="C9D1DE"/>
                </a:solidFill>
                <a:latin typeface="Segoe UI"/>
              </a:rPr>
              <a:t> Hasta las 8 h, asignar con la curva parcial es peor que decir siempre «normal» (79,4 %). El tipo de día entra al estado como </a:t>
            </a:r>
            <a:r>
              <a:rPr sz="1300" b="1">
                <a:solidFill>
                  <a:srgbClr val="E6E9EF"/>
                </a:solidFill>
                <a:latin typeface="Segoe UI"/>
              </a:rPr>
              <a:t>estimación que se actualiza</a:t>
            </a:r>
            <a:r>
              <a:rPr sz="1300" b="0">
                <a:solidFill>
                  <a:srgbClr val="C9D1DE"/>
                </a:solidFill>
                <a:latin typeface="Segoe UI"/>
              </a:rPr>
              <a:t>: «desconocido» hasta media mañana. Se revela con la joroba de las 11 h y llega a tiempo para la de las 17 h, donde diferir una carga tiene sentido.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K-MEANS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MDP recibe del taller de K-Means</a:t>
            </a:r>
          </a:p>
        </p:txBody>
      </p:sp>
      <p:sp>
        <p:nvSpPr>
          <p:cNvPr id="6" name="TextBox 5"/>
          <p:cNvSpPr txBox="1"/>
          <p:nvPr/>
        </p:nvSpPr>
        <p:spPr>
          <a:xfrm>
            <a:off x="68580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Una variable «tipo de día» con dos valores.</a:t>
            </a:r>
          </a:p>
        </p:txBody>
      </p:sp>
      <p:sp>
        <p:nvSpPr>
          <p:cNvPr id="8" name="TextBox 7"/>
          <p:cNvSpPr txBox="1"/>
          <p:nvPr/>
        </p:nvSpPr>
        <p:spPr>
          <a:xfrm>
            <a:off x="128016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Codo, silueta y Dunn coinciden en k = 2.</a:t>
            </a:r>
          </a:p>
        </p:txBody>
      </p:sp>
      <p:sp>
        <p:nvSpPr>
          <p:cNvPr id="9" name="TextBox 8"/>
          <p:cNvSpPr txBox="1"/>
          <p:nvPr/>
        </p:nvSpPr>
        <p:spPr>
          <a:xfrm>
            <a:off x="612648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No la sustituye el calendario.</a:t>
            </a:r>
          </a:p>
        </p:txBody>
      </p:sp>
      <p:sp>
        <p:nvSpPr>
          <p:cNvPr id="11" name="TextBox 10"/>
          <p:cNvSpPr txBox="1"/>
          <p:nvPr/>
        </p:nvSpPr>
        <p:spPr>
          <a:xfrm>
            <a:off x="672084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V de Cramér con el fin de semana = 0,000.</a:t>
            </a:r>
          </a:p>
        </p:txBody>
      </p:sp>
      <p:sp>
        <p:nvSpPr>
          <p:cNvPr id="12" name="TextBox 11"/>
          <p:cNvSpPr txBox="1"/>
          <p:nvPr/>
        </p:nvSpPr>
        <p:spPr>
          <a:xfrm>
            <a:off x="68580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Entra como estimación, no como etiqueta.</a:t>
            </a:r>
          </a:p>
        </p:txBody>
      </p:sp>
      <p:sp>
        <p:nvSpPr>
          <p:cNvPr id="14" name="TextBox 13"/>
          <p:cNvSpPr txBox="1"/>
          <p:nvPr/>
        </p:nvSpPr>
        <p:spPr>
          <a:xfrm>
            <a:off x="128016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Desconocida hasta media mañana; fijada hacia las 17 h.</a:t>
            </a:r>
          </a:p>
        </p:txBody>
      </p:sp>
      <p:sp>
        <p:nvSpPr>
          <p:cNvPr id="15" name="TextBox 14"/>
          <p:cNvSpPr txBox="1"/>
          <p:nvPr/>
        </p:nvSpPr>
        <p:spPr>
          <a:xfrm>
            <a:off x="612648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carga alta la deciden las personas.</a:t>
            </a:r>
          </a:p>
        </p:txBody>
      </p:sp>
      <p:sp>
        <p:nvSpPr>
          <p:cNvPr id="17" name="TextBox 16"/>
          <p:cNvSpPr txBox="1"/>
          <p:nvPr/>
        </p:nvSpPr>
        <p:spPr>
          <a:xfrm>
            <a:off x="672084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No el clima: ahí están las cargas diferibles.</a:t>
            </a:r>
          </a:p>
        </p:txBody>
      </p:sp>
      <p:sp>
        <p:nvSpPr>
          <p:cNvPr id="18" name="TextBox 17"/>
          <p:cNvSpPr txBox="1"/>
          <p:nvPr/>
        </p:nvSpPr>
        <p:spPr>
          <a:xfrm>
            <a:off x="68580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Tipos estables, frecuencia variable.</a:t>
            </a:r>
          </a:p>
        </p:txBody>
      </p:sp>
      <p:sp>
        <p:nvSpPr>
          <p:cNvPr id="20" name="TextBox 19"/>
          <p:cNvSpPr txBox="1"/>
          <p:nvPr/>
        </p:nvSpPr>
        <p:spPr>
          <a:xfrm>
            <a:off x="128016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22,7 % → 11,5 % en mayo: recalibrar como el umbral.</a:t>
            </a:r>
          </a:p>
        </p:txBody>
      </p:sp>
      <p:sp>
        <p:nvSpPr>
          <p:cNvPr id="21" name="TextBox 20"/>
          <p:cNvSpPr txBox="1"/>
          <p:nvPr/>
        </p:nvSpPr>
        <p:spPr>
          <a:xfrm>
            <a:off x="612648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Una pregunta abierta.</a:t>
            </a:r>
          </a:p>
        </p:txBody>
      </p:sp>
      <p:sp>
        <p:nvSpPr>
          <p:cNvPr id="23" name="TextBox 22"/>
          <p:cNvSpPr txBox="1"/>
          <p:nvPr/>
        </p:nvSpPr>
        <p:spPr>
          <a:xfrm>
            <a:off x="672084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¿Es real la variable, o un artefacto de K-Means? → taller 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34</a:t>
            </a:r>
          </a:p>
        </p:txBody>
      </p:sp>
      <p:sp>
        <p:nvSpPr>
          <p:cNvPr id="4" name="TextBox 3"/>
          <p:cNvSpPr txBox="1"/>
          <p:nvPr/>
        </p:nvSpPr>
        <p:spPr>
          <a:xfrm>
            <a:off x="685800" y="822960"/>
            <a:ext cx="54864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TALLER 3 · 2.º CORTE</a:t>
            </a:r>
          </a:p>
        </p:txBody>
      </p:sp>
      <p:sp>
        <p:nvSpPr>
          <p:cNvPr id="5" name="TextBox 4"/>
          <p:cNvSpPr txBox="1"/>
          <p:nvPr/>
        </p:nvSpPr>
        <p:spPr>
          <a:xfrm>
            <a:off x="685800" y="1188720"/>
            <a:ext cx="2743200" cy="1463040"/>
          </a:xfrm>
          <a:prstGeom prst="rect">
            <a:avLst/>
          </a:prstGeom>
          <a:noFill/>
        </p:spPr>
        <p:txBody>
          <a:bodyPr wrap="square" lIns="0" rIns="0" tIns="0" bIns="0" anchor="t">
            <a:spAutoFit/>
          </a:bodyPr>
          <a:lstStyle/>
          <a:p>
            <a:pPr algn="l">
              <a:lnSpc>
                <a:spcPct val="115000"/>
              </a:lnSpc>
            </a:pPr>
            <a:r>
              <a:rPr sz="9600" b="1">
                <a:solidFill>
                  <a:srgbClr val="7BD992"/>
                </a:solidFill>
                <a:latin typeface="Consolas"/>
              </a:rPr>
              <a:t>03</a:t>
            </a:r>
          </a:p>
        </p:txBody>
      </p:sp>
      <p:sp>
        <p:nvSpPr>
          <p:cNvPr id="6" name="TextBox 5"/>
          <p:cNvSpPr txBox="1"/>
          <p:nvPr/>
        </p:nvSpPr>
        <p:spPr>
          <a:xfrm>
            <a:off x="3337560" y="1417320"/>
            <a:ext cx="8046720" cy="822960"/>
          </a:xfrm>
          <a:prstGeom prst="rect">
            <a:avLst/>
          </a:prstGeom>
          <a:noFill/>
        </p:spPr>
        <p:txBody>
          <a:bodyPr wrap="square" lIns="0" rIns="0" tIns="0" bIns="0" anchor="t">
            <a:spAutoFit/>
          </a:bodyPr>
          <a:lstStyle/>
          <a:p>
            <a:pPr algn="l">
              <a:lnSpc>
                <a:spcPct val="115000"/>
              </a:lnSpc>
            </a:pPr>
            <a:r>
              <a:rPr sz="4000" b="0">
                <a:solidFill>
                  <a:srgbClr val="E6E9EF"/>
                </a:solidFill>
                <a:latin typeface="Segoe UI Semibold"/>
              </a:rPr>
              <a:t>Clustering jerárquico</a:t>
            </a:r>
          </a:p>
        </p:txBody>
      </p:sp>
      <p:sp>
        <p:nvSpPr>
          <p:cNvPr id="7" name="TextBox 6"/>
          <p:cNvSpPr txBox="1"/>
          <p:nvPr/>
        </p:nvSpPr>
        <p:spPr>
          <a:xfrm>
            <a:off x="3337560" y="2240280"/>
            <a:ext cx="8046720" cy="822960"/>
          </a:xfrm>
          <a:prstGeom prst="rect">
            <a:avLst/>
          </a:prstGeom>
          <a:noFill/>
        </p:spPr>
        <p:txBody>
          <a:bodyPr wrap="square" lIns="0" rIns="0" tIns="0" bIns="0" anchor="t">
            <a:spAutoFit/>
          </a:bodyPr>
          <a:lstStyle/>
          <a:p>
            <a:pPr algn="l">
              <a:lnSpc>
                <a:spcPct val="115000"/>
              </a:lnSpc>
            </a:pPr>
            <a:r>
              <a:rPr sz="2000" b="0">
                <a:solidFill>
                  <a:srgbClr val="C9D1DE"/>
                </a:solidFill>
                <a:latin typeface="Segoe UI"/>
              </a:rPr>
              <a:t>¿Los dos tipos de día son reales, o un artefacto de K-Means?</a:t>
            </a:r>
          </a:p>
        </p:txBody>
      </p:sp>
      <p:sp>
        <p:nvSpPr>
          <p:cNvPr id="8" name="Rectangle 7"/>
          <p:cNvSpPr/>
          <p:nvPr/>
        </p:nvSpPr>
        <p:spPr>
          <a:xfrm>
            <a:off x="685800" y="34290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11880"/>
            <a:ext cx="36576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EL ENUNCIADO</a:t>
            </a:r>
          </a:p>
        </p:txBody>
      </p:sp>
      <p:sp>
        <p:nvSpPr>
          <p:cNvPr id="10" name="TextBox 9"/>
          <p:cNvSpPr txBox="1"/>
          <p:nvPr/>
        </p:nvSpPr>
        <p:spPr>
          <a:xfrm>
            <a:off x="685800" y="3931920"/>
            <a:ext cx="6766560" cy="14630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Preparar el dataset (variables, limpieza, escalado); aplicar el jerárquico con distintos linkage y dendrogram(); silueta de k 2 a 10, línea de corte y fcluster(); PCA y t-SNE; interpretar y comparar con K-Means; presentación con tabla de silueta, dendrograma, 2D, ejemplos representativos y reflexión.</a:t>
            </a:r>
          </a:p>
        </p:txBody>
      </p:sp>
      <p:sp>
        <p:nvSpPr>
          <p:cNvPr id="11" name="TextBox 10"/>
          <p:cNvSpPr txBox="1"/>
          <p:nvPr/>
        </p:nvSpPr>
        <p:spPr>
          <a:xfrm>
            <a:off x="8001000" y="361188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PIEZA DE SHIRO</a:t>
            </a:r>
          </a:p>
        </p:txBody>
      </p:sp>
      <p:sp>
        <p:nvSpPr>
          <p:cNvPr id="12" name="TextBox 11"/>
          <p:cNvSpPr txBox="1"/>
          <p:nvPr/>
        </p:nvSpPr>
        <p:spPr>
          <a:xfrm>
            <a:off x="8001000" y="3931920"/>
            <a:ext cx="3474720" cy="91440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Estado del MDP: auditoría del tipo de día</a:t>
            </a:r>
          </a:p>
        </p:txBody>
      </p:sp>
      <p:sp>
        <p:nvSpPr>
          <p:cNvPr id="13" name="TextBox 12"/>
          <p:cNvSpPr txBox="1"/>
          <p:nvPr/>
        </p:nvSpPr>
        <p:spPr>
          <a:xfrm>
            <a:off x="8001000" y="489204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PRESENTA</a:t>
            </a:r>
          </a:p>
        </p:txBody>
      </p:sp>
      <p:sp>
        <p:nvSpPr>
          <p:cNvPr id="14" name="TextBox 13"/>
          <p:cNvSpPr txBox="1"/>
          <p:nvPr/>
        </p:nvSpPr>
        <p:spPr>
          <a:xfrm>
            <a:off x="8001000" y="5212080"/>
            <a:ext cx="3474720" cy="457200"/>
          </a:xfrm>
          <a:prstGeom prst="rect">
            <a:avLst/>
          </a:prstGeom>
          <a:noFill/>
        </p:spPr>
        <p:txBody>
          <a:bodyPr wrap="square" lIns="0" rIns="0" tIns="0" bIns="0" anchor="t">
            <a:spAutoFit/>
          </a:bodyPr>
          <a:lstStyle/>
          <a:p>
            <a:pPr algn="l">
              <a:lnSpc>
                <a:spcPct val="115000"/>
              </a:lnSpc>
            </a:pPr>
            <a:r>
              <a:rPr sz="1400" b="0">
                <a:solidFill>
                  <a:srgbClr val="7BD992"/>
                </a:solidFill>
                <a:latin typeface="Segoe UI Semibold"/>
              </a:rPr>
              <a:t>Andrés Felipe Céspedes Rondón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PREPARACIÓN DEL DATASET</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Selección, limpieza y un escalado que aquí sí importa</a:t>
            </a:r>
          </a:p>
        </p:txBody>
      </p:sp>
      <p:sp>
        <p:nvSpPr>
          <p:cNvPr id="6" name="TextBox 5"/>
          <p:cNvSpPr txBox="1"/>
          <p:nvPr/>
        </p:nvSpPr>
        <p:spPr>
          <a:xfrm>
            <a:off x="685800" y="182880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SELECCIÓN</a:t>
            </a:r>
          </a:p>
        </p:txBody>
      </p:sp>
      <p:sp>
        <p:nvSpPr>
          <p:cNvPr id="7" name="TextBox 6"/>
          <p:cNvSpPr txBox="1"/>
          <p:nvPr/>
        </p:nvSpPr>
        <p:spPr>
          <a:xfrm>
            <a:off x="2423160" y="1828800"/>
            <a:ext cx="5486400" cy="914400"/>
          </a:xfrm>
          <a:prstGeom prst="rect">
            <a:avLst/>
          </a:prstGeom>
          <a:noFill/>
        </p:spPr>
        <p:txBody>
          <a:bodyPr wrap="square" lIns="0" rIns="0" tIns="0" bIns="0" anchor="t">
            <a:spAutoFit/>
          </a:bodyPr>
          <a:lstStyle/>
          <a:p>
            <a:pPr algn="l">
              <a:lnSpc>
                <a:spcPct val="115000"/>
              </a:lnSpc>
            </a:pPr>
            <a:r>
              <a:rPr sz="1350" b="0">
                <a:solidFill>
                  <a:srgbClr val="C9D1DE"/>
                </a:solidFill>
                <a:latin typeface="Segoe UI"/>
              </a:rPr>
              <a:t>Solo la curva de consumo de 24 h, la misma matriz de K-Means, para comparar día por día. El calendario y el clima no distinguen los tipos: se reservan para caracterizar después.</a:t>
            </a:r>
          </a:p>
        </p:txBody>
      </p:sp>
      <p:sp>
        <p:nvSpPr>
          <p:cNvPr id="8" name="TextBox 7"/>
          <p:cNvSpPr txBox="1"/>
          <p:nvPr/>
        </p:nvSpPr>
        <p:spPr>
          <a:xfrm>
            <a:off x="685800" y="283464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LIMPIEZA</a:t>
            </a:r>
          </a:p>
        </p:txBody>
      </p:sp>
      <p:sp>
        <p:nvSpPr>
          <p:cNvPr id="9" name="TextBox 8"/>
          <p:cNvSpPr txBox="1"/>
          <p:nvPr/>
        </p:nvSpPr>
        <p:spPr>
          <a:xfrm>
            <a:off x="2423160" y="2834640"/>
            <a:ext cx="5486400" cy="914400"/>
          </a:xfrm>
          <a:prstGeom prst="rect">
            <a:avLst/>
          </a:prstGeom>
          <a:noFill/>
        </p:spPr>
        <p:txBody>
          <a:bodyPr wrap="square" lIns="0" rIns="0" tIns="0" bIns="0" anchor="t">
            <a:spAutoFit/>
          </a:bodyPr>
          <a:lstStyle/>
          <a:p>
            <a:pPr algn="l">
              <a:lnSpc>
                <a:spcPct val="115000"/>
              </a:lnSpc>
            </a:pPr>
            <a:r>
              <a:rPr sz="1350" b="0">
                <a:solidFill>
                  <a:srgbClr val="C9D1DE"/>
                </a:solidFill>
                <a:latin typeface="Segoe UI"/>
              </a:rPr>
              <a:t>0 valores faltantes. Se descartan 2 días incompletos (11-ene, 27-may). Los días extremos se conservan: son parte del objeto de estudio.</a:t>
            </a:r>
          </a:p>
        </p:txBody>
      </p:sp>
      <p:sp>
        <p:nvSpPr>
          <p:cNvPr id="10" name="TextBox 9"/>
          <p:cNvSpPr txBox="1"/>
          <p:nvPr/>
        </p:nvSpPr>
        <p:spPr>
          <a:xfrm>
            <a:off x="685800" y="384048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ESCALADO</a:t>
            </a:r>
          </a:p>
        </p:txBody>
      </p:sp>
      <p:sp>
        <p:nvSpPr>
          <p:cNvPr id="11" name="TextBox 10"/>
          <p:cNvSpPr txBox="1"/>
          <p:nvPr/>
        </p:nvSpPr>
        <p:spPr>
          <a:xfrm>
            <a:off x="2423160" y="3840480"/>
            <a:ext cx="5486400" cy="914400"/>
          </a:xfrm>
          <a:prstGeom prst="rect">
            <a:avLst/>
          </a:prstGeom>
          <a:noFill/>
        </p:spPr>
        <p:txBody>
          <a:bodyPr wrap="square" lIns="0" rIns="0" tIns="0" bIns="0" anchor="t">
            <a:spAutoFit/>
          </a:bodyPr>
          <a:lstStyle/>
          <a:p>
            <a:pPr algn="l">
              <a:lnSpc>
                <a:spcPct val="115000"/>
              </a:lnSpc>
            </a:pPr>
            <a:r>
              <a:rPr sz="1350" b="0">
                <a:solidFill>
                  <a:srgbClr val="C9D1DE"/>
                </a:solidFill>
                <a:latin typeface="Segoe UI"/>
              </a:rPr>
              <a:t>Principal: Wh sin estandarizar. Contraste: StandardScaler, que en el jerárquico cambia casi todo (siguiente bloque).</a:t>
            </a:r>
          </a:p>
        </p:txBody>
      </p:sp>
      <p:sp>
        <p:nvSpPr>
          <p:cNvPr id="12" name="TextBox 11"/>
          <p:cNvSpPr txBox="1"/>
          <p:nvPr/>
        </p:nvSpPr>
        <p:spPr>
          <a:xfrm>
            <a:off x="8366760" y="1783080"/>
            <a:ext cx="310896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136 × 24</a:t>
            </a:r>
          </a:p>
        </p:txBody>
      </p:sp>
      <p:sp>
        <p:nvSpPr>
          <p:cNvPr id="13" name="TextBox 12"/>
          <p:cNvSpPr txBox="1"/>
          <p:nvPr/>
        </p:nvSpPr>
        <p:spPr>
          <a:xfrm>
            <a:off x="8366760" y="2441448"/>
            <a:ext cx="31089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 medias horarias (Wh)</a:t>
            </a:r>
          </a:p>
        </p:txBody>
      </p:sp>
      <p:sp>
        <p:nvSpPr>
          <p:cNvPr id="14" name="TextBox 13"/>
          <p:cNvSpPr txBox="1"/>
          <p:nvPr/>
        </p:nvSpPr>
        <p:spPr>
          <a:xfrm>
            <a:off x="8366760" y="2971800"/>
            <a:ext cx="310896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248 ×</a:t>
            </a:r>
          </a:p>
        </p:txBody>
      </p:sp>
      <p:sp>
        <p:nvSpPr>
          <p:cNvPr id="15" name="TextBox 14"/>
          <p:cNvSpPr txBox="1"/>
          <p:nvPr/>
        </p:nvSpPr>
        <p:spPr>
          <a:xfrm>
            <a:off x="8366760" y="3630168"/>
            <a:ext cx="31089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más varianza a las 11 h</a:t>
            </a:r>
          </a:p>
          <a:p>
            <a:pPr algn="l">
              <a:lnSpc>
                <a:spcPct val="115000"/>
              </a:lnSpc>
            </a:pPr>
            <a:r>
              <a:rPr sz="1150" b="0">
                <a:solidFill>
                  <a:srgbClr val="9AA3B2"/>
                </a:solidFill>
                <a:latin typeface="Segoe UI"/>
              </a:rPr>
              <a:t>que a las 4 h</a:t>
            </a:r>
          </a:p>
        </p:txBody>
      </p:sp>
      <p:sp>
        <p:nvSpPr>
          <p:cNvPr id="16" name="Rectangle 15"/>
          <p:cNvSpPr/>
          <p:nvPr/>
        </p:nvSpPr>
        <p:spPr>
          <a:xfrm>
            <a:off x="685800" y="4892040"/>
            <a:ext cx="10820095" cy="960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892040"/>
            <a:ext cx="54864" cy="9601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5074920"/>
            <a:ext cx="10362895" cy="64008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Por qué importa.</a:t>
            </a:r>
            <a:r>
              <a:rPr sz="1300" b="0">
                <a:solidFill>
                  <a:srgbClr val="C9D1DE"/>
                </a:solidFill>
                <a:latin typeface="Segoe UI"/>
              </a:rPr>
              <a:t> Estandarizar multiplica por unas 16 el peso de la madrugada. K-Means lo resistía (ARI 1,000); en el jerárquico, complete y average quedan aislando noches raras (12-ene: 168 Wh a la 1 a. m.; 26-ene: 197 Wh a medianoche).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TRES ENLACES Y DENDROGRAM()</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Tres definiciones de «grupo», con su línea de corte</a:t>
            </a:r>
          </a:p>
        </p:txBody>
      </p:sp>
      <p:sp>
        <p:nvSpPr>
          <p:cNvPr id="6" name="Rounded Rectangle 5"/>
          <p:cNvSpPr/>
          <p:nvPr/>
        </p:nvSpPr>
        <p:spPr>
          <a:xfrm>
            <a:off x="730464" y="1655064"/>
            <a:ext cx="6128592" cy="47365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1_dendrogramas.png"/>
          <p:cNvPicPr>
            <a:picLocks noChangeAspect="1"/>
          </p:cNvPicPr>
          <p:nvPr/>
        </p:nvPicPr>
        <p:blipFill>
          <a:blip r:embed="rId2"/>
          <a:stretch>
            <a:fillRect/>
          </a:stretch>
        </p:blipFill>
        <p:spPr>
          <a:xfrm>
            <a:off x="812760" y="1737360"/>
            <a:ext cx="5964000" cy="4572000"/>
          </a:xfrm>
          <a:prstGeom prst="rect">
            <a:avLst/>
          </a:prstGeom>
        </p:spPr>
      </p:pic>
      <p:sp>
        <p:nvSpPr>
          <p:cNvPr id="8" name="TextBox 7"/>
          <p:cNvSpPr txBox="1"/>
          <p:nvPr/>
        </p:nvSpPr>
        <p:spPr>
          <a:xfrm>
            <a:off x="7223760" y="1783080"/>
            <a:ext cx="11887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ENLACE</a:t>
            </a:r>
          </a:p>
        </p:txBody>
      </p:sp>
      <p:sp>
        <p:nvSpPr>
          <p:cNvPr id="9" name="TextBox 8"/>
          <p:cNvSpPr txBox="1"/>
          <p:nvPr/>
        </p:nvSpPr>
        <p:spPr>
          <a:xfrm>
            <a:off x="841248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CORTE</a:t>
            </a:r>
          </a:p>
        </p:txBody>
      </p:sp>
      <p:sp>
        <p:nvSpPr>
          <p:cNvPr id="10" name="TextBox 9"/>
          <p:cNvSpPr txBox="1"/>
          <p:nvPr/>
        </p:nvSpPr>
        <p:spPr>
          <a:xfrm>
            <a:off x="9326880" y="178308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REPARTO</a:t>
            </a:r>
          </a:p>
        </p:txBody>
      </p:sp>
      <p:sp>
        <p:nvSpPr>
          <p:cNvPr id="11" name="TextBox 10"/>
          <p:cNvSpPr txBox="1"/>
          <p:nvPr/>
        </p:nvSpPr>
        <p:spPr>
          <a:xfrm>
            <a:off x="1051560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SALTO</a:t>
            </a:r>
          </a:p>
        </p:txBody>
      </p:sp>
      <p:sp>
        <p:nvSpPr>
          <p:cNvPr id="12" name="Rectangle 11"/>
          <p:cNvSpPr/>
          <p:nvPr/>
        </p:nvSpPr>
        <p:spPr>
          <a:xfrm>
            <a:off x="7223760" y="2075688"/>
            <a:ext cx="41148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112264"/>
            <a:ext cx="1078992" cy="384048"/>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Ward</a:t>
            </a:r>
          </a:p>
        </p:txBody>
      </p:sp>
      <p:sp>
        <p:nvSpPr>
          <p:cNvPr id="14" name="TextBox 13"/>
          <p:cNvSpPr txBox="1"/>
          <p:nvPr/>
        </p:nvSpPr>
        <p:spPr>
          <a:xfrm>
            <a:off x="8412480" y="2112264"/>
            <a:ext cx="80467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2.228</a:t>
            </a:r>
          </a:p>
        </p:txBody>
      </p:sp>
      <p:sp>
        <p:nvSpPr>
          <p:cNvPr id="15" name="TextBox 14"/>
          <p:cNvSpPr txBox="1"/>
          <p:nvPr/>
        </p:nvSpPr>
        <p:spPr>
          <a:xfrm>
            <a:off x="9326880" y="2112264"/>
            <a:ext cx="107899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114 / 22</a:t>
            </a:r>
          </a:p>
        </p:txBody>
      </p:sp>
      <p:sp>
        <p:nvSpPr>
          <p:cNvPr id="16" name="TextBox 15"/>
          <p:cNvSpPr txBox="1"/>
          <p:nvPr/>
        </p:nvSpPr>
        <p:spPr>
          <a:xfrm>
            <a:off x="10515600" y="2112264"/>
            <a:ext cx="71323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×1,78</a:t>
            </a:r>
          </a:p>
        </p:txBody>
      </p:sp>
      <p:sp>
        <p:nvSpPr>
          <p:cNvPr id="17" name="TextBox 16"/>
          <p:cNvSpPr txBox="1"/>
          <p:nvPr/>
        </p:nvSpPr>
        <p:spPr>
          <a:xfrm>
            <a:off x="7315200" y="2496312"/>
            <a:ext cx="1078992" cy="384048"/>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Complete</a:t>
            </a:r>
          </a:p>
        </p:txBody>
      </p:sp>
      <p:sp>
        <p:nvSpPr>
          <p:cNvPr id="18" name="TextBox 17"/>
          <p:cNvSpPr txBox="1"/>
          <p:nvPr/>
        </p:nvSpPr>
        <p:spPr>
          <a:xfrm>
            <a:off x="8412480" y="2496312"/>
            <a:ext cx="80467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1.079</a:t>
            </a:r>
          </a:p>
        </p:txBody>
      </p:sp>
      <p:sp>
        <p:nvSpPr>
          <p:cNvPr id="19" name="TextBox 18"/>
          <p:cNvSpPr txBox="1"/>
          <p:nvPr/>
        </p:nvSpPr>
        <p:spPr>
          <a:xfrm>
            <a:off x="9326880" y="2496312"/>
            <a:ext cx="107899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114 / 22</a:t>
            </a:r>
          </a:p>
        </p:txBody>
      </p:sp>
      <p:sp>
        <p:nvSpPr>
          <p:cNvPr id="20" name="TextBox 19"/>
          <p:cNvSpPr txBox="1"/>
          <p:nvPr/>
        </p:nvSpPr>
        <p:spPr>
          <a:xfrm>
            <a:off x="10515600" y="2496312"/>
            <a:ext cx="71323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×1,23</a:t>
            </a:r>
          </a:p>
        </p:txBody>
      </p:sp>
      <p:sp>
        <p:nvSpPr>
          <p:cNvPr id="21" name="TextBox 20"/>
          <p:cNvSpPr txBox="1"/>
          <p:nvPr/>
        </p:nvSpPr>
        <p:spPr>
          <a:xfrm>
            <a:off x="7315200" y="2880360"/>
            <a:ext cx="1078992" cy="384048"/>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Average</a:t>
            </a:r>
          </a:p>
        </p:txBody>
      </p:sp>
      <p:sp>
        <p:nvSpPr>
          <p:cNvPr id="22" name="TextBox 21"/>
          <p:cNvSpPr txBox="1"/>
          <p:nvPr/>
        </p:nvSpPr>
        <p:spPr>
          <a:xfrm>
            <a:off x="8412480" y="2880360"/>
            <a:ext cx="80467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766</a:t>
            </a:r>
          </a:p>
        </p:txBody>
      </p:sp>
      <p:sp>
        <p:nvSpPr>
          <p:cNvPr id="23" name="TextBox 22"/>
          <p:cNvSpPr txBox="1"/>
          <p:nvPr/>
        </p:nvSpPr>
        <p:spPr>
          <a:xfrm>
            <a:off x="9326880" y="2880360"/>
            <a:ext cx="1078992" cy="384048"/>
          </a:xfrm>
          <a:prstGeom prst="rect">
            <a:avLst/>
          </a:prstGeom>
          <a:noFill/>
        </p:spPr>
        <p:txBody>
          <a:bodyPr wrap="square" lIns="0" rIns="0" tIns="0" bIns="0" anchor="ctr">
            <a:spAutoFit/>
          </a:bodyPr>
          <a:lstStyle/>
          <a:p>
            <a:pPr algn="r">
              <a:lnSpc>
                <a:spcPct val="115000"/>
              </a:lnSpc>
            </a:pPr>
            <a:r>
              <a:rPr sz="1200" b="0">
                <a:solidFill>
                  <a:srgbClr val="F28B82"/>
                </a:solidFill>
                <a:latin typeface="Consolas"/>
              </a:rPr>
              <a:t>135 / 1</a:t>
            </a:r>
          </a:p>
        </p:txBody>
      </p:sp>
      <p:sp>
        <p:nvSpPr>
          <p:cNvPr id="24" name="TextBox 23"/>
          <p:cNvSpPr txBox="1"/>
          <p:nvPr/>
        </p:nvSpPr>
        <p:spPr>
          <a:xfrm>
            <a:off x="10515600" y="2880360"/>
            <a:ext cx="713232" cy="384048"/>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×1,06</a:t>
            </a:r>
          </a:p>
        </p:txBody>
      </p:sp>
      <p:sp>
        <p:nvSpPr>
          <p:cNvPr id="25" name="TextBox 24"/>
          <p:cNvSpPr txBox="1"/>
          <p:nvPr/>
        </p:nvSpPr>
        <p:spPr>
          <a:xfrm>
            <a:off x="7223760" y="3520440"/>
            <a:ext cx="4206240" cy="914400"/>
          </a:xfrm>
          <a:prstGeom prst="rect">
            <a:avLst/>
          </a:prstGeom>
          <a:noFill/>
        </p:spPr>
        <p:txBody>
          <a:bodyPr wrap="square" lIns="0" rIns="0" tIns="0" bIns="0" anchor="t">
            <a:spAutoFit/>
          </a:bodyPr>
          <a:lstStyle/>
          <a:p>
            <a:pPr algn="l">
              <a:lnSpc>
                <a:spcPct val="115000"/>
              </a:lnSpc>
            </a:pPr>
            <a:r>
              <a:rPr sz="1200" b="0">
                <a:solidFill>
                  <a:srgbClr val="9AA3B2"/>
                </a:solidFill>
                <a:latin typeface="Segoe UI"/>
              </a:rPr>
              <a:t>Ward: la varianza (lo mismo que K-Means). Complete: el diámetro. Average: la distancia media; deja para el final lo que está lejos de todo.</a:t>
            </a:r>
          </a:p>
        </p:txBody>
      </p:sp>
      <p:sp>
        <p:nvSpPr>
          <p:cNvPr id="26" name="Rectangle 25"/>
          <p:cNvSpPr/>
          <p:nvPr/>
        </p:nvSpPr>
        <p:spPr>
          <a:xfrm>
            <a:off x="7223760" y="4572000"/>
            <a:ext cx="4206240" cy="13258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23760" y="4572000"/>
            <a:ext cx="54864" cy="13258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9792" y="4754880"/>
            <a:ext cx="3749040" cy="100584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La paradoja cofenética.</a:t>
            </a:r>
            <a:r>
              <a:rPr sz="1200" b="0">
                <a:solidFill>
                  <a:srgbClr val="C9D1DE"/>
                </a:solidFill>
                <a:latin typeface="Segoe UI"/>
              </a:rPr>
              <a:t> Average es el árbol que mejor conserva las distancias (0,880, frente a 0,808 y 0,755) y el que da la partición inútil. Conservar distancias no es encontrar grupos.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SILHOUETTE SCORE PARA K = 2…10</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tabla de silueta y la selección de k</a:t>
            </a:r>
          </a:p>
        </p:txBody>
      </p:sp>
      <p:sp>
        <p:nvSpPr>
          <p:cNvPr id="6" name="TextBox 5"/>
          <p:cNvSpPr txBox="1"/>
          <p:nvPr/>
        </p:nvSpPr>
        <p:spPr>
          <a:xfrm>
            <a:off x="685800" y="1783080"/>
            <a:ext cx="6400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a:t>
            </a:r>
          </a:p>
        </p:txBody>
      </p:sp>
      <p:sp>
        <p:nvSpPr>
          <p:cNvPr id="7" name="TextBox 6"/>
          <p:cNvSpPr txBox="1"/>
          <p:nvPr/>
        </p:nvSpPr>
        <p:spPr>
          <a:xfrm>
            <a:off x="1325880" y="178308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WARD</a:t>
            </a:r>
          </a:p>
        </p:txBody>
      </p:sp>
      <p:sp>
        <p:nvSpPr>
          <p:cNvPr id="8" name="TextBox 7"/>
          <p:cNvSpPr txBox="1"/>
          <p:nvPr/>
        </p:nvSpPr>
        <p:spPr>
          <a:xfrm>
            <a:off x="2514600" y="1783080"/>
            <a:ext cx="13716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COMPLETE</a:t>
            </a:r>
          </a:p>
        </p:txBody>
      </p:sp>
      <p:sp>
        <p:nvSpPr>
          <p:cNvPr id="9" name="TextBox 8"/>
          <p:cNvSpPr txBox="1"/>
          <p:nvPr/>
        </p:nvSpPr>
        <p:spPr>
          <a:xfrm>
            <a:off x="3886200" y="178308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AVERAGE</a:t>
            </a:r>
          </a:p>
        </p:txBody>
      </p:sp>
      <p:sp>
        <p:nvSpPr>
          <p:cNvPr id="10" name="TextBox 9"/>
          <p:cNvSpPr txBox="1"/>
          <p:nvPr/>
        </p:nvSpPr>
        <p:spPr>
          <a:xfrm>
            <a:off x="5166360" y="1783080"/>
            <a:ext cx="2194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CLÚSTER MÁS CHICO</a:t>
            </a:r>
          </a:p>
        </p:txBody>
      </p:sp>
      <p:sp>
        <p:nvSpPr>
          <p:cNvPr id="11" name="Rectangle 10"/>
          <p:cNvSpPr/>
          <p:nvPr/>
        </p:nvSpPr>
        <p:spPr>
          <a:xfrm>
            <a:off x="685800" y="2075688"/>
            <a:ext cx="66751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112264"/>
            <a:ext cx="6675120" cy="35661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12264"/>
            <a:ext cx="530352" cy="393192"/>
          </a:xfrm>
          <a:prstGeom prst="rect">
            <a:avLst/>
          </a:prstGeom>
          <a:noFill/>
        </p:spPr>
        <p:txBody>
          <a:bodyPr wrap="square" lIns="0" rIns="0" tIns="0" bIns="0" anchor="ctr">
            <a:spAutoFit/>
          </a:bodyPr>
          <a:lstStyle/>
          <a:p>
            <a:pPr algn="l">
              <a:lnSpc>
                <a:spcPct val="115000"/>
              </a:lnSpc>
            </a:pPr>
            <a:r>
              <a:rPr sz="1250" b="1">
                <a:solidFill>
                  <a:srgbClr val="E6E9EF"/>
                </a:solidFill>
                <a:latin typeface="Segoe UI"/>
              </a:rPr>
              <a:t>2</a:t>
            </a:r>
          </a:p>
        </p:txBody>
      </p:sp>
      <p:sp>
        <p:nvSpPr>
          <p:cNvPr id="14" name="TextBox 13"/>
          <p:cNvSpPr txBox="1"/>
          <p:nvPr/>
        </p:nvSpPr>
        <p:spPr>
          <a:xfrm>
            <a:off x="1325880" y="2112264"/>
            <a:ext cx="107899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0,400</a:t>
            </a:r>
          </a:p>
        </p:txBody>
      </p:sp>
      <p:sp>
        <p:nvSpPr>
          <p:cNvPr id="15" name="TextBox 14"/>
          <p:cNvSpPr txBox="1"/>
          <p:nvPr/>
        </p:nvSpPr>
        <p:spPr>
          <a:xfrm>
            <a:off x="2514600" y="2112264"/>
            <a:ext cx="126187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0,414</a:t>
            </a:r>
          </a:p>
        </p:txBody>
      </p:sp>
      <p:sp>
        <p:nvSpPr>
          <p:cNvPr id="16" name="TextBox 15"/>
          <p:cNvSpPr txBox="1"/>
          <p:nvPr/>
        </p:nvSpPr>
        <p:spPr>
          <a:xfrm>
            <a:off x="3886200" y="2112264"/>
            <a:ext cx="1170432" cy="393192"/>
          </a:xfrm>
          <a:prstGeom prst="rect">
            <a:avLst/>
          </a:prstGeom>
          <a:noFill/>
        </p:spPr>
        <p:txBody>
          <a:bodyPr wrap="square" lIns="0" rIns="0" tIns="0" bIns="0" anchor="ctr">
            <a:spAutoFit/>
          </a:bodyPr>
          <a:lstStyle/>
          <a:p>
            <a:pPr algn="r">
              <a:lnSpc>
                <a:spcPct val="115000"/>
              </a:lnSpc>
            </a:pPr>
            <a:r>
              <a:rPr sz="1250" b="1">
                <a:solidFill>
                  <a:srgbClr val="F28B82"/>
                </a:solidFill>
                <a:latin typeface="Consolas"/>
              </a:rPr>
              <a:t>0,423</a:t>
            </a:r>
          </a:p>
        </p:txBody>
      </p:sp>
      <p:sp>
        <p:nvSpPr>
          <p:cNvPr id="17" name="TextBox 16"/>
          <p:cNvSpPr txBox="1"/>
          <p:nvPr/>
        </p:nvSpPr>
        <p:spPr>
          <a:xfrm>
            <a:off x="5166360" y="2112264"/>
            <a:ext cx="208483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22 / 22 / 1</a:t>
            </a:r>
          </a:p>
        </p:txBody>
      </p:sp>
      <p:sp>
        <p:nvSpPr>
          <p:cNvPr id="18" name="TextBox 17"/>
          <p:cNvSpPr txBox="1"/>
          <p:nvPr/>
        </p:nvSpPr>
        <p:spPr>
          <a:xfrm>
            <a:off x="777240" y="2505456"/>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3</a:t>
            </a:r>
          </a:p>
        </p:txBody>
      </p:sp>
      <p:sp>
        <p:nvSpPr>
          <p:cNvPr id="19" name="TextBox 18"/>
          <p:cNvSpPr txBox="1"/>
          <p:nvPr/>
        </p:nvSpPr>
        <p:spPr>
          <a:xfrm>
            <a:off x="1325880" y="2505456"/>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0,200</a:t>
            </a:r>
          </a:p>
        </p:txBody>
      </p:sp>
      <p:sp>
        <p:nvSpPr>
          <p:cNvPr id="20" name="TextBox 19"/>
          <p:cNvSpPr txBox="1"/>
          <p:nvPr/>
        </p:nvSpPr>
        <p:spPr>
          <a:xfrm>
            <a:off x="2514600" y="2505456"/>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0,401</a:t>
            </a:r>
          </a:p>
        </p:txBody>
      </p:sp>
      <p:sp>
        <p:nvSpPr>
          <p:cNvPr id="21" name="TextBox 20"/>
          <p:cNvSpPr txBox="1"/>
          <p:nvPr/>
        </p:nvSpPr>
        <p:spPr>
          <a:xfrm>
            <a:off x="3886200" y="2505456"/>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0,371</a:t>
            </a:r>
          </a:p>
        </p:txBody>
      </p:sp>
      <p:sp>
        <p:nvSpPr>
          <p:cNvPr id="22" name="TextBox 21"/>
          <p:cNvSpPr txBox="1"/>
          <p:nvPr/>
        </p:nvSpPr>
        <p:spPr>
          <a:xfrm>
            <a:off x="5166360" y="2505456"/>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 / 2 / 1</a:t>
            </a:r>
          </a:p>
        </p:txBody>
      </p:sp>
      <p:sp>
        <p:nvSpPr>
          <p:cNvPr id="23" name="TextBox 22"/>
          <p:cNvSpPr txBox="1"/>
          <p:nvPr/>
        </p:nvSpPr>
        <p:spPr>
          <a:xfrm>
            <a:off x="777240" y="2898648"/>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4</a:t>
            </a:r>
          </a:p>
        </p:txBody>
      </p:sp>
      <p:sp>
        <p:nvSpPr>
          <p:cNvPr id="24" name="TextBox 23"/>
          <p:cNvSpPr txBox="1"/>
          <p:nvPr/>
        </p:nvSpPr>
        <p:spPr>
          <a:xfrm>
            <a:off x="1325880" y="2898648"/>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0,141</a:t>
            </a:r>
          </a:p>
        </p:txBody>
      </p:sp>
      <p:sp>
        <p:nvSpPr>
          <p:cNvPr id="25" name="TextBox 24"/>
          <p:cNvSpPr txBox="1"/>
          <p:nvPr/>
        </p:nvSpPr>
        <p:spPr>
          <a:xfrm>
            <a:off x="2514600" y="2898648"/>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0,381</a:t>
            </a:r>
          </a:p>
        </p:txBody>
      </p:sp>
      <p:sp>
        <p:nvSpPr>
          <p:cNvPr id="26" name="TextBox 25"/>
          <p:cNvSpPr txBox="1"/>
          <p:nvPr/>
        </p:nvSpPr>
        <p:spPr>
          <a:xfrm>
            <a:off x="3886200" y="2898648"/>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0,373</a:t>
            </a:r>
          </a:p>
        </p:txBody>
      </p:sp>
      <p:sp>
        <p:nvSpPr>
          <p:cNvPr id="27" name="TextBox 26"/>
          <p:cNvSpPr txBox="1"/>
          <p:nvPr/>
        </p:nvSpPr>
        <p:spPr>
          <a:xfrm>
            <a:off x="5166360" y="2898648"/>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 / 2 / 1</a:t>
            </a:r>
          </a:p>
        </p:txBody>
      </p:sp>
      <p:sp>
        <p:nvSpPr>
          <p:cNvPr id="28" name="TextBox 27"/>
          <p:cNvSpPr txBox="1"/>
          <p:nvPr/>
        </p:nvSpPr>
        <p:spPr>
          <a:xfrm>
            <a:off x="777240" y="3291840"/>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5</a:t>
            </a:r>
          </a:p>
        </p:txBody>
      </p:sp>
      <p:sp>
        <p:nvSpPr>
          <p:cNvPr id="29" name="TextBox 28"/>
          <p:cNvSpPr txBox="1"/>
          <p:nvPr/>
        </p:nvSpPr>
        <p:spPr>
          <a:xfrm>
            <a:off x="1325880" y="3291840"/>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0,146</a:t>
            </a:r>
          </a:p>
        </p:txBody>
      </p:sp>
      <p:sp>
        <p:nvSpPr>
          <p:cNvPr id="30" name="TextBox 29"/>
          <p:cNvSpPr txBox="1"/>
          <p:nvPr/>
        </p:nvSpPr>
        <p:spPr>
          <a:xfrm>
            <a:off x="2514600" y="3291840"/>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0,113</a:t>
            </a:r>
          </a:p>
        </p:txBody>
      </p:sp>
      <p:sp>
        <p:nvSpPr>
          <p:cNvPr id="31" name="TextBox 30"/>
          <p:cNvSpPr txBox="1"/>
          <p:nvPr/>
        </p:nvSpPr>
        <p:spPr>
          <a:xfrm>
            <a:off x="3886200" y="3291840"/>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0,339</a:t>
            </a:r>
          </a:p>
        </p:txBody>
      </p:sp>
      <p:sp>
        <p:nvSpPr>
          <p:cNvPr id="32" name="TextBox 31"/>
          <p:cNvSpPr txBox="1"/>
          <p:nvPr/>
        </p:nvSpPr>
        <p:spPr>
          <a:xfrm>
            <a:off x="5166360" y="3291840"/>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8 / 2 / 1</a:t>
            </a:r>
          </a:p>
        </p:txBody>
      </p:sp>
      <p:sp>
        <p:nvSpPr>
          <p:cNvPr id="33" name="TextBox 32"/>
          <p:cNvSpPr txBox="1"/>
          <p:nvPr/>
        </p:nvSpPr>
        <p:spPr>
          <a:xfrm>
            <a:off x="777240" y="3685032"/>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6</a:t>
            </a:r>
          </a:p>
        </p:txBody>
      </p:sp>
      <p:sp>
        <p:nvSpPr>
          <p:cNvPr id="34" name="TextBox 33"/>
          <p:cNvSpPr txBox="1"/>
          <p:nvPr/>
        </p:nvSpPr>
        <p:spPr>
          <a:xfrm>
            <a:off x="1325880" y="3685032"/>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0,150</a:t>
            </a:r>
          </a:p>
        </p:txBody>
      </p:sp>
      <p:sp>
        <p:nvSpPr>
          <p:cNvPr id="35" name="TextBox 34"/>
          <p:cNvSpPr txBox="1"/>
          <p:nvPr/>
        </p:nvSpPr>
        <p:spPr>
          <a:xfrm>
            <a:off x="2514600" y="3685032"/>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0,116</a:t>
            </a:r>
          </a:p>
        </p:txBody>
      </p:sp>
      <p:sp>
        <p:nvSpPr>
          <p:cNvPr id="36" name="TextBox 35"/>
          <p:cNvSpPr txBox="1"/>
          <p:nvPr/>
        </p:nvSpPr>
        <p:spPr>
          <a:xfrm>
            <a:off x="3886200" y="3685032"/>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0,329</a:t>
            </a:r>
          </a:p>
        </p:txBody>
      </p:sp>
      <p:sp>
        <p:nvSpPr>
          <p:cNvPr id="37" name="TextBox 36"/>
          <p:cNvSpPr txBox="1"/>
          <p:nvPr/>
        </p:nvSpPr>
        <p:spPr>
          <a:xfrm>
            <a:off x="5166360" y="3685032"/>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38" name="TextBox 37"/>
          <p:cNvSpPr txBox="1"/>
          <p:nvPr/>
        </p:nvSpPr>
        <p:spPr>
          <a:xfrm>
            <a:off x="777240" y="4078224"/>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7</a:t>
            </a:r>
          </a:p>
        </p:txBody>
      </p:sp>
      <p:sp>
        <p:nvSpPr>
          <p:cNvPr id="39" name="TextBox 38"/>
          <p:cNvSpPr txBox="1"/>
          <p:nvPr/>
        </p:nvSpPr>
        <p:spPr>
          <a:xfrm>
            <a:off x="1325880" y="4078224"/>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0,092</a:t>
            </a:r>
          </a:p>
        </p:txBody>
      </p:sp>
      <p:sp>
        <p:nvSpPr>
          <p:cNvPr id="40" name="TextBox 39"/>
          <p:cNvSpPr txBox="1"/>
          <p:nvPr/>
        </p:nvSpPr>
        <p:spPr>
          <a:xfrm>
            <a:off x="2514600" y="4078224"/>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0,156</a:t>
            </a:r>
          </a:p>
        </p:txBody>
      </p:sp>
      <p:sp>
        <p:nvSpPr>
          <p:cNvPr id="41" name="TextBox 40"/>
          <p:cNvSpPr txBox="1"/>
          <p:nvPr/>
        </p:nvSpPr>
        <p:spPr>
          <a:xfrm>
            <a:off x="3886200" y="4078224"/>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0,348</a:t>
            </a:r>
          </a:p>
        </p:txBody>
      </p:sp>
      <p:sp>
        <p:nvSpPr>
          <p:cNvPr id="42" name="TextBox 41"/>
          <p:cNvSpPr txBox="1"/>
          <p:nvPr/>
        </p:nvSpPr>
        <p:spPr>
          <a:xfrm>
            <a:off x="5166360" y="4078224"/>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43" name="TextBox 42"/>
          <p:cNvSpPr txBox="1"/>
          <p:nvPr/>
        </p:nvSpPr>
        <p:spPr>
          <a:xfrm>
            <a:off x="777240" y="4471416"/>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8</a:t>
            </a:r>
          </a:p>
        </p:txBody>
      </p:sp>
      <p:sp>
        <p:nvSpPr>
          <p:cNvPr id="44" name="TextBox 43"/>
          <p:cNvSpPr txBox="1"/>
          <p:nvPr/>
        </p:nvSpPr>
        <p:spPr>
          <a:xfrm>
            <a:off x="1325880" y="4471416"/>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0,101</a:t>
            </a:r>
          </a:p>
        </p:txBody>
      </p:sp>
      <p:sp>
        <p:nvSpPr>
          <p:cNvPr id="45" name="TextBox 44"/>
          <p:cNvSpPr txBox="1"/>
          <p:nvPr/>
        </p:nvSpPr>
        <p:spPr>
          <a:xfrm>
            <a:off x="2514600" y="4471416"/>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0,155</a:t>
            </a:r>
          </a:p>
        </p:txBody>
      </p:sp>
      <p:sp>
        <p:nvSpPr>
          <p:cNvPr id="46" name="TextBox 45"/>
          <p:cNvSpPr txBox="1"/>
          <p:nvPr/>
        </p:nvSpPr>
        <p:spPr>
          <a:xfrm>
            <a:off x="3886200" y="4471416"/>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0,322</a:t>
            </a:r>
          </a:p>
        </p:txBody>
      </p:sp>
      <p:sp>
        <p:nvSpPr>
          <p:cNvPr id="47" name="TextBox 46"/>
          <p:cNvSpPr txBox="1"/>
          <p:nvPr/>
        </p:nvSpPr>
        <p:spPr>
          <a:xfrm>
            <a:off x="5166360" y="4471416"/>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48" name="TextBox 47"/>
          <p:cNvSpPr txBox="1"/>
          <p:nvPr/>
        </p:nvSpPr>
        <p:spPr>
          <a:xfrm>
            <a:off x="777240" y="4864608"/>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9</a:t>
            </a:r>
          </a:p>
        </p:txBody>
      </p:sp>
      <p:sp>
        <p:nvSpPr>
          <p:cNvPr id="49" name="TextBox 48"/>
          <p:cNvSpPr txBox="1"/>
          <p:nvPr/>
        </p:nvSpPr>
        <p:spPr>
          <a:xfrm>
            <a:off x="1325880" y="4864608"/>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0,110</a:t>
            </a:r>
          </a:p>
        </p:txBody>
      </p:sp>
      <p:sp>
        <p:nvSpPr>
          <p:cNvPr id="50" name="TextBox 49"/>
          <p:cNvSpPr txBox="1"/>
          <p:nvPr/>
        </p:nvSpPr>
        <p:spPr>
          <a:xfrm>
            <a:off x="2514600" y="4864608"/>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0,156</a:t>
            </a:r>
          </a:p>
        </p:txBody>
      </p:sp>
      <p:sp>
        <p:nvSpPr>
          <p:cNvPr id="51" name="TextBox 50"/>
          <p:cNvSpPr txBox="1"/>
          <p:nvPr/>
        </p:nvSpPr>
        <p:spPr>
          <a:xfrm>
            <a:off x="3886200" y="4864608"/>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0,324</a:t>
            </a:r>
          </a:p>
        </p:txBody>
      </p:sp>
      <p:sp>
        <p:nvSpPr>
          <p:cNvPr id="52" name="TextBox 51"/>
          <p:cNvSpPr txBox="1"/>
          <p:nvPr/>
        </p:nvSpPr>
        <p:spPr>
          <a:xfrm>
            <a:off x="5166360" y="4864608"/>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53" name="TextBox 52"/>
          <p:cNvSpPr txBox="1"/>
          <p:nvPr/>
        </p:nvSpPr>
        <p:spPr>
          <a:xfrm>
            <a:off x="777240" y="5257800"/>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10</a:t>
            </a:r>
          </a:p>
        </p:txBody>
      </p:sp>
      <p:sp>
        <p:nvSpPr>
          <p:cNvPr id="54" name="TextBox 53"/>
          <p:cNvSpPr txBox="1"/>
          <p:nvPr/>
        </p:nvSpPr>
        <p:spPr>
          <a:xfrm>
            <a:off x="1325880" y="5257800"/>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0,110</a:t>
            </a:r>
          </a:p>
        </p:txBody>
      </p:sp>
      <p:sp>
        <p:nvSpPr>
          <p:cNvPr id="55" name="TextBox 54"/>
          <p:cNvSpPr txBox="1"/>
          <p:nvPr/>
        </p:nvSpPr>
        <p:spPr>
          <a:xfrm>
            <a:off x="2514600" y="5257800"/>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0,150</a:t>
            </a:r>
          </a:p>
        </p:txBody>
      </p:sp>
      <p:sp>
        <p:nvSpPr>
          <p:cNvPr id="56" name="TextBox 55"/>
          <p:cNvSpPr txBox="1"/>
          <p:nvPr/>
        </p:nvSpPr>
        <p:spPr>
          <a:xfrm>
            <a:off x="3886200" y="5257800"/>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0,319</a:t>
            </a:r>
          </a:p>
        </p:txBody>
      </p:sp>
      <p:sp>
        <p:nvSpPr>
          <p:cNvPr id="57" name="TextBox 56"/>
          <p:cNvSpPr txBox="1"/>
          <p:nvPr/>
        </p:nvSpPr>
        <p:spPr>
          <a:xfrm>
            <a:off x="5166360" y="5257800"/>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 / 2 / 1</a:t>
            </a:r>
          </a:p>
        </p:txBody>
      </p:sp>
      <p:sp>
        <p:nvSpPr>
          <p:cNvPr id="58" name="TextBox 57"/>
          <p:cNvSpPr txBox="1"/>
          <p:nvPr/>
        </p:nvSpPr>
        <p:spPr>
          <a:xfrm>
            <a:off x="8001000" y="1783080"/>
            <a:ext cx="3383280" cy="640080"/>
          </a:xfrm>
          <a:prstGeom prst="rect">
            <a:avLst/>
          </a:prstGeom>
          <a:noFill/>
        </p:spPr>
        <p:txBody>
          <a:bodyPr wrap="square" lIns="0" rIns="0" tIns="0" bIns="0" anchor="t">
            <a:spAutoFit/>
          </a:bodyPr>
          <a:lstStyle/>
          <a:p>
            <a:pPr algn="l">
              <a:lnSpc>
                <a:spcPct val="115000"/>
              </a:lnSpc>
            </a:pPr>
            <a:r>
              <a:rPr sz="3400" b="1">
                <a:solidFill>
                  <a:srgbClr val="7BD992"/>
                </a:solidFill>
                <a:latin typeface="Consolas"/>
              </a:rPr>
              <a:t>k = 2</a:t>
            </a:r>
          </a:p>
        </p:txBody>
      </p:sp>
      <p:sp>
        <p:nvSpPr>
          <p:cNvPr id="59" name="TextBox 58"/>
          <p:cNvSpPr txBox="1"/>
          <p:nvPr/>
        </p:nvSpPr>
        <p:spPr>
          <a:xfrm>
            <a:off x="8001000" y="244144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Ward y complete: 114 / 22.</a:t>
            </a:r>
          </a:p>
          <a:p>
            <a:pPr algn="l">
              <a:lnSpc>
                <a:spcPct val="115000"/>
              </a:lnSpc>
            </a:pPr>
            <a:r>
              <a:rPr sz="1150" b="0">
                <a:solidFill>
                  <a:srgbClr val="9AA3B2"/>
                </a:solidFill>
                <a:latin typeface="Segoe UI"/>
              </a:rPr>
              <a:t>fcluster() por altura = por k</a:t>
            </a:r>
          </a:p>
        </p:txBody>
      </p:sp>
      <p:sp>
        <p:nvSpPr>
          <p:cNvPr id="60" name="Rectangle 59"/>
          <p:cNvSpPr/>
          <p:nvPr/>
        </p:nvSpPr>
        <p:spPr>
          <a:xfrm>
            <a:off x="8001000" y="3108960"/>
            <a:ext cx="3383280" cy="26517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01000" y="3108960"/>
            <a:ext cx="54864" cy="26517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57032" y="3291840"/>
            <a:ext cx="2926080" cy="233172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Regla de Shiro: ningún clúster con menos del 5 % de los días (7).</a:t>
            </a:r>
            <a:r>
              <a:rPr sz="1250" b="0">
                <a:solidFill>
                  <a:srgbClr val="C9D1DE"/>
                </a:solidFill>
                <a:latin typeface="Segoe UI"/>
              </a:rPr>
              <a:t> Un tipo de día que casi no ocurre no lo aprende el agente ni lo estima el simulador. Average deja un clúster de 1 día en todo el rango: no tiene ninguna partición válida.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FFB877"/>
                </a:solidFill>
                <a:latin typeface="Consolas"/>
              </a:rPr>
              <a:t>JERÁRQUICO · LA TRAMPA DE LA MÉTRICA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mejor silueta de la tabla es la peor partición</a:t>
            </a:r>
          </a:p>
        </p:txBody>
      </p:sp>
      <p:sp>
        <p:nvSpPr>
          <p:cNvPr id="6" name="Rounded Rectangle 5"/>
          <p:cNvSpPr/>
          <p:nvPr/>
        </p:nvSpPr>
        <p:spPr>
          <a:xfrm>
            <a:off x="694944" y="1669829"/>
            <a:ext cx="10588752" cy="328974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2_silueta.png"/>
          <p:cNvPicPr>
            <a:picLocks noChangeAspect="1"/>
          </p:cNvPicPr>
          <p:nvPr/>
        </p:nvPicPr>
        <p:blipFill>
          <a:blip r:embed="rId2"/>
          <a:stretch>
            <a:fillRect/>
          </a:stretch>
        </p:blipFill>
        <p:spPr>
          <a:xfrm>
            <a:off x="777240" y="1752125"/>
            <a:ext cx="10424160" cy="3125150"/>
          </a:xfrm>
          <a:prstGeom prst="rect">
            <a:avLst/>
          </a:prstGeom>
        </p:spPr>
      </p:pic>
      <p:sp>
        <p:nvSpPr>
          <p:cNvPr id="8" name="TextBox 7"/>
          <p:cNvSpPr txBox="1"/>
          <p:nvPr/>
        </p:nvSpPr>
        <p:spPr>
          <a:xfrm>
            <a:off x="685800" y="5074920"/>
            <a:ext cx="338328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0,423</a:t>
            </a:r>
          </a:p>
        </p:txBody>
      </p:sp>
      <p:sp>
        <p:nvSpPr>
          <p:cNvPr id="9" name="TextBox 8"/>
          <p:cNvSpPr txBox="1"/>
          <p:nvPr/>
        </p:nvSpPr>
        <p:spPr>
          <a:xfrm>
            <a:off x="685800" y="573328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silueta máxima: average separando</a:t>
            </a:r>
          </a:p>
          <a:p>
            <a:pPr algn="l">
              <a:lnSpc>
                <a:spcPct val="115000"/>
              </a:lnSpc>
            </a:pPr>
            <a:r>
              <a:rPr sz="1150" b="0">
                <a:solidFill>
                  <a:srgbClr val="9AA3B2"/>
                </a:solidFill>
                <a:latin typeface="Segoe UI"/>
              </a:rPr>
              <a:t>1 día (24-ene) contra 135</a:t>
            </a:r>
          </a:p>
        </p:txBody>
      </p:sp>
      <p:sp>
        <p:nvSpPr>
          <p:cNvPr id="10" name="TextBox 9"/>
          <p:cNvSpPr txBox="1"/>
          <p:nvPr/>
        </p:nvSpPr>
        <p:spPr>
          <a:xfrm>
            <a:off x="4297680" y="507492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0,475</a:t>
            </a:r>
          </a:p>
        </p:txBody>
      </p:sp>
      <p:sp>
        <p:nvSpPr>
          <p:cNvPr id="11" name="TextBox 10"/>
          <p:cNvSpPr txBox="1"/>
          <p:nvPr/>
        </p:nvSpPr>
        <p:spPr>
          <a:xfrm>
            <a:off x="4297680" y="573328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Dunn máximo: la misma partición</a:t>
            </a:r>
          </a:p>
          <a:p>
            <a:pPr algn="l">
              <a:lnSpc>
                <a:spcPct val="115000"/>
              </a:lnSpc>
            </a:pPr>
            <a:r>
              <a:rPr sz="1150" b="0">
                <a:solidFill>
                  <a:srgbClr val="9AA3B2"/>
                </a:solidFill>
                <a:latin typeface="Segoe UI"/>
              </a:rPr>
              <a:t>de 1 día</a:t>
            </a:r>
          </a:p>
        </p:txBody>
      </p:sp>
      <p:sp>
        <p:nvSpPr>
          <p:cNvPr id="12" name="TextBox 11"/>
          <p:cNvSpPr txBox="1"/>
          <p:nvPr/>
        </p:nvSpPr>
        <p:spPr>
          <a:xfrm>
            <a:off x="7909560" y="5074920"/>
            <a:ext cx="338328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0,517</a:t>
            </a:r>
          </a:p>
        </p:txBody>
      </p:sp>
      <p:sp>
        <p:nvSpPr>
          <p:cNvPr id="13" name="TextBox 12"/>
          <p:cNvSpPr txBox="1"/>
          <p:nvPr/>
        </p:nvSpPr>
        <p:spPr>
          <a:xfrm>
            <a:off x="7909560" y="573328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complete estandarizado: 134 / 2,</a:t>
            </a:r>
          </a:p>
          <a:p>
            <a:pPr algn="l">
              <a:lnSpc>
                <a:spcPct val="115000"/>
              </a:lnSpc>
            </a:pPr>
            <a:r>
              <a:rPr sz="1150" b="0">
                <a:solidFill>
                  <a:srgbClr val="9AA3B2"/>
                </a:solidFill>
                <a:latin typeface="Segoe UI"/>
              </a:rPr>
              <a:t>otra vez aislamiento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39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VISUALIZACIÓN 2D</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Ward y complete dibujan la frontera de K-Means</a:t>
            </a:r>
          </a:p>
        </p:txBody>
      </p:sp>
      <p:sp>
        <p:nvSpPr>
          <p:cNvPr id="6" name="Rounded Rectangle 5"/>
          <p:cNvSpPr/>
          <p:nvPr/>
        </p:nvSpPr>
        <p:spPr>
          <a:xfrm>
            <a:off x="694944" y="1730923"/>
            <a:ext cx="7754112" cy="385335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4_proyecciones.png"/>
          <p:cNvPicPr>
            <a:picLocks noChangeAspect="1"/>
          </p:cNvPicPr>
          <p:nvPr/>
        </p:nvPicPr>
        <p:blipFill>
          <a:blip r:embed="rId2"/>
          <a:stretch>
            <a:fillRect/>
          </a:stretch>
        </p:blipFill>
        <p:spPr>
          <a:xfrm>
            <a:off x="777240" y="1813219"/>
            <a:ext cx="7589520" cy="3688761"/>
          </a:xfrm>
          <a:prstGeom prst="rect">
            <a:avLst/>
          </a:prstGeom>
        </p:spPr>
      </p:pic>
      <p:sp>
        <p:nvSpPr>
          <p:cNvPr id="8" name="TextBox 7"/>
          <p:cNvSpPr txBox="1"/>
          <p:nvPr/>
        </p:nvSpPr>
        <p:spPr>
          <a:xfrm>
            <a:off x="8778240" y="1783080"/>
            <a:ext cx="265176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50,1 %</a:t>
            </a:r>
          </a:p>
        </p:txBody>
      </p:sp>
      <p:sp>
        <p:nvSpPr>
          <p:cNvPr id="9" name="TextBox 8"/>
          <p:cNvSpPr txBox="1"/>
          <p:nvPr/>
        </p:nvSpPr>
        <p:spPr>
          <a:xfrm>
            <a:off x="8778240" y="2441448"/>
            <a:ext cx="26517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 varianza en PC1 + PC2</a:t>
            </a:r>
          </a:p>
          <a:p>
            <a:pPr algn="l">
              <a:lnSpc>
                <a:spcPct val="115000"/>
              </a:lnSpc>
            </a:pPr>
            <a:r>
              <a:rPr sz="1150" b="0">
                <a:solidFill>
                  <a:srgbClr val="9AA3B2"/>
                </a:solidFill>
                <a:latin typeface="Segoe UI"/>
              </a:rPr>
              <a:t>(mismas proyecciones del taller 2)</a:t>
            </a:r>
          </a:p>
        </p:txBody>
      </p:sp>
      <p:sp>
        <p:nvSpPr>
          <p:cNvPr id="10" name="TextBox 9"/>
          <p:cNvSpPr txBox="1"/>
          <p:nvPr/>
        </p:nvSpPr>
        <p:spPr>
          <a:xfrm>
            <a:off x="8778240" y="3063240"/>
            <a:ext cx="265176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8 días</a:t>
            </a:r>
          </a:p>
        </p:txBody>
      </p:sp>
      <p:sp>
        <p:nvSpPr>
          <p:cNvPr id="11" name="TextBox 10"/>
          <p:cNvSpPr txBox="1"/>
          <p:nvPr/>
        </p:nvSpPr>
        <p:spPr>
          <a:xfrm>
            <a:off x="8778240" y="3721608"/>
            <a:ext cx="26517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cambian de grupo con Ward</a:t>
            </a:r>
          </a:p>
          <a:p>
            <a:pPr algn="l">
              <a:lnSpc>
                <a:spcPct val="115000"/>
              </a:lnSpc>
            </a:pPr>
            <a:r>
              <a:rPr sz="1150" b="0">
                <a:solidFill>
                  <a:srgbClr val="9AA3B2"/>
                </a:solidFill>
                <a:latin typeface="Segoe UI"/>
              </a:rPr>
              <a:t>y complete: todos en la costura</a:t>
            </a:r>
          </a:p>
        </p:txBody>
      </p:sp>
      <p:sp>
        <p:nvSpPr>
          <p:cNvPr id="12" name="TextBox 11"/>
          <p:cNvSpPr txBox="1"/>
          <p:nvPr/>
        </p:nvSpPr>
        <p:spPr>
          <a:xfrm>
            <a:off x="8778240" y="4343400"/>
            <a:ext cx="2651760" cy="14630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Rombos: días con tipo distinto al de K-Means. Punto rojo: el día que average aísla. t-SNE no muestra estructura que PCA no muestre.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QUÉ TIENEN EN COMÚN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 bloque diurno de actividad, no un día de la semana</a:t>
            </a:r>
          </a:p>
        </p:txBody>
      </p:sp>
      <p:sp>
        <p:nvSpPr>
          <p:cNvPr id="6" name="Rounded Rectangle 5"/>
          <p:cNvSpPr/>
          <p:nvPr/>
        </p:nvSpPr>
        <p:spPr>
          <a:xfrm>
            <a:off x="694944" y="1697512"/>
            <a:ext cx="6382512" cy="190849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5_perfiles.png"/>
          <p:cNvPicPr>
            <a:picLocks noChangeAspect="1"/>
          </p:cNvPicPr>
          <p:nvPr/>
        </p:nvPicPr>
        <p:blipFill>
          <a:blip r:embed="rId2"/>
          <a:stretch>
            <a:fillRect/>
          </a:stretch>
        </p:blipFill>
        <p:spPr>
          <a:xfrm>
            <a:off x="777240" y="1779808"/>
            <a:ext cx="6217920" cy="1743904"/>
          </a:xfrm>
          <a:prstGeom prst="rect">
            <a:avLst/>
          </a:prstGeom>
        </p:spPr>
      </p:pic>
      <p:sp>
        <p:nvSpPr>
          <p:cNvPr id="8" name="TextBox 7"/>
          <p:cNvSpPr txBox="1"/>
          <p:nvPr/>
        </p:nvSpPr>
        <p:spPr>
          <a:xfrm>
            <a:off x="7269480" y="1783080"/>
            <a:ext cx="1371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MEDIA</a:t>
            </a:r>
          </a:p>
        </p:txBody>
      </p:sp>
      <p:sp>
        <p:nvSpPr>
          <p:cNvPr id="9" name="TextBox 8"/>
          <p:cNvSpPr txBox="1"/>
          <p:nvPr/>
        </p:nvSpPr>
        <p:spPr>
          <a:xfrm>
            <a:off x="864108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WARD NORMAL</a:t>
            </a:r>
          </a:p>
        </p:txBody>
      </p:sp>
      <p:sp>
        <p:nvSpPr>
          <p:cNvPr id="10" name="TextBox 9"/>
          <p:cNvSpPr txBox="1"/>
          <p:nvPr/>
        </p:nvSpPr>
        <p:spPr>
          <a:xfrm>
            <a:off x="955548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WARD ALTA</a:t>
            </a:r>
          </a:p>
        </p:txBody>
      </p:sp>
      <p:sp>
        <p:nvSpPr>
          <p:cNvPr id="11" name="TextBox 10"/>
          <p:cNvSpPr txBox="1"/>
          <p:nvPr/>
        </p:nvSpPr>
        <p:spPr>
          <a:xfrm>
            <a:off x="10378440" y="1783080"/>
            <a:ext cx="11430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K-MEANS</a:t>
            </a:r>
          </a:p>
        </p:txBody>
      </p:sp>
      <p:sp>
        <p:nvSpPr>
          <p:cNvPr id="12" name="Rectangle 11"/>
          <p:cNvSpPr/>
          <p:nvPr/>
        </p:nvSpPr>
        <p:spPr>
          <a:xfrm>
            <a:off x="7269480" y="2075688"/>
            <a:ext cx="42519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2112264"/>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Días</a:t>
            </a:r>
          </a:p>
        </p:txBody>
      </p:sp>
      <p:sp>
        <p:nvSpPr>
          <p:cNvPr id="14" name="TextBox 13"/>
          <p:cNvSpPr txBox="1"/>
          <p:nvPr/>
        </p:nvSpPr>
        <p:spPr>
          <a:xfrm>
            <a:off x="8641080" y="2112264"/>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114</a:t>
            </a:r>
          </a:p>
        </p:txBody>
      </p:sp>
      <p:sp>
        <p:nvSpPr>
          <p:cNvPr id="15" name="TextBox 14"/>
          <p:cNvSpPr txBox="1"/>
          <p:nvPr/>
        </p:nvSpPr>
        <p:spPr>
          <a:xfrm>
            <a:off x="9555480" y="2112264"/>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22</a:t>
            </a:r>
          </a:p>
        </p:txBody>
      </p:sp>
      <p:sp>
        <p:nvSpPr>
          <p:cNvPr id="16" name="TextBox 15"/>
          <p:cNvSpPr txBox="1"/>
          <p:nvPr/>
        </p:nvSpPr>
        <p:spPr>
          <a:xfrm>
            <a:off x="10378440" y="2112264"/>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108 / 28</a:t>
            </a:r>
          </a:p>
        </p:txBody>
      </p:sp>
      <p:sp>
        <p:nvSpPr>
          <p:cNvPr id="17" name="TextBox 16"/>
          <p:cNvSpPr txBox="1"/>
          <p:nvPr/>
        </p:nvSpPr>
        <p:spPr>
          <a:xfrm>
            <a:off x="7360920" y="2505456"/>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kWh/día</a:t>
            </a:r>
          </a:p>
        </p:txBody>
      </p:sp>
      <p:sp>
        <p:nvSpPr>
          <p:cNvPr id="18" name="TextBox 17"/>
          <p:cNvSpPr txBox="1"/>
          <p:nvPr/>
        </p:nvSpPr>
        <p:spPr>
          <a:xfrm>
            <a:off x="8641080" y="2505456"/>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12,6</a:t>
            </a:r>
          </a:p>
        </p:txBody>
      </p:sp>
      <p:sp>
        <p:nvSpPr>
          <p:cNvPr id="19" name="TextBox 18"/>
          <p:cNvSpPr txBox="1"/>
          <p:nvPr/>
        </p:nvSpPr>
        <p:spPr>
          <a:xfrm>
            <a:off x="9555480" y="2505456"/>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21,6</a:t>
            </a:r>
          </a:p>
        </p:txBody>
      </p:sp>
      <p:sp>
        <p:nvSpPr>
          <p:cNvPr id="20" name="TextBox 19"/>
          <p:cNvSpPr txBox="1"/>
          <p:nvPr/>
        </p:nvSpPr>
        <p:spPr>
          <a:xfrm>
            <a:off x="10378440" y="2505456"/>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12,2 / 20,9</a:t>
            </a:r>
          </a:p>
        </p:txBody>
      </p:sp>
      <p:sp>
        <p:nvSpPr>
          <p:cNvPr id="21" name="TextBox 20"/>
          <p:cNvSpPr txBox="1"/>
          <p:nvPr/>
        </p:nvSpPr>
        <p:spPr>
          <a:xfrm>
            <a:off x="7360920" y="2898648"/>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Wh 8–18 h</a:t>
            </a:r>
          </a:p>
        </p:txBody>
      </p:sp>
      <p:sp>
        <p:nvSpPr>
          <p:cNvPr id="22" name="TextBox 21"/>
          <p:cNvSpPr txBox="1"/>
          <p:nvPr/>
        </p:nvSpPr>
        <p:spPr>
          <a:xfrm>
            <a:off x="8641080" y="2898648"/>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98,5</a:t>
            </a:r>
          </a:p>
        </p:txBody>
      </p:sp>
      <p:sp>
        <p:nvSpPr>
          <p:cNvPr id="23" name="TextBox 22"/>
          <p:cNvSpPr txBox="1"/>
          <p:nvPr/>
        </p:nvSpPr>
        <p:spPr>
          <a:xfrm>
            <a:off x="9555480" y="2898648"/>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241,8</a:t>
            </a:r>
          </a:p>
        </p:txBody>
      </p:sp>
      <p:sp>
        <p:nvSpPr>
          <p:cNvPr id="24" name="TextBox 23"/>
          <p:cNvSpPr txBox="1"/>
          <p:nvPr/>
        </p:nvSpPr>
        <p:spPr>
          <a:xfrm>
            <a:off x="10378440" y="2898648"/>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93,3 / 231,1</a:t>
            </a:r>
          </a:p>
        </p:txBody>
      </p:sp>
      <p:sp>
        <p:nvSpPr>
          <p:cNvPr id="25" name="TextBox 24"/>
          <p:cNvSpPr txBox="1"/>
          <p:nvPr/>
        </p:nvSpPr>
        <p:spPr>
          <a:xfrm>
            <a:off x="7360920" y="3291840"/>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lights Wh/día</a:t>
            </a:r>
          </a:p>
        </p:txBody>
      </p:sp>
      <p:sp>
        <p:nvSpPr>
          <p:cNvPr id="26" name="TextBox 25"/>
          <p:cNvSpPr txBox="1"/>
          <p:nvPr/>
        </p:nvSpPr>
        <p:spPr>
          <a:xfrm>
            <a:off x="8641080" y="3291840"/>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522</a:t>
            </a:r>
          </a:p>
        </p:txBody>
      </p:sp>
      <p:sp>
        <p:nvSpPr>
          <p:cNvPr id="27" name="TextBox 26"/>
          <p:cNvSpPr txBox="1"/>
          <p:nvPr/>
        </p:nvSpPr>
        <p:spPr>
          <a:xfrm>
            <a:off x="9555480" y="3291840"/>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645</a:t>
            </a:r>
          </a:p>
        </p:txBody>
      </p:sp>
      <p:sp>
        <p:nvSpPr>
          <p:cNvPr id="28" name="TextBox 27"/>
          <p:cNvSpPr txBox="1"/>
          <p:nvPr/>
        </p:nvSpPr>
        <p:spPr>
          <a:xfrm>
            <a:off x="10378440" y="3291840"/>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502 / 697</a:t>
            </a:r>
          </a:p>
        </p:txBody>
      </p:sp>
      <p:sp>
        <p:nvSpPr>
          <p:cNvPr id="29" name="TextBox 28"/>
          <p:cNvSpPr txBox="1"/>
          <p:nvPr/>
        </p:nvSpPr>
        <p:spPr>
          <a:xfrm>
            <a:off x="7360920" y="3685032"/>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RH_1 cocina</a:t>
            </a:r>
          </a:p>
        </p:txBody>
      </p:sp>
      <p:sp>
        <p:nvSpPr>
          <p:cNvPr id="30" name="TextBox 29"/>
          <p:cNvSpPr txBox="1"/>
          <p:nvPr/>
        </p:nvSpPr>
        <p:spPr>
          <a:xfrm>
            <a:off x="8641080" y="3685032"/>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39,9 %</a:t>
            </a:r>
          </a:p>
        </p:txBody>
      </p:sp>
      <p:sp>
        <p:nvSpPr>
          <p:cNvPr id="31" name="TextBox 30"/>
          <p:cNvSpPr txBox="1"/>
          <p:nvPr/>
        </p:nvSpPr>
        <p:spPr>
          <a:xfrm>
            <a:off x="9555480" y="3685032"/>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41,7 %</a:t>
            </a:r>
          </a:p>
        </p:txBody>
      </p:sp>
      <p:sp>
        <p:nvSpPr>
          <p:cNvPr id="32" name="TextBox 31"/>
          <p:cNvSpPr txBox="1"/>
          <p:nvPr/>
        </p:nvSpPr>
        <p:spPr>
          <a:xfrm>
            <a:off x="10378440" y="3685032"/>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39,9 / 41,3</a:t>
            </a:r>
          </a:p>
        </p:txBody>
      </p:sp>
      <p:sp>
        <p:nvSpPr>
          <p:cNvPr id="33" name="TextBox 32"/>
          <p:cNvSpPr txBox="1"/>
          <p:nvPr/>
        </p:nvSpPr>
        <p:spPr>
          <a:xfrm>
            <a:off x="7360920" y="4078224"/>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RH_3 lavandería</a:t>
            </a:r>
          </a:p>
        </p:txBody>
      </p:sp>
      <p:sp>
        <p:nvSpPr>
          <p:cNvPr id="34" name="TextBox 33"/>
          <p:cNvSpPr txBox="1"/>
          <p:nvPr/>
        </p:nvSpPr>
        <p:spPr>
          <a:xfrm>
            <a:off x="8641080" y="4078224"/>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39,0 %</a:t>
            </a:r>
          </a:p>
        </p:txBody>
      </p:sp>
      <p:sp>
        <p:nvSpPr>
          <p:cNvPr id="35" name="TextBox 34"/>
          <p:cNvSpPr txBox="1"/>
          <p:nvPr/>
        </p:nvSpPr>
        <p:spPr>
          <a:xfrm>
            <a:off x="9555480" y="4078224"/>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40,3 %</a:t>
            </a:r>
          </a:p>
        </p:txBody>
      </p:sp>
      <p:sp>
        <p:nvSpPr>
          <p:cNvPr id="36" name="TextBox 35"/>
          <p:cNvSpPr txBox="1"/>
          <p:nvPr/>
        </p:nvSpPr>
        <p:spPr>
          <a:xfrm>
            <a:off x="10378440" y="4078224"/>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38,9 / 40,3</a:t>
            </a:r>
          </a:p>
        </p:txBody>
      </p:sp>
      <p:sp>
        <p:nvSpPr>
          <p:cNvPr id="37" name="TextBox 36"/>
          <p:cNvSpPr txBox="1"/>
          <p:nvPr/>
        </p:nvSpPr>
        <p:spPr>
          <a:xfrm>
            <a:off x="7360920" y="4471416"/>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T_out</a:t>
            </a:r>
          </a:p>
        </p:txBody>
      </p:sp>
      <p:sp>
        <p:nvSpPr>
          <p:cNvPr id="38" name="TextBox 37"/>
          <p:cNvSpPr txBox="1"/>
          <p:nvPr/>
        </p:nvSpPr>
        <p:spPr>
          <a:xfrm>
            <a:off x="8641080" y="4471416"/>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7,2 °C</a:t>
            </a:r>
          </a:p>
        </p:txBody>
      </p:sp>
      <p:sp>
        <p:nvSpPr>
          <p:cNvPr id="39" name="TextBox 38"/>
          <p:cNvSpPr txBox="1"/>
          <p:nvPr/>
        </p:nvSpPr>
        <p:spPr>
          <a:xfrm>
            <a:off x="9555480" y="4471416"/>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8,2 °C</a:t>
            </a:r>
          </a:p>
        </p:txBody>
      </p:sp>
      <p:sp>
        <p:nvSpPr>
          <p:cNvPr id="40" name="TextBox 39"/>
          <p:cNvSpPr txBox="1"/>
          <p:nvPr/>
        </p:nvSpPr>
        <p:spPr>
          <a:xfrm>
            <a:off x="10378440" y="4471416"/>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7,4 / 7,3</a:t>
            </a:r>
          </a:p>
        </p:txBody>
      </p:sp>
      <p:sp>
        <p:nvSpPr>
          <p:cNvPr id="41" name="TextBox 40"/>
          <p:cNvSpPr txBox="1"/>
          <p:nvPr/>
        </p:nvSpPr>
        <p:spPr>
          <a:xfrm>
            <a:off x="7360920" y="4864608"/>
            <a:ext cx="1261872" cy="393192"/>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 fin de semana</a:t>
            </a:r>
          </a:p>
        </p:txBody>
      </p:sp>
      <p:sp>
        <p:nvSpPr>
          <p:cNvPr id="42" name="TextBox 41"/>
          <p:cNvSpPr txBox="1"/>
          <p:nvPr/>
        </p:nvSpPr>
        <p:spPr>
          <a:xfrm>
            <a:off x="8641080" y="4864608"/>
            <a:ext cx="8046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28,1</a:t>
            </a:r>
          </a:p>
        </p:txBody>
      </p:sp>
      <p:sp>
        <p:nvSpPr>
          <p:cNvPr id="43" name="TextBox 42"/>
          <p:cNvSpPr txBox="1"/>
          <p:nvPr/>
        </p:nvSpPr>
        <p:spPr>
          <a:xfrm>
            <a:off x="9555480" y="4864608"/>
            <a:ext cx="71323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27,3</a:t>
            </a:r>
          </a:p>
        </p:txBody>
      </p:sp>
      <p:sp>
        <p:nvSpPr>
          <p:cNvPr id="44" name="TextBox 43"/>
          <p:cNvSpPr txBox="1"/>
          <p:nvPr/>
        </p:nvSpPr>
        <p:spPr>
          <a:xfrm>
            <a:off x="10378440" y="4864608"/>
            <a:ext cx="1033272" cy="393192"/>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27,8 / 28,6</a:t>
            </a:r>
          </a:p>
        </p:txBody>
      </p:sp>
      <p:sp>
        <p:nvSpPr>
          <p:cNvPr id="45" name="Rectangle 44"/>
          <p:cNvSpPr/>
          <p:nvPr/>
        </p:nvSpPr>
        <p:spPr>
          <a:xfrm>
            <a:off x="685800" y="3794760"/>
            <a:ext cx="6217920" cy="15087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 y="3794760"/>
            <a:ext cx="54864" cy="15087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1832" y="3977640"/>
            <a:ext cx="5760720" cy="1188720"/>
          </a:xfrm>
          <a:prstGeom prst="rect">
            <a:avLst/>
          </a:prstGeom>
          <a:noFill/>
        </p:spPr>
        <p:txBody>
          <a:bodyPr wrap="square" lIns="0" rIns="0" tIns="0" bIns="0" anchor="t">
            <a:spAutoFit/>
          </a:bodyPr>
          <a:lstStyle/>
          <a:p>
            <a:pPr algn="l">
              <a:lnSpc>
                <a:spcPct val="115000"/>
              </a:lnSpc>
            </a:pPr>
            <a:r>
              <a:rPr sz="1250" b="0">
                <a:solidFill>
                  <a:srgbClr val="C9D1DE"/>
                </a:solidFill>
                <a:latin typeface="Segoe UI"/>
              </a:rPr>
              <a:t>Las curvas de Ward y complete se </a:t>
            </a:r>
            <a:r>
              <a:rPr sz="1250" b="1">
                <a:solidFill>
                  <a:srgbClr val="E6E9EF"/>
                </a:solidFill>
                <a:latin typeface="Segoe UI"/>
              </a:rPr>
              <a:t>superponen a los centroides de K-Means</a:t>
            </a:r>
            <a:r>
              <a:rPr sz="1250" b="0">
                <a:solidFill>
                  <a:srgbClr val="C9D1DE"/>
                </a:solidFill>
                <a:latin typeface="Segoe UI"/>
              </a:rPr>
              <a:t>. El día de carga alta comparte un bloque diurno 2,5 veces más fuerte, +24 % de iluminación y más humedad en cocina y lavandería. Lo que no comparte es el calendario.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EJEMPLOS REPRESENTATIVOS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medoide de cada tipo, y los días que no encajan</a:t>
            </a:r>
          </a:p>
        </p:txBody>
      </p:sp>
      <p:sp>
        <p:nvSpPr>
          <p:cNvPr id="6" name="TextBox 5"/>
          <p:cNvSpPr txBox="1"/>
          <p:nvPr/>
        </p:nvSpPr>
        <p:spPr>
          <a:xfrm>
            <a:off x="685800" y="1783080"/>
            <a:ext cx="1371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CLÚSTER</a:t>
            </a:r>
          </a:p>
        </p:txBody>
      </p:sp>
      <p:sp>
        <p:nvSpPr>
          <p:cNvPr id="7" name="TextBox 6"/>
          <p:cNvSpPr txBox="1"/>
          <p:nvPr/>
        </p:nvSpPr>
        <p:spPr>
          <a:xfrm>
            <a:off x="2057400" y="1783080"/>
            <a:ext cx="1280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PAPEL</a:t>
            </a:r>
          </a:p>
        </p:txBody>
      </p:sp>
      <p:sp>
        <p:nvSpPr>
          <p:cNvPr id="8" name="TextBox 7"/>
          <p:cNvSpPr txBox="1"/>
          <p:nvPr/>
        </p:nvSpPr>
        <p:spPr>
          <a:xfrm>
            <a:off x="3337560" y="1783080"/>
            <a:ext cx="1554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DÍA</a:t>
            </a:r>
          </a:p>
        </p:txBody>
      </p:sp>
      <p:sp>
        <p:nvSpPr>
          <p:cNvPr id="9" name="TextBox 8"/>
          <p:cNvSpPr txBox="1"/>
          <p:nvPr/>
        </p:nvSpPr>
        <p:spPr>
          <a:xfrm>
            <a:off x="489204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KWH</a:t>
            </a:r>
          </a:p>
        </p:txBody>
      </p:sp>
      <p:sp>
        <p:nvSpPr>
          <p:cNvPr id="10" name="TextBox 9"/>
          <p:cNvSpPr txBox="1"/>
          <p:nvPr/>
        </p:nvSpPr>
        <p:spPr>
          <a:xfrm>
            <a:off x="5715000" y="178308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PICO</a:t>
            </a:r>
          </a:p>
        </p:txBody>
      </p:sp>
      <p:sp>
        <p:nvSpPr>
          <p:cNvPr id="11" name="Rectangle 10"/>
          <p:cNvSpPr/>
          <p:nvPr/>
        </p:nvSpPr>
        <p:spPr>
          <a:xfrm>
            <a:off x="685800" y="2075688"/>
            <a:ext cx="68580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12264"/>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13" name="TextBox 12"/>
          <p:cNvSpPr txBox="1"/>
          <p:nvPr/>
        </p:nvSpPr>
        <p:spPr>
          <a:xfrm>
            <a:off x="2148840" y="2112264"/>
            <a:ext cx="1170432" cy="393192"/>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medoide</a:t>
            </a:r>
          </a:p>
        </p:txBody>
      </p:sp>
      <p:sp>
        <p:nvSpPr>
          <p:cNvPr id="14" name="TextBox 13"/>
          <p:cNvSpPr txBox="1"/>
          <p:nvPr/>
        </p:nvSpPr>
        <p:spPr>
          <a:xfrm>
            <a:off x="3429000" y="2112264"/>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27-abr</a:t>
            </a:r>
          </a:p>
        </p:txBody>
      </p:sp>
      <p:sp>
        <p:nvSpPr>
          <p:cNvPr id="15" name="TextBox 14"/>
          <p:cNvSpPr txBox="1"/>
          <p:nvPr/>
        </p:nvSpPr>
        <p:spPr>
          <a:xfrm>
            <a:off x="4892040" y="2112264"/>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10,8</a:t>
            </a:r>
          </a:p>
        </p:txBody>
      </p:sp>
      <p:sp>
        <p:nvSpPr>
          <p:cNvPr id="16" name="TextBox 15"/>
          <p:cNvSpPr txBox="1"/>
          <p:nvPr/>
        </p:nvSpPr>
        <p:spPr>
          <a:xfrm>
            <a:off x="5715000" y="2112264"/>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163 Wh · 18 h</a:t>
            </a:r>
          </a:p>
        </p:txBody>
      </p:sp>
      <p:sp>
        <p:nvSpPr>
          <p:cNvPr id="17" name="TextBox 16"/>
          <p:cNvSpPr txBox="1"/>
          <p:nvPr/>
        </p:nvSpPr>
        <p:spPr>
          <a:xfrm>
            <a:off x="777240" y="2505456"/>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18" name="TextBox 17"/>
          <p:cNvSpPr txBox="1"/>
          <p:nvPr/>
        </p:nvSpPr>
        <p:spPr>
          <a:xfrm>
            <a:off x="2148840" y="2505456"/>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2.º típico</a:t>
            </a:r>
          </a:p>
        </p:txBody>
      </p:sp>
      <p:sp>
        <p:nvSpPr>
          <p:cNvPr id="19" name="TextBox 18"/>
          <p:cNvSpPr txBox="1"/>
          <p:nvPr/>
        </p:nvSpPr>
        <p:spPr>
          <a:xfrm>
            <a:off x="3429000" y="2505456"/>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dom 27-mar</a:t>
            </a:r>
          </a:p>
        </p:txBody>
      </p:sp>
      <p:sp>
        <p:nvSpPr>
          <p:cNvPr id="20" name="TextBox 19"/>
          <p:cNvSpPr txBox="1"/>
          <p:nvPr/>
        </p:nvSpPr>
        <p:spPr>
          <a:xfrm>
            <a:off x="4892040" y="2505456"/>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10,5</a:t>
            </a:r>
          </a:p>
        </p:txBody>
      </p:sp>
      <p:sp>
        <p:nvSpPr>
          <p:cNvPr id="21" name="TextBox 20"/>
          <p:cNvSpPr txBox="1"/>
          <p:nvPr/>
        </p:nvSpPr>
        <p:spPr>
          <a:xfrm>
            <a:off x="5715000" y="2505456"/>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157 Wh · 18 h</a:t>
            </a:r>
          </a:p>
        </p:txBody>
      </p:sp>
      <p:sp>
        <p:nvSpPr>
          <p:cNvPr id="22" name="TextBox 21"/>
          <p:cNvSpPr txBox="1"/>
          <p:nvPr/>
        </p:nvSpPr>
        <p:spPr>
          <a:xfrm>
            <a:off x="777240" y="2898648"/>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23" name="TextBox 22"/>
          <p:cNvSpPr txBox="1"/>
          <p:nvPr/>
        </p:nvSpPr>
        <p:spPr>
          <a:xfrm>
            <a:off x="2148840" y="2898648"/>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3.º típico</a:t>
            </a:r>
          </a:p>
        </p:txBody>
      </p:sp>
      <p:sp>
        <p:nvSpPr>
          <p:cNvPr id="24" name="TextBox 23"/>
          <p:cNvSpPr txBox="1"/>
          <p:nvPr/>
        </p:nvSpPr>
        <p:spPr>
          <a:xfrm>
            <a:off x="3429000" y="2898648"/>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30-mar</a:t>
            </a:r>
          </a:p>
        </p:txBody>
      </p:sp>
      <p:sp>
        <p:nvSpPr>
          <p:cNvPr id="25" name="TextBox 24"/>
          <p:cNvSpPr txBox="1"/>
          <p:nvPr/>
        </p:nvSpPr>
        <p:spPr>
          <a:xfrm>
            <a:off x="4892040" y="2898648"/>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12,6</a:t>
            </a:r>
          </a:p>
        </p:txBody>
      </p:sp>
      <p:sp>
        <p:nvSpPr>
          <p:cNvPr id="26" name="TextBox 25"/>
          <p:cNvSpPr txBox="1"/>
          <p:nvPr/>
        </p:nvSpPr>
        <p:spPr>
          <a:xfrm>
            <a:off x="5715000" y="2898648"/>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197 Wh · 20 h</a:t>
            </a:r>
          </a:p>
        </p:txBody>
      </p:sp>
      <p:sp>
        <p:nvSpPr>
          <p:cNvPr id="27" name="TextBox 26"/>
          <p:cNvSpPr txBox="1"/>
          <p:nvPr/>
        </p:nvSpPr>
        <p:spPr>
          <a:xfrm>
            <a:off x="777240" y="3291840"/>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28" name="TextBox 27"/>
          <p:cNvSpPr txBox="1"/>
          <p:nvPr/>
        </p:nvSpPr>
        <p:spPr>
          <a:xfrm>
            <a:off x="2148840" y="3291840"/>
            <a:ext cx="1170432" cy="393192"/>
          </a:xfrm>
          <a:prstGeom prst="rect">
            <a:avLst/>
          </a:prstGeom>
          <a:noFill/>
        </p:spPr>
        <p:txBody>
          <a:bodyPr wrap="square" lIns="0" rIns="0" tIns="0" bIns="0" anchor="ctr">
            <a:spAutoFit/>
          </a:bodyPr>
          <a:lstStyle/>
          <a:p>
            <a:pPr algn="l">
              <a:lnSpc>
                <a:spcPct val="115000"/>
              </a:lnSpc>
            </a:pPr>
            <a:r>
              <a:rPr sz="1250" b="0">
                <a:solidFill>
                  <a:srgbClr val="FFB877"/>
                </a:solidFill>
                <a:latin typeface="Consolas"/>
              </a:rPr>
              <a:t>medoide</a:t>
            </a:r>
          </a:p>
        </p:txBody>
      </p:sp>
      <p:sp>
        <p:nvSpPr>
          <p:cNvPr id="29" name="TextBox 28"/>
          <p:cNvSpPr txBox="1"/>
          <p:nvPr/>
        </p:nvSpPr>
        <p:spPr>
          <a:xfrm>
            <a:off x="3429000" y="3291840"/>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03-feb</a:t>
            </a:r>
          </a:p>
        </p:txBody>
      </p:sp>
      <p:sp>
        <p:nvSpPr>
          <p:cNvPr id="30" name="TextBox 29"/>
          <p:cNvSpPr txBox="1"/>
          <p:nvPr/>
        </p:nvSpPr>
        <p:spPr>
          <a:xfrm>
            <a:off x="4892040" y="3291840"/>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19,1</a:t>
            </a:r>
          </a:p>
        </p:txBody>
      </p:sp>
      <p:sp>
        <p:nvSpPr>
          <p:cNvPr id="31" name="TextBox 30"/>
          <p:cNvSpPr txBox="1"/>
          <p:nvPr/>
        </p:nvSpPr>
        <p:spPr>
          <a:xfrm>
            <a:off x="5715000" y="3291840"/>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320 Wh · 16 h</a:t>
            </a:r>
          </a:p>
        </p:txBody>
      </p:sp>
      <p:sp>
        <p:nvSpPr>
          <p:cNvPr id="32" name="TextBox 31"/>
          <p:cNvSpPr txBox="1"/>
          <p:nvPr/>
        </p:nvSpPr>
        <p:spPr>
          <a:xfrm>
            <a:off x="777240" y="3685032"/>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33" name="TextBox 32"/>
          <p:cNvSpPr txBox="1"/>
          <p:nvPr/>
        </p:nvSpPr>
        <p:spPr>
          <a:xfrm>
            <a:off x="2148840" y="3685032"/>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2.º típico</a:t>
            </a:r>
          </a:p>
        </p:txBody>
      </p:sp>
      <p:sp>
        <p:nvSpPr>
          <p:cNvPr id="34" name="TextBox 33"/>
          <p:cNvSpPr txBox="1"/>
          <p:nvPr/>
        </p:nvSpPr>
        <p:spPr>
          <a:xfrm>
            <a:off x="3429000" y="3685032"/>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sáb 16-abr</a:t>
            </a:r>
          </a:p>
        </p:txBody>
      </p:sp>
      <p:sp>
        <p:nvSpPr>
          <p:cNvPr id="35" name="TextBox 34"/>
          <p:cNvSpPr txBox="1"/>
          <p:nvPr/>
        </p:nvSpPr>
        <p:spPr>
          <a:xfrm>
            <a:off x="4892040" y="3685032"/>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19,3</a:t>
            </a:r>
          </a:p>
        </p:txBody>
      </p:sp>
      <p:sp>
        <p:nvSpPr>
          <p:cNvPr id="36" name="TextBox 35"/>
          <p:cNvSpPr txBox="1"/>
          <p:nvPr/>
        </p:nvSpPr>
        <p:spPr>
          <a:xfrm>
            <a:off x="5715000" y="3685032"/>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442 Wh · 16 h</a:t>
            </a:r>
          </a:p>
        </p:txBody>
      </p:sp>
      <p:sp>
        <p:nvSpPr>
          <p:cNvPr id="37" name="TextBox 36"/>
          <p:cNvSpPr txBox="1"/>
          <p:nvPr/>
        </p:nvSpPr>
        <p:spPr>
          <a:xfrm>
            <a:off x="777240" y="4078224"/>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38" name="TextBox 37"/>
          <p:cNvSpPr txBox="1"/>
          <p:nvPr/>
        </p:nvSpPr>
        <p:spPr>
          <a:xfrm>
            <a:off x="2148840" y="4078224"/>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3.º típico</a:t>
            </a:r>
          </a:p>
        </p:txBody>
      </p:sp>
      <p:sp>
        <p:nvSpPr>
          <p:cNvPr id="39" name="TextBox 38"/>
          <p:cNvSpPr txBox="1"/>
          <p:nvPr/>
        </p:nvSpPr>
        <p:spPr>
          <a:xfrm>
            <a:off x="3429000" y="4078224"/>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lun 29-feb</a:t>
            </a:r>
          </a:p>
        </p:txBody>
      </p:sp>
      <p:sp>
        <p:nvSpPr>
          <p:cNvPr id="40" name="TextBox 39"/>
          <p:cNvSpPr txBox="1"/>
          <p:nvPr/>
        </p:nvSpPr>
        <p:spPr>
          <a:xfrm>
            <a:off x="4892040" y="4078224"/>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22,6</a:t>
            </a:r>
          </a:p>
        </p:txBody>
      </p:sp>
      <p:sp>
        <p:nvSpPr>
          <p:cNvPr id="41" name="TextBox 40"/>
          <p:cNvSpPr txBox="1"/>
          <p:nvPr/>
        </p:nvSpPr>
        <p:spPr>
          <a:xfrm>
            <a:off x="5715000" y="4078224"/>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368 Wh · 12 h</a:t>
            </a:r>
          </a:p>
        </p:txBody>
      </p:sp>
      <p:sp>
        <p:nvSpPr>
          <p:cNvPr id="42" name="TextBox 41"/>
          <p:cNvSpPr txBox="1"/>
          <p:nvPr/>
        </p:nvSpPr>
        <p:spPr>
          <a:xfrm>
            <a:off x="777240" y="4471416"/>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43" name="TextBox 42"/>
          <p:cNvSpPr txBox="1"/>
          <p:nvPr/>
        </p:nvSpPr>
        <p:spPr>
          <a:xfrm>
            <a:off x="2148840" y="4471416"/>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44" name="TextBox 43"/>
          <p:cNvSpPr txBox="1"/>
          <p:nvPr/>
        </p:nvSpPr>
        <p:spPr>
          <a:xfrm>
            <a:off x="3429000" y="4471416"/>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dom 24-ene</a:t>
            </a:r>
          </a:p>
        </p:txBody>
      </p:sp>
      <p:sp>
        <p:nvSpPr>
          <p:cNvPr id="45" name="TextBox 44"/>
          <p:cNvSpPr txBox="1"/>
          <p:nvPr/>
        </p:nvSpPr>
        <p:spPr>
          <a:xfrm>
            <a:off x="4892040" y="4471416"/>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21,6</a:t>
            </a:r>
          </a:p>
        </p:txBody>
      </p:sp>
      <p:sp>
        <p:nvSpPr>
          <p:cNvPr id="46" name="TextBox 45"/>
          <p:cNvSpPr txBox="1"/>
          <p:nvPr/>
        </p:nvSpPr>
        <p:spPr>
          <a:xfrm>
            <a:off x="5715000" y="4471416"/>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608 Wh · 8 h</a:t>
            </a:r>
          </a:p>
        </p:txBody>
      </p:sp>
      <p:sp>
        <p:nvSpPr>
          <p:cNvPr id="47" name="TextBox 46"/>
          <p:cNvSpPr txBox="1"/>
          <p:nvPr/>
        </p:nvSpPr>
        <p:spPr>
          <a:xfrm>
            <a:off x="777240" y="4864608"/>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48" name="TextBox 47"/>
          <p:cNvSpPr txBox="1"/>
          <p:nvPr/>
        </p:nvSpPr>
        <p:spPr>
          <a:xfrm>
            <a:off x="2148840" y="4864608"/>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49" name="TextBox 48"/>
          <p:cNvSpPr txBox="1"/>
          <p:nvPr/>
        </p:nvSpPr>
        <p:spPr>
          <a:xfrm>
            <a:off x="3429000" y="4864608"/>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16-mar</a:t>
            </a:r>
          </a:p>
        </p:txBody>
      </p:sp>
      <p:sp>
        <p:nvSpPr>
          <p:cNvPr id="50" name="TextBox 49"/>
          <p:cNvSpPr txBox="1"/>
          <p:nvPr/>
        </p:nvSpPr>
        <p:spPr>
          <a:xfrm>
            <a:off x="4892040" y="4864608"/>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22,8</a:t>
            </a:r>
          </a:p>
        </p:txBody>
      </p:sp>
      <p:sp>
        <p:nvSpPr>
          <p:cNvPr id="51" name="TextBox 50"/>
          <p:cNvSpPr txBox="1"/>
          <p:nvPr/>
        </p:nvSpPr>
        <p:spPr>
          <a:xfrm>
            <a:off x="5715000" y="4864608"/>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563 Wh · 18 h</a:t>
            </a:r>
          </a:p>
        </p:txBody>
      </p:sp>
      <p:sp>
        <p:nvSpPr>
          <p:cNvPr id="52" name="TextBox 51"/>
          <p:cNvSpPr txBox="1"/>
          <p:nvPr/>
        </p:nvSpPr>
        <p:spPr>
          <a:xfrm>
            <a:off x="777240" y="5257800"/>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53" name="TextBox 52"/>
          <p:cNvSpPr txBox="1"/>
          <p:nvPr/>
        </p:nvSpPr>
        <p:spPr>
          <a:xfrm>
            <a:off x="2148840" y="5257800"/>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54" name="TextBox 53"/>
          <p:cNvSpPr txBox="1"/>
          <p:nvPr/>
        </p:nvSpPr>
        <p:spPr>
          <a:xfrm>
            <a:off x="3429000" y="5257800"/>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vie 15-abr</a:t>
            </a:r>
          </a:p>
        </p:txBody>
      </p:sp>
      <p:sp>
        <p:nvSpPr>
          <p:cNvPr id="55" name="TextBox 54"/>
          <p:cNvSpPr txBox="1"/>
          <p:nvPr/>
        </p:nvSpPr>
        <p:spPr>
          <a:xfrm>
            <a:off x="4892040" y="5257800"/>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18,9</a:t>
            </a:r>
          </a:p>
        </p:txBody>
      </p:sp>
      <p:sp>
        <p:nvSpPr>
          <p:cNvPr id="56" name="TextBox 55"/>
          <p:cNvSpPr txBox="1"/>
          <p:nvPr/>
        </p:nvSpPr>
        <p:spPr>
          <a:xfrm>
            <a:off x="5715000" y="5257800"/>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372 Wh · 6 h</a:t>
            </a:r>
          </a:p>
        </p:txBody>
      </p:sp>
      <p:sp>
        <p:nvSpPr>
          <p:cNvPr id="57" name="Rectangle 56"/>
          <p:cNvSpPr/>
          <p:nvPr/>
        </p:nvSpPr>
        <p:spPr>
          <a:xfrm>
            <a:off x="7909560" y="1783080"/>
            <a:ext cx="3566160" cy="13258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09560" y="1783080"/>
            <a:ext cx="54864" cy="13258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65592" y="1965960"/>
            <a:ext cx="3108960" cy="10058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Medoide, no centroide.</a:t>
            </a:r>
            <a:r>
              <a:rPr sz="1250" b="0">
                <a:solidFill>
                  <a:srgbClr val="C9D1DE"/>
                </a:solidFill>
                <a:latin typeface="Segoe UI"/>
              </a:rPr>
              <a:t> El centroide es un promedio que nunca ocurrió; el medoide es el día real con menor distancia media a su grupo.</a:t>
            </a:r>
          </a:p>
        </p:txBody>
      </p:sp>
      <p:sp>
        <p:nvSpPr>
          <p:cNvPr id="60" name="Rectangle 59"/>
          <p:cNvSpPr/>
          <p:nvPr/>
        </p:nvSpPr>
        <p:spPr>
          <a:xfrm>
            <a:off x="7909560" y="3291840"/>
            <a:ext cx="3566160" cy="2514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909560" y="3291840"/>
            <a:ext cx="54864" cy="25146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65592" y="3474720"/>
            <a:ext cx="3108960" cy="21945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Raros por cuándo consumen, no por cuánto.</a:t>
            </a:r>
            <a:r>
              <a:rPr sz="1250" b="0">
                <a:solidFill>
                  <a:srgbClr val="C9D1DE"/>
                </a:solidFill>
                <a:latin typeface="Segoe UI"/>
              </a:rPr>
              <a:t> 608 Wh a las 8 de la mañana (la hora más alta del periodo), una carga desde las 6 h, tres picos separados. El 4-abr consume más (27,2 kWh) y no queda aislado. Son los días que busca DBSCAN.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EJEMPLOS REPRESENTATIVOS, EN CURVAS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día que la casa vivió, no un promedio</a:t>
            </a:r>
          </a:p>
        </p:txBody>
      </p:sp>
      <p:sp>
        <p:nvSpPr>
          <p:cNvPr id="6" name="Rounded Rectangle 5"/>
          <p:cNvSpPr/>
          <p:nvPr/>
        </p:nvSpPr>
        <p:spPr>
          <a:xfrm>
            <a:off x="694944" y="1753679"/>
            <a:ext cx="10771632" cy="3259201"/>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6_representativos.png"/>
          <p:cNvPicPr>
            <a:picLocks noChangeAspect="1"/>
          </p:cNvPicPr>
          <p:nvPr/>
        </p:nvPicPr>
        <p:blipFill>
          <a:blip r:embed="rId2"/>
          <a:stretch>
            <a:fillRect/>
          </a:stretch>
        </p:blipFill>
        <p:spPr>
          <a:xfrm>
            <a:off x="777240" y="1835975"/>
            <a:ext cx="10607040" cy="3094609"/>
          </a:xfrm>
          <a:prstGeom prst="rect">
            <a:avLst/>
          </a:prstGeom>
        </p:spPr>
      </p:pic>
      <p:sp>
        <p:nvSpPr>
          <p:cNvPr id="8" name="Rectangle 7"/>
          <p:cNvSpPr/>
          <p:nvPr/>
        </p:nvSpPr>
        <p:spPr>
          <a:xfrm>
            <a:off x="685800" y="5212080"/>
            <a:ext cx="10820095"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1208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394960"/>
            <a:ext cx="10362895" cy="54864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Trazo grueso: el medoide de cada tipo. En rojo, los días aislados: el 24-ene con su pico a las 8 h, el 16-mar con tres picos y el 15-abr, que carga desde las 6 h. Ward lo llama normal y complete, carga alta: no encaja en ninguno.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LO QUE K-MEANS NO DA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jerarquía: qué se separa en el siguiente nivel</a:t>
            </a:r>
          </a:p>
        </p:txBody>
      </p:sp>
      <p:sp>
        <p:nvSpPr>
          <p:cNvPr id="6" name="Rounded Rectangle 5"/>
          <p:cNvSpPr/>
          <p:nvPr/>
        </p:nvSpPr>
        <p:spPr>
          <a:xfrm>
            <a:off x="685800" y="1828800"/>
            <a:ext cx="3454298" cy="27432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k = 2</a:t>
            </a:r>
          </a:p>
        </p:txBody>
      </p:sp>
      <p:sp>
        <p:nvSpPr>
          <p:cNvPr id="8" name="TextBox 7"/>
          <p:cNvSpPr txBox="1"/>
          <p:nvPr/>
        </p:nvSpPr>
        <p:spPr>
          <a:xfrm>
            <a:off x="914400" y="2606040"/>
            <a:ext cx="2997098" cy="155448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Carga alta (22 días) frente a normal (114).</a:t>
            </a:r>
          </a:p>
        </p:txBody>
      </p:sp>
      <p:sp>
        <p:nvSpPr>
          <p:cNvPr id="9" name="TextBox 8"/>
          <p:cNvSpPr txBox="1"/>
          <p:nvPr/>
        </p:nvSpPr>
        <p:spPr>
          <a:xfrm>
            <a:off x="914400" y="418795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EL ESTADO DEL MDP</a:t>
            </a:r>
          </a:p>
        </p:txBody>
      </p:sp>
      <p:sp>
        <p:nvSpPr>
          <p:cNvPr id="10" name="Rounded Rectangle 9"/>
          <p:cNvSpPr/>
          <p:nvPr/>
        </p:nvSpPr>
        <p:spPr>
          <a:xfrm>
            <a:off x="4368698" y="1828800"/>
            <a:ext cx="3454298" cy="27432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7298"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k = 3</a:t>
            </a:r>
          </a:p>
        </p:txBody>
      </p:sp>
      <p:sp>
        <p:nvSpPr>
          <p:cNvPr id="12" name="TextBox 11"/>
          <p:cNvSpPr txBox="1"/>
          <p:nvPr/>
        </p:nvSpPr>
        <p:spPr>
          <a:xfrm>
            <a:off x="4597298" y="2606040"/>
            <a:ext cx="2997098" cy="155448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Los días normales se parten en 86 bajos (11,6 kWh) y un grupo intermedio de 28 (15,4 kWh, 46,4 % de fin de semana) que contiene los 7 días de frontera. Coincide con la «mañana activa» de K-Means (ARI 0,796).</a:t>
            </a:r>
          </a:p>
        </p:txBody>
      </p:sp>
      <p:sp>
        <p:nvSpPr>
          <p:cNvPr id="13" name="TextBox 12"/>
          <p:cNvSpPr txBox="1"/>
          <p:nvPr/>
        </p:nvSpPr>
        <p:spPr>
          <a:xfrm>
            <a:off x="4597298" y="418795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LA CAPA DE EXPLICACIÓN</a:t>
            </a:r>
          </a:p>
        </p:txBody>
      </p:sp>
      <p:sp>
        <p:nvSpPr>
          <p:cNvPr id="14" name="Rounded Rectangle 13"/>
          <p:cNvSpPr/>
          <p:nvPr/>
        </p:nvSpPr>
        <p:spPr>
          <a:xfrm>
            <a:off x="8051596" y="1828800"/>
            <a:ext cx="3454298" cy="27432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0196" y="2029968"/>
            <a:ext cx="2997098" cy="54864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k = 4</a:t>
            </a:r>
          </a:p>
        </p:txBody>
      </p:sp>
      <p:sp>
        <p:nvSpPr>
          <p:cNvPr id="16" name="TextBox 15"/>
          <p:cNvSpPr txBox="1"/>
          <p:nvPr/>
        </p:nvSpPr>
        <p:spPr>
          <a:xfrm>
            <a:off x="8280196" y="2606040"/>
            <a:ext cx="2997098" cy="155448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Los normales bajos se parten en 61 + 25, sin señal de calendario, y el acuerdo con K-Means cae a 0,543: ya no hay estructura.</a:t>
            </a:r>
          </a:p>
        </p:txBody>
      </p:sp>
      <p:sp>
        <p:nvSpPr>
          <p:cNvPr id="17" name="TextBox 16"/>
          <p:cNvSpPr txBox="1"/>
          <p:nvPr/>
        </p:nvSpPr>
        <p:spPr>
          <a:xfrm>
            <a:off x="8280196" y="4187952"/>
            <a:ext cx="2997098"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FIN DE LA ESTRUCTURA</a:t>
            </a:r>
          </a:p>
        </p:txBody>
      </p:sp>
      <p:sp>
        <p:nvSpPr>
          <p:cNvPr id="18" name="Rectangle 17"/>
          <p:cNvSpPr/>
          <p:nvPr/>
        </p:nvSpPr>
        <p:spPr>
          <a:xfrm>
            <a:off x="685800" y="4800600"/>
            <a:ext cx="10820095"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800600"/>
            <a:ext cx="54864" cy="9144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983480"/>
            <a:ext cx="10362895" cy="59436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Dos usos.</a:t>
            </a:r>
            <a:r>
              <a:rPr sz="1350" b="0">
                <a:solidFill>
                  <a:srgbClr val="C9D1DE"/>
                </a:solidFill>
                <a:latin typeface="Segoe UI"/>
              </a:rPr>
              <a:t> El MDP se queda con k = 2. La capa de explicación puede usar el nivel intermedio para decir más que «normal»: «día normal con mañana activa, típico de fin de semana».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COMPARACIÓN CON K-MEANS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¿Cambió la forma? Casi no. ¿Se mantuvieron? El 94 %</a:t>
            </a:r>
          </a:p>
        </p:txBody>
      </p:sp>
      <p:sp>
        <p:nvSpPr>
          <p:cNvPr id="6" name="Rounded Rectangle 5"/>
          <p:cNvSpPr/>
          <p:nvPr/>
        </p:nvSpPr>
        <p:spPr>
          <a:xfrm>
            <a:off x="694944" y="1704766"/>
            <a:ext cx="6839712" cy="20768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7_frontera.png"/>
          <p:cNvPicPr>
            <a:picLocks noChangeAspect="1"/>
          </p:cNvPicPr>
          <p:nvPr/>
        </p:nvPicPr>
        <p:blipFill>
          <a:blip r:embed="rId2"/>
          <a:stretch>
            <a:fillRect/>
          </a:stretch>
        </p:blipFill>
        <p:spPr>
          <a:xfrm>
            <a:off x="777240" y="1787062"/>
            <a:ext cx="6675120" cy="1912276"/>
          </a:xfrm>
          <a:prstGeom prst="rect">
            <a:avLst/>
          </a:prstGeom>
        </p:spPr>
      </p:pic>
      <p:sp>
        <p:nvSpPr>
          <p:cNvPr id="8" name="TextBox 7"/>
          <p:cNvSpPr txBox="1"/>
          <p:nvPr/>
        </p:nvSpPr>
        <p:spPr>
          <a:xfrm>
            <a:off x="7680960" y="1783080"/>
            <a:ext cx="16916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TÉCNICA · CLÚSTER</a:t>
            </a:r>
          </a:p>
        </p:txBody>
      </p:sp>
      <p:sp>
        <p:nvSpPr>
          <p:cNvPr id="9" name="TextBox 8"/>
          <p:cNvSpPr txBox="1"/>
          <p:nvPr/>
        </p:nvSpPr>
        <p:spPr>
          <a:xfrm>
            <a:off x="9372600" y="1783080"/>
            <a:ext cx="5486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DÍAS</a:t>
            </a:r>
          </a:p>
        </p:txBody>
      </p:sp>
      <p:sp>
        <p:nvSpPr>
          <p:cNvPr id="10" name="TextBox 9"/>
          <p:cNvSpPr txBox="1"/>
          <p:nvPr/>
        </p:nvSpPr>
        <p:spPr>
          <a:xfrm>
            <a:off x="9921240" y="1783080"/>
            <a:ext cx="8686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RADIO MEDIO</a:t>
            </a:r>
          </a:p>
        </p:txBody>
      </p:sp>
      <p:sp>
        <p:nvSpPr>
          <p:cNvPr id="11" name="TextBox 10"/>
          <p:cNvSpPr txBox="1"/>
          <p:nvPr/>
        </p:nvSpPr>
        <p:spPr>
          <a:xfrm>
            <a:off x="10789920" y="1783080"/>
            <a:ext cx="7772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DIÁMETRO</a:t>
            </a:r>
          </a:p>
        </p:txBody>
      </p:sp>
      <p:sp>
        <p:nvSpPr>
          <p:cNvPr id="12" name="Rectangle 11"/>
          <p:cNvSpPr/>
          <p:nvPr/>
        </p:nvSpPr>
        <p:spPr>
          <a:xfrm>
            <a:off x="7680960" y="2075688"/>
            <a:ext cx="38862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112264"/>
            <a:ext cx="1581912" cy="384048"/>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K-Means · normal</a:t>
            </a:r>
          </a:p>
        </p:txBody>
      </p:sp>
      <p:sp>
        <p:nvSpPr>
          <p:cNvPr id="14" name="TextBox 13"/>
          <p:cNvSpPr txBox="1"/>
          <p:nvPr/>
        </p:nvSpPr>
        <p:spPr>
          <a:xfrm>
            <a:off x="9372600" y="2112264"/>
            <a:ext cx="4389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108</a:t>
            </a:r>
          </a:p>
        </p:txBody>
      </p:sp>
      <p:sp>
        <p:nvSpPr>
          <p:cNvPr id="15" name="TextBox 14"/>
          <p:cNvSpPr txBox="1"/>
          <p:nvPr/>
        </p:nvSpPr>
        <p:spPr>
          <a:xfrm>
            <a:off x="9921240" y="2112264"/>
            <a:ext cx="75895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235 Wh</a:t>
            </a:r>
          </a:p>
        </p:txBody>
      </p:sp>
      <p:sp>
        <p:nvSpPr>
          <p:cNvPr id="16" name="TextBox 15"/>
          <p:cNvSpPr txBox="1"/>
          <p:nvPr/>
        </p:nvSpPr>
        <p:spPr>
          <a:xfrm>
            <a:off x="10789920" y="2112264"/>
            <a:ext cx="6675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813 Wh</a:t>
            </a:r>
          </a:p>
        </p:txBody>
      </p:sp>
      <p:sp>
        <p:nvSpPr>
          <p:cNvPr id="17" name="TextBox 16"/>
          <p:cNvSpPr txBox="1"/>
          <p:nvPr/>
        </p:nvSpPr>
        <p:spPr>
          <a:xfrm>
            <a:off x="7772400" y="2496312"/>
            <a:ext cx="1581912" cy="384048"/>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K-Means · carga alta</a:t>
            </a:r>
          </a:p>
        </p:txBody>
      </p:sp>
      <p:sp>
        <p:nvSpPr>
          <p:cNvPr id="18" name="TextBox 17"/>
          <p:cNvSpPr txBox="1"/>
          <p:nvPr/>
        </p:nvSpPr>
        <p:spPr>
          <a:xfrm>
            <a:off x="9372600" y="2496312"/>
            <a:ext cx="4389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28</a:t>
            </a:r>
          </a:p>
        </p:txBody>
      </p:sp>
      <p:sp>
        <p:nvSpPr>
          <p:cNvPr id="19" name="TextBox 18"/>
          <p:cNvSpPr txBox="1"/>
          <p:nvPr/>
        </p:nvSpPr>
        <p:spPr>
          <a:xfrm>
            <a:off x="9921240" y="2496312"/>
            <a:ext cx="75895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406 Wh</a:t>
            </a:r>
          </a:p>
        </p:txBody>
      </p:sp>
      <p:sp>
        <p:nvSpPr>
          <p:cNvPr id="20" name="TextBox 19"/>
          <p:cNvSpPr txBox="1"/>
          <p:nvPr/>
        </p:nvSpPr>
        <p:spPr>
          <a:xfrm>
            <a:off x="10789920" y="2496312"/>
            <a:ext cx="6675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967 Wh</a:t>
            </a:r>
          </a:p>
        </p:txBody>
      </p:sp>
      <p:sp>
        <p:nvSpPr>
          <p:cNvPr id="21" name="TextBox 20"/>
          <p:cNvSpPr txBox="1"/>
          <p:nvPr/>
        </p:nvSpPr>
        <p:spPr>
          <a:xfrm>
            <a:off x="7772400" y="2880360"/>
            <a:ext cx="1581912" cy="384048"/>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Ward · normal</a:t>
            </a:r>
          </a:p>
        </p:txBody>
      </p:sp>
      <p:sp>
        <p:nvSpPr>
          <p:cNvPr id="22" name="TextBox 21"/>
          <p:cNvSpPr txBox="1"/>
          <p:nvPr/>
        </p:nvSpPr>
        <p:spPr>
          <a:xfrm>
            <a:off x="9372600" y="2880360"/>
            <a:ext cx="4389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114</a:t>
            </a:r>
          </a:p>
        </p:txBody>
      </p:sp>
      <p:sp>
        <p:nvSpPr>
          <p:cNvPr id="23" name="TextBox 22"/>
          <p:cNvSpPr txBox="1"/>
          <p:nvPr/>
        </p:nvSpPr>
        <p:spPr>
          <a:xfrm>
            <a:off x="9921240" y="2880360"/>
            <a:ext cx="75895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249 Wh</a:t>
            </a:r>
          </a:p>
        </p:txBody>
      </p:sp>
      <p:sp>
        <p:nvSpPr>
          <p:cNvPr id="24" name="TextBox 23"/>
          <p:cNvSpPr txBox="1"/>
          <p:nvPr/>
        </p:nvSpPr>
        <p:spPr>
          <a:xfrm>
            <a:off x="10789920" y="2880360"/>
            <a:ext cx="6675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867 Wh</a:t>
            </a:r>
          </a:p>
        </p:txBody>
      </p:sp>
      <p:sp>
        <p:nvSpPr>
          <p:cNvPr id="25" name="TextBox 24"/>
          <p:cNvSpPr txBox="1"/>
          <p:nvPr/>
        </p:nvSpPr>
        <p:spPr>
          <a:xfrm>
            <a:off x="7772400" y="3264408"/>
            <a:ext cx="1581912" cy="384048"/>
          </a:xfrm>
          <a:prstGeom prst="rect">
            <a:avLst/>
          </a:prstGeom>
          <a:noFill/>
        </p:spPr>
        <p:txBody>
          <a:bodyPr wrap="square" lIns="0" rIns="0" tIns="0" bIns="0" anchor="ctr">
            <a:spAutoFit/>
          </a:bodyPr>
          <a:lstStyle/>
          <a:p>
            <a:pPr algn="l">
              <a:lnSpc>
                <a:spcPct val="115000"/>
              </a:lnSpc>
            </a:pPr>
            <a:r>
              <a:rPr sz="1050" b="0">
                <a:solidFill>
                  <a:srgbClr val="C9D1DE"/>
                </a:solidFill>
                <a:latin typeface="Segoe UI"/>
              </a:rPr>
              <a:t>Ward · carga alta</a:t>
            </a:r>
          </a:p>
        </p:txBody>
      </p:sp>
      <p:sp>
        <p:nvSpPr>
          <p:cNvPr id="26" name="TextBox 25"/>
          <p:cNvSpPr txBox="1"/>
          <p:nvPr/>
        </p:nvSpPr>
        <p:spPr>
          <a:xfrm>
            <a:off x="9372600" y="3264408"/>
            <a:ext cx="4389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22</a:t>
            </a:r>
          </a:p>
        </p:txBody>
      </p:sp>
      <p:sp>
        <p:nvSpPr>
          <p:cNvPr id="27" name="TextBox 26"/>
          <p:cNvSpPr txBox="1"/>
          <p:nvPr/>
        </p:nvSpPr>
        <p:spPr>
          <a:xfrm>
            <a:off x="9921240" y="3264408"/>
            <a:ext cx="75895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411 Wh</a:t>
            </a:r>
          </a:p>
        </p:txBody>
      </p:sp>
      <p:sp>
        <p:nvSpPr>
          <p:cNvPr id="28" name="TextBox 27"/>
          <p:cNvSpPr txBox="1"/>
          <p:nvPr/>
        </p:nvSpPr>
        <p:spPr>
          <a:xfrm>
            <a:off x="10789920" y="3264408"/>
            <a:ext cx="667512" cy="384048"/>
          </a:xfrm>
          <a:prstGeom prst="rect">
            <a:avLst/>
          </a:prstGeom>
          <a:noFill/>
        </p:spPr>
        <p:txBody>
          <a:bodyPr wrap="square" lIns="0" rIns="0" tIns="0" bIns="0" anchor="ctr">
            <a:spAutoFit/>
          </a:bodyPr>
          <a:lstStyle/>
          <a:p>
            <a:pPr algn="r">
              <a:lnSpc>
                <a:spcPct val="115000"/>
              </a:lnSpc>
            </a:pPr>
            <a:r>
              <a:rPr sz="1050" b="0">
                <a:solidFill>
                  <a:srgbClr val="C9D1DE"/>
                </a:solidFill>
                <a:latin typeface="Consolas"/>
              </a:rPr>
              <a:t>967 Wh</a:t>
            </a:r>
          </a:p>
        </p:txBody>
      </p:sp>
      <p:sp>
        <p:nvSpPr>
          <p:cNvPr id="29" name="TextBox 28"/>
          <p:cNvSpPr txBox="1"/>
          <p:nvPr/>
        </p:nvSpPr>
        <p:spPr>
          <a:xfrm>
            <a:off x="685800" y="3977639"/>
            <a:ext cx="329184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128 de 136</a:t>
            </a:r>
          </a:p>
        </p:txBody>
      </p:sp>
      <p:sp>
        <p:nvSpPr>
          <p:cNvPr id="30" name="TextBox 29"/>
          <p:cNvSpPr txBox="1"/>
          <p:nvPr/>
        </p:nvSpPr>
        <p:spPr>
          <a:xfrm>
            <a:off x="685800" y="4636007"/>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conservan su grupo entre</a:t>
            </a:r>
          </a:p>
          <a:p>
            <a:pPr algn="l">
              <a:lnSpc>
                <a:spcPct val="115000"/>
              </a:lnSpc>
            </a:pPr>
            <a:r>
              <a:rPr sz="1150" b="0">
                <a:solidFill>
                  <a:srgbClr val="9AA3B2"/>
                </a:solidFill>
                <a:latin typeface="Segoe UI"/>
              </a:rPr>
              <a:t>K-Means y Ward (ARI 0,736)</a:t>
            </a:r>
          </a:p>
        </p:txBody>
      </p:sp>
      <p:sp>
        <p:nvSpPr>
          <p:cNvPr id="31" name="TextBox 30"/>
          <p:cNvSpPr txBox="1"/>
          <p:nvPr/>
        </p:nvSpPr>
        <p:spPr>
          <a:xfrm>
            <a:off x="4297680" y="3977639"/>
            <a:ext cx="338328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20 %</a:t>
            </a:r>
          </a:p>
        </p:txBody>
      </p:sp>
      <p:sp>
        <p:nvSpPr>
          <p:cNvPr id="32" name="TextBox 31"/>
          <p:cNvSpPr txBox="1"/>
          <p:nvPr/>
        </p:nvSpPr>
        <p:spPr>
          <a:xfrm>
            <a:off x="4297680" y="4636007"/>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los 8 que cambian están en el 20 %</a:t>
            </a:r>
          </a:p>
          <a:p>
            <a:pPr algn="l">
              <a:lnSpc>
                <a:spcPct val="115000"/>
              </a:lnSpc>
            </a:pPr>
            <a:r>
              <a:rPr sz="1150" b="0">
                <a:solidFill>
                  <a:srgbClr val="9AA3B2"/>
                </a:solidFill>
                <a:latin typeface="Segoe UI"/>
              </a:rPr>
              <a:t>de días más cercanos a la frontera</a:t>
            </a:r>
          </a:p>
        </p:txBody>
      </p:sp>
      <p:sp>
        <p:nvSpPr>
          <p:cNvPr id="33" name="TextBox 32"/>
          <p:cNvSpPr txBox="1"/>
          <p:nvPr/>
        </p:nvSpPr>
        <p:spPr>
          <a:xfrm>
            <a:off x="7909560" y="3977639"/>
            <a:ext cx="3383280" cy="640080"/>
          </a:xfrm>
          <a:prstGeom prst="rect">
            <a:avLst/>
          </a:prstGeom>
          <a:noFill/>
        </p:spPr>
        <p:txBody>
          <a:bodyPr wrap="square" lIns="0" rIns="0" tIns="0" bIns="0" anchor="t">
            <a:spAutoFit/>
          </a:bodyPr>
          <a:lstStyle/>
          <a:p>
            <a:pPr algn="l">
              <a:lnSpc>
                <a:spcPct val="115000"/>
              </a:lnSpc>
            </a:pPr>
            <a:r>
              <a:rPr sz="2800" b="1">
                <a:solidFill>
                  <a:srgbClr val="FFB877"/>
                </a:solidFill>
                <a:latin typeface="Consolas"/>
              </a:rPr>
              <a:t>+3,8 %</a:t>
            </a:r>
          </a:p>
        </p:txBody>
      </p:sp>
      <p:sp>
        <p:nvSpPr>
          <p:cNvPr id="34" name="TextBox 33"/>
          <p:cNvSpPr txBox="1"/>
          <p:nvPr/>
        </p:nvSpPr>
        <p:spPr>
          <a:xfrm>
            <a:off x="7909560" y="4636007"/>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inercia de Ward sobre K-Means:</a:t>
            </a:r>
          </a:p>
          <a:p>
            <a:pPr algn="l">
              <a:lnSpc>
                <a:spcPct val="115000"/>
              </a:lnSpc>
            </a:pPr>
            <a:r>
              <a:rPr sz="1150" b="0">
                <a:solidFill>
                  <a:srgbClr val="9AA3B2"/>
                </a:solidFill>
                <a:latin typeface="Segoe UI"/>
              </a:rPr>
              <a:t>fusiones que nunca se deshacen</a:t>
            </a:r>
          </a:p>
        </p:txBody>
      </p:sp>
      <p:sp>
        <p:nvSpPr>
          <p:cNvPr id="35" name="TextBox 34"/>
          <p:cNvSpPr txBox="1"/>
          <p:nvPr/>
        </p:nvSpPr>
        <p:spPr>
          <a:xfrm>
            <a:off x="685800" y="5349240"/>
            <a:ext cx="10820095" cy="548640"/>
          </a:xfrm>
          <a:prstGeom prst="rect">
            <a:avLst/>
          </a:prstGeom>
          <a:noFill/>
        </p:spPr>
        <p:txBody>
          <a:bodyPr wrap="square" lIns="0" rIns="0" tIns="0" bIns="0" anchor="t">
            <a:spAutoFit/>
          </a:bodyPr>
          <a:lstStyle/>
          <a:p>
            <a:pPr algn="l">
              <a:lnSpc>
                <a:spcPct val="115000"/>
              </a:lnSpc>
            </a:pPr>
            <a:r>
              <a:rPr sz="1200" b="0">
                <a:solidFill>
                  <a:srgbClr val="9AA3B2"/>
                </a:solidFill>
                <a:latin typeface="Segoe UI"/>
              </a:rPr>
              <a:t>Forma: las dos técnicas ven un núcleo compacto de días normales y una periferia 1,7 veces más dispersa de días de carga alta. Complete coincide con Ward en 132 de 136 días.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CONTROL TEMPORAL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Determinista no es lo mismo que estable</a:t>
            </a:r>
          </a:p>
        </p:txBody>
      </p:sp>
      <p:sp>
        <p:nvSpPr>
          <p:cNvPr id="6" name="TextBox 5"/>
          <p:cNvSpPr txBox="1"/>
          <p:nvPr/>
        </p:nvSpPr>
        <p:spPr>
          <a:xfrm>
            <a:off x="685800" y="1783080"/>
            <a:ext cx="20116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TÉCNICA</a:t>
            </a:r>
          </a:p>
        </p:txBody>
      </p:sp>
      <p:sp>
        <p:nvSpPr>
          <p:cNvPr id="7" name="TextBox 6"/>
          <p:cNvSpPr txBox="1"/>
          <p:nvPr/>
        </p:nvSpPr>
        <p:spPr>
          <a:xfrm>
            <a:off x="2697480" y="1783080"/>
            <a:ext cx="29260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ARI: 110 DÍAS VS 136 DÍAS</a:t>
            </a:r>
          </a:p>
        </p:txBody>
      </p:sp>
      <p:sp>
        <p:nvSpPr>
          <p:cNvPr id="8" name="TextBox 7"/>
          <p:cNvSpPr txBox="1"/>
          <p:nvPr/>
        </p:nvSpPr>
        <p:spPr>
          <a:xfrm>
            <a:off x="5623560" y="1783080"/>
            <a:ext cx="25603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REPARTO CON 110 DÍAS</a:t>
            </a:r>
          </a:p>
        </p:txBody>
      </p:sp>
      <p:sp>
        <p:nvSpPr>
          <p:cNvPr id="9" name="TextBox 8"/>
          <p:cNvSpPr txBox="1"/>
          <p:nvPr/>
        </p:nvSpPr>
        <p:spPr>
          <a:xfrm>
            <a:off x="8183880" y="1783080"/>
            <a:ext cx="23774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 EN MAYO</a:t>
            </a:r>
          </a:p>
        </p:txBody>
      </p:sp>
      <p:sp>
        <p:nvSpPr>
          <p:cNvPr id="10" name="Rectangle 9"/>
          <p:cNvSpPr/>
          <p:nvPr/>
        </p:nvSpPr>
        <p:spPr>
          <a:xfrm>
            <a:off x="685800" y="2075688"/>
            <a:ext cx="9875519"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112264"/>
            <a:ext cx="9875519" cy="40233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12264"/>
            <a:ext cx="1901952" cy="438912"/>
          </a:xfrm>
          <a:prstGeom prst="rect">
            <a:avLst/>
          </a:prstGeom>
          <a:noFill/>
        </p:spPr>
        <p:txBody>
          <a:bodyPr wrap="square" lIns="0" rIns="0" tIns="0" bIns="0" anchor="ctr">
            <a:spAutoFit/>
          </a:bodyPr>
          <a:lstStyle/>
          <a:p>
            <a:pPr algn="l">
              <a:lnSpc>
                <a:spcPct val="115000"/>
              </a:lnSpc>
            </a:pPr>
            <a:r>
              <a:rPr sz="1350" b="1">
                <a:solidFill>
                  <a:srgbClr val="E6E9EF"/>
                </a:solidFill>
                <a:latin typeface="Segoe UI"/>
              </a:rPr>
              <a:t>K-Means</a:t>
            </a:r>
          </a:p>
        </p:txBody>
      </p:sp>
      <p:sp>
        <p:nvSpPr>
          <p:cNvPr id="13" name="TextBox 12"/>
          <p:cNvSpPr txBox="1"/>
          <p:nvPr/>
        </p:nvSpPr>
        <p:spPr>
          <a:xfrm>
            <a:off x="2697480" y="2112264"/>
            <a:ext cx="2816352" cy="438912"/>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1,000</a:t>
            </a:r>
          </a:p>
        </p:txBody>
      </p:sp>
      <p:sp>
        <p:nvSpPr>
          <p:cNvPr id="14" name="TextBox 13"/>
          <p:cNvSpPr txBox="1"/>
          <p:nvPr/>
        </p:nvSpPr>
        <p:spPr>
          <a:xfrm>
            <a:off x="5623560" y="2112264"/>
            <a:ext cx="2450592" cy="438912"/>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85 / 25</a:t>
            </a:r>
          </a:p>
        </p:txBody>
      </p:sp>
      <p:sp>
        <p:nvSpPr>
          <p:cNvPr id="15" name="TextBox 14"/>
          <p:cNvSpPr txBox="1"/>
          <p:nvPr/>
        </p:nvSpPr>
        <p:spPr>
          <a:xfrm>
            <a:off x="8183880" y="2112264"/>
            <a:ext cx="2267712" cy="438912"/>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11,5 %</a:t>
            </a:r>
          </a:p>
        </p:txBody>
      </p:sp>
      <p:sp>
        <p:nvSpPr>
          <p:cNvPr id="16" name="TextBox 15"/>
          <p:cNvSpPr txBox="1"/>
          <p:nvPr/>
        </p:nvSpPr>
        <p:spPr>
          <a:xfrm>
            <a:off x="777240" y="2551176"/>
            <a:ext cx="1901952" cy="438912"/>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Ward</a:t>
            </a:r>
          </a:p>
        </p:txBody>
      </p:sp>
      <p:sp>
        <p:nvSpPr>
          <p:cNvPr id="17" name="TextBox 16"/>
          <p:cNvSpPr txBox="1"/>
          <p:nvPr/>
        </p:nvSpPr>
        <p:spPr>
          <a:xfrm>
            <a:off x="2697480" y="2551176"/>
            <a:ext cx="2816352" cy="438912"/>
          </a:xfrm>
          <a:prstGeom prst="rect">
            <a:avLst/>
          </a:prstGeom>
          <a:noFill/>
        </p:spPr>
        <p:txBody>
          <a:bodyPr wrap="square" lIns="0" rIns="0" tIns="0" bIns="0" anchor="ctr">
            <a:spAutoFit/>
          </a:bodyPr>
          <a:lstStyle/>
          <a:p>
            <a:pPr algn="r">
              <a:lnSpc>
                <a:spcPct val="115000"/>
              </a:lnSpc>
            </a:pPr>
            <a:r>
              <a:rPr sz="1350" b="0">
                <a:solidFill>
                  <a:srgbClr val="F28B82"/>
                </a:solidFill>
                <a:latin typeface="Consolas"/>
              </a:rPr>
              <a:t>0,359</a:t>
            </a:r>
          </a:p>
        </p:txBody>
      </p:sp>
      <p:sp>
        <p:nvSpPr>
          <p:cNvPr id="18" name="TextBox 17"/>
          <p:cNvSpPr txBox="1"/>
          <p:nvPr/>
        </p:nvSpPr>
        <p:spPr>
          <a:xfrm>
            <a:off x="5623560" y="2551176"/>
            <a:ext cx="2450592" cy="438912"/>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70 / 40</a:t>
            </a:r>
          </a:p>
        </p:txBody>
      </p:sp>
      <p:sp>
        <p:nvSpPr>
          <p:cNvPr id="19" name="TextBox 18"/>
          <p:cNvSpPr txBox="1"/>
          <p:nvPr/>
        </p:nvSpPr>
        <p:spPr>
          <a:xfrm>
            <a:off x="8183880" y="2551176"/>
            <a:ext cx="2267712" cy="438912"/>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19,2 %</a:t>
            </a:r>
          </a:p>
        </p:txBody>
      </p:sp>
      <p:sp>
        <p:nvSpPr>
          <p:cNvPr id="20" name="TextBox 19"/>
          <p:cNvSpPr txBox="1"/>
          <p:nvPr/>
        </p:nvSpPr>
        <p:spPr>
          <a:xfrm>
            <a:off x="777240" y="2990088"/>
            <a:ext cx="1901952" cy="438912"/>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Complete</a:t>
            </a:r>
          </a:p>
        </p:txBody>
      </p:sp>
      <p:sp>
        <p:nvSpPr>
          <p:cNvPr id="21" name="TextBox 20"/>
          <p:cNvSpPr txBox="1"/>
          <p:nvPr/>
        </p:nvSpPr>
        <p:spPr>
          <a:xfrm>
            <a:off x="2697480" y="2990088"/>
            <a:ext cx="2816352" cy="438912"/>
          </a:xfrm>
          <a:prstGeom prst="rect">
            <a:avLst/>
          </a:prstGeom>
          <a:noFill/>
        </p:spPr>
        <p:txBody>
          <a:bodyPr wrap="square" lIns="0" rIns="0" tIns="0" bIns="0" anchor="ctr">
            <a:spAutoFit/>
          </a:bodyPr>
          <a:lstStyle/>
          <a:p>
            <a:pPr algn="r">
              <a:lnSpc>
                <a:spcPct val="115000"/>
              </a:lnSpc>
            </a:pPr>
            <a:r>
              <a:rPr sz="1350" b="0">
                <a:solidFill>
                  <a:srgbClr val="F28B82"/>
                </a:solidFill>
                <a:latin typeface="Consolas"/>
              </a:rPr>
              <a:t>0,401</a:t>
            </a:r>
          </a:p>
        </p:txBody>
      </p:sp>
      <p:sp>
        <p:nvSpPr>
          <p:cNvPr id="22" name="TextBox 21"/>
          <p:cNvSpPr txBox="1"/>
          <p:nvPr/>
        </p:nvSpPr>
        <p:spPr>
          <a:xfrm>
            <a:off x="5623560" y="2990088"/>
            <a:ext cx="2450592" cy="438912"/>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72 / 38</a:t>
            </a:r>
          </a:p>
        </p:txBody>
      </p:sp>
      <p:sp>
        <p:nvSpPr>
          <p:cNvPr id="23" name="TextBox 22"/>
          <p:cNvSpPr txBox="1"/>
          <p:nvPr/>
        </p:nvSpPr>
        <p:spPr>
          <a:xfrm>
            <a:off x="8183880" y="2990088"/>
            <a:ext cx="2267712" cy="438912"/>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19,2 %</a:t>
            </a:r>
          </a:p>
        </p:txBody>
      </p:sp>
      <p:sp>
        <p:nvSpPr>
          <p:cNvPr id="24" name="Rectangle 23"/>
          <p:cNvSpPr/>
          <p:nvPr/>
        </p:nvSpPr>
        <p:spPr>
          <a:xfrm>
            <a:off x="685800" y="3794760"/>
            <a:ext cx="521208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3794760"/>
            <a:ext cx="54864" cy="16002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3977640"/>
            <a:ext cx="4754880" cy="12801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Qué pasó.</a:t>
            </a:r>
            <a:r>
              <a:rPr sz="1300" b="0">
                <a:solidFill>
                  <a:srgbClr val="C9D1DE"/>
                </a:solidFill>
                <a:latin typeface="Segoe UI"/>
              </a:rPr>
              <a:t> Ajustado solo con enero–abril, el árbol de Ward cambia su primera división: el grupo intermedio (21 de sus 25 días) se pasa al lado de carga alta. K-Means da exactamente el mismo reparto.</a:t>
            </a:r>
          </a:p>
        </p:txBody>
      </p:sp>
      <p:sp>
        <p:nvSpPr>
          <p:cNvPr id="27" name="Rectangle 26"/>
          <p:cNvSpPr/>
          <p:nvPr/>
        </p:nvSpPr>
        <p:spPr>
          <a:xfrm>
            <a:off x="6126480" y="3794760"/>
            <a:ext cx="53492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79476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977640"/>
            <a:ext cx="4892040" cy="12801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Por qué decide.</a:t>
            </a:r>
            <a:r>
              <a:rPr sz="1300" b="0">
                <a:solidFill>
                  <a:srgbClr val="C9D1DE"/>
                </a:solidFill>
                <a:latin typeface="Segoe UI"/>
              </a:rPr>
              <a:t> Shiro recibe un día nuevo cada 24 horas: «carga alta» no puede cambiar de significado cada vez que se agrega un mes. El jerárquico es determinista; K-Means con una sola inicialización reproduce su reparto solo en el 40 % de las semillas (se usa n_init = 10).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REFLEXIÓN FINAL · K-MEANS FRENTE A JERÁRQUICO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K-Means para producción; jerárquico para auditoría</a:t>
            </a:r>
          </a:p>
        </p:txBody>
      </p:sp>
      <p:sp>
        <p:nvSpPr>
          <p:cNvPr id="6" name="TextBox 5"/>
          <p:cNvSpPr txBox="1"/>
          <p:nvPr/>
        </p:nvSpPr>
        <p:spPr>
          <a:xfrm>
            <a:off x="685800" y="1783080"/>
            <a:ext cx="30175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CRITERIO</a:t>
            </a:r>
          </a:p>
        </p:txBody>
      </p:sp>
      <p:sp>
        <p:nvSpPr>
          <p:cNvPr id="7" name="TextBox 6"/>
          <p:cNvSpPr txBox="1"/>
          <p:nvPr/>
        </p:nvSpPr>
        <p:spPr>
          <a:xfrm>
            <a:off x="3703320" y="1783080"/>
            <a:ext cx="21031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K-MEANS</a:t>
            </a:r>
          </a:p>
        </p:txBody>
      </p:sp>
      <p:sp>
        <p:nvSpPr>
          <p:cNvPr id="8" name="TextBox 7"/>
          <p:cNvSpPr txBox="1"/>
          <p:nvPr/>
        </p:nvSpPr>
        <p:spPr>
          <a:xfrm>
            <a:off x="5806440" y="1783080"/>
            <a:ext cx="3566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JERÁRQUICO</a:t>
            </a:r>
          </a:p>
        </p:txBody>
      </p:sp>
      <p:sp>
        <p:nvSpPr>
          <p:cNvPr id="9" name="TextBox 8"/>
          <p:cNvSpPr txBox="1"/>
          <p:nvPr/>
        </p:nvSpPr>
        <p:spPr>
          <a:xfrm>
            <a:off x="9372600" y="1783080"/>
            <a:ext cx="1920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GANA</a:t>
            </a:r>
          </a:p>
        </p:txBody>
      </p:sp>
      <p:sp>
        <p:nvSpPr>
          <p:cNvPr id="10" name="Rectangle 9"/>
          <p:cNvSpPr/>
          <p:nvPr/>
        </p:nvSpPr>
        <p:spPr>
          <a:xfrm>
            <a:off x="685800" y="2075688"/>
            <a:ext cx="106070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12264"/>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Asignar un día nuevo</a:t>
            </a:r>
          </a:p>
        </p:txBody>
      </p:sp>
      <p:sp>
        <p:nvSpPr>
          <p:cNvPr id="12" name="TextBox 11"/>
          <p:cNvSpPr txBox="1"/>
          <p:nvPr/>
        </p:nvSpPr>
        <p:spPr>
          <a:xfrm>
            <a:off x="3794760" y="2112264"/>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predict</a:t>
            </a:r>
          </a:p>
        </p:txBody>
      </p:sp>
      <p:sp>
        <p:nvSpPr>
          <p:cNvPr id="13" name="TextBox 12"/>
          <p:cNvSpPr txBox="1"/>
          <p:nvPr/>
        </p:nvSpPr>
        <p:spPr>
          <a:xfrm>
            <a:off x="5897880" y="2112264"/>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 tiene predict</a:t>
            </a:r>
          </a:p>
        </p:txBody>
      </p:sp>
      <p:sp>
        <p:nvSpPr>
          <p:cNvPr id="14" name="TextBox 13"/>
          <p:cNvSpPr txBox="1"/>
          <p:nvPr/>
        </p:nvSpPr>
        <p:spPr>
          <a:xfrm>
            <a:off x="9464040" y="2112264"/>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15" name="TextBox 14"/>
          <p:cNvSpPr txBox="1"/>
          <p:nvPr/>
        </p:nvSpPr>
        <p:spPr>
          <a:xfrm>
            <a:off x="777240" y="2514600"/>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Estable al añadir un mes</a:t>
            </a:r>
          </a:p>
        </p:txBody>
      </p:sp>
      <p:sp>
        <p:nvSpPr>
          <p:cNvPr id="16" name="TextBox 15"/>
          <p:cNvSpPr txBox="1"/>
          <p:nvPr/>
        </p:nvSpPr>
        <p:spPr>
          <a:xfrm>
            <a:off x="3794760" y="2514600"/>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ARI 1,000</a:t>
            </a:r>
          </a:p>
        </p:txBody>
      </p:sp>
      <p:sp>
        <p:nvSpPr>
          <p:cNvPr id="17" name="TextBox 16"/>
          <p:cNvSpPr txBox="1"/>
          <p:nvPr/>
        </p:nvSpPr>
        <p:spPr>
          <a:xfrm>
            <a:off x="5897880" y="2514600"/>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ARI 0,359</a:t>
            </a:r>
          </a:p>
        </p:txBody>
      </p:sp>
      <p:sp>
        <p:nvSpPr>
          <p:cNvPr id="18" name="TextBox 17"/>
          <p:cNvSpPr txBox="1"/>
          <p:nvPr/>
        </p:nvSpPr>
        <p:spPr>
          <a:xfrm>
            <a:off x="9464040" y="2514600"/>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19" name="TextBox 18"/>
          <p:cNvSpPr txBox="1"/>
          <p:nvPr/>
        </p:nvSpPr>
        <p:spPr>
          <a:xfrm>
            <a:off x="777240" y="2916936"/>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Estimar el tipo a medio día</a:t>
            </a:r>
          </a:p>
        </p:txBody>
      </p:sp>
      <p:sp>
        <p:nvSpPr>
          <p:cNvPr id="20" name="TextBox 19"/>
          <p:cNvSpPr txBox="1"/>
          <p:nvPr/>
        </p:nvSpPr>
        <p:spPr>
          <a:xfrm>
            <a:off x="3794760" y="2916936"/>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directo</a:t>
            </a:r>
          </a:p>
        </p:txBody>
      </p:sp>
      <p:sp>
        <p:nvSpPr>
          <p:cNvPr id="21" name="TextBox 20"/>
          <p:cNvSpPr txBox="1"/>
          <p:nvPr/>
        </p:nvSpPr>
        <p:spPr>
          <a:xfrm>
            <a:off x="5897880" y="2916936"/>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centroides derivados</a:t>
            </a:r>
          </a:p>
        </p:txBody>
      </p:sp>
      <p:sp>
        <p:nvSpPr>
          <p:cNvPr id="22" name="TextBox 21"/>
          <p:cNvSpPr txBox="1"/>
          <p:nvPr/>
        </p:nvSpPr>
        <p:spPr>
          <a:xfrm>
            <a:off x="9464040" y="2916936"/>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23" name="TextBox 22"/>
          <p:cNvSpPr txBox="1"/>
          <p:nvPr/>
        </p:nvSpPr>
        <p:spPr>
          <a:xfrm>
            <a:off x="777240" y="3319272"/>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Coste</a:t>
            </a:r>
          </a:p>
        </p:txBody>
      </p:sp>
      <p:sp>
        <p:nvSpPr>
          <p:cNvPr id="24" name="TextBox 23"/>
          <p:cNvSpPr txBox="1"/>
          <p:nvPr/>
        </p:nvSpPr>
        <p:spPr>
          <a:xfrm>
            <a:off x="3794760" y="3319272"/>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lineal</a:t>
            </a:r>
          </a:p>
        </p:txBody>
      </p:sp>
      <p:sp>
        <p:nvSpPr>
          <p:cNvPr id="25" name="TextBox 24"/>
          <p:cNvSpPr txBox="1"/>
          <p:nvPr/>
        </p:nvSpPr>
        <p:spPr>
          <a:xfrm>
            <a:off x="5897880" y="3319272"/>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O(n²): 1,6 GB en lecturas</a:t>
            </a:r>
          </a:p>
        </p:txBody>
      </p:sp>
      <p:sp>
        <p:nvSpPr>
          <p:cNvPr id="26" name="TextBox 25"/>
          <p:cNvSpPr txBox="1"/>
          <p:nvPr/>
        </p:nvSpPr>
        <p:spPr>
          <a:xfrm>
            <a:off x="9464040" y="3319272"/>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27" name="TextBox 26"/>
          <p:cNvSpPr txBox="1"/>
          <p:nvPr/>
        </p:nvSpPr>
        <p:spPr>
          <a:xfrm>
            <a:off x="777240" y="3721608"/>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Determinismo</a:t>
            </a:r>
          </a:p>
        </p:txBody>
      </p:sp>
      <p:sp>
        <p:nvSpPr>
          <p:cNvPr id="28" name="TextBox 27"/>
          <p:cNvSpPr txBox="1"/>
          <p:nvPr/>
        </p:nvSpPr>
        <p:spPr>
          <a:xfrm>
            <a:off x="3794760" y="3721608"/>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necesita n_init</a:t>
            </a:r>
          </a:p>
        </p:txBody>
      </p:sp>
      <p:sp>
        <p:nvSpPr>
          <p:cNvPr id="29" name="TextBox 28"/>
          <p:cNvSpPr txBox="1"/>
          <p:nvPr/>
        </p:nvSpPr>
        <p:spPr>
          <a:xfrm>
            <a:off x="5897880" y="3721608"/>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total</a:t>
            </a:r>
          </a:p>
        </p:txBody>
      </p:sp>
      <p:sp>
        <p:nvSpPr>
          <p:cNvPr id="30" name="TextBox 29"/>
          <p:cNvSpPr txBox="1"/>
          <p:nvPr/>
        </p:nvSpPr>
        <p:spPr>
          <a:xfrm>
            <a:off x="9464040" y="3721608"/>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1" name="TextBox 30"/>
          <p:cNvSpPr txBox="1"/>
          <p:nvPr/>
        </p:nvSpPr>
        <p:spPr>
          <a:xfrm>
            <a:off x="777240" y="4123944"/>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Estructura anidada</a:t>
            </a:r>
          </a:p>
        </p:txBody>
      </p:sp>
      <p:sp>
        <p:nvSpPr>
          <p:cNvPr id="32" name="TextBox 31"/>
          <p:cNvSpPr txBox="1"/>
          <p:nvPr/>
        </p:nvSpPr>
        <p:spPr>
          <a:xfrm>
            <a:off x="3794760" y="4123944"/>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a:t>
            </a:r>
          </a:p>
        </p:txBody>
      </p:sp>
      <p:sp>
        <p:nvSpPr>
          <p:cNvPr id="33" name="TextBox 32"/>
          <p:cNvSpPr txBox="1"/>
          <p:nvPr/>
        </p:nvSpPr>
        <p:spPr>
          <a:xfrm>
            <a:off x="5897880" y="4123944"/>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normal / intermedio / alta</a:t>
            </a:r>
          </a:p>
        </p:txBody>
      </p:sp>
      <p:sp>
        <p:nvSpPr>
          <p:cNvPr id="34" name="TextBox 33"/>
          <p:cNvSpPr txBox="1"/>
          <p:nvPr/>
        </p:nvSpPr>
        <p:spPr>
          <a:xfrm>
            <a:off x="9464040" y="4123944"/>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5" name="TextBox 34"/>
          <p:cNvSpPr txBox="1"/>
          <p:nvPr/>
        </p:nvSpPr>
        <p:spPr>
          <a:xfrm>
            <a:off x="777240" y="4526280"/>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Detectar días atípicos</a:t>
            </a:r>
          </a:p>
        </p:txBody>
      </p:sp>
      <p:sp>
        <p:nvSpPr>
          <p:cNvPr id="36" name="TextBox 35"/>
          <p:cNvSpPr txBox="1"/>
          <p:nvPr/>
        </p:nvSpPr>
        <p:spPr>
          <a:xfrm>
            <a:off x="3794760" y="4526280"/>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los absorbe</a:t>
            </a:r>
          </a:p>
        </p:txBody>
      </p:sp>
      <p:sp>
        <p:nvSpPr>
          <p:cNvPr id="37" name="TextBox 36"/>
          <p:cNvSpPr txBox="1"/>
          <p:nvPr/>
        </p:nvSpPr>
        <p:spPr>
          <a:xfrm>
            <a:off x="5897880" y="4526280"/>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average / complete los aíslan</a:t>
            </a:r>
          </a:p>
        </p:txBody>
      </p:sp>
      <p:sp>
        <p:nvSpPr>
          <p:cNvPr id="38" name="TextBox 37"/>
          <p:cNvSpPr txBox="1"/>
          <p:nvPr/>
        </p:nvSpPr>
        <p:spPr>
          <a:xfrm>
            <a:off x="9464040" y="4526280"/>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9" name="Rectangle 38"/>
          <p:cNvSpPr/>
          <p:nvPr/>
        </p:nvSpPr>
        <p:spPr>
          <a:xfrm>
            <a:off x="685800" y="5166360"/>
            <a:ext cx="10820095"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 y="5166360"/>
            <a:ext cx="54864" cy="9144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 y="5349240"/>
            <a:ext cx="10362895" cy="5943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Para nuestro caso:</a:t>
            </a:r>
            <a:r>
              <a:rPr sz="1300" b="0">
                <a:solidFill>
                  <a:srgbClr val="C9D1DE"/>
                </a:solidFill>
                <a:latin typeface="Segoe UI"/>
              </a:rPr>
              <a:t> K-Means asigna el tipo de día en línea. El jerárquico confirmó que los dos tipos son reales (dos criterios de fusión, 94 % de acuerdo), mostró el nivel intermedio y señaló los días que no encajan: se vuelve a correr en cada reentrenamiento mensual como auditoría.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JERÁRQUICO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MDP recibe del taller jerárquico</a:t>
            </a:r>
          </a:p>
        </p:txBody>
      </p:sp>
      <p:sp>
        <p:nvSpPr>
          <p:cNvPr id="6" name="TextBox 5"/>
          <p:cNvSpPr txBox="1"/>
          <p:nvPr/>
        </p:nvSpPr>
        <p:spPr>
          <a:xfrm>
            <a:off x="68580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tipo de día queda auditado.</a:t>
            </a:r>
          </a:p>
        </p:txBody>
      </p:sp>
      <p:sp>
        <p:nvSpPr>
          <p:cNvPr id="8" name="TextBox 7"/>
          <p:cNvSpPr txBox="1"/>
          <p:nvPr/>
        </p:nvSpPr>
        <p:spPr>
          <a:xfrm>
            <a:off x="128016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Ward y complete: k = 2 y 94 % de acuerdo con K-Means.</a:t>
            </a:r>
          </a:p>
        </p:txBody>
      </p:sp>
      <p:sp>
        <p:nvSpPr>
          <p:cNvPr id="9" name="TextBox 8"/>
          <p:cNvSpPr txBox="1"/>
          <p:nvPr/>
        </p:nvSpPr>
        <p:spPr>
          <a:xfrm>
            <a:off x="612648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Su frontera es difusa, y está medida.</a:t>
            </a:r>
          </a:p>
        </p:txBody>
      </p:sp>
      <p:sp>
        <p:nvSpPr>
          <p:cNvPr id="11" name="TextBox 10"/>
          <p:cNvSpPr txBox="1"/>
          <p:nvPr/>
        </p:nvSpPr>
        <p:spPr>
          <a:xfrm>
            <a:off x="672084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margen al centroide entra al estado como confianza.</a:t>
            </a:r>
          </a:p>
        </p:txBody>
      </p:sp>
      <p:sp>
        <p:nvSpPr>
          <p:cNvPr id="12" name="TextBox 11"/>
          <p:cNvSpPr txBox="1"/>
          <p:nvPr/>
        </p:nvSpPr>
        <p:spPr>
          <a:xfrm>
            <a:off x="68580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K-Means asigna en producción.</a:t>
            </a:r>
          </a:p>
        </p:txBody>
      </p:sp>
      <p:sp>
        <p:nvSpPr>
          <p:cNvPr id="14" name="TextBox 13"/>
          <p:cNvSpPr txBox="1"/>
          <p:nvPr/>
        </p:nvSpPr>
        <p:spPr>
          <a:xfrm>
            <a:off x="128016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Estable al agregar un mes, con predict y estimación a medio día.</a:t>
            </a:r>
          </a:p>
        </p:txBody>
      </p:sp>
      <p:sp>
        <p:nvSpPr>
          <p:cNvPr id="15" name="TextBox 14"/>
          <p:cNvSpPr txBox="1"/>
          <p:nvPr/>
        </p:nvSpPr>
        <p:spPr>
          <a:xfrm>
            <a:off x="612648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jerárquico, como auditoría mensual.</a:t>
            </a:r>
          </a:p>
        </p:txBody>
      </p:sp>
      <p:sp>
        <p:nvSpPr>
          <p:cNvPr id="17" name="TextBox 16"/>
          <p:cNvSpPr txBox="1"/>
          <p:nvPr/>
        </p:nvSpPr>
        <p:spPr>
          <a:xfrm>
            <a:off x="672084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 su acuerdo con K-Means cae, la definición está cambiando.</a:t>
            </a:r>
          </a:p>
        </p:txBody>
      </p:sp>
      <p:sp>
        <p:nvSpPr>
          <p:cNvPr id="18" name="TextBox 17"/>
          <p:cNvSpPr txBox="1"/>
          <p:nvPr/>
        </p:nvSpPr>
        <p:spPr>
          <a:xfrm>
            <a:off x="68580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k nunca se elige solo por la métrica.</a:t>
            </a:r>
          </a:p>
        </p:txBody>
      </p:sp>
      <p:sp>
        <p:nvSpPr>
          <p:cNvPr id="20" name="TextBox 19"/>
          <p:cNvSpPr txBox="1"/>
          <p:nvPr/>
        </p:nvSpPr>
        <p:spPr>
          <a:xfrm>
            <a:off x="128016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Convención nueva: tamaño mínimo de clúster del 5 %.</a:t>
            </a:r>
          </a:p>
        </p:txBody>
      </p:sp>
      <p:sp>
        <p:nvSpPr>
          <p:cNvPr id="21" name="TextBox 20"/>
          <p:cNvSpPr txBox="1"/>
          <p:nvPr/>
        </p:nvSpPr>
        <p:spPr>
          <a:xfrm>
            <a:off x="612648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Hay días que no encajan.</a:t>
            </a:r>
          </a:p>
        </p:txBody>
      </p:sp>
      <p:sp>
        <p:nvSpPr>
          <p:cNvPr id="23" name="TextBox 22"/>
          <p:cNvSpPr txBox="1"/>
          <p:nvPr/>
        </p:nvSpPr>
        <p:spPr>
          <a:xfrm>
            <a:off x="672084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24-ene, 16-mar, 15-abr: raros por cuándo consumen → taller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48</a:t>
            </a:r>
          </a:p>
        </p:txBody>
      </p:sp>
      <p:sp>
        <p:nvSpPr>
          <p:cNvPr id="4" name="TextBox 3"/>
          <p:cNvSpPr txBox="1"/>
          <p:nvPr/>
        </p:nvSpPr>
        <p:spPr>
          <a:xfrm>
            <a:off x="685800" y="822960"/>
            <a:ext cx="54864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TALLER 4 · 2.º CORTE</a:t>
            </a:r>
          </a:p>
        </p:txBody>
      </p:sp>
      <p:sp>
        <p:nvSpPr>
          <p:cNvPr id="5" name="TextBox 4"/>
          <p:cNvSpPr txBox="1"/>
          <p:nvPr/>
        </p:nvSpPr>
        <p:spPr>
          <a:xfrm>
            <a:off x="685800" y="1188720"/>
            <a:ext cx="2743200" cy="1463040"/>
          </a:xfrm>
          <a:prstGeom prst="rect">
            <a:avLst/>
          </a:prstGeom>
          <a:noFill/>
        </p:spPr>
        <p:txBody>
          <a:bodyPr wrap="square" lIns="0" rIns="0" tIns="0" bIns="0" anchor="t">
            <a:spAutoFit/>
          </a:bodyPr>
          <a:lstStyle/>
          <a:p>
            <a:pPr algn="l">
              <a:lnSpc>
                <a:spcPct val="115000"/>
              </a:lnSpc>
            </a:pPr>
            <a:r>
              <a:rPr sz="9600" b="1">
                <a:solidFill>
                  <a:srgbClr val="7BD992"/>
                </a:solidFill>
                <a:latin typeface="Consolas"/>
              </a:rPr>
              <a:t>04</a:t>
            </a:r>
          </a:p>
        </p:txBody>
      </p:sp>
      <p:sp>
        <p:nvSpPr>
          <p:cNvPr id="6" name="TextBox 5"/>
          <p:cNvSpPr txBox="1"/>
          <p:nvPr/>
        </p:nvSpPr>
        <p:spPr>
          <a:xfrm>
            <a:off x="3337560" y="1417320"/>
            <a:ext cx="8046720" cy="822960"/>
          </a:xfrm>
          <a:prstGeom prst="rect">
            <a:avLst/>
          </a:prstGeom>
          <a:noFill/>
        </p:spPr>
        <p:txBody>
          <a:bodyPr wrap="square" lIns="0" rIns="0" tIns="0" bIns="0" anchor="t">
            <a:spAutoFit/>
          </a:bodyPr>
          <a:lstStyle/>
          <a:p>
            <a:pPr algn="l">
              <a:lnSpc>
                <a:spcPct val="115000"/>
              </a:lnSpc>
            </a:pPr>
            <a:r>
              <a:rPr sz="4000" b="0">
                <a:solidFill>
                  <a:srgbClr val="E6E9EF"/>
                </a:solidFill>
                <a:latin typeface="Segoe UI Semibold"/>
              </a:rPr>
              <a:t>DBSCAN</a:t>
            </a:r>
          </a:p>
        </p:txBody>
      </p:sp>
      <p:sp>
        <p:nvSpPr>
          <p:cNvPr id="7" name="TextBox 6"/>
          <p:cNvSpPr txBox="1"/>
          <p:nvPr/>
        </p:nvSpPr>
        <p:spPr>
          <a:xfrm>
            <a:off x="3337560" y="2240280"/>
            <a:ext cx="8046720" cy="822960"/>
          </a:xfrm>
          <a:prstGeom prst="rect">
            <a:avLst/>
          </a:prstGeom>
          <a:noFill/>
        </p:spPr>
        <p:txBody>
          <a:bodyPr wrap="square" lIns="0" rIns="0" tIns="0" bIns="0" anchor="t">
            <a:spAutoFit/>
          </a:bodyPr>
          <a:lstStyle/>
          <a:p>
            <a:pPr algn="l">
              <a:lnSpc>
                <a:spcPct val="115000"/>
              </a:lnSpc>
            </a:pPr>
            <a:r>
              <a:rPr sz="2000" b="0">
                <a:solidFill>
                  <a:srgbClr val="C9D1DE"/>
                </a:solidFill>
                <a:latin typeface="Segoe UI"/>
              </a:rPr>
              <a:t>¿Qué no pertenece a ningún patrón: qué días y qué lecturas?</a:t>
            </a:r>
          </a:p>
        </p:txBody>
      </p:sp>
      <p:sp>
        <p:nvSpPr>
          <p:cNvPr id="8" name="Rectangle 7"/>
          <p:cNvSpPr/>
          <p:nvPr/>
        </p:nvSpPr>
        <p:spPr>
          <a:xfrm>
            <a:off x="685800" y="34290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11880"/>
            <a:ext cx="36576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EL ENUNCIADO</a:t>
            </a:r>
          </a:p>
        </p:txBody>
      </p:sp>
      <p:sp>
        <p:nvSpPr>
          <p:cNvPr id="10" name="TextBox 9"/>
          <p:cNvSpPr txBox="1"/>
          <p:nvPr/>
        </p:nvSpPr>
        <p:spPr>
          <a:xfrm>
            <a:off x="685800" y="3931920"/>
            <a:ext cx="6766560" cy="146304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Seleccionar y escalar columnas numéricas; estimar eps con el gráfico de k-distancias y su codo; aplicar DBSCAN y visualizar; si todo es un gran grupo, separar por grupos; responder cuántos clústeres, qué fue ruido, cómo cambia con eps y min_samples, y qué implica en el sector.</a:t>
            </a:r>
          </a:p>
        </p:txBody>
      </p:sp>
      <p:sp>
        <p:nvSpPr>
          <p:cNvPr id="11" name="TextBox 10"/>
          <p:cNvSpPr txBox="1"/>
          <p:nvPr/>
        </p:nvSpPr>
        <p:spPr>
          <a:xfrm>
            <a:off x="8001000" y="361188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PIEZA DE SHIRO</a:t>
            </a:r>
          </a:p>
        </p:txBody>
      </p:sp>
      <p:sp>
        <p:nvSpPr>
          <p:cNvPr id="12" name="TextBox 11"/>
          <p:cNvSpPr txBox="1"/>
          <p:nvPr/>
        </p:nvSpPr>
        <p:spPr>
          <a:xfrm>
            <a:off x="8001000" y="3931920"/>
            <a:ext cx="3474720" cy="91440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Gemelo digital y Guardian</a:t>
            </a:r>
          </a:p>
        </p:txBody>
      </p:sp>
      <p:sp>
        <p:nvSpPr>
          <p:cNvPr id="13" name="TextBox 12"/>
          <p:cNvSpPr txBox="1"/>
          <p:nvPr/>
        </p:nvSpPr>
        <p:spPr>
          <a:xfrm>
            <a:off x="8001000" y="4892040"/>
            <a:ext cx="347472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PRESENTA</a:t>
            </a:r>
          </a:p>
        </p:txBody>
      </p:sp>
      <p:sp>
        <p:nvSpPr>
          <p:cNvPr id="14" name="TextBox 13"/>
          <p:cNvSpPr txBox="1"/>
          <p:nvPr/>
        </p:nvSpPr>
        <p:spPr>
          <a:xfrm>
            <a:off x="8001000" y="5212080"/>
            <a:ext cx="3474720" cy="457200"/>
          </a:xfrm>
          <a:prstGeom prst="rect">
            <a:avLst/>
          </a:prstGeom>
          <a:noFill/>
        </p:spPr>
        <p:txBody>
          <a:bodyPr wrap="square" lIns="0" rIns="0" tIns="0" bIns="0" anchor="t">
            <a:spAutoFit/>
          </a:bodyPr>
          <a:lstStyle/>
          <a:p>
            <a:pPr algn="l">
              <a:lnSpc>
                <a:spcPct val="115000"/>
              </a:lnSpc>
            </a:pPr>
            <a:r>
              <a:rPr sz="1400" b="0">
                <a:solidFill>
                  <a:srgbClr val="7BD992"/>
                </a:solidFill>
                <a:latin typeface="Segoe UI Semibold"/>
              </a:rPr>
              <a:t>Alex Duran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49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ENCUADRE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Dos niveles, una sola pregunta</a:t>
            </a:r>
          </a:p>
        </p:txBody>
      </p:sp>
      <p:sp>
        <p:nvSpPr>
          <p:cNvPr id="6" name="Rounded Rectangle 5"/>
          <p:cNvSpPr/>
          <p:nvPr/>
        </p:nvSpPr>
        <p:spPr>
          <a:xfrm>
            <a:off x="685800" y="1828800"/>
            <a:ext cx="5295747" cy="219456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4838547" cy="548640"/>
          </a:xfrm>
          <a:prstGeom prst="rect">
            <a:avLst/>
          </a:prstGeom>
          <a:noFill/>
        </p:spPr>
        <p:txBody>
          <a:bodyPr wrap="square" lIns="0" rIns="0" tIns="0" bIns="0" anchor="t">
            <a:spAutoFit/>
          </a:bodyPr>
          <a:lstStyle/>
          <a:p>
            <a:pPr algn="l">
              <a:lnSpc>
                <a:spcPct val="115000"/>
              </a:lnSpc>
            </a:pPr>
            <a:r>
              <a:rPr sz="2000" b="0">
                <a:solidFill>
                  <a:srgbClr val="E6E9EF"/>
                </a:solidFill>
                <a:latin typeface="Segoe UI Semibold"/>
              </a:rPr>
              <a:t>A · Días</a:t>
            </a:r>
          </a:p>
        </p:txBody>
      </p:sp>
      <p:sp>
        <p:nvSpPr>
          <p:cNvPr id="8" name="TextBox 7"/>
          <p:cNvSpPr txBox="1"/>
          <p:nvPr/>
        </p:nvSpPr>
        <p:spPr>
          <a:xfrm>
            <a:off x="914400" y="2606040"/>
            <a:ext cx="4838547" cy="1005840"/>
          </a:xfrm>
          <a:prstGeom prst="rect">
            <a:avLst/>
          </a:prstGeom>
          <a:noFill/>
        </p:spPr>
        <p:txBody>
          <a:bodyPr wrap="square" lIns="0" rIns="0" tIns="0" bIns="0" anchor="t">
            <a:spAutoFit/>
          </a:bodyPr>
          <a:lstStyle/>
          <a:p>
            <a:pPr algn="l">
              <a:lnSpc>
                <a:spcPct val="115000"/>
              </a:lnSpc>
            </a:pPr>
            <a:r>
              <a:rPr sz="1400" b="0">
                <a:solidFill>
                  <a:srgbClr val="9AA3B2"/>
                </a:solidFill>
                <a:latin typeface="Segoe UI"/>
              </a:rPr>
              <a:t>¿Los tipos de día son grupos densos? ¿Qué días no debe aprender el gemelo como rutina?</a:t>
            </a:r>
          </a:p>
        </p:txBody>
      </p:sp>
      <p:sp>
        <p:nvSpPr>
          <p:cNvPr id="9" name="TextBox 8"/>
          <p:cNvSpPr txBox="1"/>
          <p:nvPr/>
        </p:nvSpPr>
        <p:spPr>
          <a:xfrm>
            <a:off x="914400" y="3639312"/>
            <a:ext cx="4838547"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GEMELO · VARIABLE TIPO DE DÍA</a:t>
            </a:r>
          </a:p>
        </p:txBody>
      </p:sp>
      <p:sp>
        <p:nvSpPr>
          <p:cNvPr id="10" name="Rounded Rectangle 9"/>
          <p:cNvSpPr/>
          <p:nvPr/>
        </p:nvSpPr>
        <p:spPr>
          <a:xfrm>
            <a:off x="6210147" y="1828800"/>
            <a:ext cx="5295747" cy="219456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8747" y="2029968"/>
            <a:ext cx="4838547" cy="548640"/>
          </a:xfrm>
          <a:prstGeom prst="rect">
            <a:avLst/>
          </a:prstGeom>
          <a:noFill/>
        </p:spPr>
        <p:txBody>
          <a:bodyPr wrap="square" lIns="0" rIns="0" tIns="0" bIns="0" anchor="t">
            <a:spAutoFit/>
          </a:bodyPr>
          <a:lstStyle/>
          <a:p>
            <a:pPr algn="l">
              <a:lnSpc>
                <a:spcPct val="115000"/>
              </a:lnSpc>
            </a:pPr>
            <a:r>
              <a:rPr sz="2000" b="0">
                <a:solidFill>
                  <a:srgbClr val="E6E9EF"/>
                </a:solidFill>
                <a:latin typeface="Segoe UI Semibold"/>
              </a:rPr>
              <a:t>B · Lecturas</a:t>
            </a:r>
          </a:p>
        </p:txBody>
      </p:sp>
      <p:sp>
        <p:nvSpPr>
          <p:cNvPr id="12" name="TextBox 11"/>
          <p:cNvSpPr txBox="1"/>
          <p:nvPr/>
        </p:nvSpPr>
        <p:spPr>
          <a:xfrm>
            <a:off x="6438747" y="2606040"/>
            <a:ext cx="4838547" cy="1005840"/>
          </a:xfrm>
          <a:prstGeom prst="rect">
            <a:avLst/>
          </a:prstGeom>
          <a:noFill/>
        </p:spPr>
        <p:txBody>
          <a:bodyPr wrap="square" lIns="0" rIns="0" tIns="0" bIns="0" anchor="t">
            <a:spAutoFit/>
          </a:bodyPr>
          <a:lstStyle/>
          <a:p>
            <a:pPr algn="l">
              <a:lnSpc>
                <a:spcPct val="115000"/>
              </a:lnSpc>
            </a:pPr>
            <a:r>
              <a:rPr sz="1400" b="0">
                <a:solidFill>
                  <a:srgbClr val="9AA3B2"/>
                </a:solidFill>
                <a:latin typeface="Segoe UI"/>
              </a:rPr>
              <a:t>El umbral fijo de 200 Wh envejece y no ve la hora. ¿Puede la densidad definir «raro para este momento»?</a:t>
            </a:r>
          </a:p>
        </p:txBody>
      </p:sp>
      <p:sp>
        <p:nvSpPr>
          <p:cNvPr id="13" name="TextBox 12"/>
          <p:cNvSpPr txBox="1"/>
          <p:nvPr/>
        </p:nvSpPr>
        <p:spPr>
          <a:xfrm>
            <a:off x="6438747" y="3639312"/>
            <a:ext cx="4838547"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GUARDIAN · DETECTOR</a:t>
            </a:r>
          </a:p>
        </p:txBody>
      </p:sp>
      <p:sp>
        <p:nvSpPr>
          <p:cNvPr id="14" name="Rectangle 13"/>
          <p:cNvSpPr/>
          <p:nvPr/>
        </p:nvSpPr>
        <p:spPr>
          <a:xfrm>
            <a:off x="685800" y="4297680"/>
            <a:ext cx="10820095" cy="685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297680"/>
            <a:ext cx="54864" cy="6858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480560"/>
            <a:ext cx="10362895" cy="36576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Control temporal.</a:t>
            </a:r>
            <a:r>
              <a:rPr sz="1350" b="0">
                <a:solidFill>
                  <a:srgbClr val="C9D1DE"/>
                </a:solidFill>
                <a:latin typeface="Segoe UI"/>
              </a:rPr>
              <a:t> Todo se ajusta con enero–abril; mayo se usa como control, como en todo el proyecto.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PARTE A, PASOS 1 A 4</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Gráfico de k-distancias: el codo está en 208 Wh</a:t>
            </a:r>
          </a:p>
        </p:txBody>
      </p:sp>
      <p:sp>
        <p:nvSpPr>
          <p:cNvPr id="6" name="Rounded Rectangle 5"/>
          <p:cNvSpPr/>
          <p:nvPr/>
        </p:nvSpPr>
        <p:spPr>
          <a:xfrm>
            <a:off x="694944" y="1772786"/>
            <a:ext cx="5833872" cy="253518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1_kdistancias.png"/>
          <p:cNvPicPr>
            <a:picLocks noChangeAspect="1"/>
          </p:cNvPicPr>
          <p:nvPr/>
        </p:nvPicPr>
        <p:blipFill>
          <a:blip r:embed="rId2"/>
          <a:stretch>
            <a:fillRect/>
          </a:stretch>
        </p:blipFill>
        <p:spPr>
          <a:xfrm>
            <a:off x="777240" y="1855082"/>
            <a:ext cx="5669280" cy="2370596"/>
          </a:xfrm>
          <a:prstGeom prst="rect">
            <a:avLst/>
          </a:prstGeom>
        </p:spPr>
      </p:pic>
      <p:sp>
        <p:nvSpPr>
          <p:cNvPr id="8" name="TextBox 7"/>
          <p:cNvSpPr txBox="1"/>
          <p:nvPr/>
        </p:nvSpPr>
        <p:spPr>
          <a:xfrm>
            <a:off x="6675120" y="1783080"/>
            <a:ext cx="14630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MIN_SAMPLES</a:t>
            </a:r>
          </a:p>
        </p:txBody>
      </p:sp>
      <p:sp>
        <p:nvSpPr>
          <p:cNvPr id="9" name="TextBox 8"/>
          <p:cNvSpPr txBox="1"/>
          <p:nvPr/>
        </p:nvSpPr>
        <p:spPr>
          <a:xfrm>
            <a:off x="8138160" y="1783080"/>
            <a:ext cx="1051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EPS (CODO)</a:t>
            </a:r>
          </a:p>
        </p:txBody>
      </p:sp>
      <p:sp>
        <p:nvSpPr>
          <p:cNvPr id="10" name="TextBox 9"/>
          <p:cNvSpPr txBox="1"/>
          <p:nvPr/>
        </p:nvSpPr>
        <p:spPr>
          <a:xfrm>
            <a:off x="9189720" y="1783080"/>
            <a:ext cx="8686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CLÚSTERS</a:t>
            </a:r>
          </a:p>
        </p:txBody>
      </p:sp>
      <p:sp>
        <p:nvSpPr>
          <p:cNvPr id="11" name="TextBox 10"/>
          <p:cNvSpPr txBox="1"/>
          <p:nvPr/>
        </p:nvSpPr>
        <p:spPr>
          <a:xfrm>
            <a:off x="10058400" y="1783080"/>
            <a:ext cx="685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a:t>
            </a:r>
          </a:p>
        </p:txBody>
      </p:sp>
      <p:sp>
        <p:nvSpPr>
          <p:cNvPr id="12" name="TextBox 11"/>
          <p:cNvSpPr txBox="1"/>
          <p:nvPr/>
        </p:nvSpPr>
        <p:spPr>
          <a:xfrm>
            <a:off x="10744200" y="1783080"/>
            <a:ext cx="11430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a:t>
            </a:r>
          </a:p>
        </p:txBody>
      </p:sp>
      <p:sp>
        <p:nvSpPr>
          <p:cNvPr id="13" name="Rectangle 12"/>
          <p:cNvSpPr/>
          <p:nvPr/>
        </p:nvSpPr>
        <p:spPr>
          <a:xfrm>
            <a:off x="6675120" y="2075688"/>
            <a:ext cx="521208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2112264"/>
            <a:ext cx="1353312" cy="38404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3</a:t>
            </a:r>
          </a:p>
        </p:txBody>
      </p:sp>
      <p:sp>
        <p:nvSpPr>
          <p:cNvPr id="15" name="TextBox 14"/>
          <p:cNvSpPr txBox="1"/>
          <p:nvPr/>
        </p:nvSpPr>
        <p:spPr>
          <a:xfrm>
            <a:off x="8138160" y="2112264"/>
            <a:ext cx="94183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208 Wh</a:t>
            </a:r>
          </a:p>
        </p:txBody>
      </p:sp>
      <p:sp>
        <p:nvSpPr>
          <p:cNvPr id="16" name="TextBox 15"/>
          <p:cNvSpPr txBox="1"/>
          <p:nvPr/>
        </p:nvSpPr>
        <p:spPr>
          <a:xfrm>
            <a:off x="9189720" y="2112264"/>
            <a:ext cx="75895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a:t>
            </a:r>
          </a:p>
        </p:txBody>
      </p:sp>
      <p:sp>
        <p:nvSpPr>
          <p:cNvPr id="17" name="TextBox 16"/>
          <p:cNvSpPr txBox="1"/>
          <p:nvPr/>
        </p:nvSpPr>
        <p:spPr>
          <a:xfrm>
            <a:off x="10058400" y="2112264"/>
            <a:ext cx="5760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52</a:t>
            </a:r>
          </a:p>
        </p:txBody>
      </p:sp>
      <p:sp>
        <p:nvSpPr>
          <p:cNvPr id="18" name="TextBox 17"/>
          <p:cNvSpPr txBox="1"/>
          <p:nvPr/>
        </p:nvSpPr>
        <p:spPr>
          <a:xfrm>
            <a:off x="10744200" y="2112264"/>
            <a:ext cx="10332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28 de 28</a:t>
            </a:r>
          </a:p>
        </p:txBody>
      </p:sp>
      <p:sp>
        <p:nvSpPr>
          <p:cNvPr id="19" name="Rectangle 18"/>
          <p:cNvSpPr/>
          <p:nvPr/>
        </p:nvSpPr>
        <p:spPr>
          <a:xfrm>
            <a:off x="6675120" y="2496312"/>
            <a:ext cx="5212080" cy="347472"/>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496312"/>
            <a:ext cx="1353312" cy="384048"/>
          </a:xfrm>
          <a:prstGeom prst="rect">
            <a:avLst/>
          </a:prstGeom>
          <a:noFill/>
        </p:spPr>
        <p:txBody>
          <a:bodyPr wrap="square" lIns="0" rIns="0" tIns="0" bIns="0" anchor="ctr">
            <a:spAutoFit/>
          </a:bodyPr>
          <a:lstStyle/>
          <a:p>
            <a:pPr algn="l">
              <a:lnSpc>
                <a:spcPct val="115000"/>
              </a:lnSpc>
            </a:pPr>
            <a:r>
              <a:rPr sz="1100" b="1">
                <a:solidFill>
                  <a:srgbClr val="E6E9EF"/>
                </a:solidFill>
                <a:latin typeface="Segoe UI"/>
              </a:rPr>
              <a:t>5 (elegido)</a:t>
            </a:r>
          </a:p>
        </p:txBody>
      </p:sp>
      <p:sp>
        <p:nvSpPr>
          <p:cNvPr id="21" name="TextBox 20"/>
          <p:cNvSpPr txBox="1"/>
          <p:nvPr/>
        </p:nvSpPr>
        <p:spPr>
          <a:xfrm>
            <a:off x="8138160" y="2496312"/>
            <a:ext cx="941832" cy="384048"/>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208 Wh</a:t>
            </a:r>
          </a:p>
        </p:txBody>
      </p:sp>
      <p:sp>
        <p:nvSpPr>
          <p:cNvPr id="22" name="TextBox 21"/>
          <p:cNvSpPr txBox="1"/>
          <p:nvPr/>
        </p:nvSpPr>
        <p:spPr>
          <a:xfrm>
            <a:off x="9189720" y="2496312"/>
            <a:ext cx="758952" cy="384048"/>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1</a:t>
            </a:r>
          </a:p>
        </p:txBody>
      </p:sp>
      <p:sp>
        <p:nvSpPr>
          <p:cNvPr id="23" name="TextBox 22"/>
          <p:cNvSpPr txBox="1"/>
          <p:nvPr/>
        </p:nvSpPr>
        <p:spPr>
          <a:xfrm>
            <a:off x="10058400" y="2496312"/>
            <a:ext cx="576072" cy="384048"/>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54</a:t>
            </a:r>
          </a:p>
        </p:txBody>
      </p:sp>
      <p:sp>
        <p:nvSpPr>
          <p:cNvPr id="24" name="TextBox 23"/>
          <p:cNvSpPr txBox="1"/>
          <p:nvPr/>
        </p:nvSpPr>
        <p:spPr>
          <a:xfrm>
            <a:off x="10744200" y="2496312"/>
            <a:ext cx="1033272" cy="384048"/>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28 de 28</a:t>
            </a:r>
          </a:p>
        </p:txBody>
      </p:sp>
      <p:sp>
        <p:nvSpPr>
          <p:cNvPr id="25" name="TextBox 24"/>
          <p:cNvSpPr txBox="1"/>
          <p:nvPr/>
        </p:nvSpPr>
        <p:spPr>
          <a:xfrm>
            <a:off x="6766560" y="2880360"/>
            <a:ext cx="1353312" cy="38404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8</a:t>
            </a:r>
          </a:p>
        </p:txBody>
      </p:sp>
      <p:sp>
        <p:nvSpPr>
          <p:cNvPr id="26" name="TextBox 25"/>
          <p:cNvSpPr txBox="1"/>
          <p:nvPr/>
        </p:nvSpPr>
        <p:spPr>
          <a:xfrm>
            <a:off x="8138160" y="2880360"/>
            <a:ext cx="94183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247 Wh</a:t>
            </a:r>
          </a:p>
        </p:txBody>
      </p:sp>
      <p:sp>
        <p:nvSpPr>
          <p:cNvPr id="27" name="TextBox 26"/>
          <p:cNvSpPr txBox="1"/>
          <p:nvPr/>
        </p:nvSpPr>
        <p:spPr>
          <a:xfrm>
            <a:off x="9189720" y="2880360"/>
            <a:ext cx="75895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a:t>
            </a:r>
          </a:p>
        </p:txBody>
      </p:sp>
      <p:sp>
        <p:nvSpPr>
          <p:cNvPr id="28" name="TextBox 27"/>
          <p:cNvSpPr txBox="1"/>
          <p:nvPr/>
        </p:nvSpPr>
        <p:spPr>
          <a:xfrm>
            <a:off x="10058400" y="2880360"/>
            <a:ext cx="5760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48</a:t>
            </a:r>
          </a:p>
        </p:txBody>
      </p:sp>
      <p:sp>
        <p:nvSpPr>
          <p:cNvPr id="29" name="TextBox 28"/>
          <p:cNvSpPr txBox="1"/>
          <p:nvPr/>
        </p:nvSpPr>
        <p:spPr>
          <a:xfrm>
            <a:off x="10744200" y="2880360"/>
            <a:ext cx="10332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28 de 28</a:t>
            </a:r>
          </a:p>
        </p:txBody>
      </p:sp>
      <p:sp>
        <p:nvSpPr>
          <p:cNvPr id="30" name="TextBox 29"/>
          <p:cNvSpPr txBox="1"/>
          <p:nvPr/>
        </p:nvSpPr>
        <p:spPr>
          <a:xfrm>
            <a:off x="6766560" y="3264408"/>
            <a:ext cx="1353312" cy="38404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12</a:t>
            </a:r>
          </a:p>
        </p:txBody>
      </p:sp>
      <p:sp>
        <p:nvSpPr>
          <p:cNvPr id="31" name="TextBox 30"/>
          <p:cNvSpPr txBox="1"/>
          <p:nvPr/>
        </p:nvSpPr>
        <p:spPr>
          <a:xfrm>
            <a:off x="8138160" y="3264408"/>
            <a:ext cx="94183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381 Wh</a:t>
            </a:r>
          </a:p>
        </p:txBody>
      </p:sp>
      <p:sp>
        <p:nvSpPr>
          <p:cNvPr id="32" name="TextBox 31"/>
          <p:cNvSpPr txBox="1"/>
          <p:nvPr/>
        </p:nvSpPr>
        <p:spPr>
          <a:xfrm>
            <a:off x="9189720" y="3264408"/>
            <a:ext cx="75895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a:t>
            </a:r>
          </a:p>
        </p:txBody>
      </p:sp>
      <p:sp>
        <p:nvSpPr>
          <p:cNvPr id="33" name="TextBox 32"/>
          <p:cNvSpPr txBox="1"/>
          <p:nvPr/>
        </p:nvSpPr>
        <p:spPr>
          <a:xfrm>
            <a:off x="10058400" y="3264408"/>
            <a:ext cx="5760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19</a:t>
            </a:r>
          </a:p>
        </p:txBody>
      </p:sp>
      <p:sp>
        <p:nvSpPr>
          <p:cNvPr id="34" name="TextBox 33"/>
          <p:cNvSpPr txBox="1"/>
          <p:nvPr/>
        </p:nvSpPr>
        <p:spPr>
          <a:xfrm>
            <a:off x="10744200" y="3264408"/>
            <a:ext cx="10332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18 de 28</a:t>
            </a:r>
          </a:p>
        </p:txBody>
      </p:sp>
      <p:sp>
        <p:nvSpPr>
          <p:cNvPr id="35" name="TextBox 34"/>
          <p:cNvSpPr txBox="1"/>
          <p:nvPr/>
        </p:nvSpPr>
        <p:spPr>
          <a:xfrm>
            <a:off x="6766560" y="3648456"/>
            <a:ext cx="1353312" cy="38404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25 (regla D + 1)</a:t>
            </a:r>
          </a:p>
        </p:txBody>
      </p:sp>
      <p:sp>
        <p:nvSpPr>
          <p:cNvPr id="36" name="TextBox 35"/>
          <p:cNvSpPr txBox="1"/>
          <p:nvPr/>
        </p:nvSpPr>
        <p:spPr>
          <a:xfrm>
            <a:off x="8138160" y="3648456"/>
            <a:ext cx="94183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386 Wh</a:t>
            </a:r>
          </a:p>
        </p:txBody>
      </p:sp>
      <p:sp>
        <p:nvSpPr>
          <p:cNvPr id="37" name="TextBox 36"/>
          <p:cNvSpPr txBox="1"/>
          <p:nvPr/>
        </p:nvSpPr>
        <p:spPr>
          <a:xfrm>
            <a:off x="9189720" y="3648456"/>
            <a:ext cx="75895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a:t>
            </a:r>
          </a:p>
        </p:txBody>
      </p:sp>
      <p:sp>
        <p:nvSpPr>
          <p:cNvPr id="38" name="TextBox 37"/>
          <p:cNvSpPr txBox="1"/>
          <p:nvPr/>
        </p:nvSpPr>
        <p:spPr>
          <a:xfrm>
            <a:off x="10058400" y="3648456"/>
            <a:ext cx="5760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19</a:t>
            </a:r>
          </a:p>
        </p:txBody>
      </p:sp>
      <p:sp>
        <p:nvSpPr>
          <p:cNvPr id="39" name="TextBox 38"/>
          <p:cNvSpPr txBox="1"/>
          <p:nvPr/>
        </p:nvSpPr>
        <p:spPr>
          <a:xfrm>
            <a:off x="10744200" y="3648456"/>
            <a:ext cx="1033272" cy="38404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18 de 28</a:t>
            </a:r>
          </a:p>
        </p:txBody>
      </p:sp>
      <p:sp>
        <p:nvSpPr>
          <p:cNvPr id="40" name="Rectangle 39"/>
          <p:cNvSpPr/>
          <p:nvPr/>
        </p:nvSpPr>
        <p:spPr>
          <a:xfrm>
            <a:off x="685800" y="4572000"/>
            <a:ext cx="10820095"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457200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1832" y="4754880"/>
            <a:ext cx="10362895" cy="86868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Columnas, escalado y lectura de eps.</a:t>
            </a:r>
            <a:r>
              <a:rPr sz="1300" b="0">
                <a:solidFill>
                  <a:srgbClr val="C9D1DE"/>
                </a:solidFill>
                <a:latin typeface="Segoe UI"/>
              </a:rPr>
              <a:t> Las 24 medias horarias en Wh, sin estandarizar, para que eps se pueda leer: 208 Wh en 24 dimensiones son unos 42 Wh por hora. min_samples = 5: un tipo de día existe si al menos una semana laboral de días se parecen. El codo se detecta como el punto más alejado de la cuerda de la curva.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PASOS 5 Y 6</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 un gran grupo, y los 28 días de carga alta son ruido</a:t>
            </a:r>
          </a:p>
        </p:txBody>
      </p:sp>
      <p:sp>
        <p:nvSpPr>
          <p:cNvPr id="6" name="Rounded Rectangle 5"/>
          <p:cNvSpPr/>
          <p:nvPr/>
        </p:nvSpPr>
        <p:spPr>
          <a:xfrm>
            <a:off x="694944" y="1662854"/>
            <a:ext cx="10588752" cy="3212251"/>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2_global.png"/>
          <p:cNvPicPr>
            <a:picLocks noChangeAspect="1"/>
          </p:cNvPicPr>
          <p:nvPr/>
        </p:nvPicPr>
        <p:blipFill>
          <a:blip r:embed="rId2"/>
          <a:stretch>
            <a:fillRect/>
          </a:stretch>
        </p:blipFill>
        <p:spPr>
          <a:xfrm>
            <a:off x="777240" y="1745150"/>
            <a:ext cx="10424160" cy="3047659"/>
          </a:xfrm>
          <a:prstGeom prst="rect">
            <a:avLst/>
          </a:prstGeom>
        </p:spPr>
      </p:pic>
      <p:sp>
        <p:nvSpPr>
          <p:cNvPr id="8" name="TextBox 7"/>
          <p:cNvSpPr txBox="1"/>
          <p:nvPr/>
        </p:nvSpPr>
        <p:spPr>
          <a:xfrm>
            <a:off x="685800" y="5029200"/>
            <a:ext cx="329184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1 clúster</a:t>
            </a:r>
          </a:p>
        </p:txBody>
      </p:sp>
      <p:sp>
        <p:nvSpPr>
          <p:cNvPr id="9" name="TextBox 8"/>
          <p:cNvSpPr txBox="1"/>
          <p:nvPr/>
        </p:nvSpPr>
        <p:spPr>
          <a:xfrm>
            <a:off x="685800" y="56875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82 días: la rutina densa</a:t>
            </a:r>
          </a:p>
        </p:txBody>
      </p:sp>
      <p:sp>
        <p:nvSpPr>
          <p:cNvPr id="10" name="TextBox 9"/>
          <p:cNvSpPr txBox="1"/>
          <p:nvPr/>
        </p:nvSpPr>
        <p:spPr>
          <a:xfrm>
            <a:off x="4297680" y="502920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54 días</a:t>
            </a:r>
          </a:p>
        </p:txBody>
      </p:sp>
      <p:sp>
        <p:nvSpPr>
          <p:cNvPr id="11" name="TextBox 10"/>
          <p:cNvSpPr txBox="1"/>
          <p:nvPr/>
        </p:nvSpPr>
        <p:spPr>
          <a:xfrm>
            <a:off x="4297680" y="56875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ruido (39,7 %): los 28 de carga</a:t>
            </a:r>
          </a:p>
          <a:p>
            <a:pPr algn="l">
              <a:lnSpc>
                <a:spcPct val="115000"/>
              </a:lnSpc>
            </a:pPr>
            <a:r>
              <a:rPr sz="1150" b="0">
                <a:solidFill>
                  <a:srgbClr val="9AA3B2"/>
                </a:solidFill>
                <a:latin typeface="Segoe UI"/>
              </a:rPr>
              <a:t>alta y 26 normales</a:t>
            </a:r>
          </a:p>
        </p:txBody>
      </p:sp>
      <p:sp>
        <p:nvSpPr>
          <p:cNvPr id="12" name="TextBox 11"/>
          <p:cNvSpPr txBox="1"/>
          <p:nvPr/>
        </p:nvSpPr>
        <p:spPr>
          <a:xfrm>
            <a:off x="7909560" y="5029200"/>
            <a:ext cx="347472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Para DBSCAN, la carga alta no es un grupo: es la periferia dispersa de una única rutina. K-Means y el jerárquico la agrupaban porque están obligados a asignar cada día.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SEPARAR POR GRUPOS, LA DECISIÓN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Cada tipo de día tiene su propia densidad</a:t>
            </a:r>
          </a:p>
        </p:txBody>
      </p:sp>
      <p:sp>
        <p:nvSpPr>
          <p:cNvPr id="6" name="Rounded Rectangle 5"/>
          <p:cNvSpPr/>
          <p:nvPr/>
        </p:nvSpPr>
        <p:spPr>
          <a:xfrm>
            <a:off x="694944" y="1850596"/>
            <a:ext cx="6199631" cy="215096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3_por_grupos.png"/>
          <p:cNvPicPr>
            <a:picLocks noChangeAspect="1"/>
          </p:cNvPicPr>
          <p:nvPr/>
        </p:nvPicPr>
        <p:blipFill>
          <a:blip r:embed="rId2"/>
          <a:stretch>
            <a:fillRect/>
          </a:stretch>
        </p:blipFill>
        <p:spPr>
          <a:xfrm>
            <a:off x="777240" y="1932892"/>
            <a:ext cx="6035039" cy="1986375"/>
          </a:xfrm>
          <a:prstGeom prst="rect">
            <a:avLst/>
          </a:prstGeom>
        </p:spPr>
      </p:pic>
      <p:sp>
        <p:nvSpPr>
          <p:cNvPr id="8" name="TextBox 7"/>
          <p:cNvSpPr txBox="1"/>
          <p:nvPr/>
        </p:nvSpPr>
        <p:spPr>
          <a:xfrm>
            <a:off x="7086600" y="1783080"/>
            <a:ext cx="23317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SEPARACIÓN · GRUPO</a:t>
            </a:r>
          </a:p>
        </p:txBody>
      </p:sp>
      <p:sp>
        <p:nvSpPr>
          <p:cNvPr id="9" name="TextBox 8"/>
          <p:cNvSpPr txBox="1"/>
          <p:nvPr/>
        </p:nvSpPr>
        <p:spPr>
          <a:xfrm>
            <a:off x="941832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EPS</a:t>
            </a:r>
          </a:p>
        </p:txBody>
      </p:sp>
      <p:sp>
        <p:nvSpPr>
          <p:cNvPr id="10" name="TextBox 9"/>
          <p:cNvSpPr txBox="1"/>
          <p:nvPr/>
        </p:nvSpPr>
        <p:spPr>
          <a:xfrm>
            <a:off x="10332720" y="1783080"/>
            <a:ext cx="7315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CLÚSTER</a:t>
            </a:r>
          </a:p>
        </p:txBody>
      </p:sp>
      <p:sp>
        <p:nvSpPr>
          <p:cNvPr id="11" name="TextBox 10"/>
          <p:cNvSpPr txBox="1"/>
          <p:nvPr/>
        </p:nvSpPr>
        <p:spPr>
          <a:xfrm>
            <a:off x="11064240" y="1783080"/>
            <a:ext cx="594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a:t>
            </a:r>
          </a:p>
        </p:txBody>
      </p:sp>
      <p:sp>
        <p:nvSpPr>
          <p:cNvPr id="12" name="Rectangle 11"/>
          <p:cNvSpPr/>
          <p:nvPr/>
        </p:nvSpPr>
        <p:spPr>
          <a:xfrm>
            <a:off x="7086600" y="2075688"/>
            <a:ext cx="45720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2112264"/>
            <a:ext cx="2221992" cy="393192"/>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Tipo · normal (108)</a:t>
            </a:r>
          </a:p>
        </p:txBody>
      </p:sp>
      <p:sp>
        <p:nvSpPr>
          <p:cNvPr id="14" name="TextBox 13"/>
          <p:cNvSpPr txBox="1"/>
          <p:nvPr/>
        </p:nvSpPr>
        <p:spPr>
          <a:xfrm>
            <a:off x="9418320" y="2112264"/>
            <a:ext cx="80467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208 Wh</a:t>
            </a:r>
          </a:p>
        </p:txBody>
      </p:sp>
      <p:sp>
        <p:nvSpPr>
          <p:cNvPr id="15" name="TextBox 14"/>
          <p:cNvSpPr txBox="1"/>
          <p:nvPr/>
        </p:nvSpPr>
        <p:spPr>
          <a:xfrm>
            <a:off x="10332720" y="2112264"/>
            <a:ext cx="62179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82</a:t>
            </a:r>
          </a:p>
        </p:txBody>
      </p:sp>
      <p:sp>
        <p:nvSpPr>
          <p:cNvPr id="16" name="TextBox 15"/>
          <p:cNvSpPr txBox="1"/>
          <p:nvPr/>
        </p:nvSpPr>
        <p:spPr>
          <a:xfrm>
            <a:off x="11064240" y="2112264"/>
            <a:ext cx="48463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26</a:t>
            </a:r>
          </a:p>
        </p:txBody>
      </p:sp>
      <p:sp>
        <p:nvSpPr>
          <p:cNvPr id="17" name="Rectangle 16"/>
          <p:cNvSpPr/>
          <p:nvPr/>
        </p:nvSpPr>
        <p:spPr>
          <a:xfrm>
            <a:off x="7086600" y="2505456"/>
            <a:ext cx="4572000" cy="35661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78040" y="2505456"/>
            <a:ext cx="2221992" cy="393192"/>
          </a:xfrm>
          <a:prstGeom prst="rect">
            <a:avLst/>
          </a:prstGeom>
          <a:noFill/>
        </p:spPr>
        <p:txBody>
          <a:bodyPr wrap="square" lIns="0" rIns="0" tIns="0" bIns="0" anchor="ctr">
            <a:spAutoFit/>
          </a:bodyPr>
          <a:lstStyle/>
          <a:p>
            <a:pPr algn="l">
              <a:lnSpc>
                <a:spcPct val="115000"/>
              </a:lnSpc>
            </a:pPr>
            <a:r>
              <a:rPr sz="1100" b="1">
                <a:solidFill>
                  <a:srgbClr val="E6E9EF"/>
                </a:solidFill>
                <a:latin typeface="Segoe UI"/>
              </a:rPr>
              <a:t>Tipo · carga alta (28)</a:t>
            </a:r>
          </a:p>
        </p:txBody>
      </p:sp>
      <p:sp>
        <p:nvSpPr>
          <p:cNvPr id="19" name="TextBox 18"/>
          <p:cNvSpPr txBox="1"/>
          <p:nvPr/>
        </p:nvSpPr>
        <p:spPr>
          <a:xfrm>
            <a:off x="9418320" y="2505456"/>
            <a:ext cx="804672" cy="393192"/>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452 Wh</a:t>
            </a:r>
          </a:p>
        </p:txBody>
      </p:sp>
      <p:sp>
        <p:nvSpPr>
          <p:cNvPr id="20" name="TextBox 19"/>
          <p:cNvSpPr txBox="1"/>
          <p:nvPr/>
        </p:nvSpPr>
        <p:spPr>
          <a:xfrm>
            <a:off x="10332720" y="2505456"/>
            <a:ext cx="621792" cy="393192"/>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24</a:t>
            </a:r>
          </a:p>
        </p:txBody>
      </p:sp>
      <p:sp>
        <p:nvSpPr>
          <p:cNvPr id="21" name="TextBox 20"/>
          <p:cNvSpPr txBox="1"/>
          <p:nvPr/>
        </p:nvSpPr>
        <p:spPr>
          <a:xfrm>
            <a:off x="11064240" y="2505456"/>
            <a:ext cx="484632" cy="393192"/>
          </a:xfrm>
          <a:prstGeom prst="rect">
            <a:avLst/>
          </a:prstGeom>
          <a:noFill/>
        </p:spPr>
        <p:txBody>
          <a:bodyPr wrap="square" lIns="0" rIns="0" tIns="0" bIns="0" anchor="ctr">
            <a:spAutoFit/>
          </a:bodyPr>
          <a:lstStyle/>
          <a:p>
            <a:pPr algn="r">
              <a:lnSpc>
                <a:spcPct val="115000"/>
              </a:lnSpc>
            </a:pPr>
            <a:r>
              <a:rPr sz="1100" b="1">
                <a:solidFill>
                  <a:srgbClr val="E6E9EF"/>
                </a:solidFill>
                <a:latin typeface="Consolas"/>
              </a:rPr>
              <a:t>4</a:t>
            </a:r>
          </a:p>
        </p:txBody>
      </p:sp>
      <p:sp>
        <p:nvSpPr>
          <p:cNvPr id="22" name="TextBox 21"/>
          <p:cNvSpPr txBox="1"/>
          <p:nvPr/>
        </p:nvSpPr>
        <p:spPr>
          <a:xfrm>
            <a:off x="7178040" y="2898648"/>
            <a:ext cx="2221992" cy="393192"/>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Calendario · laborable (98)</a:t>
            </a:r>
          </a:p>
        </p:txBody>
      </p:sp>
      <p:sp>
        <p:nvSpPr>
          <p:cNvPr id="23" name="TextBox 22"/>
          <p:cNvSpPr txBox="1"/>
          <p:nvPr/>
        </p:nvSpPr>
        <p:spPr>
          <a:xfrm>
            <a:off x="9418320" y="2898648"/>
            <a:ext cx="80467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190 Wh</a:t>
            </a:r>
          </a:p>
        </p:txBody>
      </p:sp>
      <p:sp>
        <p:nvSpPr>
          <p:cNvPr id="24" name="TextBox 23"/>
          <p:cNvSpPr txBox="1"/>
          <p:nvPr/>
        </p:nvSpPr>
        <p:spPr>
          <a:xfrm>
            <a:off x="10332720" y="2898648"/>
            <a:ext cx="62179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54</a:t>
            </a:r>
          </a:p>
        </p:txBody>
      </p:sp>
      <p:sp>
        <p:nvSpPr>
          <p:cNvPr id="25" name="TextBox 24"/>
          <p:cNvSpPr txBox="1"/>
          <p:nvPr/>
        </p:nvSpPr>
        <p:spPr>
          <a:xfrm>
            <a:off x="11064240" y="2898648"/>
            <a:ext cx="48463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44</a:t>
            </a:r>
          </a:p>
        </p:txBody>
      </p:sp>
      <p:sp>
        <p:nvSpPr>
          <p:cNvPr id="26" name="TextBox 25"/>
          <p:cNvSpPr txBox="1"/>
          <p:nvPr/>
        </p:nvSpPr>
        <p:spPr>
          <a:xfrm>
            <a:off x="7178040" y="3291840"/>
            <a:ext cx="2221992" cy="393192"/>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Calendario · finde (38)</a:t>
            </a:r>
          </a:p>
        </p:txBody>
      </p:sp>
      <p:sp>
        <p:nvSpPr>
          <p:cNvPr id="27" name="TextBox 26"/>
          <p:cNvSpPr txBox="1"/>
          <p:nvPr/>
        </p:nvSpPr>
        <p:spPr>
          <a:xfrm>
            <a:off x="9418320" y="3291840"/>
            <a:ext cx="80467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365 Wh</a:t>
            </a:r>
          </a:p>
        </p:txBody>
      </p:sp>
      <p:sp>
        <p:nvSpPr>
          <p:cNvPr id="28" name="TextBox 27"/>
          <p:cNvSpPr txBox="1"/>
          <p:nvPr/>
        </p:nvSpPr>
        <p:spPr>
          <a:xfrm>
            <a:off x="10332720" y="3291840"/>
            <a:ext cx="62179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30</a:t>
            </a:r>
          </a:p>
        </p:txBody>
      </p:sp>
      <p:sp>
        <p:nvSpPr>
          <p:cNvPr id="29" name="TextBox 28"/>
          <p:cNvSpPr txBox="1"/>
          <p:nvPr/>
        </p:nvSpPr>
        <p:spPr>
          <a:xfrm>
            <a:off x="11064240" y="3291840"/>
            <a:ext cx="484632" cy="393192"/>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8</a:t>
            </a:r>
          </a:p>
        </p:txBody>
      </p:sp>
      <p:sp>
        <p:nvSpPr>
          <p:cNvPr id="30" name="TextBox 29"/>
          <p:cNvSpPr txBox="1"/>
          <p:nvPr/>
        </p:nvSpPr>
        <p:spPr>
          <a:xfrm>
            <a:off x="685800" y="4343400"/>
            <a:ext cx="329184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2,2×</a:t>
            </a:r>
          </a:p>
        </p:txBody>
      </p:sp>
      <p:sp>
        <p:nvSpPr>
          <p:cNvPr id="31" name="TextBox 30"/>
          <p:cNvSpPr txBox="1"/>
          <p:nvPr/>
        </p:nvSpPr>
        <p:spPr>
          <a:xfrm>
            <a:off x="685800" y="50017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más disperso el día de carga alta</a:t>
            </a:r>
          </a:p>
          <a:p>
            <a:pPr algn="l">
              <a:lnSpc>
                <a:spcPct val="115000"/>
              </a:lnSpc>
            </a:pPr>
            <a:r>
              <a:rPr sz="1150" b="0">
                <a:solidFill>
                  <a:srgbClr val="9AA3B2"/>
                </a:solidFill>
                <a:latin typeface="Segoe UI"/>
              </a:rPr>
              <a:t>(eps 452 frente a 208 Wh)</a:t>
            </a:r>
          </a:p>
        </p:txBody>
      </p:sp>
      <p:sp>
        <p:nvSpPr>
          <p:cNvPr id="32" name="TextBox 31"/>
          <p:cNvSpPr txBox="1"/>
          <p:nvPr/>
        </p:nvSpPr>
        <p:spPr>
          <a:xfrm>
            <a:off x="4297680" y="434340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27 de 28</a:t>
            </a:r>
          </a:p>
        </p:txBody>
      </p:sp>
      <p:sp>
        <p:nvSpPr>
          <p:cNvPr id="33" name="TextBox 32"/>
          <p:cNvSpPr txBox="1"/>
          <p:nvPr/>
        </p:nvSpPr>
        <p:spPr>
          <a:xfrm>
            <a:off x="4297680" y="50017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carga alta siguen en el</a:t>
            </a:r>
          </a:p>
          <a:p>
            <a:pPr algn="l">
              <a:lnSpc>
                <a:spcPct val="115000"/>
              </a:lnSpc>
            </a:pPr>
            <a:r>
              <a:rPr sz="1150" b="0">
                <a:solidFill>
                  <a:srgbClr val="9AA3B2"/>
                </a:solidFill>
                <a:latin typeface="Segoe UI"/>
              </a:rPr>
              <a:t>ruido si se separa por calendario</a:t>
            </a:r>
          </a:p>
        </p:txBody>
      </p:sp>
      <p:sp>
        <p:nvSpPr>
          <p:cNvPr id="34" name="TextBox 33"/>
          <p:cNvSpPr txBox="1"/>
          <p:nvPr/>
        </p:nvSpPr>
        <p:spPr>
          <a:xfrm>
            <a:off x="7909560" y="4343400"/>
            <a:ext cx="3474720" cy="14630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Separamos por tipo de día, la agrupación que validaron K-Means y el jerárquico. Para Shiro: la incertidumbre del simulador debe depender del tipo de día.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PASO 7, ¿CÓMO CAMBIA CON EPS Y MIN_SAMPLES?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eps manda; min_samples solo desplaza el codo</a:t>
            </a:r>
          </a:p>
        </p:txBody>
      </p:sp>
      <p:sp>
        <p:nvSpPr>
          <p:cNvPr id="6" name="Rounded Rectangle 5"/>
          <p:cNvSpPr/>
          <p:nvPr/>
        </p:nvSpPr>
        <p:spPr>
          <a:xfrm>
            <a:off x="694944" y="1682827"/>
            <a:ext cx="10588752" cy="280654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4_sensibilidad.png"/>
          <p:cNvPicPr>
            <a:picLocks noChangeAspect="1"/>
          </p:cNvPicPr>
          <p:nvPr/>
        </p:nvPicPr>
        <p:blipFill>
          <a:blip r:embed="rId2"/>
          <a:stretch>
            <a:fillRect/>
          </a:stretch>
        </p:blipFill>
        <p:spPr>
          <a:xfrm>
            <a:off x="777240" y="1765123"/>
            <a:ext cx="10424160" cy="2641953"/>
          </a:xfrm>
          <a:prstGeom prst="rect">
            <a:avLst/>
          </a:prstGeom>
        </p:spPr>
      </p:pic>
      <p:sp>
        <p:nvSpPr>
          <p:cNvPr id="8" name="TextBox 7"/>
          <p:cNvSpPr txBox="1"/>
          <p:nvPr/>
        </p:nvSpPr>
        <p:spPr>
          <a:xfrm>
            <a:off x="685800" y="4709160"/>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&lt; 175 Wh</a:t>
            </a:r>
          </a:p>
        </p:txBody>
      </p:sp>
      <p:sp>
        <p:nvSpPr>
          <p:cNvPr id="9" name="TextBox 8"/>
          <p:cNvSpPr txBox="1"/>
          <p:nvPr/>
        </p:nvSpPr>
        <p:spPr>
          <a:xfrm>
            <a:off x="2423160" y="4709160"/>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fragmenta: hasta 4 clústers de 3–16 días y 62–116 días de ruido</a:t>
            </a:r>
          </a:p>
        </p:txBody>
      </p:sp>
      <p:sp>
        <p:nvSpPr>
          <p:cNvPr id="10" name="TextBox 9"/>
          <p:cNvSpPr txBox="1"/>
          <p:nvPr/>
        </p:nvSpPr>
        <p:spPr>
          <a:xfrm>
            <a:off x="685800" y="5102352"/>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200–250 Wh</a:t>
            </a:r>
          </a:p>
        </p:txBody>
      </p:sp>
      <p:sp>
        <p:nvSpPr>
          <p:cNvPr id="11" name="TextBox 10"/>
          <p:cNvSpPr txBox="1"/>
          <p:nvPr/>
        </p:nvSpPr>
        <p:spPr>
          <a:xfrm>
            <a:off x="2423160" y="5102352"/>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el codo: un gran grupo, los 28 días de carga alta en el ruido</a:t>
            </a:r>
          </a:p>
        </p:txBody>
      </p:sp>
      <p:sp>
        <p:nvSpPr>
          <p:cNvPr id="12" name="TextBox 11"/>
          <p:cNvSpPr txBox="1"/>
          <p:nvPr/>
        </p:nvSpPr>
        <p:spPr>
          <a:xfrm>
            <a:off x="685800" y="5495544"/>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 450 Wh</a:t>
            </a:r>
          </a:p>
        </p:txBody>
      </p:sp>
      <p:sp>
        <p:nvSpPr>
          <p:cNvPr id="13" name="TextBox 12"/>
          <p:cNvSpPr txBox="1"/>
          <p:nvPr/>
        </p:nvSpPr>
        <p:spPr>
          <a:xfrm>
            <a:off x="2423160" y="5495544"/>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absorbe casi todo: 2 % de ruido o menos</a:t>
            </a:r>
          </a:p>
        </p:txBody>
      </p:sp>
      <p:sp>
        <p:nvSpPr>
          <p:cNvPr id="14" name="Rectangle 13"/>
          <p:cNvSpPr/>
          <p:nvPr/>
        </p:nvSpPr>
        <p:spPr>
          <a:xfrm>
            <a:off x="7909560" y="4663440"/>
            <a:ext cx="3566160"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466344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4846320"/>
            <a:ext cx="3108960" cy="86868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147 configuraciones.</a:t>
            </a:r>
            <a:r>
              <a:rPr sz="1250" b="0">
                <a:solidFill>
                  <a:srgbClr val="C9D1DE"/>
                </a:solidFill>
                <a:latin typeface="Segoe UI"/>
              </a:rPr>
              <a:t> Ninguna separa los dos tipos como dos grupos: solo 6 dan más de un clúster, y el segundo tiene de 3 a 6 días.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¿QUÉ DÍAS SON RAROS DE VERDAD?</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22 atípicos robustos: 4 de cada 10 días de enero</a:t>
            </a:r>
          </a:p>
        </p:txBody>
      </p:sp>
      <p:sp>
        <p:nvSpPr>
          <p:cNvPr id="6" name="Rounded Rectangle 5"/>
          <p:cNvSpPr/>
          <p:nvPr/>
        </p:nvSpPr>
        <p:spPr>
          <a:xfrm>
            <a:off x="694944" y="1802067"/>
            <a:ext cx="7114032" cy="224802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5_atipicos.png"/>
          <p:cNvPicPr>
            <a:picLocks noChangeAspect="1"/>
          </p:cNvPicPr>
          <p:nvPr/>
        </p:nvPicPr>
        <p:blipFill>
          <a:blip r:embed="rId2"/>
          <a:stretch>
            <a:fillRect/>
          </a:stretch>
        </p:blipFill>
        <p:spPr>
          <a:xfrm>
            <a:off x="777240" y="1884363"/>
            <a:ext cx="6949440" cy="2083433"/>
          </a:xfrm>
          <a:prstGeom prst="rect">
            <a:avLst/>
          </a:prstGeom>
        </p:spPr>
      </p:pic>
      <p:sp>
        <p:nvSpPr>
          <p:cNvPr id="8" name="TextBox 7"/>
          <p:cNvSpPr txBox="1"/>
          <p:nvPr/>
        </p:nvSpPr>
        <p:spPr>
          <a:xfrm>
            <a:off x="685800" y="4434840"/>
            <a:ext cx="1280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MES</a:t>
            </a:r>
          </a:p>
        </p:txBody>
      </p:sp>
      <p:sp>
        <p:nvSpPr>
          <p:cNvPr id="9" name="TextBox 8"/>
          <p:cNvSpPr txBox="1"/>
          <p:nvPr/>
        </p:nvSpPr>
        <p:spPr>
          <a:xfrm>
            <a:off x="196596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ENE</a:t>
            </a:r>
          </a:p>
        </p:txBody>
      </p:sp>
      <p:sp>
        <p:nvSpPr>
          <p:cNvPr id="10" name="TextBox 9"/>
          <p:cNvSpPr txBox="1"/>
          <p:nvPr/>
        </p:nvSpPr>
        <p:spPr>
          <a:xfrm>
            <a:off x="306324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FEB</a:t>
            </a:r>
          </a:p>
        </p:txBody>
      </p:sp>
      <p:sp>
        <p:nvSpPr>
          <p:cNvPr id="11" name="TextBox 10"/>
          <p:cNvSpPr txBox="1"/>
          <p:nvPr/>
        </p:nvSpPr>
        <p:spPr>
          <a:xfrm>
            <a:off x="416052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MAR</a:t>
            </a:r>
          </a:p>
        </p:txBody>
      </p:sp>
      <p:sp>
        <p:nvSpPr>
          <p:cNvPr id="12" name="TextBox 11"/>
          <p:cNvSpPr txBox="1"/>
          <p:nvPr/>
        </p:nvSpPr>
        <p:spPr>
          <a:xfrm>
            <a:off x="525780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ABR</a:t>
            </a:r>
          </a:p>
        </p:txBody>
      </p:sp>
      <p:sp>
        <p:nvSpPr>
          <p:cNvPr id="13" name="TextBox 12"/>
          <p:cNvSpPr txBox="1"/>
          <p:nvPr/>
        </p:nvSpPr>
        <p:spPr>
          <a:xfrm>
            <a:off x="635508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MAY</a:t>
            </a:r>
          </a:p>
        </p:txBody>
      </p:sp>
      <p:sp>
        <p:nvSpPr>
          <p:cNvPr id="14" name="Rectangle 13"/>
          <p:cNvSpPr/>
          <p:nvPr/>
        </p:nvSpPr>
        <p:spPr>
          <a:xfrm>
            <a:off x="685800" y="4727448"/>
            <a:ext cx="67665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764024"/>
            <a:ext cx="1170432" cy="38404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Atípicos</a:t>
            </a:r>
          </a:p>
        </p:txBody>
      </p:sp>
      <p:sp>
        <p:nvSpPr>
          <p:cNvPr id="16" name="TextBox 15"/>
          <p:cNvSpPr txBox="1"/>
          <p:nvPr/>
        </p:nvSpPr>
        <p:spPr>
          <a:xfrm>
            <a:off x="1965960" y="4764024"/>
            <a:ext cx="987552" cy="384048"/>
          </a:xfrm>
          <a:prstGeom prst="rect">
            <a:avLst/>
          </a:prstGeom>
          <a:noFill/>
        </p:spPr>
        <p:txBody>
          <a:bodyPr wrap="square" lIns="0" rIns="0" tIns="0" bIns="0" anchor="ctr">
            <a:spAutoFit/>
          </a:bodyPr>
          <a:lstStyle/>
          <a:p>
            <a:pPr algn="r">
              <a:lnSpc>
                <a:spcPct val="115000"/>
              </a:lnSpc>
            </a:pPr>
            <a:r>
              <a:rPr sz="1300" b="0">
                <a:solidFill>
                  <a:srgbClr val="FFB877"/>
                </a:solidFill>
                <a:latin typeface="Consolas"/>
              </a:rPr>
              <a:t>8 / 20</a:t>
            </a:r>
          </a:p>
        </p:txBody>
      </p:sp>
      <p:sp>
        <p:nvSpPr>
          <p:cNvPr id="17" name="TextBox 16"/>
          <p:cNvSpPr txBox="1"/>
          <p:nvPr/>
        </p:nvSpPr>
        <p:spPr>
          <a:xfrm>
            <a:off x="3063240" y="4764024"/>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 29</a:t>
            </a:r>
          </a:p>
        </p:txBody>
      </p:sp>
      <p:sp>
        <p:nvSpPr>
          <p:cNvPr id="18" name="TextBox 17"/>
          <p:cNvSpPr txBox="1"/>
          <p:nvPr/>
        </p:nvSpPr>
        <p:spPr>
          <a:xfrm>
            <a:off x="4160520" y="4764024"/>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 31</a:t>
            </a:r>
          </a:p>
        </p:txBody>
      </p:sp>
      <p:sp>
        <p:nvSpPr>
          <p:cNvPr id="19" name="TextBox 18"/>
          <p:cNvSpPr txBox="1"/>
          <p:nvPr/>
        </p:nvSpPr>
        <p:spPr>
          <a:xfrm>
            <a:off x="5257800" y="4764024"/>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5 / 30</a:t>
            </a:r>
          </a:p>
        </p:txBody>
      </p:sp>
      <p:sp>
        <p:nvSpPr>
          <p:cNvPr id="20" name="TextBox 19"/>
          <p:cNvSpPr txBox="1"/>
          <p:nvPr/>
        </p:nvSpPr>
        <p:spPr>
          <a:xfrm>
            <a:off x="6355080" y="4764024"/>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 / 26</a:t>
            </a:r>
          </a:p>
        </p:txBody>
      </p:sp>
      <p:sp>
        <p:nvSpPr>
          <p:cNvPr id="21" name="TextBox 20"/>
          <p:cNvSpPr txBox="1"/>
          <p:nvPr/>
        </p:nvSpPr>
        <p:spPr>
          <a:xfrm>
            <a:off x="777240" y="5148072"/>
            <a:ext cx="1170432" cy="384048"/>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t>
            </a:r>
          </a:p>
        </p:txBody>
      </p:sp>
      <p:sp>
        <p:nvSpPr>
          <p:cNvPr id="22" name="TextBox 21"/>
          <p:cNvSpPr txBox="1"/>
          <p:nvPr/>
        </p:nvSpPr>
        <p:spPr>
          <a:xfrm>
            <a:off x="1965960" y="5148072"/>
            <a:ext cx="987552" cy="384048"/>
          </a:xfrm>
          <a:prstGeom prst="rect">
            <a:avLst/>
          </a:prstGeom>
          <a:noFill/>
        </p:spPr>
        <p:txBody>
          <a:bodyPr wrap="square" lIns="0" rIns="0" tIns="0" bIns="0" anchor="ctr">
            <a:spAutoFit/>
          </a:bodyPr>
          <a:lstStyle/>
          <a:p>
            <a:pPr algn="r">
              <a:lnSpc>
                <a:spcPct val="115000"/>
              </a:lnSpc>
            </a:pPr>
            <a:r>
              <a:rPr sz="1300" b="0">
                <a:solidFill>
                  <a:srgbClr val="FFB877"/>
                </a:solidFill>
                <a:latin typeface="Consolas"/>
              </a:rPr>
              <a:t>40 %</a:t>
            </a:r>
          </a:p>
        </p:txBody>
      </p:sp>
      <p:sp>
        <p:nvSpPr>
          <p:cNvPr id="23" name="TextBox 22"/>
          <p:cNvSpPr txBox="1"/>
          <p:nvPr/>
        </p:nvSpPr>
        <p:spPr>
          <a:xfrm>
            <a:off x="3063240" y="5148072"/>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14 %</a:t>
            </a:r>
          </a:p>
        </p:txBody>
      </p:sp>
      <p:sp>
        <p:nvSpPr>
          <p:cNvPr id="24" name="TextBox 23"/>
          <p:cNvSpPr txBox="1"/>
          <p:nvPr/>
        </p:nvSpPr>
        <p:spPr>
          <a:xfrm>
            <a:off x="4160520" y="5148072"/>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13 %</a:t>
            </a:r>
          </a:p>
        </p:txBody>
      </p:sp>
      <p:sp>
        <p:nvSpPr>
          <p:cNvPr id="25" name="TextBox 24"/>
          <p:cNvSpPr txBox="1"/>
          <p:nvPr/>
        </p:nvSpPr>
        <p:spPr>
          <a:xfrm>
            <a:off x="5257800" y="5148072"/>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17 %</a:t>
            </a:r>
          </a:p>
        </p:txBody>
      </p:sp>
      <p:sp>
        <p:nvSpPr>
          <p:cNvPr id="26" name="TextBox 25"/>
          <p:cNvSpPr txBox="1"/>
          <p:nvPr/>
        </p:nvSpPr>
        <p:spPr>
          <a:xfrm>
            <a:off x="6355080" y="5148072"/>
            <a:ext cx="987552" cy="384048"/>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a:t>
            </a:r>
          </a:p>
        </p:txBody>
      </p:sp>
      <p:sp>
        <p:nvSpPr>
          <p:cNvPr id="27" name="Rectangle 26"/>
          <p:cNvSpPr/>
          <p:nvPr/>
        </p:nvSpPr>
        <p:spPr>
          <a:xfrm>
            <a:off x="8183879" y="1783080"/>
            <a:ext cx="3291840" cy="21945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1783080"/>
            <a:ext cx="54864" cy="21945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9911" y="1965960"/>
            <a:ext cx="2834640" cy="187452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Atípico robusto.</a:t>
            </a:r>
            <a:r>
              <a:rPr sz="1200" b="0">
                <a:solidFill>
                  <a:srgbClr val="C9D1DE"/>
                </a:solidFill>
                <a:latin typeface="Segoe UI"/>
              </a:rPr>
              <a:t> Ruido, dentro de su tipo, en al menos 20 de 25 configuraciones (5 min_samples × 5 eps del 80 al 120 % del codo). Tienen unas 4 horas con más de 100 Wh sobre la mediana de su tipo. Incluyen los tres que aisló el jerárquico.</a:t>
            </a:r>
          </a:p>
        </p:txBody>
      </p:sp>
      <p:sp>
        <p:nvSpPr>
          <p:cNvPr id="30" name="Rectangle 29"/>
          <p:cNvSpPr/>
          <p:nvPr/>
        </p:nvSpPr>
        <p:spPr>
          <a:xfrm>
            <a:off x="8183879" y="4160520"/>
            <a:ext cx="3291840" cy="16459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4160520"/>
            <a:ext cx="54864" cy="16459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9911" y="4343400"/>
            <a:ext cx="2834640" cy="13258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Se marcan, no se borran.</a:t>
            </a:r>
            <a:r>
              <a:rPr sz="1200" b="0">
                <a:solidFill>
                  <a:srgbClr val="C9D1DE"/>
                </a:solidFill>
                <a:latin typeface="Segoe UI"/>
              </a:rPr>
              <a:t> Son el 16 % de los días; borrarlos le quitaría al gemelo el invierno. El agente no confía en su estimación del tipo esos días.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CONTROL TEMPORAL DE LOS DÍAS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Mayo: 2 de 26 días son «desconocidos» para el gemelo</a:t>
            </a:r>
          </a:p>
        </p:txBody>
      </p:sp>
      <p:sp>
        <p:nvSpPr>
          <p:cNvPr id="6" name="TextBox 5"/>
          <p:cNvSpPr txBox="1"/>
          <p:nvPr/>
        </p:nvSpPr>
        <p:spPr>
          <a:xfrm>
            <a:off x="685800" y="1874519"/>
            <a:ext cx="31089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TIPO (AJUSTADO CON ENE–ABR)</a:t>
            </a:r>
          </a:p>
        </p:txBody>
      </p:sp>
      <p:sp>
        <p:nvSpPr>
          <p:cNvPr id="7" name="TextBox 6"/>
          <p:cNvSpPr txBox="1"/>
          <p:nvPr/>
        </p:nvSpPr>
        <p:spPr>
          <a:xfrm>
            <a:off x="3794760" y="1874519"/>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EPS</a:t>
            </a:r>
          </a:p>
        </p:txBody>
      </p:sp>
      <p:sp>
        <p:nvSpPr>
          <p:cNvPr id="8" name="TextBox 7"/>
          <p:cNvSpPr txBox="1"/>
          <p:nvPr/>
        </p:nvSpPr>
        <p:spPr>
          <a:xfrm>
            <a:off x="5074920" y="1874519"/>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 ENE–ABR</a:t>
            </a:r>
          </a:p>
        </p:txBody>
      </p:sp>
      <p:sp>
        <p:nvSpPr>
          <p:cNvPr id="9" name="TextBox 8"/>
          <p:cNvSpPr txBox="1"/>
          <p:nvPr/>
        </p:nvSpPr>
        <p:spPr>
          <a:xfrm>
            <a:off x="6903720" y="1874519"/>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DÍAS DE MAYO</a:t>
            </a:r>
          </a:p>
        </p:txBody>
      </p:sp>
      <p:sp>
        <p:nvSpPr>
          <p:cNvPr id="10" name="TextBox 9"/>
          <p:cNvSpPr txBox="1"/>
          <p:nvPr/>
        </p:nvSpPr>
        <p:spPr>
          <a:xfrm>
            <a:off x="8732520" y="1874519"/>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DESCONOCIDOS</a:t>
            </a:r>
          </a:p>
        </p:txBody>
      </p:sp>
      <p:sp>
        <p:nvSpPr>
          <p:cNvPr id="11" name="Rectangle 10"/>
          <p:cNvSpPr/>
          <p:nvPr/>
        </p:nvSpPr>
        <p:spPr>
          <a:xfrm>
            <a:off x="685800" y="2167127"/>
            <a:ext cx="98755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03703"/>
            <a:ext cx="299923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Día normal</a:t>
            </a:r>
          </a:p>
        </p:txBody>
      </p:sp>
      <p:sp>
        <p:nvSpPr>
          <p:cNvPr id="13" name="TextBox 12"/>
          <p:cNvSpPr txBox="1"/>
          <p:nvPr/>
        </p:nvSpPr>
        <p:spPr>
          <a:xfrm>
            <a:off x="3794760" y="2203703"/>
            <a:ext cx="117043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224 Wh</a:t>
            </a:r>
          </a:p>
        </p:txBody>
      </p:sp>
      <p:sp>
        <p:nvSpPr>
          <p:cNvPr id="14" name="TextBox 13"/>
          <p:cNvSpPr txBox="1"/>
          <p:nvPr/>
        </p:nvSpPr>
        <p:spPr>
          <a:xfrm>
            <a:off x="5074920" y="22037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24,7 %</a:t>
            </a:r>
          </a:p>
        </p:txBody>
      </p:sp>
      <p:sp>
        <p:nvSpPr>
          <p:cNvPr id="15" name="TextBox 14"/>
          <p:cNvSpPr txBox="1"/>
          <p:nvPr/>
        </p:nvSpPr>
        <p:spPr>
          <a:xfrm>
            <a:off x="6903720" y="22037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23</a:t>
            </a:r>
          </a:p>
        </p:txBody>
      </p:sp>
      <p:sp>
        <p:nvSpPr>
          <p:cNvPr id="16" name="TextBox 15"/>
          <p:cNvSpPr txBox="1"/>
          <p:nvPr/>
        </p:nvSpPr>
        <p:spPr>
          <a:xfrm>
            <a:off x="8732520" y="22037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2</a:t>
            </a:r>
          </a:p>
        </p:txBody>
      </p:sp>
      <p:sp>
        <p:nvSpPr>
          <p:cNvPr id="17" name="TextBox 16"/>
          <p:cNvSpPr txBox="1"/>
          <p:nvPr/>
        </p:nvSpPr>
        <p:spPr>
          <a:xfrm>
            <a:off x="777240" y="2660903"/>
            <a:ext cx="299923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Día de carga alta</a:t>
            </a:r>
          </a:p>
        </p:txBody>
      </p:sp>
      <p:sp>
        <p:nvSpPr>
          <p:cNvPr id="18" name="TextBox 17"/>
          <p:cNvSpPr txBox="1"/>
          <p:nvPr/>
        </p:nvSpPr>
        <p:spPr>
          <a:xfrm>
            <a:off x="3794760" y="2660903"/>
            <a:ext cx="117043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462 Wh</a:t>
            </a:r>
          </a:p>
        </p:txBody>
      </p:sp>
      <p:sp>
        <p:nvSpPr>
          <p:cNvPr id="19" name="TextBox 18"/>
          <p:cNvSpPr txBox="1"/>
          <p:nvPr/>
        </p:nvSpPr>
        <p:spPr>
          <a:xfrm>
            <a:off x="5074920" y="26609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16,0 %</a:t>
            </a:r>
          </a:p>
        </p:txBody>
      </p:sp>
      <p:sp>
        <p:nvSpPr>
          <p:cNvPr id="20" name="TextBox 19"/>
          <p:cNvSpPr txBox="1"/>
          <p:nvPr/>
        </p:nvSpPr>
        <p:spPr>
          <a:xfrm>
            <a:off x="6903720" y="26609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3</a:t>
            </a:r>
          </a:p>
        </p:txBody>
      </p:sp>
      <p:sp>
        <p:nvSpPr>
          <p:cNvPr id="21" name="TextBox 20"/>
          <p:cNvSpPr txBox="1"/>
          <p:nvPr/>
        </p:nvSpPr>
        <p:spPr>
          <a:xfrm>
            <a:off x="8732520" y="2660903"/>
            <a:ext cx="1719072" cy="457200"/>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0</a:t>
            </a:r>
          </a:p>
        </p:txBody>
      </p:sp>
      <p:sp>
        <p:nvSpPr>
          <p:cNvPr id="22" name="Rectangle 21"/>
          <p:cNvSpPr/>
          <p:nvPr/>
        </p:nvSpPr>
        <p:spPr>
          <a:xfrm>
            <a:off x="685800" y="3520440"/>
            <a:ext cx="5212080" cy="1920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520440"/>
            <a:ext cx="54864" cy="19202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3703320"/>
            <a:ext cx="4754880" cy="160020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Qué es un día desconocido.</a:t>
            </a:r>
            <a:r>
              <a:rPr sz="1300" b="0">
                <a:solidFill>
                  <a:srgbClr val="C9D1DE"/>
                </a:solidFill>
                <a:latin typeface="Segoe UI"/>
              </a:rPr>
              <a:t> Cada día de mayo se asigna a su tipo y se declara desconocido si no tiene ningún punto núcleo de su tipo a menos de eps: DBSCAN como detector de novedad. Fueron el viernes 6 y el domingo 22, los dos de tipo normal y con la mañana cargada.</a:t>
            </a:r>
          </a:p>
        </p:txBody>
      </p:sp>
      <p:sp>
        <p:nvSpPr>
          <p:cNvPr id="25" name="Rectangle 24"/>
          <p:cNvSpPr/>
          <p:nvPr/>
        </p:nvSpPr>
        <p:spPr>
          <a:xfrm>
            <a:off x="6126480" y="3520440"/>
            <a:ext cx="5349240" cy="1920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520440"/>
            <a:ext cx="54864" cy="19202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703320"/>
            <a:ext cx="4892040" cy="160020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Para Shiro.</a:t>
            </a:r>
            <a:r>
              <a:rPr sz="1300" b="0">
                <a:solidFill>
                  <a:srgbClr val="C9D1DE"/>
                </a:solidFill>
                <a:latin typeface="Segoe UI"/>
              </a:rPr>
              <a:t> «Día desconocido» es una señal barata: si el día en curso no tiene vecinos densos en la historia, el simulador no ha visto nada parecido y la política debe volverse conservadora.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PARTE B, PASO 1: QUÉ COLUMNAS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 todas las columnas, DBSCAN encuentra el calendario</a:t>
            </a:r>
          </a:p>
        </p:txBody>
      </p:sp>
      <p:sp>
        <p:nvSpPr>
          <p:cNvPr id="6" name="Rounded Rectangle 5"/>
          <p:cNvSpPr/>
          <p:nvPr/>
        </p:nvSpPr>
        <p:spPr>
          <a:xfrm>
            <a:off x="694944" y="1683675"/>
            <a:ext cx="10588752" cy="289629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6_todas_semanas.png"/>
          <p:cNvPicPr>
            <a:picLocks noChangeAspect="1"/>
          </p:cNvPicPr>
          <p:nvPr/>
        </p:nvPicPr>
        <p:blipFill>
          <a:blip r:embed="rId2"/>
          <a:stretch>
            <a:fillRect/>
          </a:stretch>
        </p:blipFill>
        <p:spPr>
          <a:xfrm>
            <a:off x="777240" y="1765971"/>
            <a:ext cx="10424160" cy="2731698"/>
          </a:xfrm>
          <a:prstGeom prst="rect">
            <a:avLst/>
          </a:prstGeom>
        </p:spPr>
      </p:pic>
      <p:sp>
        <p:nvSpPr>
          <p:cNvPr id="8" name="Rectangle 7"/>
          <p:cNvSpPr/>
          <p:nvPr/>
        </p:nvSpPr>
        <p:spPr>
          <a:xfrm>
            <a:off x="685800" y="4709160"/>
            <a:ext cx="5257800"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709160"/>
            <a:ext cx="54864" cy="12344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4892040"/>
            <a:ext cx="4800600" cy="91440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30 columnas → semanas.</a:t>
            </a:r>
            <a:r>
              <a:rPr sz="1250" b="0">
                <a:solidFill>
                  <a:srgbClr val="C9D1DE"/>
                </a:solidFill>
                <a:latin typeface="Segoe UI"/>
              </a:rPr>
              <a:t> Con la mitad del eps del codo, 26 de 30 clústers caben en 7 días o menos: las lecturas consecutivas se encadenan (autocorrelación) y los sensores interiores derivan con la estación.</a:t>
            </a:r>
          </a:p>
        </p:txBody>
      </p:sp>
      <p:sp>
        <p:nvSpPr>
          <p:cNvPr id="11" name="Rectangle 10"/>
          <p:cNvSpPr/>
          <p:nvPr/>
        </p:nvSpPr>
        <p:spPr>
          <a:xfrm>
            <a:off x="6217920" y="4709160"/>
            <a:ext cx="5257800"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4709160"/>
            <a:ext cx="54864" cy="12344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4892040"/>
            <a:ext cx="4800600" cy="91440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La decisión.</a:t>
            </a:r>
            <a:r>
              <a:rPr sz="1250" b="0">
                <a:solidFill>
                  <a:srgbClr val="C9D1DE"/>
                </a:solidFill>
                <a:latin typeface="Segoe UI"/>
              </a:rPr>
              <a:t> Consumo y sus retardos del parcial (lag1, media y desviación de la última hora, con shift(1)), con log1p por la cola larga y StandardScaler ajustado con enero–abril (paso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UN ARTEFACTO QUE HUBO QUE CORREGIR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medidor redondea a 10 Wh</a:t>
            </a:r>
          </a:p>
        </p:txBody>
      </p:sp>
      <p:sp>
        <p:nvSpPr>
          <p:cNvPr id="6" name="TextBox 5"/>
          <p:cNvSpPr txBox="1"/>
          <p:nvPr/>
        </p:nvSpPr>
        <p:spPr>
          <a:xfrm>
            <a:off x="685800" y="1874519"/>
            <a:ext cx="3840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VERSIÓN</a:t>
            </a:r>
          </a:p>
        </p:txBody>
      </p:sp>
      <p:sp>
        <p:nvSpPr>
          <p:cNvPr id="7" name="TextBox 6"/>
          <p:cNvSpPr txBox="1"/>
          <p:nvPr/>
        </p:nvSpPr>
        <p:spPr>
          <a:xfrm>
            <a:off x="4526280" y="1874519"/>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CLÚSTERS</a:t>
            </a:r>
          </a:p>
        </p:txBody>
      </p:sp>
      <p:sp>
        <p:nvSpPr>
          <p:cNvPr id="8" name="TextBox 7"/>
          <p:cNvSpPr txBox="1"/>
          <p:nvPr/>
        </p:nvSpPr>
        <p:spPr>
          <a:xfrm>
            <a:off x="5806440" y="1874519"/>
            <a:ext cx="24688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TAMAÑOS MAYORES</a:t>
            </a:r>
          </a:p>
        </p:txBody>
      </p:sp>
      <p:sp>
        <p:nvSpPr>
          <p:cNvPr id="9" name="TextBox 8"/>
          <p:cNvSpPr txBox="1"/>
          <p:nvPr/>
        </p:nvSpPr>
        <p:spPr>
          <a:xfrm>
            <a:off x="8275320" y="1874519"/>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a:t>
            </a:r>
          </a:p>
        </p:txBody>
      </p:sp>
      <p:sp>
        <p:nvSpPr>
          <p:cNvPr id="10" name="TextBox 9"/>
          <p:cNvSpPr txBox="1"/>
          <p:nvPr/>
        </p:nvSpPr>
        <p:spPr>
          <a:xfrm>
            <a:off x="9464040" y="1874519"/>
            <a:ext cx="20116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 SOBRE 200 WH</a:t>
            </a:r>
          </a:p>
        </p:txBody>
      </p:sp>
      <p:sp>
        <p:nvSpPr>
          <p:cNvPr id="11" name="Rectangle 10"/>
          <p:cNvSpPr/>
          <p:nvPr/>
        </p:nvSpPr>
        <p:spPr>
          <a:xfrm>
            <a:off x="685800" y="2167127"/>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03703"/>
            <a:ext cx="373075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Sin corregir (log1p)</a:t>
            </a:r>
          </a:p>
        </p:txBody>
      </p:sp>
      <p:sp>
        <p:nvSpPr>
          <p:cNvPr id="13" name="TextBox 12"/>
          <p:cNvSpPr txBox="1"/>
          <p:nvPr/>
        </p:nvSpPr>
        <p:spPr>
          <a:xfrm>
            <a:off x="4526280" y="2203703"/>
            <a:ext cx="117043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14</a:t>
            </a:r>
          </a:p>
        </p:txBody>
      </p:sp>
      <p:sp>
        <p:nvSpPr>
          <p:cNvPr id="14" name="TextBox 13"/>
          <p:cNvSpPr txBox="1"/>
          <p:nvPr/>
        </p:nvSpPr>
        <p:spPr>
          <a:xfrm>
            <a:off x="5806440" y="2203703"/>
            <a:ext cx="235915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13.830 / 336 / 327</a:t>
            </a:r>
          </a:p>
        </p:txBody>
      </p:sp>
      <p:sp>
        <p:nvSpPr>
          <p:cNvPr id="15" name="TextBox 14"/>
          <p:cNvSpPr txBox="1"/>
          <p:nvPr/>
        </p:nvSpPr>
        <p:spPr>
          <a:xfrm>
            <a:off x="8275320" y="2203703"/>
            <a:ext cx="107899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3,4 %</a:t>
            </a:r>
          </a:p>
        </p:txBody>
      </p:sp>
      <p:sp>
        <p:nvSpPr>
          <p:cNvPr id="16" name="TextBox 15"/>
          <p:cNvSpPr txBox="1"/>
          <p:nvPr/>
        </p:nvSpPr>
        <p:spPr>
          <a:xfrm>
            <a:off x="9464040" y="2203703"/>
            <a:ext cx="190195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a:t>
            </a:r>
          </a:p>
        </p:txBody>
      </p:sp>
      <p:sp>
        <p:nvSpPr>
          <p:cNvPr id="17" name="Rectangle 16"/>
          <p:cNvSpPr/>
          <p:nvPr/>
        </p:nvSpPr>
        <p:spPr>
          <a:xfrm>
            <a:off x="685800" y="2660903"/>
            <a:ext cx="10789920" cy="4206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660903"/>
            <a:ext cx="3730752" cy="457200"/>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Dithering ±5 Wh + log1p (elegida)</a:t>
            </a:r>
          </a:p>
        </p:txBody>
      </p:sp>
      <p:sp>
        <p:nvSpPr>
          <p:cNvPr id="19" name="TextBox 18"/>
          <p:cNvSpPr txBox="1"/>
          <p:nvPr/>
        </p:nvSpPr>
        <p:spPr>
          <a:xfrm>
            <a:off x="4526280" y="2660903"/>
            <a:ext cx="1170432" cy="45720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7</a:t>
            </a:r>
          </a:p>
        </p:txBody>
      </p:sp>
      <p:sp>
        <p:nvSpPr>
          <p:cNvPr id="20" name="TextBox 19"/>
          <p:cNvSpPr txBox="1"/>
          <p:nvPr/>
        </p:nvSpPr>
        <p:spPr>
          <a:xfrm>
            <a:off x="5806440" y="2660903"/>
            <a:ext cx="2359152" cy="45720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15.114 / 40 / 17</a:t>
            </a:r>
          </a:p>
        </p:txBody>
      </p:sp>
      <p:sp>
        <p:nvSpPr>
          <p:cNvPr id="21" name="TextBox 20"/>
          <p:cNvSpPr txBox="1"/>
          <p:nvPr/>
        </p:nvSpPr>
        <p:spPr>
          <a:xfrm>
            <a:off x="8275320" y="2660903"/>
            <a:ext cx="1078992" cy="45720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4,2 %</a:t>
            </a:r>
          </a:p>
        </p:txBody>
      </p:sp>
      <p:sp>
        <p:nvSpPr>
          <p:cNvPr id="22" name="TextBox 21"/>
          <p:cNvSpPr txBox="1"/>
          <p:nvPr/>
        </p:nvSpPr>
        <p:spPr>
          <a:xfrm>
            <a:off x="9464040" y="2660903"/>
            <a:ext cx="1901952" cy="457200"/>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47 %</a:t>
            </a:r>
          </a:p>
        </p:txBody>
      </p:sp>
      <p:sp>
        <p:nvSpPr>
          <p:cNvPr id="23" name="TextBox 22"/>
          <p:cNvSpPr txBox="1"/>
          <p:nvPr/>
        </p:nvSpPr>
        <p:spPr>
          <a:xfrm>
            <a:off x="777240" y="3118103"/>
            <a:ext cx="373075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Dithering sin logaritmo</a:t>
            </a:r>
          </a:p>
        </p:txBody>
      </p:sp>
      <p:sp>
        <p:nvSpPr>
          <p:cNvPr id="24" name="TextBox 23"/>
          <p:cNvSpPr txBox="1"/>
          <p:nvPr/>
        </p:nvSpPr>
        <p:spPr>
          <a:xfrm>
            <a:off x="4526280" y="3118103"/>
            <a:ext cx="117043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a:t>
            </a:r>
          </a:p>
        </p:txBody>
      </p:sp>
      <p:sp>
        <p:nvSpPr>
          <p:cNvPr id="25" name="TextBox 24"/>
          <p:cNvSpPr txBox="1"/>
          <p:nvPr/>
        </p:nvSpPr>
        <p:spPr>
          <a:xfrm>
            <a:off x="5806440" y="3118103"/>
            <a:ext cx="235915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15.009 / 29 / 13</a:t>
            </a:r>
          </a:p>
        </p:txBody>
      </p:sp>
      <p:sp>
        <p:nvSpPr>
          <p:cNvPr id="26" name="TextBox 25"/>
          <p:cNvSpPr txBox="1"/>
          <p:nvPr/>
        </p:nvSpPr>
        <p:spPr>
          <a:xfrm>
            <a:off x="8275320" y="3118103"/>
            <a:ext cx="107899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4,9 %</a:t>
            </a:r>
          </a:p>
        </p:txBody>
      </p:sp>
      <p:sp>
        <p:nvSpPr>
          <p:cNvPr id="27" name="TextBox 26"/>
          <p:cNvSpPr txBox="1"/>
          <p:nvPr/>
        </p:nvSpPr>
        <p:spPr>
          <a:xfrm>
            <a:off x="9464040" y="3118103"/>
            <a:ext cx="190195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80 %</a:t>
            </a:r>
          </a:p>
        </p:txBody>
      </p:sp>
      <p:sp>
        <p:nvSpPr>
          <p:cNvPr id="28" name="Rectangle 27"/>
          <p:cNvSpPr/>
          <p:nvPr/>
        </p:nvSpPr>
        <p:spPr>
          <a:xfrm>
            <a:off x="685800" y="3840480"/>
            <a:ext cx="5257800" cy="1828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3840480"/>
            <a:ext cx="54864" cy="18288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023360"/>
            <a:ext cx="4800600" cy="15087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Capas de densidad falsa.</a:t>
            </a:r>
            <a:r>
              <a:rPr sz="1250" b="0">
                <a:solidFill>
                  <a:srgbClr val="C9D1DE"/>
                </a:solidFill>
                <a:latin typeface="Segoe UI"/>
              </a:rPr>
              <a:t> El 100 % de las lecturas son múltiplos de 10 Wh. Sin corregir, 6 de los 14 clústers contienen un único valor exacto (20 o 30 Wh). El dithering suma ±5 Wh uniformes: la incertidumbre real del medidor. Queda un gran grupo con el 95 % de las lecturas.</a:t>
            </a:r>
          </a:p>
        </p:txBody>
      </p:sp>
      <p:sp>
        <p:nvSpPr>
          <p:cNvPr id="31" name="Rectangle 30"/>
          <p:cNvSpPr/>
          <p:nvPr/>
        </p:nvSpPr>
        <p:spPr>
          <a:xfrm>
            <a:off x="6217920" y="3840480"/>
            <a:ext cx="5257800" cy="1828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40480"/>
            <a:ext cx="54864" cy="18288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3952" y="4023360"/>
            <a:ext cx="4800600" cy="15087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La transformación decide qué es raro.</a:t>
            </a:r>
            <a:r>
              <a:rPr sz="1250" b="0">
                <a:solidFill>
                  <a:srgbClr val="C9D1DE"/>
                </a:solidFill>
                <a:latin typeface="Segoe UI"/>
              </a:rPr>
              <a:t> Sin logaritmo, el 80 % del ruido supera el umbral: «raro» = «grande» y DBSCAN solo repite el umbral. Con log1p, menos de la mitad lo supera: ahí la densidad aporta algo que el umbral no ve.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SEPARAR POR FRANJA: ANOMALÍA CONTEXTUAL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umbral mide magnitud; DBSCAN, rareza para la hora</a:t>
            </a:r>
          </a:p>
        </p:txBody>
      </p:sp>
      <p:sp>
        <p:nvSpPr>
          <p:cNvPr id="6" name="Rounded Rectangle 5"/>
          <p:cNvSpPr/>
          <p:nvPr/>
        </p:nvSpPr>
        <p:spPr>
          <a:xfrm>
            <a:off x="1540910" y="1655064"/>
            <a:ext cx="8896820" cy="2816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7_contextual.png"/>
          <p:cNvPicPr>
            <a:picLocks noChangeAspect="1"/>
          </p:cNvPicPr>
          <p:nvPr/>
        </p:nvPicPr>
        <p:blipFill>
          <a:blip r:embed="rId2"/>
          <a:stretch>
            <a:fillRect/>
          </a:stretch>
        </p:blipFill>
        <p:spPr>
          <a:xfrm>
            <a:off x="1623206" y="1737360"/>
            <a:ext cx="8732228" cy="2651760"/>
          </a:xfrm>
          <a:prstGeom prst="rect">
            <a:avLst/>
          </a:prstGeom>
        </p:spPr>
      </p:pic>
      <p:sp>
        <p:nvSpPr>
          <p:cNvPr id="8" name="TextBox 7"/>
          <p:cNvSpPr txBox="1"/>
          <p:nvPr/>
        </p:nvSpPr>
        <p:spPr>
          <a:xfrm>
            <a:off x="685800" y="4526280"/>
            <a:ext cx="1371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FRANJA</a:t>
            </a:r>
          </a:p>
        </p:txBody>
      </p:sp>
      <p:sp>
        <p:nvSpPr>
          <p:cNvPr id="9" name="TextBox 8"/>
          <p:cNvSpPr txBox="1"/>
          <p:nvPr/>
        </p:nvSpPr>
        <p:spPr>
          <a:xfrm>
            <a:off x="2057400" y="45262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a:t>
            </a:r>
          </a:p>
        </p:txBody>
      </p:sp>
      <p:sp>
        <p:nvSpPr>
          <p:cNvPr id="10" name="TextBox 9"/>
          <p:cNvSpPr txBox="1"/>
          <p:nvPr/>
        </p:nvSpPr>
        <p:spPr>
          <a:xfrm>
            <a:off x="2971800" y="452628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BAJO 200 WH</a:t>
            </a:r>
          </a:p>
        </p:txBody>
      </p:sp>
      <p:sp>
        <p:nvSpPr>
          <p:cNvPr id="11" name="TextBox 10"/>
          <p:cNvSpPr txBox="1"/>
          <p:nvPr/>
        </p:nvSpPr>
        <p:spPr>
          <a:xfrm>
            <a:off x="4251960" y="452628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&gt; 200 WH MARCADAS</a:t>
            </a:r>
          </a:p>
        </p:txBody>
      </p:sp>
      <p:sp>
        <p:nvSpPr>
          <p:cNvPr id="12" name="TextBox 11"/>
          <p:cNvSpPr txBox="1"/>
          <p:nvPr/>
        </p:nvSpPr>
        <p:spPr>
          <a:xfrm>
            <a:off x="5989320" y="4526280"/>
            <a:ext cx="10058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SUBIDAS</a:t>
            </a:r>
          </a:p>
        </p:txBody>
      </p:sp>
      <p:sp>
        <p:nvSpPr>
          <p:cNvPr id="13" name="Rectangle 12"/>
          <p:cNvSpPr/>
          <p:nvPr/>
        </p:nvSpPr>
        <p:spPr>
          <a:xfrm>
            <a:off x="685800" y="4818888"/>
            <a:ext cx="63093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55464"/>
            <a:ext cx="1261872" cy="29260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Madrugada</a:t>
            </a:r>
          </a:p>
        </p:txBody>
      </p:sp>
      <p:sp>
        <p:nvSpPr>
          <p:cNvPr id="15" name="TextBox 14"/>
          <p:cNvSpPr txBox="1"/>
          <p:nvPr/>
        </p:nvSpPr>
        <p:spPr>
          <a:xfrm>
            <a:off x="2057400" y="4855464"/>
            <a:ext cx="80467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2,0 %</a:t>
            </a:r>
          </a:p>
        </p:txBody>
      </p:sp>
      <p:sp>
        <p:nvSpPr>
          <p:cNvPr id="16" name="TextBox 15"/>
          <p:cNvSpPr txBox="1"/>
          <p:nvPr/>
        </p:nvSpPr>
        <p:spPr>
          <a:xfrm>
            <a:off x="2971800" y="4855464"/>
            <a:ext cx="1170432" cy="292608"/>
          </a:xfrm>
          <a:prstGeom prst="rect">
            <a:avLst/>
          </a:prstGeom>
          <a:noFill/>
        </p:spPr>
        <p:txBody>
          <a:bodyPr wrap="square" lIns="0" rIns="0" tIns="0" bIns="0" anchor="ctr">
            <a:spAutoFit/>
          </a:bodyPr>
          <a:lstStyle/>
          <a:p>
            <a:pPr algn="r">
              <a:lnSpc>
                <a:spcPct val="115000"/>
              </a:lnSpc>
            </a:pPr>
            <a:r>
              <a:rPr sz="1100" b="0">
                <a:solidFill>
                  <a:srgbClr val="7BD992"/>
                </a:solidFill>
                <a:latin typeface="Consolas"/>
              </a:rPr>
              <a:t>86 %</a:t>
            </a:r>
          </a:p>
        </p:txBody>
      </p:sp>
      <p:sp>
        <p:nvSpPr>
          <p:cNvPr id="17" name="TextBox 16"/>
          <p:cNvSpPr txBox="1"/>
          <p:nvPr/>
        </p:nvSpPr>
        <p:spPr>
          <a:xfrm>
            <a:off x="4251960" y="4855464"/>
            <a:ext cx="1627632" cy="292608"/>
          </a:xfrm>
          <a:prstGeom prst="rect">
            <a:avLst/>
          </a:prstGeom>
          <a:noFill/>
        </p:spPr>
        <p:txBody>
          <a:bodyPr wrap="square" lIns="0" rIns="0" tIns="0" bIns="0" anchor="ctr">
            <a:spAutoFit/>
          </a:bodyPr>
          <a:lstStyle/>
          <a:p>
            <a:pPr algn="r">
              <a:lnSpc>
                <a:spcPct val="115000"/>
              </a:lnSpc>
            </a:pPr>
            <a:r>
              <a:rPr sz="1100" b="0">
                <a:solidFill>
                  <a:srgbClr val="7BD992"/>
                </a:solidFill>
                <a:latin typeface="Consolas"/>
              </a:rPr>
              <a:t>100 %</a:t>
            </a:r>
          </a:p>
        </p:txBody>
      </p:sp>
      <p:sp>
        <p:nvSpPr>
          <p:cNvPr id="18" name="TextBox 17"/>
          <p:cNvSpPr txBox="1"/>
          <p:nvPr/>
        </p:nvSpPr>
        <p:spPr>
          <a:xfrm>
            <a:off x="5989320" y="4855464"/>
            <a:ext cx="89611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40 %</a:t>
            </a:r>
          </a:p>
        </p:txBody>
      </p:sp>
      <p:sp>
        <p:nvSpPr>
          <p:cNvPr id="19" name="TextBox 18"/>
          <p:cNvSpPr txBox="1"/>
          <p:nvPr/>
        </p:nvSpPr>
        <p:spPr>
          <a:xfrm>
            <a:off x="777240" y="5148072"/>
            <a:ext cx="1261872" cy="29260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Mañana</a:t>
            </a:r>
          </a:p>
        </p:txBody>
      </p:sp>
      <p:sp>
        <p:nvSpPr>
          <p:cNvPr id="20" name="TextBox 19"/>
          <p:cNvSpPr txBox="1"/>
          <p:nvPr/>
        </p:nvSpPr>
        <p:spPr>
          <a:xfrm>
            <a:off x="2057400" y="5148072"/>
            <a:ext cx="80467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3,6 %</a:t>
            </a:r>
          </a:p>
        </p:txBody>
      </p:sp>
      <p:sp>
        <p:nvSpPr>
          <p:cNvPr id="21" name="TextBox 20"/>
          <p:cNvSpPr txBox="1"/>
          <p:nvPr/>
        </p:nvSpPr>
        <p:spPr>
          <a:xfrm>
            <a:off x="2971800" y="5148072"/>
            <a:ext cx="117043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51 %</a:t>
            </a:r>
          </a:p>
        </p:txBody>
      </p:sp>
      <p:sp>
        <p:nvSpPr>
          <p:cNvPr id="22" name="TextBox 21"/>
          <p:cNvSpPr txBox="1"/>
          <p:nvPr/>
        </p:nvSpPr>
        <p:spPr>
          <a:xfrm>
            <a:off x="4251960" y="5148072"/>
            <a:ext cx="162763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14 %</a:t>
            </a:r>
          </a:p>
        </p:txBody>
      </p:sp>
      <p:sp>
        <p:nvSpPr>
          <p:cNvPr id="23" name="TextBox 22"/>
          <p:cNvSpPr txBox="1"/>
          <p:nvPr/>
        </p:nvSpPr>
        <p:spPr>
          <a:xfrm>
            <a:off x="5989320" y="5148072"/>
            <a:ext cx="89611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57 %</a:t>
            </a:r>
          </a:p>
        </p:txBody>
      </p:sp>
      <p:sp>
        <p:nvSpPr>
          <p:cNvPr id="24" name="TextBox 23"/>
          <p:cNvSpPr txBox="1"/>
          <p:nvPr/>
        </p:nvSpPr>
        <p:spPr>
          <a:xfrm>
            <a:off x="777240" y="5440680"/>
            <a:ext cx="1261872" cy="29260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Tarde</a:t>
            </a:r>
          </a:p>
        </p:txBody>
      </p:sp>
      <p:sp>
        <p:nvSpPr>
          <p:cNvPr id="25" name="TextBox 24"/>
          <p:cNvSpPr txBox="1"/>
          <p:nvPr/>
        </p:nvSpPr>
        <p:spPr>
          <a:xfrm>
            <a:off x="2057400" y="5440680"/>
            <a:ext cx="80467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2,0 %</a:t>
            </a:r>
          </a:p>
        </p:txBody>
      </p:sp>
      <p:sp>
        <p:nvSpPr>
          <p:cNvPr id="26" name="TextBox 25"/>
          <p:cNvSpPr txBox="1"/>
          <p:nvPr/>
        </p:nvSpPr>
        <p:spPr>
          <a:xfrm>
            <a:off x="2971800" y="5440680"/>
            <a:ext cx="117043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53 %</a:t>
            </a:r>
          </a:p>
        </p:txBody>
      </p:sp>
      <p:sp>
        <p:nvSpPr>
          <p:cNvPr id="27" name="TextBox 26"/>
          <p:cNvSpPr txBox="1"/>
          <p:nvPr/>
        </p:nvSpPr>
        <p:spPr>
          <a:xfrm>
            <a:off x="4251960" y="5440680"/>
            <a:ext cx="1627632" cy="292608"/>
          </a:xfrm>
          <a:prstGeom prst="rect">
            <a:avLst/>
          </a:prstGeom>
          <a:noFill/>
        </p:spPr>
        <p:txBody>
          <a:bodyPr wrap="square" lIns="0" rIns="0" tIns="0" bIns="0" anchor="ctr">
            <a:spAutoFit/>
          </a:bodyPr>
          <a:lstStyle/>
          <a:p>
            <a:pPr algn="r">
              <a:lnSpc>
                <a:spcPct val="115000"/>
              </a:lnSpc>
            </a:pPr>
            <a:r>
              <a:rPr sz="1100" b="0">
                <a:solidFill>
                  <a:srgbClr val="F28B82"/>
                </a:solidFill>
                <a:latin typeface="Consolas"/>
              </a:rPr>
              <a:t>6 %</a:t>
            </a:r>
          </a:p>
        </p:txBody>
      </p:sp>
      <p:sp>
        <p:nvSpPr>
          <p:cNvPr id="28" name="TextBox 27"/>
          <p:cNvSpPr txBox="1"/>
          <p:nvPr/>
        </p:nvSpPr>
        <p:spPr>
          <a:xfrm>
            <a:off x="5989320" y="5440680"/>
            <a:ext cx="89611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65 %</a:t>
            </a:r>
          </a:p>
        </p:txBody>
      </p:sp>
      <p:sp>
        <p:nvSpPr>
          <p:cNvPr id="29" name="TextBox 28"/>
          <p:cNvSpPr txBox="1"/>
          <p:nvPr/>
        </p:nvSpPr>
        <p:spPr>
          <a:xfrm>
            <a:off x="777240" y="5733288"/>
            <a:ext cx="1261872" cy="292608"/>
          </a:xfrm>
          <a:prstGeom prst="rect">
            <a:avLst/>
          </a:prstGeom>
          <a:noFill/>
        </p:spPr>
        <p:txBody>
          <a:bodyPr wrap="square" lIns="0" rIns="0" tIns="0" bIns="0" anchor="ctr">
            <a:spAutoFit/>
          </a:bodyPr>
          <a:lstStyle/>
          <a:p>
            <a:pPr algn="l">
              <a:lnSpc>
                <a:spcPct val="115000"/>
              </a:lnSpc>
            </a:pPr>
            <a:r>
              <a:rPr sz="1100" b="0">
                <a:solidFill>
                  <a:srgbClr val="C9D1DE"/>
                </a:solidFill>
                <a:latin typeface="Segoe UI"/>
              </a:rPr>
              <a:t>Noche</a:t>
            </a:r>
          </a:p>
        </p:txBody>
      </p:sp>
      <p:sp>
        <p:nvSpPr>
          <p:cNvPr id="30" name="TextBox 29"/>
          <p:cNvSpPr txBox="1"/>
          <p:nvPr/>
        </p:nvSpPr>
        <p:spPr>
          <a:xfrm>
            <a:off x="2057400" y="5733288"/>
            <a:ext cx="80467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4,7 %</a:t>
            </a:r>
          </a:p>
        </p:txBody>
      </p:sp>
      <p:sp>
        <p:nvSpPr>
          <p:cNvPr id="31" name="TextBox 30"/>
          <p:cNvSpPr txBox="1"/>
          <p:nvPr/>
        </p:nvSpPr>
        <p:spPr>
          <a:xfrm>
            <a:off x="2971800" y="5733288"/>
            <a:ext cx="117043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44 %</a:t>
            </a:r>
          </a:p>
        </p:txBody>
      </p:sp>
      <p:sp>
        <p:nvSpPr>
          <p:cNvPr id="32" name="TextBox 31"/>
          <p:cNvSpPr txBox="1"/>
          <p:nvPr/>
        </p:nvSpPr>
        <p:spPr>
          <a:xfrm>
            <a:off x="4251960" y="5733288"/>
            <a:ext cx="162763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24 %</a:t>
            </a:r>
          </a:p>
        </p:txBody>
      </p:sp>
      <p:sp>
        <p:nvSpPr>
          <p:cNvPr id="33" name="TextBox 32"/>
          <p:cNvSpPr txBox="1"/>
          <p:nvPr/>
        </p:nvSpPr>
        <p:spPr>
          <a:xfrm>
            <a:off x="5989320" y="5733288"/>
            <a:ext cx="896112" cy="292608"/>
          </a:xfrm>
          <a:prstGeom prst="rect">
            <a:avLst/>
          </a:prstGeom>
          <a:noFill/>
        </p:spPr>
        <p:txBody>
          <a:bodyPr wrap="square" lIns="0" rIns="0" tIns="0" bIns="0" anchor="ctr">
            <a:spAutoFit/>
          </a:bodyPr>
          <a:lstStyle/>
          <a:p>
            <a:pPr algn="r">
              <a:lnSpc>
                <a:spcPct val="115000"/>
              </a:lnSpc>
            </a:pPr>
            <a:r>
              <a:rPr sz="1100" b="0">
                <a:solidFill>
                  <a:srgbClr val="C9D1DE"/>
                </a:solidFill>
                <a:latin typeface="Consolas"/>
              </a:rPr>
              <a:t>51 %</a:t>
            </a:r>
          </a:p>
        </p:txBody>
      </p:sp>
      <p:sp>
        <p:nvSpPr>
          <p:cNvPr id="34" name="Rectangle 33"/>
          <p:cNvSpPr/>
          <p:nvPr/>
        </p:nvSpPr>
        <p:spPr>
          <a:xfrm>
            <a:off x="7360920" y="4526280"/>
            <a:ext cx="4114800" cy="15544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60920" y="4526280"/>
            <a:ext cx="54864" cy="15544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6952" y="4709160"/>
            <a:ext cx="3657600" cy="1234440"/>
          </a:xfrm>
          <a:prstGeom prst="rect">
            <a:avLst/>
          </a:prstGeom>
          <a:noFill/>
        </p:spPr>
        <p:txBody>
          <a:bodyPr wrap="square" lIns="0" rIns="0" tIns="0" bIns="0" anchor="t">
            <a:spAutoFit/>
          </a:bodyPr>
          <a:lstStyle/>
          <a:p>
            <a:pPr algn="l">
              <a:lnSpc>
                <a:spcPct val="115000"/>
              </a:lnSpc>
            </a:pPr>
            <a:r>
              <a:rPr sz="1150" b="1">
                <a:solidFill>
                  <a:srgbClr val="E6E9EF"/>
                </a:solidFill>
                <a:latin typeface="Segoe UI"/>
              </a:rPr>
              <a:t>De madrugada</a:t>
            </a:r>
            <a:r>
              <a:rPr sz="1150" b="0">
                <a:solidFill>
                  <a:srgbClr val="C9D1DE"/>
                </a:solidFill>
                <a:latin typeface="Segoe UI"/>
              </a:rPr>
              <a:t> ve lo que el umbral no ve: consumos modestos a horas raras (190 Wh a las 05:50). </a:t>
            </a:r>
            <a:r>
              <a:rPr sz="1150" b="1">
                <a:solidFill>
                  <a:srgbClr val="E6E9EF"/>
                </a:solidFill>
                <a:latin typeface="Segoe UI"/>
              </a:rPr>
              <a:t>En la tarde</a:t>
            </a:r>
            <a:r>
              <a:rPr sz="1150" b="0">
                <a:solidFill>
                  <a:srgbClr val="C9D1DE"/>
                </a:solidFill>
                <a:latin typeface="Segoe UI"/>
              </a:rPr>
              <a:t> trata como normales 632 lecturas altas: es la rutina. Entre el 35 y el 60 % del ruido no son subidas: Guardian alerta solo en las subidas.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59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CONTROL TEMPORAL DE LAS LECTURAS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densidad también envejece</a:t>
            </a:r>
          </a:p>
        </p:txBody>
      </p:sp>
      <p:sp>
        <p:nvSpPr>
          <p:cNvPr id="6" name="TextBox 5"/>
          <p:cNvSpPr txBox="1"/>
          <p:nvPr/>
        </p:nvSpPr>
        <p:spPr>
          <a:xfrm>
            <a:off x="685800" y="1828800"/>
            <a:ext cx="18288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FRANJA</a:t>
            </a:r>
          </a:p>
        </p:txBody>
      </p:sp>
      <p:sp>
        <p:nvSpPr>
          <p:cNvPr id="7" name="TextBox 6"/>
          <p:cNvSpPr txBox="1"/>
          <p:nvPr/>
        </p:nvSpPr>
        <p:spPr>
          <a:xfrm>
            <a:off x="2514600" y="182880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DBSCAN ENE–ABR</a:t>
            </a:r>
          </a:p>
        </p:txBody>
      </p:sp>
      <p:sp>
        <p:nvSpPr>
          <p:cNvPr id="8" name="TextBox 7"/>
          <p:cNvSpPr txBox="1"/>
          <p:nvPr/>
        </p:nvSpPr>
        <p:spPr>
          <a:xfrm>
            <a:off x="4343400" y="1828800"/>
            <a:ext cx="2194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DBSCAN MAYO</a:t>
            </a:r>
          </a:p>
        </p:txBody>
      </p:sp>
      <p:sp>
        <p:nvSpPr>
          <p:cNvPr id="9" name="TextBox 8"/>
          <p:cNvSpPr txBox="1"/>
          <p:nvPr/>
        </p:nvSpPr>
        <p:spPr>
          <a:xfrm>
            <a:off x="6537960" y="1828800"/>
            <a:ext cx="19202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UMBRAL ENE–ABR</a:t>
            </a:r>
          </a:p>
        </p:txBody>
      </p:sp>
      <p:sp>
        <p:nvSpPr>
          <p:cNvPr id="10" name="TextBox 9"/>
          <p:cNvSpPr txBox="1"/>
          <p:nvPr/>
        </p:nvSpPr>
        <p:spPr>
          <a:xfrm>
            <a:off x="8458200" y="1828800"/>
            <a:ext cx="2194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UMBRAL MAYO</a:t>
            </a:r>
          </a:p>
        </p:txBody>
      </p:sp>
      <p:sp>
        <p:nvSpPr>
          <p:cNvPr id="11" name="Rectangle 10"/>
          <p:cNvSpPr/>
          <p:nvPr/>
        </p:nvSpPr>
        <p:spPr>
          <a:xfrm>
            <a:off x="685800" y="2121408"/>
            <a:ext cx="99669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57984"/>
            <a:ext cx="1719072" cy="402336"/>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Madrugada</a:t>
            </a:r>
          </a:p>
        </p:txBody>
      </p:sp>
      <p:sp>
        <p:nvSpPr>
          <p:cNvPr id="13" name="TextBox 12"/>
          <p:cNvSpPr txBox="1"/>
          <p:nvPr/>
        </p:nvSpPr>
        <p:spPr>
          <a:xfrm>
            <a:off x="2514600" y="2157984"/>
            <a:ext cx="171907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2,0 %</a:t>
            </a:r>
          </a:p>
        </p:txBody>
      </p:sp>
      <p:sp>
        <p:nvSpPr>
          <p:cNvPr id="14" name="TextBox 13"/>
          <p:cNvSpPr txBox="1"/>
          <p:nvPr/>
        </p:nvSpPr>
        <p:spPr>
          <a:xfrm>
            <a:off x="4343400" y="2157984"/>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2,1 %</a:t>
            </a:r>
          </a:p>
        </p:txBody>
      </p:sp>
      <p:sp>
        <p:nvSpPr>
          <p:cNvPr id="15" name="TextBox 14"/>
          <p:cNvSpPr txBox="1"/>
          <p:nvPr/>
        </p:nvSpPr>
        <p:spPr>
          <a:xfrm>
            <a:off x="6537960" y="2157984"/>
            <a:ext cx="181051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0,3 %</a:t>
            </a:r>
          </a:p>
        </p:txBody>
      </p:sp>
      <p:sp>
        <p:nvSpPr>
          <p:cNvPr id="16" name="TextBox 15"/>
          <p:cNvSpPr txBox="1"/>
          <p:nvPr/>
        </p:nvSpPr>
        <p:spPr>
          <a:xfrm>
            <a:off x="8458200" y="2157984"/>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0,2 %</a:t>
            </a:r>
          </a:p>
        </p:txBody>
      </p:sp>
      <p:sp>
        <p:nvSpPr>
          <p:cNvPr id="17" name="TextBox 16"/>
          <p:cNvSpPr txBox="1"/>
          <p:nvPr/>
        </p:nvSpPr>
        <p:spPr>
          <a:xfrm>
            <a:off x="777240" y="2560320"/>
            <a:ext cx="1719072" cy="402336"/>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Mañana</a:t>
            </a:r>
          </a:p>
        </p:txBody>
      </p:sp>
      <p:sp>
        <p:nvSpPr>
          <p:cNvPr id="18" name="TextBox 17"/>
          <p:cNvSpPr txBox="1"/>
          <p:nvPr/>
        </p:nvSpPr>
        <p:spPr>
          <a:xfrm>
            <a:off x="2514600" y="2560320"/>
            <a:ext cx="171907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3,6 %</a:t>
            </a:r>
          </a:p>
        </p:txBody>
      </p:sp>
      <p:sp>
        <p:nvSpPr>
          <p:cNvPr id="19" name="TextBox 18"/>
          <p:cNvSpPr txBox="1"/>
          <p:nvPr/>
        </p:nvSpPr>
        <p:spPr>
          <a:xfrm>
            <a:off x="4343400" y="2560320"/>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3,4 %</a:t>
            </a:r>
          </a:p>
        </p:txBody>
      </p:sp>
      <p:sp>
        <p:nvSpPr>
          <p:cNvPr id="20" name="TextBox 19"/>
          <p:cNvSpPr txBox="1"/>
          <p:nvPr/>
        </p:nvSpPr>
        <p:spPr>
          <a:xfrm>
            <a:off x="6537960" y="2560320"/>
            <a:ext cx="181051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12,4 %</a:t>
            </a:r>
          </a:p>
        </p:txBody>
      </p:sp>
      <p:sp>
        <p:nvSpPr>
          <p:cNvPr id="21" name="TextBox 20"/>
          <p:cNvSpPr txBox="1"/>
          <p:nvPr/>
        </p:nvSpPr>
        <p:spPr>
          <a:xfrm>
            <a:off x="8458200" y="2560320"/>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10,5 %</a:t>
            </a:r>
          </a:p>
        </p:txBody>
      </p:sp>
      <p:sp>
        <p:nvSpPr>
          <p:cNvPr id="22" name="TextBox 21"/>
          <p:cNvSpPr txBox="1"/>
          <p:nvPr/>
        </p:nvSpPr>
        <p:spPr>
          <a:xfrm>
            <a:off x="777240" y="2962656"/>
            <a:ext cx="1719072" cy="402336"/>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Tarde</a:t>
            </a:r>
          </a:p>
        </p:txBody>
      </p:sp>
      <p:sp>
        <p:nvSpPr>
          <p:cNvPr id="23" name="TextBox 22"/>
          <p:cNvSpPr txBox="1"/>
          <p:nvPr/>
        </p:nvSpPr>
        <p:spPr>
          <a:xfrm>
            <a:off x="2514600" y="2962656"/>
            <a:ext cx="171907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2,0 %</a:t>
            </a:r>
          </a:p>
        </p:txBody>
      </p:sp>
      <p:sp>
        <p:nvSpPr>
          <p:cNvPr id="24" name="TextBox 23"/>
          <p:cNvSpPr txBox="1"/>
          <p:nvPr/>
        </p:nvSpPr>
        <p:spPr>
          <a:xfrm>
            <a:off x="4343400" y="2962656"/>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1,1 %</a:t>
            </a:r>
          </a:p>
        </p:txBody>
      </p:sp>
      <p:sp>
        <p:nvSpPr>
          <p:cNvPr id="25" name="TextBox 24"/>
          <p:cNvSpPr txBox="1"/>
          <p:nvPr/>
        </p:nvSpPr>
        <p:spPr>
          <a:xfrm>
            <a:off x="6537960" y="2962656"/>
            <a:ext cx="181051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16,9 %</a:t>
            </a:r>
          </a:p>
        </p:txBody>
      </p:sp>
      <p:sp>
        <p:nvSpPr>
          <p:cNvPr id="26" name="TextBox 25"/>
          <p:cNvSpPr txBox="1"/>
          <p:nvPr/>
        </p:nvSpPr>
        <p:spPr>
          <a:xfrm>
            <a:off x="8458200" y="2962656"/>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14,8 %</a:t>
            </a:r>
          </a:p>
        </p:txBody>
      </p:sp>
      <p:sp>
        <p:nvSpPr>
          <p:cNvPr id="27" name="TextBox 26"/>
          <p:cNvSpPr txBox="1"/>
          <p:nvPr/>
        </p:nvSpPr>
        <p:spPr>
          <a:xfrm>
            <a:off x="777240" y="3364992"/>
            <a:ext cx="1719072" cy="402336"/>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Noche</a:t>
            </a:r>
          </a:p>
        </p:txBody>
      </p:sp>
      <p:sp>
        <p:nvSpPr>
          <p:cNvPr id="28" name="TextBox 27"/>
          <p:cNvSpPr txBox="1"/>
          <p:nvPr/>
        </p:nvSpPr>
        <p:spPr>
          <a:xfrm>
            <a:off x="2514600" y="3364992"/>
            <a:ext cx="171907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4,7 %</a:t>
            </a:r>
          </a:p>
        </p:txBody>
      </p:sp>
      <p:sp>
        <p:nvSpPr>
          <p:cNvPr id="29" name="TextBox 28"/>
          <p:cNvSpPr txBox="1"/>
          <p:nvPr/>
        </p:nvSpPr>
        <p:spPr>
          <a:xfrm>
            <a:off x="4343400" y="3364992"/>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1,7 %</a:t>
            </a:r>
          </a:p>
        </p:txBody>
      </p:sp>
      <p:sp>
        <p:nvSpPr>
          <p:cNvPr id="30" name="TextBox 29"/>
          <p:cNvSpPr txBox="1"/>
          <p:nvPr/>
        </p:nvSpPr>
        <p:spPr>
          <a:xfrm>
            <a:off x="6537960" y="3364992"/>
            <a:ext cx="181051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11,2 %</a:t>
            </a:r>
          </a:p>
        </p:txBody>
      </p:sp>
      <p:sp>
        <p:nvSpPr>
          <p:cNvPr id="31" name="TextBox 30"/>
          <p:cNvSpPr txBox="1"/>
          <p:nvPr/>
        </p:nvSpPr>
        <p:spPr>
          <a:xfrm>
            <a:off x="8458200" y="3364992"/>
            <a:ext cx="2084832" cy="402336"/>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4,9 %</a:t>
            </a:r>
          </a:p>
        </p:txBody>
      </p:sp>
      <p:sp>
        <p:nvSpPr>
          <p:cNvPr id="32" name="Rectangle 31"/>
          <p:cNvSpPr/>
          <p:nvPr/>
        </p:nvSpPr>
        <p:spPr>
          <a:xfrm>
            <a:off x="685800" y="3767328"/>
            <a:ext cx="9966960" cy="365760"/>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767328"/>
            <a:ext cx="1719072" cy="402336"/>
          </a:xfrm>
          <a:prstGeom prst="rect">
            <a:avLst/>
          </a:prstGeom>
          <a:noFill/>
        </p:spPr>
        <p:txBody>
          <a:bodyPr wrap="square" lIns="0" rIns="0" tIns="0" bIns="0" anchor="ctr">
            <a:spAutoFit/>
          </a:bodyPr>
          <a:lstStyle/>
          <a:p>
            <a:pPr algn="l">
              <a:lnSpc>
                <a:spcPct val="115000"/>
              </a:lnSpc>
            </a:pPr>
            <a:r>
              <a:rPr sz="1300" b="1">
                <a:solidFill>
                  <a:srgbClr val="E6E9EF"/>
                </a:solidFill>
                <a:latin typeface="Segoe UI"/>
              </a:rPr>
              <a:t>Total</a:t>
            </a:r>
          </a:p>
        </p:txBody>
      </p:sp>
      <p:sp>
        <p:nvSpPr>
          <p:cNvPr id="34" name="TextBox 33"/>
          <p:cNvSpPr txBox="1"/>
          <p:nvPr/>
        </p:nvSpPr>
        <p:spPr>
          <a:xfrm>
            <a:off x="2514600" y="3767328"/>
            <a:ext cx="1719072" cy="402336"/>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3,1 %</a:t>
            </a:r>
          </a:p>
        </p:txBody>
      </p:sp>
      <p:sp>
        <p:nvSpPr>
          <p:cNvPr id="35" name="TextBox 34"/>
          <p:cNvSpPr txBox="1"/>
          <p:nvPr/>
        </p:nvSpPr>
        <p:spPr>
          <a:xfrm>
            <a:off x="4343400" y="3767328"/>
            <a:ext cx="2084832" cy="402336"/>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2,1 % (−33 %)</a:t>
            </a:r>
          </a:p>
        </p:txBody>
      </p:sp>
      <p:sp>
        <p:nvSpPr>
          <p:cNvPr id="36" name="TextBox 35"/>
          <p:cNvSpPr txBox="1"/>
          <p:nvPr/>
        </p:nvSpPr>
        <p:spPr>
          <a:xfrm>
            <a:off x="6537960" y="3767328"/>
            <a:ext cx="1810512" cy="402336"/>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10,2 %</a:t>
            </a:r>
          </a:p>
        </p:txBody>
      </p:sp>
      <p:sp>
        <p:nvSpPr>
          <p:cNvPr id="37" name="TextBox 36"/>
          <p:cNvSpPr txBox="1"/>
          <p:nvPr/>
        </p:nvSpPr>
        <p:spPr>
          <a:xfrm>
            <a:off x="8458200" y="3767328"/>
            <a:ext cx="2084832" cy="402336"/>
          </a:xfrm>
          <a:prstGeom prst="rect">
            <a:avLst/>
          </a:prstGeom>
          <a:noFill/>
        </p:spPr>
        <p:txBody>
          <a:bodyPr wrap="square" lIns="0" rIns="0" tIns="0" bIns="0" anchor="ctr">
            <a:spAutoFit/>
          </a:bodyPr>
          <a:lstStyle/>
          <a:p>
            <a:pPr algn="r">
              <a:lnSpc>
                <a:spcPct val="115000"/>
              </a:lnSpc>
            </a:pPr>
            <a:r>
              <a:rPr sz="1300" b="1">
                <a:solidFill>
                  <a:srgbClr val="E6E9EF"/>
                </a:solidFill>
                <a:latin typeface="Consolas"/>
              </a:rPr>
              <a:t>7,6 % (−25 %)</a:t>
            </a:r>
          </a:p>
        </p:txBody>
      </p:sp>
      <p:sp>
        <p:nvSpPr>
          <p:cNvPr id="38" name="Rectangle 37"/>
          <p:cNvSpPr/>
          <p:nvPr/>
        </p:nvSpPr>
        <p:spPr>
          <a:xfrm>
            <a:off x="685800" y="4434840"/>
            <a:ext cx="10820095"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4434840"/>
            <a:ext cx="54864" cy="12344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617720"/>
            <a:ext cx="10362895" cy="91440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Se declara tal como sale.</a:t>
            </a:r>
            <a:r>
              <a:rPr sz="1300" b="0">
                <a:solidFill>
                  <a:srgbClr val="C9D1DE"/>
                </a:solidFill>
                <a:latin typeface="Segoe UI"/>
              </a:rPr>
              <a:t> DBSCAN no resuelve el envejecimiento: en mayo marca un 33 % menos, más que el umbral (25 %), porque sus núcleos son de invierno y mayo es más tranquilo. Lo que sí conserva es el reparto: sigue marcando en cada franja, mientras el umbral casi nunca avisa de madrugada. Las dos definiciones se reajustan cada mes.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PASO 7, LAS PREGUNTAS DEL ENUNCIADO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Las cuatro respuestas</a:t>
            </a:r>
          </a:p>
        </p:txBody>
      </p:sp>
      <p:sp>
        <p:nvSpPr>
          <p:cNvPr id="6" name="Rounded Rectangle 5"/>
          <p:cNvSpPr/>
          <p:nvPr/>
        </p:nvSpPr>
        <p:spPr>
          <a:xfrm>
            <a:off x="685800" y="1828800"/>
            <a:ext cx="5166360" cy="18288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365760"/>
          </a:xfrm>
          <a:prstGeom prst="rect">
            <a:avLst/>
          </a:prstGeom>
          <a:noFill/>
        </p:spPr>
        <p:txBody>
          <a:bodyPr wrap="square" lIns="0" rIns="0" tIns="0" bIns="0" anchor="t">
            <a:spAutoFit/>
          </a:bodyPr>
          <a:lstStyle/>
          <a:p>
            <a:pPr algn="l">
              <a:lnSpc>
                <a:spcPct val="115000"/>
              </a:lnSpc>
            </a:pPr>
            <a:r>
              <a:rPr sz="1500" b="0">
                <a:solidFill>
                  <a:srgbClr val="E6E9EF"/>
                </a:solidFill>
                <a:latin typeface="Segoe UI Semibold"/>
              </a:rPr>
              <a:t>¿Cuántos clústeres se formaron?</a:t>
            </a:r>
          </a:p>
        </p:txBody>
      </p:sp>
      <p:sp>
        <p:nvSpPr>
          <p:cNvPr id="8" name="TextBox 7"/>
          <p:cNvSpPr txBox="1"/>
          <p:nvPr/>
        </p:nvSpPr>
        <p:spPr>
          <a:xfrm>
            <a:off x="914400" y="2423160"/>
            <a:ext cx="47548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Días: uno de 82 (y uno por tipo al separar). Lecturas: un gran grupo con el 95 %; por franja, de 1 a 4, siempre con uno dominante.</a:t>
            </a:r>
          </a:p>
        </p:txBody>
      </p:sp>
      <p:sp>
        <p:nvSpPr>
          <p:cNvPr id="9" name="Rounded Rectangle 8"/>
          <p:cNvSpPr/>
          <p:nvPr/>
        </p:nvSpPr>
        <p:spPr>
          <a:xfrm>
            <a:off x="6126480" y="1828800"/>
            <a:ext cx="5166360" cy="18288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993392"/>
            <a:ext cx="4754880" cy="365760"/>
          </a:xfrm>
          <a:prstGeom prst="rect">
            <a:avLst/>
          </a:prstGeom>
          <a:noFill/>
        </p:spPr>
        <p:txBody>
          <a:bodyPr wrap="square" lIns="0" rIns="0" tIns="0" bIns="0" anchor="t">
            <a:spAutoFit/>
          </a:bodyPr>
          <a:lstStyle/>
          <a:p>
            <a:pPr algn="l">
              <a:lnSpc>
                <a:spcPct val="115000"/>
              </a:lnSpc>
            </a:pPr>
            <a:r>
              <a:rPr sz="1500" b="0">
                <a:solidFill>
                  <a:srgbClr val="E6E9EF"/>
                </a:solidFill>
                <a:latin typeface="Segoe UI Semibold"/>
              </a:rPr>
              <a:t>¿Qué puntos fueron ruido?</a:t>
            </a:r>
          </a:p>
        </p:txBody>
      </p:sp>
      <p:sp>
        <p:nvSpPr>
          <p:cNvPr id="11" name="TextBox 10"/>
          <p:cNvSpPr txBox="1"/>
          <p:nvPr/>
        </p:nvSpPr>
        <p:spPr>
          <a:xfrm>
            <a:off x="6355080" y="2423160"/>
            <a:ext cx="47548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54 días, todos los de carga alta; 22 atípicos robustos, sobre todo de enero. Lecturas: del 2 al 5 % de cada franja; de madrugada, consumos modestos a horas raras.</a:t>
            </a:r>
          </a:p>
        </p:txBody>
      </p:sp>
      <p:sp>
        <p:nvSpPr>
          <p:cNvPr id="12" name="Rounded Rectangle 11"/>
          <p:cNvSpPr/>
          <p:nvPr/>
        </p:nvSpPr>
        <p:spPr>
          <a:xfrm>
            <a:off x="685800" y="3840480"/>
            <a:ext cx="5166360" cy="18288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05072"/>
            <a:ext cx="4754880" cy="365760"/>
          </a:xfrm>
          <a:prstGeom prst="rect">
            <a:avLst/>
          </a:prstGeom>
          <a:noFill/>
        </p:spPr>
        <p:txBody>
          <a:bodyPr wrap="square" lIns="0" rIns="0" tIns="0" bIns="0" anchor="t">
            <a:spAutoFit/>
          </a:bodyPr>
          <a:lstStyle/>
          <a:p>
            <a:pPr algn="l">
              <a:lnSpc>
                <a:spcPct val="115000"/>
              </a:lnSpc>
            </a:pPr>
            <a:r>
              <a:rPr sz="1500" b="0">
                <a:solidFill>
                  <a:srgbClr val="E6E9EF"/>
                </a:solidFill>
                <a:latin typeface="Segoe UI Semibold"/>
              </a:rPr>
              <a:t>¿Cómo cambia con eps y min_samples?</a:t>
            </a:r>
          </a:p>
        </p:txBody>
      </p:sp>
      <p:sp>
        <p:nvSpPr>
          <p:cNvPr id="14" name="TextBox 13"/>
          <p:cNvSpPr txBox="1"/>
          <p:nvPr/>
        </p:nvSpPr>
        <p:spPr>
          <a:xfrm>
            <a:off x="914400" y="4434840"/>
            <a:ext cx="47548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eps manda: fragmenta por debajo del codo y absorbe todo por encima. min_samples desplaza el codo (208 → 381 Wh). En lecturas pesan igual las columnas y la transformación.</a:t>
            </a:r>
          </a:p>
        </p:txBody>
      </p:sp>
      <p:sp>
        <p:nvSpPr>
          <p:cNvPr id="15" name="Rounded Rectangle 14"/>
          <p:cNvSpPr/>
          <p:nvPr/>
        </p:nvSpPr>
        <p:spPr>
          <a:xfrm>
            <a:off x="6126480" y="3840480"/>
            <a:ext cx="5166360" cy="18288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005072"/>
            <a:ext cx="4754880" cy="365760"/>
          </a:xfrm>
          <a:prstGeom prst="rect">
            <a:avLst/>
          </a:prstGeom>
          <a:noFill/>
        </p:spPr>
        <p:txBody>
          <a:bodyPr wrap="square" lIns="0" rIns="0" tIns="0" bIns="0" anchor="t">
            <a:spAutoFit/>
          </a:bodyPr>
          <a:lstStyle/>
          <a:p>
            <a:pPr algn="l">
              <a:lnSpc>
                <a:spcPct val="115000"/>
              </a:lnSpc>
            </a:pPr>
            <a:r>
              <a:rPr sz="1500" b="0">
                <a:solidFill>
                  <a:srgbClr val="E6E9EF"/>
                </a:solidFill>
                <a:latin typeface="Segoe UI Semibold"/>
              </a:rPr>
              <a:t>¿Implicaciones en el sector?</a:t>
            </a:r>
          </a:p>
        </p:txBody>
      </p:sp>
      <p:sp>
        <p:nvSpPr>
          <p:cNvPr id="17" name="TextBox 16"/>
          <p:cNvSpPr txBox="1"/>
          <p:nvPr/>
        </p:nvSpPr>
        <p:spPr>
          <a:xfrm>
            <a:off x="6355080" y="4434840"/>
            <a:ext cx="47548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Incertidumbre del gemelo por tipo de día, días atípicos marcados, la señal «día desconocido» y dos alarmas en Guardian: magnitud y rareza.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DBSCAN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gemelo y Guardian reciben de DBSCAN</a:t>
            </a:r>
          </a:p>
        </p:txBody>
      </p:sp>
      <p:sp>
        <p:nvSpPr>
          <p:cNvPr id="6" name="TextBox 5"/>
          <p:cNvSpPr txBox="1"/>
          <p:nvPr/>
        </p:nvSpPr>
        <p:spPr>
          <a:xfrm>
            <a:off x="68580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Carga alta: real, pero 2,2× más dispersa.</a:t>
            </a:r>
          </a:p>
        </p:txBody>
      </p:sp>
      <p:sp>
        <p:nvSpPr>
          <p:cNvPr id="8" name="TextBox 7"/>
          <p:cNvSpPr txBox="1"/>
          <p:nvPr/>
        </p:nvSpPr>
        <p:spPr>
          <a:xfrm>
            <a:off x="128016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La incertidumbre del simulador depende del tipo de día.</a:t>
            </a:r>
          </a:p>
        </p:txBody>
      </p:sp>
      <p:sp>
        <p:nvSpPr>
          <p:cNvPr id="9" name="TextBox 8"/>
          <p:cNvSpPr txBox="1"/>
          <p:nvPr/>
        </p:nvSpPr>
        <p:spPr>
          <a:xfrm>
            <a:off x="6126480" y="18288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288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Días atípicos: se marcan, no se borran.</a:t>
            </a:r>
          </a:p>
        </p:txBody>
      </p:sp>
      <p:sp>
        <p:nvSpPr>
          <p:cNvPr id="11" name="TextBox 10"/>
          <p:cNvSpPr txBox="1"/>
          <p:nvPr/>
        </p:nvSpPr>
        <p:spPr>
          <a:xfrm>
            <a:off x="6720840" y="22402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16 % de los días, sobre todo de enero.</a:t>
            </a:r>
          </a:p>
        </p:txBody>
      </p:sp>
      <p:sp>
        <p:nvSpPr>
          <p:cNvPr id="12" name="TextBox 11"/>
          <p:cNvSpPr txBox="1"/>
          <p:nvPr/>
        </p:nvSpPr>
        <p:spPr>
          <a:xfrm>
            <a:off x="68580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«Día desconocido» entra al MDP.</a:t>
            </a:r>
          </a:p>
        </p:txBody>
      </p:sp>
      <p:sp>
        <p:nvSpPr>
          <p:cNvPr id="14" name="TextBox 13"/>
          <p:cNvSpPr txBox="1"/>
          <p:nvPr/>
        </p:nvSpPr>
        <p:spPr>
          <a:xfrm>
            <a:off x="128016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Sin vecinos densos, política conservadora.</a:t>
            </a:r>
          </a:p>
        </p:txBody>
      </p:sp>
      <p:sp>
        <p:nvSpPr>
          <p:cNvPr id="15" name="TextBox 14"/>
          <p:cNvSpPr txBox="1"/>
          <p:nvPr/>
        </p:nvSpPr>
        <p:spPr>
          <a:xfrm>
            <a:off x="6126480" y="32004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4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Guardian con dos alarmas.</a:t>
            </a:r>
          </a:p>
        </p:txBody>
      </p:sp>
      <p:sp>
        <p:nvSpPr>
          <p:cNvPr id="17" name="TextBox 16"/>
          <p:cNvSpPr txBox="1"/>
          <p:nvPr/>
        </p:nvSpPr>
        <p:spPr>
          <a:xfrm>
            <a:off x="6720840" y="36118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Umbral = magnitud; DBSCAN por franja = rareza. Solo subidas.</a:t>
            </a:r>
          </a:p>
        </p:txBody>
      </p:sp>
      <p:sp>
        <p:nvSpPr>
          <p:cNvPr id="18" name="TextBox 17"/>
          <p:cNvSpPr txBox="1"/>
          <p:nvPr/>
        </p:nvSpPr>
        <p:spPr>
          <a:xfrm>
            <a:off x="68580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Ninguna es inmune a la estación.</a:t>
            </a:r>
          </a:p>
        </p:txBody>
      </p:sp>
      <p:sp>
        <p:nvSpPr>
          <p:cNvPr id="20" name="TextBox 19"/>
          <p:cNvSpPr txBox="1"/>
          <p:nvPr/>
        </p:nvSpPr>
        <p:spPr>
          <a:xfrm>
            <a:off x="128016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DBSCAN −33 %, umbral −25 % en mayo: reajuste mensual.</a:t>
            </a:r>
          </a:p>
        </p:txBody>
      </p:sp>
      <p:sp>
        <p:nvSpPr>
          <p:cNvPr id="21" name="TextBox 20"/>
          <p:cNvSpPr txBox="1"/>
          <p:nvPr/>
        </p:nvSpPr>
        <p:spPr>
          <a:xfrm>
            <a:off x="6126480" y="4572000"/>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72000"/>
            <a:ext cx="466344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Tres lecciones de método.</a:t>
            </a:r>
          </a:p>
        </p:txBody>
      </p:sp>
      <p:sp>
        <p:nvSpPr>
          <p:cNvPr id="23" name="TextBox 22"/>
          <p:cNvSpPr txBox="1"/>
          <p:nvPr/>
        </p:nvSpPr>
        <p:spPr>
          <a:xfrm>
            <a:off x="6720840" y="4983480"/>
            <a:ext cx="4663440" cy="82296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Elegir columnas, corregir la cuantización y separar por grupos.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EL CORTE EN LA ARQUITECTURA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Shiro tiene ahora que no tenía en septiembre</a:t>
            </a:r>
          </a:p>
        </p:txBody>
      </p:sp>
      <p:sp>
        <p:nvSpPr>
          <p:cNvPr id="6" name="TextBox 5"/>
          <p:cNvSpPr txBox="1"/>
          <p:nvPr/>
        </p:nvSpPr>
        <p:spPr>
          <a:xfrm>
            <a:off x="685800" y="1828800"/>
            <a:ext cx="21031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PIEZA</a:t>
            </a:r>
          </a:p>
        </p:txBody>
      </p:sp>
      <p:sp>
        <p:nvSpPr>
          <p:cNvPr id="7" name="TextBox 6"/>
          <p:cNvSpPr txBox="1"/>
          <p:nvPr/>
        </p:nvSpPr>
        <p:spPr>
          <a:xfrm>
            <a:off x="2788920" y="1828800"/>
            <a:ext cx="27432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ANTES DEL CORTE</a:t>
            </a:r>
          </a:p>
        </p:txBody>
      </p:sp>
      <p:sp>
        <p:nvSpPr>
          <p:cNvPr id="8" name="TextBox 7"/>
          <p:cNvSpPr txBox="1"/>
          <p:nvPr/>
        </p:nvSpPr>
        <p:spPr>
          <a:xfrm>
            <a:off x="5532120" y="1828800"/>
            <a:ext cx="5943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DESPUÉS DEL CORTE</a:t>
            </a:r>
          </a:p>
        </p:txBody>
      </p:sp>
      <p:sp>
        <p:nvSpPr>
          <p:cNvPr id="9" name="Rectangle 8"/>
          <p:cNvSpPr/>
          <p:nvPr/>
        </p:nvSpPr>
        <p:spPr>
          <a:xfrm>
            <a:off x="685800" y="2121408"/>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57984"/>
            <a:ext cx="199339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Simulador</a:t>
            </a:r>
          </a:p>
        </p:txBody>
      </p:sp>
      <p:sp>
        <p:nvSpPr>
          <p:cNvPr id="11" name="TextBox 10"/>
          <p:cNvSpPr txBox="1"/>
          <p:nvPr/>
        </p:nvSpPr>
        <p:spPr>
          <a:xfrm>
            <a:off x="2880360" y="2157984"/>
            <a:ext cx="26334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Lineal + retardos</a:t>
            </a:r>
          </a:p>
        </p:txBody>
      </p:sp>
      <p:sp>
        <p:nvSpPr>
          <p:cNvPr id="12" name="TextBox 11"/>
          <p:cNvSpPr txBox="1"/>
          <p:nvPr/>
        </p:nvSpPr>
        <p:spPr>
          <a:xfrm>
            <a:off x="5623560" y="2157984"/>
            <a:ext cx="58338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Se mantiene. Incertidumbre por franja × tipo de día; la temperatura interior es variable de confort, no predictor</a:t>
            </a:r>
          </a:p>
        </p:txBody>
      </p:sp>
      <p:sp>
        <p:nvSpPr>
          <p:cNvPr id="13" name="TextBox 12"/>
          <p:cNvSpPr txBox="1"/>
          <p:nvPr/>
        </p:nvSpPr>
        <p:spPr>
          <a:xfrm>
            <a:off x="777240" y="2935224"/>
            <a:ext cx="199339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Guardian</a:t>
            </a:r>
          </a:p>
        </p:txBody>
      </p:sp>
      <p:sp>
        <p:nvSpPr>
          <p:cNvPr id="14" name="TextBox 13"/>
          <p:cNvSpPr txBox="1"/>
          <p:nvPr/>
        </p:nvSpPr>
        <p:spPr>
          <a:xfrm>
            <a:off x="2880360" y="2935224"/>
            <a:ext cx="26334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RF + retardos, umbral fijo</a:t>
            </a:r>
          </a:p>
        </p:txBody>
      </p:sp>
      <p:sp>
        <p:nvSpPr>
          <p:cNvPr id="15" name="TextBox 14"/>
          <p:cNvSpPr txBox="1"/>
          <p:nvPr/>
        </p:nvSpPr>
        <p:spPr>
          <a:xfrm>
            <a:off x="5623560" y="2935224"/>
            <a:ext cx="58338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RF se mantiene, evaluado con igual tiempo en alerta; + alarma DBSCAN por franja, solo subidas</a:t>
            </a:r>
          </a:p>
        </p:txBody>
      </p:sp>
      <p:sp>
        <p:nvSpPr>
          <p:cNvPr id="16" name="TextBox 15"/>
          <p:cNvSpPr txBox="1"/>
          <p:nvPr/>
        </p:nvSpPr>
        <p:spPr>
          <a:xfrm>
            <a:off x="777240" y="3712464"/>
            <a:ext cx="199339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Estado del MDP</a:t>
            </a:r>
          </a:p>
        </p:txBody>
      </p:sp>
      <p:sp>
        <p:nvSpPr>
          <p:cNvPr id="17" name="TextBox 16"/>
          <p:cNvSpPr txBox="1"/>
          <p:nvPr/>
        </p:nvSpPr>
        <p:spPr>
          <a:xfrm>
            <a:off x="2880360" y="3712464"/>
            <a:ext cx="26334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Sin variable de rutina</a:t>
            </a:r>
          </a:p>
        </p:txBody>
      </p:sp>
      <p:sp>
        <p:nvSpPr>
          <p:cNvPr id="18" name="TextBox 17"/>
          <p:cNvSpPr txBox="1"/>
          <p:nvPr/>
        </p:nvSpPr>
        <p:spPr>
          <a:xfrm>
            <a:off x="5623560" y="3712464"/>
            <a:ext cx="58338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Tipo de día (2 valores) estimado durante el día, con su confianza; bandera «día desconocido»</a:t>
            </a:r>
          </a:p>
        </p:txBody>
      </p:sp>
      <p:sp>
        <p:nvSpPr>
          <p:cNvPr id="19" name="TextBox 18"/>
          <p:cNvSpPr txBox="1"/>
          <p:nvPr/>
        </p:nvSpPr>
        <p:spPr>
          <a:xfrm>
            <a:off x="777240" y="4489704"/>
            <a:ext cx="199339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Datos del gemelo</a:t>
            </a:r>
          </a:p>
        </p:txBody>
      </p:sp>
      <p:sp>
        <p:nvSpPr>
          <p:cNvPr id="20" name="TextBox 19"/>
          <p:cNvSpPr txBox="1"/>
          <p:nvPr/>
        </p:nvSpPr>
        <p:spPr>
          <a:xfrm>
            <a:off x="2880360" y="4489704"/>
            <a:ext cx="26334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Todos los días iguales</a:t>
            </a:r>
          </a:p>
        </p:txBody>
      </p:sp>
      <p:sp>
        <p:nvSpPr>
          <p:cNvPr id="21" name="TextBox 20"/>
          <p:cNvSpPr txBox="1"/>
          <p:nvPr/>
        </p:nvSpPr>
        <p:spPr>
          <a:xfrm>
            <a:off x="5623560" y="4489704"/>
            <a:ext cx="5833872" cy="77724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Atípicos marcados; tipos, umbral y densidad se reajustan cada mes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MÉTODO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Siete reglas nuevas que el proyecto adopta</a:t>
            </a:r>
          </a:p>
        </p:txBody>
      </p:sp>
      <p:sp>
        <p:nvSpPr>
          <p:cNvPr id="6" name="TextBox 5"/>
          <p:cNvSpPr txBox="1"/>
          <p:nvPr/>
        </p:nvSpPr>
        <p:spPr>
          <a:xfrm>
            <a:off x="685800" y="1874519"/>
            <a:ext cx="10820095" cy="4206240"/>
          </a:xfrm>
          <a:prstGeom prst="rect">
            <a:avLst/>
          </a:prstGeom>
          <a:noFill/>
        </p:spPr>
        <p:txBody>
          <a:bodyPr wrap="square" lIns="0" rIns="0" tIns="0" bIns="0" anchor="t">
            <a:spAutoFit/>
          </a:bodyPr>
          <a:lstStyle/>
          <a:p>
            <a:pPr algn="l">
              <a:lnSpc>
                <a:spcPct val="125000"/>
              </a:lnSpc>
            </a:pPr>
            <a:r>
              <a:rPr sz="1800" b="0">
                <a:solidFill>
                  <a:srgbClr val="C9D1DE"/>
                </a:solidFill>
                <a:latin typeface="Segoe UI"/>
              </a:rPr>
              <a:t>▸  Los detectores se comparan con el mismo tiempo en alerta, y se reporta la duración del aviso.</a:t>
            </a:r>
          </a:p>
          <a:p>
            <a:pPr algn="l">
              <a:lnSpc>
                <a:spcPct val="125000"/>
              </a:lnSpc>
            </a:pPr>
            <a:r>
              <a:rPr sz="1800" b="0">
                <a:solidFill>
                  <a:srgbClr val="C9D1DE"/>
                </a:solidFill>
                <a:latin typeface="Segoe UI"/>
              </a:rPr>
              <a:t>▸  Clasificadores balanceados: parada temprana por average precision, no por log-loss.</a:t>
            </a:r>
          </a:p>
          <a:p>
            <a:pPr algn="l">
              <a:lnSpc>
                <a:spcPct val="125000"/>
              </a:lnSpc>
            </a:pPr>
            <a:r>
              <a:rPr sz="1800" b="0">
                <a:solidFill>
                  <a:srgbClr val="C9D1DE"/>
                </a:solidFill>
                <a:latin typeface="Segoe UI"/>
              </a:rPr>
              <a:t>▸  Antes de afirmar qué se pierde sin un bloque de variables, se reentrena sin él.</a:t>
            </a:r>
          </a:p>
          <a:p>
            <a:pPr algn="l">
              <a:lnSpc>
                <a:spcPct val="125000"/>
              </a:lnSpc>
            </a:pPr>
            <a:r>
              <a:rPr sz="1800" b="0">
                <a:solidFill>
                  <a:srgbClr val="C9D1DE"/>
                </a:solidFill>
                <a:latin typeface="Segoe UI"/>
              </a:rPr>
              <a:t>▸  En clustering, k nunca se elige solo por la métrica: tamaño mínimo de clúster del 5 %.</a:t>
            </a:r>
          </a:p>
          <a:p>
            <a:pPr algn="l">
              <a:lnSpc>
                <a:spcPct val="125000"/>
              </a:lnSpc>
            </a:pPr>
            <a:r>
              <a:rPr sz="1800" b="0">
                <a:solidFill>
                  <a:srgbClr val="C9D1DE"/>
                </a:solidFill>
                <a:latin typeface="Segoe UI"/>
              </a:rPr>
              <a:t>▸  Curvas en una misma unidad no se estandarizan.</a:t>
            </a:r>
          </a:p>
          <a:p>
            <a:pPr algn="l">
              <a:lnSpc>
                <a:spcPct val="125000"/>
              </a:lnSpc>
            </a:pPr>
            <a:r>
              <a:rPr sz="1800" b="0">
                <a:solidFill>
                  <a:srgbClr val="C9D1DE"/>
                </a:solidFill>
                <a:latin typeface="Segoe UI"/>
              </a:rPr>
              <a:t>▸  Métodos de densidad sobre datos cuantizados: dithering dentro de la resolución del medidor.</a:t>
            </a:r>
          </a:p>
          <a:p>
            <a:pPr algn="l">
              <a:lnSpc>
                <a:spcPct val="125000"/>
              </a:lnSpc>
            </a:pPr>
            <a:r>
              <a:rPr sz="1800" b="0">
                <a:solidFill>
                  <a:srgbClr val="C9D1DE"/>
                </a:solidFill>
                <a:latin typeface="Segoe UI"/>
              </a:rPr>
              <a:t>▸  Un solo eps no sirve para densidades distintas: se separa por tipo de día o por franja, nunca por calendario.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LO QUE SIGUE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Del gemelo al agente</a:t>
            </a:r>
          </a:p>
        </p:txBody>
      </p:sp>
      <p:sp>
        <p:nvSpPr>
          <p:cNvPr id="6" name="TextBox 5"/>
          <p:cNvSpPr txBox="1"/>
          <p:nvPr/>
        </p:nvSpPr>
        <p:spPr>
          <a:xfrm>
            <a:off x="685800" y="1828800"/>
            <a:ext cx="65836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CRITERIO DE CIERRE DEL PROYECTO</a:t>
            </a:r>
          </a:p>
        </p:txBody>
      </p:sp>
      <p:sp>
        <p:nvSpPr>
          <p:cNvPr id="7" name="TextBox 6"/>
          <p:cNvSpPr txBox="1"/>
          <p:nvPr/>
        </p:nvSpPr>
        <p:spPr>
          <a:xfrm>
            <a:off x="7269480" y="1828800"/>
            <a:ext cx="4206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ESTADO</a:t>
            </a:r>
          </a:p>
        </p:txBody>
      </p:sp>
      <p:sp>
        <p:nvSpPr>
          <p:cNvPr id="8" name="Rectangle 7"/>
          <p:cNvSpPr/>
          <p:nvPr/>
        </p:nvSpPr>
        <p:spPr>
          <a:xfrm>
            <a:off x="685800" y="2121408"/>
            <a:ext cx="10789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57984"/>
            <a:ext cx="647395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Dataset documentado</a:t>
            </a:r>
          </a:p>
        </p:txBody>
      </p:sp>
      <p:sp>
        <p:nvSpPr>
          <p:cNvPr id="10" name="TextBox 9"/>
          <p:cNvSpPr txBox="1"/>
          <p:nvPr/>
        </p:nvSpPr>
        <p:spPr>
          <a:xfrm>
            <a:off x="7360920" y="2157984"/>
            <a:ext cx="4096512" cy="457200"/>
          </a:xfrm>
          <a:prstGeom prst="rect">
            <a:avLst/>
          </a:prstGeom>
          <a:noFill/>
        </p:spPr>
        <p:txBody>
          <a:bodyPr wrap="square" lIns="0" rIns="0" tIns="0" bIns="0" anchor="ctr">
            <a:spAutoFit/>
          </a:bodyPr>
          <a:lstStyle/>
          <a:p>
            <a:pPr algn="l">
              <a:lnSpc>
                <a:spcPct val="115000"/>
              </a:lnSpc>
            </a:pPr>
            <a:r>
              <a:rPr sz="1350" b="0">
                <a:solidFill>
                  <a:srgbClr val="7BD992"/>
                </a:solidFill>
                <a:latin typeface="Segoe UI"/>
              </a:rPr>
              <a:t>Cumplido</a:t>
            </a:r>
          </a:p>
        </p:txBody>
      </p:sp>
      <p:sp>
        <p:nvSpPr>
          <p:cNvPr id="11" name="TextBox 10"/>
          <p:cNvSpPr txBox="1"/>
          <p:nvPr/>
        </p:nvSpPr>
        <p:spPr>
          <a:xfrm>
            <a:off x="777240" y="2615184"/>
            <a:ext cx="647395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Al menos un regresor y un clasificador entrenados</a:t>
            </a:r>
          </a:p>
        </p:txBody>
      </p:sp>
      <p:sp>
        <p:nvSpPr>
          <p:cNvPr id="12" name="TextBox 11"/>
          <p:cNvSpPr txBox="1"/>
          <p:nvPr/>
        </p:nvSpPr>
        <p:spPr>
          <a:xfrm>
            <a:off x="7360920" y="2615184"/>
            <a:ext cx="4096512" cy="457200"/>
          </a:xfrm>
          <a:prstGeom prst="rect">
            <a:avLst/>
          </a:prstGeom>
          <a:noFill/>
        </p:spPr>
        <p:txBody>
          <a:bodyPr wrap="square" lIns="0" rIns="0" tIns="0" bIns="0" anchor="ctr">
            <a:spAutoFit/>
          </a:bodyPr>
          <a:lstStyle/>
          <a:p>
            <a:pPr algn="l">
              <a:lnSpc>
                <a:spcPct val="115000"/>
              </a:lnSpc>
            </a:pPr>
            <a:r>
              <a:rPr sz="1350" b="0">
                <a:solidFill>
                  <a:srgbClr val="7BD992"/>
                </a:solidFill>
                <a:latin typeface="Segoe UI"/>
              </a:rPr>
              <a:t>Cumplido</a:t>
            </a:r>
          </a:p>
        </p:txBody>
      </p:sp>
      <p:sp>
        <p:nvSpPr>
          <p:cNvPr id="13" name="TextBox 12"/>
          <p:cNvSpPr txBox="1"/>
          <p:nvPr/>
        </p:nvSpPr>
        <p:spPr>
          <a:xfrm>
            <a:off x="777240" y="3072384"/>
            <a:ext cx="647395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Al menos dos técnicas de clustering comparadas</a:t>
            </a:r>
          </a:p>
        </p:txBody>
      </p:sp>
      <p:sp>
        <p:nvSpPr>
          <p:cNvPr id="14" name="TextBox 13"/>
          <p:cNvSpPr txBox="1"/>
          <p:nvPr/>
        </p:nvSpPr>
        <p:spPr>
          <a:xfrm>
            <a:off x="7360920" y="3072384"/>
            <a:ext cx="4096512" cy="457200"/>
          </a:xfrm>
          <a:prstGeom prst="rect">
            <a:avLst/>
          </a:prstGeom>
          <a:noFill/>
        </p:spPr>
        <p:txBody>
          <a:bodyPr wrap="square" lIns="0" rIns="0" tIns="0" bIns="0" anchor="ctr">
            <a:spAutoFit/>
          </a:bodyPr>
          <a:lstStyle/>
          <a:p>
            <a:pPr algn="l">
              <a:lnSpc>
                <a:spcPct val="115000"/>
              </a:lnSpc>
            </a:pPr>
            <a:r>
              <a:rPr sz="1350" b="0">
                <a:solidFill>
                  <a:srgbClr val="7BD992"/>
                </a:solidFill>
                <a:latin typeface="Segoe UI"/>
              </a:rPr>
              <a:t>Cumplido: K-Means, jerárquico y DBSCAN</a:t>
            </a:r>
          </a:p>
        </p:txBody>
      </p:sp>
      <p:sp>
        <p:nvSpPr>
          <p:cNvPr id="15" name="TextBox 14"/>
          <p:cNvSpPr txBox="1"/>
          <p:nvPr/>
        </p:nvSpPr>
        <p:spPr>
          <a:xfrm>
            <a:off x="777240" y="3529584"/>
            <a:ext cx="647395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MDP formalizado y agente de Q-learning entrenado y evaluado</a:t>
            </a:r>
          </a:p>
        </p:txBody>
      </p:sp>
      <p:sp>
        <p:nvSpPr>
          <p:cNvPr id="16" name="TextBox 15"/>
          <p:cNvSpPr txBox="1"/>
          <p:nvPr/>
        </p:nvSpPr>
        <p:spPr>
          <a:xfrm>
            <a:off x="7360920" y="3529584"/>
            <a:ext cx="4096512" cy="457200"/>
          </a:xfrm>
          <a:prstGeom prst="rect">
            <a:avLst/>
          </a:prstGeom>
          <a:noFill/>
        </p:spPr>
        <p:txBody>
          <a:bodyPr wrap="square" lIns="0" rIns="0" tIns="0" bIns="0" anchor="ctr">
            <a:spAutoFit/>
          </a:bodyPr>
          <a:lstStyle/>
          <a:p>
            <a:pPr algn="l">
              <a:lnSpc>
                <a:spcPct val="115000"/>
              </a:lnSpc>
            </a:pPr>
            <a:r>
              <a:rPr sz="1350" b="0">
                <a:solidFill>
                  <a:srgbClr val="FFB877"/>
                </a:solidFill>
                <a:latin typeface="Segoe UI"/>
              </a:rPr>
              <a:t>Pendiente: siguiente corte</a:t>
            </a:r>
          </a:p>
        </p:txBody>
      </p:sp>
      <p:sp>
        <p:nvSpPr>
          <p:cNvPr id="17" name="TextBox 16"/>
          <p:cNvSpPr txBox="1"/>
          <p:nvPr/>
        </p:nvSpPr>
        <p:spPr>
          <a:xfrm>
            <a:off x="777240" y="3986784"/>
            <a:ext cx="6473952" cy="457200"/>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Informe final y demostración del entorno funcionando</a:t>
            </a:r>
          </a:p>
        </p:txBody>
      </p:sp>
      <p:sp>
        <p:nvSpPr>
          <p:cNvPr id="18" name="TextBox 17"/>
          <p:cNvSpPr txBox="1"/>
          <p:nvPr/>
        </p:nvSpPr>
        <p:spPr>
          <a:xfrm>
            <a:off x="7360920" y="3986784"/>
            <a:ext cx="4096512" cy="457200"/>
          </a:xfrm>
          <a:prstGeom prst="rect">
            <a:avLst/>
          </a:prstGeom>
          <a:noFill/>
        </p:spPr>
        <p:txBody>
          <a:bodyPr wrap="square" lIns="0" rIns="0" tIns="0" bIns="0" anchor="ctr">
            <a:spAutoFit/>
          </a:bodyPr>
          <a:lstStyle/>
          <a:p>
            <a:pPr algn="l">
              <a:lnSpc>
                <a:spcPct val="115000"/>
              </a:lnSpc>
            </a:pPr>
            <a:r>
              <a:rPr sz="1350" b="0">
                <a:solidFill>
                  <a:srgbClr val="FFB877"/>
                </a:solidFill>
                <a:latin typeface="Segoe UI"/>
              </a:rPr>
              <a:t>Pendiente</a:t>
            </a:r>
          </a:p>
        </p:txBody>
      </p:sp>
      <p:sp>
        <p:nvSpPr>
          <p:cNvPr id="19" name="TextBox 18"/>
          <p:cNvSpPr txBox="1"/>
          <p:nvPr/>
        </p:nvSpPr>
        <p:spPr>
          <a:xfrm>
            <a:off x="685800" y="4754880"/>
            <a:ext cx="10820095" cy="1188720"/>
          </a:xfrm>
          <a:prstGeom prst="rect">
            <a:avLst/>
          </a:prstGeom>
          <a:noFill/>
        </p:spPr>
        <p:txBody>
          <a:bodyPr wrap="square" lIns="0" rIns="0" tIns="0" bIns="0" anchor="t">
            <a:spAutoFit/>
          </a:bodyPr>
          <a:lstStyle/>
          <a:p>
            <a:pPr algn="l">
              <a:lnSpc>
                <a:spcPct val="125000"/>
              </a:lnSpc>
            </a:pPr>
            <a:r>
              <a:rPr sz="1350" b="0">
                <a:solidFill>
                  <a:srgbClr val="C9D1DE"/>
                </a:solidFill>
                <a:latin typeface="Segoe UI"/>
              </a:rPr>
              <a:t>▸  Formalizar el MDP con el simulador decidido y el estado ampliado de este corte.</a:t>
            </a:r>
          </a:p>
          <a:p>
            <a:pPr algn="l">
              <a:lnSpc>
                <a:spcPct val="125000"/>
              </a:lnSpc>
            </a:pPr>
            <a:r>
              <a:rPr sz="1350" b="0">
                <a:solidFill>
                  <a:srgbClr val="C9D1DE"/>
                </a:solidFill>
                <a:latin typeface="Segoe UI"/>
              </a:rPr>
              <a:t>▸  Prototipo de Guardian con las dos alarmas, evaluado por episodio con igual tiempo en alerta.</a:t>
            </a:r>
          </a:p>
          <a:p>
            <a:pPr algn="l">
              <a:lnSpc>
                <a:spcPct val="125000"/>
              </a:lnSpc>
            </a:pPr>
            <a:r>
              <a:rPr sz="1350" b="0">
                <a:solidFill>
                  <a:srgbClr val="C9D1DE"/>
                </a:solidFill>
                <a:latin typeface="Segoe UI"/>
              </a:rPr>
              <a:t>▸  Probar el detector sin temperaturas interiores, e incorporar una segunda vivienda (UCI #235).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2.º corte · Talleres 1–4</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65</a:t>
            </a:r>
          </a:p>
        </p:txBody>
      </p:sp>
      <p:sp>
        <p:nvSpPr>
          <p:cNvPr id="4" name="TextBox 3"/>
          <p:cNvSpPr txBox="1"/>
          <p:nvPr/>
        </p:nvSpPr>
        <p:spPr>
          <a:xfrm>
            <a:off x="685800" y="1737360"/>
            <a:ext cx="54864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GRACIAS</a:t>
            </a:r>
          </a:p>
        </p:txBody>
      </p:sp>
      <p:sp>
        <p:nvSpPr>
          <p:cNvPr id="5" name="TextBox 4"/>
          <p:cNvSpPr txBox="1"/>
          <p:nvPr/>
        </p:nvSpPr>
        <p:spPr>
          <a:xfrm>
            <a:off x="685800" y="2103120"/>
            <a:ext cx="10789920" cy="1645920"/>
          </a:xfrm>
          <a:prstGeom prst="rect">
            <a:avLst/>
          </a:prstGeom>
          <a:noFill/>
        </p:spPr>
        <p:txBody>
          <a:bodyPr wrap="square" lIns="0" rIns="0" tIns="0" bIns="0" anchor="t">
            <a:spAutoFit/>
          </a:bodyPr>
          <a:lstStyle/>
          <a:p>
            <a:pPr algn="l">
              <a:lnSpc>
                <a:spcPct val="100000"/>
              </a:lnSpc>
            </a:pPr>
            <a:r>
              <a:rPr sz="4000" b="0">
                <a:solidFill>
                  <a:srgbClr val="E6E9EF"/>
                </a:solidFill>
                <a:latin typeface="Segoe UI Semibold"/>
              </a:rPr>
              <a:t>Cuatro talleres, una casa,</a:t>
            </a:r>
          </a:p>
          <a:p>
            <a:pPr algn="l">
              <a:lnSpc>
                <a:spcPct val="100000"/>
              </a:lnSpc>
            </a:pPr>
            <a:r>
              <a:rPr sz="4000" b="0">
                <a:solidFill>
                  <a:srgbClr val="E6E9EF"/>
                </a:solidFill>
                <a:latin typeface="Segoe UI Semibold"/>
              </a:rPr>
              <a:t>un gemelo que ya sabe qué día es.</a:t>
            </a:r>
          </a:p>
        </p:txBody>
      </p:sp>
      <p:sp>
        <p:nvSpPr>
          <p:cNvPr id="6" name="TextBox 5"/>
          <p:cNvSpPr txBox="1"/>
          <p:nvPr/>
        </p:nvSpPr>
        <p:spPr>
          <a:xfrm>
            <a:off x="685800" y="3931920"/>
            <a:ext cx="9601200" cy="731520"/>
          </a:xfrm>
          <a:prstGeom prst="rect">
            <a:avLst/>
          </a:prstGeom>
          <a:noFill/>
        </p:spPr>
        <p:txBody>
          <a:bodyPr wrap="square" lIns="0" rIns="0" tIns="0" bIns="0" anchor="t">
            <a:spAutoFit/>
          </a:bodyPr>
          <a:lstStyle/>
          <a:p>
            <a:pPr algn="l">
              <a:lnSpc>
                <a:spcPct val="115000"/>
              </a:lnSpc>
            </a:pPr>
            <a:r>
              <a:rPr sz="1500" b="0">
                <a:solidFill>
                  <a:srgbClr val="9AA3B2"/>
                </a:solidFill>
                <a:latin typeface="Segoe UI"/>
              </a:rPr>
              <a:t>Cuadernos, documentos y figuras de cada taller en 2do_Corte_Oct/ · toda cifra sale de un cuaderno ejecutado de principio a fin.</a:t>
            </a:r>
          </a:p>
        </p:txBody>
      </p:sp>
      <p:sp>
        <p:nvSpPr>
          <p:cNvPr id="7" name="Rectangle 6"/>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440680"/>
            <a:ext cx="822960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9" name="TextBox 8"/>
          <p:cNvSpPr txBox="1"/>
          <p:nvPr/>
        </p:nvSpPr>
        <p:spPr>
          <a:xfrm>
            <a:off x="685800" y="5742432"/>
            <a:ext cx="82296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Grupo Shiro · Universidad Sergio Arboleda · 26-2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