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9" r:id="rId20"/>
    <p:sldId id="261" r:id="rId12"/>
    <p:sldId id="262" r:id="rId13"/>
    <p:sldId id="263" r:id="rId14"/>
    <p:sldId id="270" r:id="rId21"/>
    <p:sldId id="264" r:id="rId15"/>
    <p:sldId id="271" r:id="rId22"/>
    <p:sldId id="272" r:id="rId23"/>
    <p:sldId id="265" r:id="rId16"/>
    <p:sldId id="273" r:id="rId24"/>
    <p:sldId id="274" r:id="rId25"/>
    <p:sldId id="266" r:id="rId17"/>
    <p:sldId id="275" r:id="rId26"/>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taller audita la variable «tipo de día» que el Taller de K-Means le dio al estado del MDP de Shiro. K-Means siempre devuelve k grupos, existan o no; el clustering jerárquico no parte de centroides, construye el árbol completo de fusiones y, según el enlace (ward, complete, average), aplica una definición distinta de qué es un grupo. El grupo es Jose Leonardo Diazgranados, Sofía Londoño, Andrés Felipe Céspedes Rondón y Alex Duran; el cuaderno se ejecutó de principio a fin y toda cifra sale de ahí.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preguntas organizan la charla: si el tipo de día es una propiedad real de la casa o un artefacto de K-Means (se resuelve viendo si tres enlaces llegan al mismo reparto); qué técnica asigna el tipo en producción cuando llega un día nuevo cada 24 horas; y si hay días que no pertenecen a ningún tipo, que serían la antesala del taller de DBSCAN. Se usa la misma matriz que K-Means —136 días × 24 medias horarias— porque la comparación solo es directa, día por día, sobre los mismos datos.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agrupa solo con la curva de consumo de 24 horas: el taller de K-Means ya midió que ni el calendario (V de Cramér = 0,000) ni el clima (ningún |d| &gt; 0,5) distinguen los tipos, así que incluirlos no añadiría señal y crearía circularidad — se reservan para caracterizar los grupos después. El archivo no tiene valores faltantes; se descartan los dos días incompletos (11-ene con 42 lecturas, 27-may con 109). El escalado sí importa aquí: las 24 columnas van de 50 a 12.477 Wh de varianza (248 veces), y a diferencia de K-Means, en el jerárquico estandarizar cambia casi todo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Ward minimiza lo mismo que K-Means, por eso es la auditoría menos independiente; complete y average no comparten ese supuesto. La correlación cofenética mide qué tan fielmente reproduce cada árbol las distancias originales: Ward 0,755, complete 0,808, average 0,880. En el dendrograma de Ward la última fusión está 1,78 veces por encima de la anterior —el salto más claro—, y el corte en 2.228 deja 114 días normales y 22 de carga alta. Average es una cadena: los días se suman uno a uno y la última fusión solo añade el 24 de enero.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cada enlace se corta el árbol con fcluster(Z, k, criterion='maxclust') para k de 2 a 10, y se agrega una columna que el enunciado no pide y que resulta decisiva: el tamaño del clúster más pequeño. La regla de Shiro es que ningún tipo de día puede tener menos del 5 % de los días (7): un estado que casi no ocurre no lo puede aprender el agente ni estimarlo el simulador. Con esa regla, Ward y complete convergen en k = 2 con el mismo reparto que K-Means, 114 / 22.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trampa de la métrica: la silueta más alta de toda la tabla (0,423, de average) y el Dunn más alto (0,475) corresponden a la peor partición posible — separar un solo día, el 24 de enero, de los otros 135. Las métricas miden qué tan separados están los grupos, pero Shiro pregunta otra cosa: si la partición sirve como variable de estado. Por eso se exige el tamaño mínimo de clúster, no solo la métrica óptima; con esa regla, Ward y complete eligen k = 2 (114 / 22) y average no produce ninguna partición utilizable.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reutilizan las proyecciones PCA y t-SNE del taller de K-Means, con la misma semilla y perplexity 15, así que cada día cae en el mismo lugar y la comparación es punto a punto. PCA retiene 50,1 % de la varianza. Ward y complete dibujan la misma frontera que K-Means a lo largo de PC1 («cuánto se consume de día»): los 8 días que cambian de grupo están todos en la zona de contacto, ninguno en el interior de una nube. t-SNE confirma la lectura sin revelar estructura nueva: la diferencia entre tipos es de intensidad, una dirección lineal que PCA ya capturaba.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caracteriza con variables que NO entraron al clustering, para evitar circularidad. El día de carga alta comparte con el de K-Means un bloque diurno fuerte —2,5 veces el consumo entre las 8 y las 18 h—, más iluminación (+24 %) y más humedad en cocina y lavandería: rastros de actividad en casa. Lo que no comparten es el calendario: 27,3 % de fin de semana en carga alta frente a 28,1 % en normal — prácticamente igual.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ejemplo representativo es el medoide: el día real con menor distancia media al resto de su grupo. A diferencia del centroide, que es un promedio que nunca ocurrió, el medoide es un día que la casa vivió de verdad. Los tres días que quedan aislados por average o complete son raros por cuándo consumen, no por cuánto: ninguno es el de mayor consumo del periodo. El 24-ene tiene 608 Wh a las 8 a. m., la hora más alta de todo el periodo; el 16-mar tiene tres picos separados; el 15-abr carga fuerte desde las 6 h y ni Ward ni complete se ponen de acuerdo sobre su tipo. Son los días que el gemelo no debe aprender como rutina — el trabajo del taller de DBSCAN.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Casi no cambió la forma: las dos técnicas ven un núcleo compacto de días normales y una periferia más dispersa de días de carga alta. Aunque ambos minimizan la inercia intra-clúster, K-Means llega a un valor 3,8 % más bajo, porque reasigna cualquier día en cada iteración mientras que Ward es codicioso: toma 134 fusiones y nunca deshace una. El acuerdo es alto: 128 de 136 días (94 %) conservan su grupo entre K-Means y Ward, y complete coincide con Ward en 132 días.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control temporal es la prueba más dura: ajustado solo con los 110 días hasta abril, K-Means da exactamente el mismo reparto (ARI 1,000). El árbol de Ward no: corta en 70/40, cuando con los 136 días completos reparte esos mismos días en 91/19 —al quitar mayo, el grupo intermedio cambia de lado y la primera división del árbol se invierte. Determinista no es lo mismo que estable: el jerárquico es determinista por construcción, pero no es estable al agregar datos nuevos. Y Shiro recibe un día nuevo cada 24 horas: la definición de «carga alta» no puede cambiar cada vez que se agrega un 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cierre compara K-Means y jerárquico en los ocho criterios que le importan a Shiro: asignar un día nuevo (K-Means tiene predict, el árbol no), estabilidad al agregar un mes (ARI 1,000 frente a 0,359), estimar el tipo a medio día, costo computacional (lineal frente a O(n²), 1,6 GB para las 19.735 lecturas), determinismo (el jerárquico gana aquí: no necesita n_init), estructura anidada (el jerárquico gana: normal/intermedio/carga alta) y detección de días atípicos (el jerárquico gana: average y complete los aíslan, K-Means los absorbe). K-Means gana la mayoría porque son los criterios de producción; el jerárquico aporta lo que K-Means no puede dar.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Siete conclusiones para el diseño de Shiro: la variable «tipo de día» queda auditada, con el 94 % de acuerdo entre técnicas; su frontera es difusa y ahora está medida, y el margen entra al MDP como confianza; K-Means sigue siendo quien asigna en producción; el jerárquico entra como auditoría mensual en cada reentrenamiento; k nunca se elige solo por la métrica, se exige un tamaño mínimo del 5 %; hay días atípicos —24-ene, 16-mar, 15-abr— que el taller de DBSCAN debe encontrar con un método hecho para eso; y para curvas en una misma unidad no se estandariza, porque el jerárquico vuelve degenerados a los enlaces que no promedian.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misma función dunn_index vista en clase y ya usada en el taller de K-Means, sin una sola línea modificada — el propio comentario del código lo dice. barrido() la reutiliza junto con fcluster() y silhouette_score() para las 54 combinaciones de versión (cruda/estandarizada) × enlace × k. La columna que no pide el enunciado —el tamaño del clúster más chico— es la que termina decidiendo el k, no la silueta ni Dunn.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muestra las ocho variables completas de caracterización, no solo los tres números resumidos de la diapositiva anterior. Vale la pena señalar que Ward y K-Means casi describen la misma casa en cada una de las ocho filas — la mayor coincidencia está en el bloque de actividad diurna (8–18 h) y la menor en el fin de semana, que es justo la variable que NO se usó para agrupar.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figura estaba calculada en el cuaderno —J6_representativos.png— pero no había quedado en el avance entregado; se restaura aquí. Muestra el medoide de cada tipo (el día real, no un promedio) y marca en rojo los tres días que algún enlace aísla. Es el complemento visual directo de la tabla de la diapositiva anterior: ahí se leen los números, aquí se ve la forma real de esas curvas.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sección del documento (5.3, 'lo que K-Means no da') no estaba representada en el avance y es de las conclusiones más interesantes del taller: con k=3 el árbol de Ward redescubre, de forma completamente independiente, el mismo subtipo de 'mañana activa' que K-Means había encontrado en el taller anterior (ARI 0,796). Es evidencia cruzada entre dos técnicas y dos talleres distintos. Con k=4 la estructura se agota (ARI 0,543): ahí termina lo que la casa realmente tiene que auditar.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responde con números a la pregunta '¿cambió la forma de los clústeres?' de la diapositiva siguiente en la comparación con K-Means. El diámetro del grupo de carga alta es exactamente igual entre técnicas (966,7 Wh) — el hallazgo es que Ward ensancha un poco el grupo (mueve 7 días de frontera) pero no cambia cuánto varían entre sí los días de carga alta.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lista real de los ocho días en disputa entre K-Means y Ward, que la diapositiva de comparación solo resume como '128 de 136'. Vale la pena mencionar que son días de carga alta moderada (15–21 kWh), ni tan bajos como para ser claramente normales ni tan altos como el resto de carga alta — literalmente los días más cercanos a la frontera que separa los dos tipos.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celda resuelve dos preguntas en un solo bloque: estabilidad temporal (reentrenar solo con enero–abril y comparar contra el reparto completo) y determinismo (K-Means con una sola inicialización en 50 semillas distintas). El resultado más citable es el 40 % / 0 %: con una sola inicialización, K-Means reproduce su propio reparto de referencia en el 40 % de las semillas para k=2, y en ninguna para k=3 — por eso el flujo de producción siempre usa n_init=10. El árbol jerárquico no tiene ese problema, es determinista por construcción, pero como muestra la tabla de la diapositiva anterior, determinista no es lo mismo que estable.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01</a:t>
            </a:r>
          </a:p>
        </p:txBody>
      </p:sp>
      <p:sp>
        <p:nvSpPr>
          <p:cNvPr id="4" name="Rounded Rectangle 3"/>
          <p:cNvSpPr/>
          <p:nvPr/>
        </p:nvSpPr>
        <p:spPr>
          <a:xfrm>
            <a:off x="685800" y="548640"/>
            <a:ext cx="310896" cy="310896"/>
          </a:xfrm>
          <a:prstGeom prst="roundRect">
            <a:avLst>
              <a:gd name="adj" fmla="val 4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48640"/>
            <a:ext cx="310896" cy="310896"/>
          </a:xfrm>
          <a:prstGeom prst="rect">
            <a:avLst/>
          </a:prstGeom>
          <a:noFill/>
        </p:spPr>
        <p:txBody>
          <a:bodyPr wrap="square" lIns="0" rIns="0" tIns="0" bIns="0" anchor="ctr">
            <a:spAutoFit/>
          </a:bodyPr>
          <a:lstStyle/>
          <a:p>
            <a:pPr algn="ctr">
              <a:lnSpc>
                <a:spcPct val="115000"/>
              </a:lnSpc>
            </a:pPr>
            <a:r>
              <a:rPr sz="1300" b="1">
                <a:solidFill>
                  <a:srgbClr val="FFFFFF"/>
                </a:solidFill>
                <a:latin typeface="Consolas"/>
              </a:rPr>
              <a:t>S</a:t>
            </a:r>
          </a:p>
        </p:txBody>
      </p:sp>
      <p:sp>
        <p:nvSpPr>
          <p:cNvPr id="6" name="TextBox 5"/>
          <p:cNvSpPr txBox="1"/>
          <p:nvPr/>
        </p:nvSpPr>
        <p:spPr>
          <a:xfrm>
            <a:off x="1124712" y="566928"/>
            <a:ext cx="1828800" cy="274320"/>
          </a:xfrm>
          <a:prstGeom prst="rect">
            <a:avLst/>
          </a:prstGeom>
          <a:noFill/>
        </p:spPr>
        <p:txBody>
          <a:bodyPr wrap="square" lIns="0" rIns="0" tIns="0" bIns="0" anchor="t">
            <a:spAutoFit/>
          </a:bodyPr>
          <a:lstStyle/>
          <a:p>
            <a:pPr algn="l">
              <a:lnSpc>
                <a:spcPct val="115000"/>
              </a:lnSpc>
            </a:pPr>
            <a:r>
              <a:rPr sz="1300" b="0">
                <a:solidFill>
                  <a:srgbClr val="E6E9EF"/>
                </a:solidFill>
                <a:latin typeface="Segoe UI Semibold"/>
              </a:rPr>
              <a:t>Shiro Twin</a:t>
            </a:r>
          </a:p>
        </p:txBody>
      </p:sp>
      <p:sp>
        <p:nvSpPr>
          <p:cNvPr id="7" name="TextBox 6"/>
          <p:cNvSpPr txBox="1"/>
          <p:nvPr/>
        </p:nvSpPr>
        <p:spPr>
          <a:xfrm>
            <a:off x="2697480" y="603504"/>
            <a:ext cx="5486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Aprendizaje de Máquina · Corte 2 · Taller 3</a:t>
            </a:r>
          </a:p>
        </p:txBody>
      </p:sp>
      <p:sp>
        <p:nvSpPr>
          <p:cNvPr id="8" name="TextBox 7"/>
          <p:cNvSpPr txBox="1"/>
          <p:nvPr/>
        </p:nvSpPr>
        <p:spPr>
          <a:xfrm>
            <a:off x="685800" y="1874519"/>
            <a:ext cx="73152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EL HALLAZGO DE ESTE TALLER</a:t>
            </a:r>
          </a:p>
        </p:txBody>
      </p:sp>
      <p:sp>
        <p:nvSpPr>
          <p:cNvPr id="9" name="TextBox 8"/>
          <p:cNvSpPr txBox="1"/>
          <p:nvPr/>
        </p:nvSpPr>
        <p:spPr>
          <a:xfrm>
            <a:off x="685800" y="2240280"/>
            <a:ext cx="10789920" cy="1645920"/>
          </a:xfrm>
          <a:prstGeom prst="rect">
            <a:avLst/>
          </a:prstGeom>
          <a:noFill/>
        </p:spPr>
        <p:txBody>
          <a:bodyPr wrap="square" lIns="0" rIns="0" tIns="0" bIns="0" anchor="t">
            <a:spAutoFit/>
          </a:bodyPr>
          <a:lstStyle/>
          <a:p>
            <a:pPr algn="l">
              <a:lnSpc>
                <a:spcPct val="100000"/>
              </a:lnSpc>
            </a:pPr>
            <a:r>
              <a:rPr sz="4400" b="0">
                <a:solidFill>
                  <a:srgbClr val="E6E9EF"/>
                </a:solidFill>
                <a:latin typeface="Segoe UI Semibold"/>
              </a:rPr>
              <a:t>El árbol confirma los dos tipos de día.</a:t>
            </a:r>
          </a:p>
          <a:p>
            <a:pPr algn="l">
              <a:lnSpc>
                <a:spcPct val="100000"/>
              </a:lnSpc>
            </a:pPr>
            <a:r>
              <a:rPr sz="4400" b="0">
                <a:solidFill>
                  <a:srgbClr val="E6E9EF"/>
                </a:solidFill>
                <a:latin typeface="Segoe UI Semibold"/>
              </a:rPr>
              <a:t>Pero no sirve para asignarlos.</a:t>
            </a:r>
          </a:p>
        </p:txBody>
      </p:sp>
      <p:sp>
        <p:nvSpPr>
          <p:cNvPr id="10" name="TextBox 9"/>
          <p:cNvSpPr txBox="1"/>
          <p:nvPr/>
        </p:nvSpPr>
        <p:spPr>
          <a:xfrm>
            <a:off x="685800" y="4069080"/>
            <a:ext cx="8778240" cy="822960"/>
          </a:xfrm>
          <a:prstGeom prst="rect">
            <a:avLst/>
          </a:prstGeom>
          <a:noFill/>
        </p:spPr>
        <p:txBody>
          <a:bodyPr wrap="square" lIns="0" rIns="0" tIns="0" bIns="0" anchor="t">
            <a:spAutoFit/>
          </a:bodyPr>
          <a:lstStyle/>
          <a:p>
            <a:pPr algn="l">
              <a:lnSpc>
                <a:spcPct val="115000"/>
              </a:lnSpc>
            </a:pPr>
            <a:r>
              <a:rPr sz="1600" b="0">
                <a:solidFill>
                  <a:srgbClr val="9AA3B2"/>
                </a:solidFill>
                <a:latin typeface="Segoe UI"/>
              </a:rPr>
              <a:t>Clustering jerárquico con tres enlaces para auditar la variable «tipo de día» del MDP de Shiro: ¿es una propiedad de la casa o un artefacto de K-Means?</a:t>
            </a:r>
          </a:p>
        </p:txBody>
      </p:sp>
      <p:sp>
        <p:nvSpPr>
          <p:cNvPr id="11" name="Rectangle 10"/>
          <p:cNvSpPr/>
          <p:nvPr/>
        </p:nvSpPr>
        <p:spPr>
          <a:xfrm>
            <a:off x="685800" y="52578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440680"/>
            <a:ext cx="7772400" cy="274320"/>
          </a:xfrm>
          <a:prstGeom prst="rect">
            <a:avLst/>
          </a:prstGeom>
          <a:noFill/>
        </p:spPr>
        <p:txBody>
          <a:bodyPr wrap="square" lIns="0" rIns="0" tIns="0" bIns="0" anchor="t">
            <a:spAutoFit/>
          </a:bodyPr>
          <a:lstStyle/>
          <a:p>
            <a:pPr algn="l">
              <a:lnSpc>
                <a:spcPct val="115000"/>
              </a:lnSpc>
            </a:pPr>
            <a:r>
              <a:rPr sz="1100" b="0">
                <a:solidFill>
                  <a:srgbClr val="C9D1DE"/>
                </a:solidFill>
                <a:latin typeface="Segoe UI Semibold"/>
              </a:rPr>
              <a:t>Jose Leonardo Diazgranados · Sofía Londoño · Andrés Felipe Céspedes Rondón · Alex Duran</a:t>
            </a:r>
          </a:p>
        </p:txBody>
      </p:sp>
      <p:sp>
        <p:nvSpPr>
          <p:cNvPr id="13" name="TextBox 12"/>
          <p:cNvSpPr txBox="1"/>
          <p:nvPr/>
        </p:nvSpPr>
        <p:spPr>
          <a:xfrm>
            <a:off x="685800" y="5742432"/>
            <a:ext cx="7772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Universidad Sergio Arboleda · Semestre 26-2 · Docente: Hernán Darío Cruz Bueno</a:t>
            </a:r>
          </a:p>
        </p:txBody>
      </p:sp>
      <p:sp>
        <p:nvSpPr>
          <p:cNvPr id="14" name="TextBox 13"/>
          <p:cNvSpPr txBox="1"/>
          <p:nvPr/>
        </p:nvSpPr>
        <p:spPr>
          <a:xfrm>
            <a:off x="7848295" y="5440680"/>
            <a:ext cx="3657600" cy="548640"/>
          </a:xfrm>
          <a:prstGeom prst="rect">
            <a:avLst/>
          </a:prstGeom>
          <a:noFill/>
        </p:spPr>
        <p:txBody>
          <a:bodyPr wrap="square" lIns="0" rIns="0" tIns="0" bIns="0" anchor="t">
            <a:spAutoFit/>
          </a:bodyPr>
          <a:lstStyle/>
          <a:p>
            <a:pPr algn="r">
              <a:lnSpc>
                <a:spcPct val="115000"/>
              </a:lnSpc>
            </a:pPr>
            <a:r>
              <a:rPr sz="1000" b="0">
                <a:solidFill>
                  <a:srgbClr val="6F7787"/>
                </a:solidFill>
                <a:latin typeface="Consolas"/>
              </a:rPr>
              <a:t>Appliances Energy Prediction · UCI #374</a:t>
            </a:r>
          </a:p>
          <a:p>
            <a:pPr algn="r">
              <a:lnSpc>
                <a:spcPct val="115000"/>
              </a:lnSpc>
            </a:pPr>
            <a:r>
              <a:rPr sz="1000" b="0">
                <a:solidFill>
                  <a:srgbClr val="6F7787"/>
                </a:solidFill>
                <a:latin typeface="Consolas"/>
              </a:rPr>
              <a:t>random_state = 42 · 28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ENCUADRE · QUÉ AUDITA ESTE TALLER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K-Means siempre devuelve k grupos, existan o no</a:t>
            </a:r>
          </a:p>
        </p:txBody>
      </p:sp>
      <p:sp>
        <p:nvSpPr>
          <p:cNvPr id="6" name="TextBox 5"/>
          <p:cNvSpPr txBox="1"/>
          <p:nvPr/>
        </p:nvSpPr>
        <p:spPr>
          <a:xfrm>
            <a:off x="685800" y="1783080"/>
            <a:ext cx="10607040" cy="731520"/>
          </a:xfrm>
          <a:prstGeom prst="rect">
            <a:avLst/>
          </a:prstGeom>
          <a:noFill/>
        </p:spPr>
        <p:txBody>
          <a:bodyPr wrap="square" lIns="0" rIns="0" tIns="0" bIns="0" anchor="t">
            <a:spAutoFit/>
          </a:bodyPr>
          <a:lstStyle/>
          <a:p>
            <a:pPr algn="l">
              <a:lnSpc>
                <a:spcPct val="115000"/>
              </a:lnSpc>
            </a:pPr>
            <a:r>
              <a:rPr sz="1500" b="0">
                <a:solidFill>
                  <a:srgbClr val="9AA3B2"/>
                </a:solidFill>
                <a:latin typeface="Segoe UI"/>
              </a:rPr>
              <a:t>El taller de K-Means le dio al estado del MDP la variable «tipo de día» (normal / carga alta). Antes de que el agente dependa de ella, el jerárquico la audita con tres definiciones distintas de «grupo».</a:t>
            </a:r>
          </a:p>
        </p:txBody>
      </p:sp>
      <p:sp>
        <p:nvSpPr>
          <p:cNvPr id="7" name="Rounded Rectangle 6"/>
          <p:cNvSpPr/>
          <p:nvPr/>
        </p:nvSpPr>
        <p:spPr>
          <a:xfrm>
            <a:off x="685800" y="2743200"/>
            <a:ext cx="3383280"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971800"/>
            <a:ext cx="2926080" cy="45720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¿Es real?</a:t>
            </a:r>
          </a:p>
        </p:txBody>
      </p:sp>
      <p:sp>
        <p:nvSpPr>
          <p:cNvPr id="9" name="TextBox 8"/>
          <p:cNvSpPr txBox="1"/>
          <p:nvPr/>
        </p:nvSpPr>
        <p:spPr>
          <a:xfrm>
            <a:off x="941832" y="3474720"/>
            <a:ext cx="2926080" cy="73152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 Ward, complete y average llegan al mismo reparto, no es un artefacto.</a:t>
            </a:r>
          </a:p>
        </p:txBody>
      </p:sp>
      <p:sp>
        <p:nvSpPr>
          <p:cNvPr id="10" name="TextBox 9"/>
          <p:cNvSpPr txBox="1"/>
          <p:nvPr/>
        </p:nvSpPr>
        <p:spPr>
          <a:xfrm>
            <a:off x="941832" y="4343400"/>
            <a:ext cx="292608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§3 · §5</a:t>
            </a:r>
          </a:p>
        </p:txBody>
      </p:sp>
      <p:sp>
        <p:nvSpPr>
          <p:cNvPr id="11" name="Rounded Rectangle 10"/>
          <p:cNvSpPr/>
          <p:nvPr/>
        </p:nvSpPr>
        <p:spPr>
          <a:xfrm>
            <a:off x="4297680" y="2743200"/>
            <a:ext cx="3383280"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2971800"/>
            <a:ext cx="2926080" cy="45720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¿Quién lo asigna?</a:t>
            </a:r>
          </a:p>
        </p:txBody>
      </p:sp>
      <p:sp>
        <p:nvSpPr>
          <p:cNvPr id="13" name="TextBox 12"/>
          <p:cNvSpPr txBox="1"/>
          <p:nvPr/>
        </p:nvSpPr>
        <p:spPr>
          <a:xfrm>
            <a:off x="4553712" y="3474720"/>
            <a:ext cx="2926080" cy="73152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En producción llega un día nuevo cada 24 horas. ¿Qué técnica lo clasifica?</a:t>
            </a:r>
          </a:p>
        </p:txBody>
      </p:sp>
      <p:sp>
        <p:nvSpPr>
          <p:cNvPr id="14" name="TextBox 13"/>
          <p:cNvSpPr txBox="1"/>
          <p:nvPr/>
        </p:nvSpPr>
        <p:spPr>
          <a:xfrm>
            <a:off x="4553712" y="4343400"/>
            <a:ext cx="292608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§6 · COMPARACIÓN CON K-MEANS</a:t>
            </a:r>
          </a:p>
        </p:txBody>
      </p:sp>
      <p:sp>
        <p:nvSpPr>
          <p:cNvPr id="15" name="Rounded Rectangle 14"/>
          <p:cNvSpPr/>
          <p:nvPr/>
        </p:nvSpPr>
        <p:spPr>
          <a:xfrm>
            <a:off x="7909560" y="2743200"/>
            <a:ext cx="3383280" cy="201168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2971800"/>
            <a:ext cx="2926080" cy="457200"/>
          </a:xfrm>
          <a:prstGeom prst="rect">
            <a:avLst/>
          </a:prstGeom>
          <a:noFill/>
        </p:spPr>
        <p:txBody>
          <a:bodyPr wrap="square" lIns="0" rIns="0" tIns="0" bIns="0" anchor="t">
            <a:spAutoFit/>
          </a:bodyPr>
          <a:lstStyle/>
          <a:p>
            <a:pPr algn="l">
              <a:lnSpc>
                <a:spcPct val="115000"/>
              </a:lnSpc>
            </a:pPr>
            <a:r>
              <a:rPr sz="1700" b="0">
                <a:solidFill>
                  <a:srgbClr val="E6E9EF"/>
                </a:solidFill>
                <a:latin typeface="Segoe UI Semibold"/>
              </a:rPr>
              <a:t>¿Qué días no encajan?</a:t>
            </a:r>
          </a:p>
        </p:txBody>
      </p:sp>
      <p:sp>
        <p:nvSpPr>
          <p:cNvPr id="17" name="TextBox 16"/>
          <p:cNvSpPr txBox="1"/>
          <p:nvPr/>
        </p:nvSpPr>
        <p:spPr>
          <a:xfrm>
            <a:off x="8165592" y="3474720"/>
            <a:ext cx="2926080" cy="73152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Días que ningún tipo describe: el gemelo no debe aprenderlos como rutina.</a:t>
            </a:r>
          </a:p>
        </p:txBody>
      </p:sp>
      <p:sp>
        <p:nvSpPr>
          <p:cNvPr id="18" name="TextBox 17"/>
          <p:cNvSpPr txBox="1"/>
          <p:nvPr/>
        </p:nvSpPr>
        <p:spPr>
          <a:xfrm>
            <a:off x="8165592" y="4343400"/>
            <a:ext cx="292608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§5.2 · ANTESALA DE DBSCAN</a:t>
            </a:r>
          </a:p>
        </p:txBody>
      </p:sp>
      <p:sp>
        <p:nvSpPr>
          <p:cNvPr id="19" name="Rectangle 18"/>
          <p:cNvSpPr/>
          <p:nvPr/>
        </p:nvSpPr>
        <p:spPr>
          <a:xfrm>
            <a:off x="685800" y="5074920"/>
            <a:ext cx="10607040"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507492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257800"/>
            <a:ext cx="10149840" cy="5486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La misma unidad que K-Means.</a:t>
            </a:r>
            <a:r>
              <a:rPr sz="1300" b="0">
                <a:solidFill>
                  <a:srgbClr val="C9D1DE"/>
                </a:solidFill>
                <a:latin typeface="Segoe UI"/>
              </a:rPr>
              <a:t> 136 días × 24 medias horarias de consumo. El enunciado pide comparar con K-Means, y la comparación solo es directa —día por día— sobre la misma matriz.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PUNTO 3 · PREPARACIÓN DEL DATASET</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Selección, limpieza y un escalado que aquí sí importa</a:t>
            </a:r>
          </a:p>
        </p:txBody>
      </p:sp>
      <p:sp>
        <p:nvSpPr>
          <p:cNvPr id="6" name="TextBox 5"/>
          <p:cNvSpPr txBox="1"/>
          <p:nvPr/>
        </p:nvSpPr>
        <p:spPr>
          <a:xfrm>
            <a:off x="685800" y="1828800"/>
            <a:ext cx="1645920" cy="365760"/>
          </a:xfrm>
          <a:prstGeom prst="rect">
            <a:avLst/>
          </a:prstGeom>
          <a:noFill/>
        </p:spPr>
        <p:txBody>
          <a:bodyPr wrap="square" lIns="0" rIns="0" tIns="0" bIns="0" anchor="t">
            <a:spAutoFit/>
          </a:bodyPr>
          <a:lstStyle/>
          <a:p>
            <a:pPr algn="l">
              <a:lnSpc>
                <a:spcPct val="115000"/>
              </a:lnSpc>
            </a:pPr>
            <a:r>
              <a:rPr sz="1100" b="0">
                <a:solidFill>
                  <a:srgbClr val="7BD992"/>
                </a:solidFill>
                <a:latin typeface="Consolas"/>
              </a:rPr>
              <a:t>SELECCIÓN</a:t>
            </a:r>
          </a:p>
        </p:txBody>
      </p:sp>
      <p:sp>
        <p:nvSpPr>
          <p:cNvPr id="7" name="TextBox 6"/>
          <p:cNvSpPr txBox="1"/>
          <p:nvPr/>
        </p:nvSpPr>
        <p:spPr>
          <a:xfrm>
            <a:off x="2423160" y="1828800"/>
            <a:ext cx="5394960" cy="86868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Solo la curva de consumo de 24 h. El calendario (V = 0,000) y el clima (|d| &lt; 0,5) no distinguen los tipos; se reservan para caracterizar después, sin circularidad.</a:t>
            </a:r>
          </a:p>
        </p:txBody>
      </p:sp>
      <p:sp>
        <p:nvSpPr>
          <p:cNvPr id="8" name="TextBox 7"/>
          <p:cNvSpPr txBox="1"/>
          <p:nvPr/>
        </p:nvSpPr>
        <p:spPr>
          <a:xfrm>
            <a:off x="685800" y="2788920"/>
            <a:ext cx="1645920" cy="365760"/>
          </a:xfrm>
          <a:prstGeom prst="rect">
            <a:avLst/>
          </a:prstGeom>
          <a:noFill/>
        </p:spPr>
        <p:txBody>
          <a:bodyPr wrap="square" lIns="0" rIns="0" tIns="0" bIns="0" anchor="t">
            <a:spAutoFit/>
          </a:bodyPr>
          <a:lstStyle/>
          <a:p>
            <a:pPr algn="l">
              <a:lnSpc>
                <a:spcPct val="115000"/>
              </a:lnSpc>
            </a:pPr>
            <a:r>
              <a:rPr sz="1100" b="0">
                <a:solidFill>
                  <a:srgbClr val="7BD992"/>
                </a:solidFill>
                <a:latin typeface="Consolas"/>
              </a:rPr>
              <a:t>LIMPIEZA</a:t>
            </a:r>
          </a:p>
        </p:txBody>
      </p:sp>
      <p:sp>
        <p:nvSpPr>
          <p:cNvPr id="9" name="TextBox 8"/>
          <p:cNvSpPr txBox="1"/>
          <p:nvPr/>
        </p:nvSpPr>
        <p:spPr>
          <a:xfrm>
            <a:off x="2423160" y="2788920"/>
            <a:ext cx="5394960" cy="86868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0 valores faltantes. Se descartan 2 días incompletos (11-ene, 27-may). Los días extremos se conservan: son parte del objeto de estudio.</a:t>
            </a:r>
          </a:p>
        </p:txBody>
      </p:sp>
      <p:sp>
        <p:nvSpPr>
          <p:cNvPr id="10" name="TextBox 9"/>
          <p:cNvSpPr txBox="1"/>
          <p:nvPr/>
        </p:nvSpPr>
        <p:spPr>
          <a:xfrm>
            <a:off x="685800" y="3749040"/>
            <a:ext cx="1645920" cy="365760"/>
          </a:xfrm>
          <a:prstGeom prst="rect">
            <a:avLst/>
          </a:prstGeom>
          <a:noFill/>
        </p:spPr>
        <p:txBody>
          <a:bodyPr wrap="square" lIns="0" rIns="0" tIns="0" bIns="0" anchor="t">
            <a:spAutoFit/>
          </a:bodyPr>
          <a:lstStyle/>
          <a:p>
            <a:pPr algn="l">
              <a:lnSpc>
                <a:spcPct val="115000"/>
              </a:lnSpc>
            </a:pPr>
            <a:r>
              <a:rPr sz="1100" b="0">
                <a:solidFill>
                  <a:srgbClr val="7BD992"/>
                </a:solidFill>
                <a:latin typeface="Consolas"/>
              </a:rPr>
              <a:t>ESCALADO</a:t>
            </a:r>
          </a:p>
        </p:txBody>
      </p:sp>
      <p:sp>
        <p:nvSpPr>
          <p:cNvPr id="11" name="TextBox 10"/>
          <p:cNvSpPr txBox="1"/>
          <p:nvPr/>
        </p:nvSpPr>
        <p:spPr>
          <a:xfrm>
            <a:off x="2423160" y="3749040"/>
            <a:ext cx="5394960" cy="86868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Principal: Wh sin estandarizar (misma unidad en las 24 columnas). Contraste: StandardScaler, que en el jerárquico cambia casi todo.</a:t>
            </a:r>
          </a:p>
        </p:txBody>
      </p:sp>
      <p:sp>
        <p:nvSpPr>
          <p:cNvPr id="12" name="TextBox 11"/>
          <p:cNvSpPr txBox="1"/>
          <p:nvPr/>
        </p:nvSpPr>
        <p:spPr>
          <a:xfrm>
            <a:off x="8366760" y="1783080"/>
            <a:ext cx="301752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136 × 24</a:t>
            </a:r>
          </a:p>
        </p:txBody>
      </p:sp>
      <p:sp>
        <p:nvSpPr>
          <p:cNvPr id="13" name="TextBox 12"/>
          <p:cNvSpPr txBox="1"/>
          <p:nvPr/>
        </p:nvSpPr>
        <p:spPr>
          <a:xfrm>
            <a:off x="8366760" y="2441448"/>
            <a:ext cx="30175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completos × medias horarias (Wh)</a:t>
            </a:r>
          </a:p>
        </p:txBody>
      </p:sp>
      <p:sp>
        <p:nvSpPr>
          <p:cNvPr id="14" name="TextBox 13"/>
          <p:cNvSpPr txBox="1"/>
          <p:nvPr/>
        </p:nvSpPr>
        <p:spPr>
          <a:xfrm>
            <a:off x="8366760" y="2971800"/>
            <a:ext cx="3017520" cy="640080"/>
          </a:xfrm>
          <a:prstGeom prst="rect">
            <a:avLst/>
          </a:prstGeom>
          <a:noFill/>
        </p:spPr>
        <p:txBody>
          <a:bodyPr wrap="square" lIns="0" rIns="0" tIns="0" bIns="0" anchor="t">
            <a:spAutoFit/>
          </a:bodyPr>
          <a:lstStyle/>
          <a:p>
            <a:pPr algn="l">
              <a:lnSpc>
                <a:spcPct val="115000"/>
              </a:lnSpc>
            </a:pPr>
            <a:r>
              <a:rPr sz="2600" b="1">
                <a:solidFill>
                  <a:srgbClr val="E6E9EF"/>
                </a:solidFill>
                <a:latin typeface="Consolas"/>
              </a:rPr>
              <a:t>50 → 12.477</a:t>
            </a:r>
          </a:p>
        </p:txBody>
      </p:sp>
      <p:sp>
        <p:nvSpPr>
          <p:cNvPr id="15" name="TextBox 14"/>
          <p:cNvSpPr txBox="1"/>
          <p:nvPr/>
        </p:nvSpPr>
        <p:spPr>
          <a:xfrm>
            <a:off x="8366760" y="3630168"/>
            <a:ext cx="30175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varianza del consumo a las 4 h</a:t>
            </a:r>
          </a:p>
          <a:p>
            <a:pPr algn="l">
              <a:lnSpc>
                <a:spcPct val="115000"/>
              </a:lnSpc>
            </a:pPr>
            <a:r>
              <a:rPr sz="1150" b="0">
                <a:solidFill>
                  <a:srgbClr val="9AA3B2"/>
                </a:solidFill>
                <a:latin typeface="Segoe UI"/>
              </a:rPr>
              <a:t>frente a las 11 h: 248 veces</a:t>
            </a:r>
          </a:p>
        </p:txBody>
      </p:sp>
      <p:sp>
        <p:nvSpPr>
          <p:cNvPr id="16" name="Rectangle 15"/>
          <p:cNvSpPr/>
          <p:nvPr/>
        </p:nvSpPr>
        <p:spPr>
          <a:xfrm>
            <a:off x="685800" y="4846320"/>
            <a:ext cx="10607040"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846320"/>
            <a:ext cx="54864" cy="10972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5029200"/>
            <a:ext cx="10149840" cy="7772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Estandarizar multiplica por ~16 el peso de la madrugada.</a:t>
            </a:r>
            <a:r>
              <a:rPr sz="1300" b="0">
                <a:solidFill>
                  <a:srgbClr val="C9D1DE"/>
                </a:solidFill>
                <a:latin typeface="Segoe UI"/>
              </a:rPr>
              <a:t> K-Means lo resistía (ARI 1,000). Ward pasa de 114 / 22 a 105 / 31; complete queda en 134 / 2, aislando dos noches raras (12-ene: 168 Wh a la 1 a. m.; 26-ene: 197 Wh a medianoche).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APLICACIÓN · DENDROGRAM() CON LÍNEA DE CORTE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Tres enlaces, tres definiciones de «grupo»</a:t>
            </a:r>
          </a:p>
        </p:txBody>
      </p:sp>
      <p:sp>
        <p:nvSpPr>
          <p:cNvPr id="6" name="Rounded Rectangle 5"/>
          <p:cNvSpPr/>
          <p:nvPr/>
        </p:nvSpPr>
        <p:spPr>
          <a:xfrm>
            <a:off x="694944" y="1662883"/>
            <a:ext cx="6108192" cy="472095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1_dendrogramas.png"/>
          <p:cNvPicPr>
            <a:picLocks noChangeAspect="1"/>
          </p:cNvPicPr>
          <p:nvPr/>
        </p:nvPicPr>
        <p:blipFill>
          <a:blip r:embed="rId2"/>
          <a:stretch>
            <a:fillRect/>
          </a:stretch>
        </p:blipFill>
        <p:spPr>
          <a:xfrm>
            <a:off x="777240" y="1745179"/>
            <a:ext cx="5943600" cy="4556361"/>
          </a:xfrm>
          <a:prstGeom prst="rect">
            <a:avLst/>
          </a:prstGeom>
        </p:spPr>
      </p:pic>
      <p:sp>
        <p:nvSpPr>
          <p:cNvPr id="8" name="TextBox 7"/>
          <p:cNvSpPr txBox="1"/>
          <p:nvPr/>
        </p:nvSpPr>
        <p:spPr>
          <a:xfrm>
            <a:off x="7178040" y="1783080"/>
            <a:ext cx="12344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ENLACE</a:t>
            </a:r>
          </a:p>
        </p:txBody>
      </p:sp>
      <p:sp>
        <p:nvSpPr>
          <p:cNvPr id="9" name="TextBox 8"/>
          <p:cNvSpPr txBox="1"/>
          <p:nvPr/>
        </p:nvSpPr>
        <p:spPr>
          <a:xfrm>
            <a:off x="8412480" y="1783080"/>
            <a:ext cx="9144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CORTE</a:t>
            </a:r>
          </a:p>
        </p:txBody>
      </p:sp>
      <p:sp>
        <p:nvSpPr>
          <p:cNvPr id="10" name="TextBox 9"/>
          <p:cNvSpPr txBox="1"/>
          <p:nvPr/>
        </p:nvSpPr>
        <p:spPr>
          <a:xfrm>
            <a:off x="9326880" y="1783080"/>
            <a:ext cx="11430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REPARTO</a:t>
            </a:r>
          </a:p>
        </p:txBody>
      </p:sp>
      <p:sp>
        <p:nvSpPr>
          <p:cNvPr id="11" name="TextBox 10"/>
          <p:cNvSpPr txBox="1"/>
          <p:nvPr/>
        </p:nvSpPr>
        <p:spPr>
          <a:xfrm>
            <a:off x="10469880" y="178308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SALTO</a:t>
            </a:r>
          </a:p>
        </p:txBody>
      </p:sp>
      <p:sp>
        <p:nvSpPr>
          <p:cNvPr id="12" name="Rectangle 11"/>
          <p:cNvSpPr/>
          <p:nvPr/>
        </p:nvSpPr>
        <p:spPr>
          <a:xfrm>
            <a:off x="7178040" y="2075688"/>
            <a:ext cx="41148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112264"/>
            <a:ext cx="1124712" cy="365760"/>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Ward</a:t>
            </a:r>
          </a:p>
        </p:txBody>
      </p:sp>
      <p:sp>
        <p:nvSpPr>
          <p:cNvPr id="14" name="TextBox 13"/>
          <p:cNvSpPr txBox="1"/>
          <p:nvPr/>
        </p:nvSpPr>
        <p:spPr>
          <a:xfrm>
            <a:off x="8412480" y="2112264"/>
            <a:ext cx="80467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2.228</a:t>
            </a:r>
          </a:p>
        </p:txBody>
      </p:sp>
      <p:sp>
        <p:nvSpPr>
          <p:cNvPr id="15" name="TextBox 14"/>
          <p:cNvSpPr txBox="1"/>
          <p:nvPr/>
        </p:nvSpPr>
        <p:spPr>
          <a:xfrm>
            <a:off x="9326880" y="2112264"/>
            <a:ext cx="103327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114 / 22</a:t>
            </a:r>
          </a:p>
        </p:txBody>
      </p:sp>
      <p:sp>
        <p:nvSpPr>
          <p:cNvPr id="16" name="TextBox 15"/>
          <p:cNvSpPr txBox="1"/>
          <p:nvPr/>
        </p:nvSpPr>
        <p:spPr>
          <a:xfrm>
            <a:off x="10469880" y="2112264"/>
            <a:ext cx="71323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×1,78</a:t>
            </a:r>
          </a:p>
        </p:txBody>
      </p:sp>
      <p:sp>
        <p:nvSpPr>
          <p:cNvPr id="17" name="TextBox 16"/>
          <p:cNvSpPr txBox="1"/>
          <p:nvPr/>
        </p:nvSpPr>
        <p:spPr>
          <a:xfrm>
            <a:off x="7269480" y="2478024"/>
            <a:ext cx="1124712" cy="365760"/>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Complete</a:t>
            </a:r>
          </a:p>
        </p:txBody>
      </p:sp>
      <p:sp>
        <p:nvSpPr>
          <p:cNvPr id="18" name="TextBox 17"/>
          <p:cNvSpPr txBox="1"/>
          <p:nvPr/>
        </p:nvSpPr>
        <p:spPr>
          <a:xfrm>
            <a:off x="8412480" y="2478024"/>
            <a:ext cx="80467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1.079</a:t>
            </a:r>
          </a:p>
        </p:txBody>
      </p:sp>
      <p:sp>
        <p:nvSpPr>
          <p:cNvPr id="19" name="TextBox 18"/>
          <p:cNvSpPr txBox="1"/>
          <p:nvPr/>
        </p:nvSpPr>
        <p:spPr>
          <a:xfrm>
            <a:off x="9326880" y="2478024"/>
            <a:ext cx="103327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114 / 22</a:t>
            </a:r>
          </a:p>
        </p:txBody>
      </p:sp>
      <p:sp>
        <p:nvSpPr>
          <p:cNvPr id="20" name="TextBox 19"/>
          <p:cNvSpPr txBox="1"/>
          <p:nvPr/>
        </p:nvSpPr>
        <p:spPr>
          <a:xfrm>
            <a:off x="10469880" y="2478024"/>
            <a:ext cx="71323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×1,23</a:t>
            </a:r>
          </a:p>
        </p:txBody>
      </p:sp>
      <p:sp>
        <p:nvSpPr>
          <p:cNvPr id="21" name="TextBox 20"/>
          <p:cNvSpPr txBox="1"/>
          <p:nvPr/>
        </p:nvSpPr>
        <p:spPr>
          <a:xfrm>
            <a:off x="7269480" y="2843784"/>
            <a:ext cx="1124712" cy="365760"/>
          </a:xfrm>
          <a:prstGeom prst="rect">
            <a:avLst/>
          </a:prstGeom>
          <a:noFill/>
        </p:spPr>
        <p:txBody>
          <a:bodyPr wrap="square" lIns="0" rIns="0" tIns="0" bIns="0" anchor="ctr">
            <a:spAutoFit/>
          </a:bodyPr>
          <a:lstStyle/>
          <a:p>
            <a:pPr algn="l">
              <a:lnSpc>
                <a:spcPct val="115000"/>
              </a:lnSpc>
            </a:pPr>
            <a:r>
              <a:rPr sz="1200" b="0">
                <a:solidFill>
                  <a:srgbClr val="C9D1DE"/>
                </a:solidFill>
                <a:latin typeface="Segoe UI"/>
              </a:rPr>
              <a:t>Average</a:t>
            </a:r>
          </a:p>
        </p:txBody>
      </p:sp>
      <p:sp>
        <p:nvSpPr>
          <p:cNvPr id="22" name="TextBox 21"/>
          <p:cNvSpPr txBox="1"/>
          <p:nvPr/>
        </p:nvSpPr>
        <p:spPr>
          <a:xfrm>
            <a:off x="8412480" y="2843784"/>
            <a:ext cx="80467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766</a:t>
            </a:r>
          </a:p>
        </p:txBody>
      </p:sp>
      <p:sp>
        <p:nvSpPr>
          <p:cNvPr id="23" name="TextBox 22"/>
          <p:cNvSpPr txBox="1"/>
          <p:nvPr/>
        </p:nvSpPr>
        <p:spPr>
          <a:xfrm>
            <a:off x="9326880" y="2843784"/>
            <a:ext cx="1033272" cy="365760"/>
          </a:xfrm>
          <a:prstGeom prst="rect">
            <a:avLst/>
          </a:prstGeom>
          <a:noFill/>
        </p:spPr>
        <p:txBody>
          <a:bodyPr wrap="square" lIns="0" rIns="0" tIns="0" bIns="0" anchor="ctr">
            <a:spAutoFit/>
          </a:bodyPr>
          <a:lstStyle/>
          <a:p>
            <a:pPr algn="r">
              <a:lnSpc>
                <a:spcPct val="115000"/>
              </a:lnSpc>
            </a:pPr>
            <a:r>
              <a:rPr sz="1200" b="0">
                <a:solidFill>
                  <a:srgbClr val="F28B82"/>
                </a:solidFill>
                <a:latin typeface="Consolas"/>
              </a:rPr>
              <a:t>135 / 1</a:t>
            </a:r>
          </a:p>
        </p:txBody>
      </p:sp>
      <p:sp>
        <p:nvSpPr>
          <p:cNvPr id="24" name="TextBox 23"/>
          <p:cNvSpPr txBox="1"/>
          <p:nvPr/>
        </p:nvSpPr>
        <p:spPr>
          <a:xfrm>
            <a:off x="10469880" y="2843784"/>
            <a:ext cx="713232" cy="365760"/>
          </a:xfrm>
          <a:prstGeom prst="rect">
            <a:avLst/>
          </a:prstGeom>
          <a:noFill/>
        </p:spPr>
        <p:txBody>
          <a:bodyPr wrap="square" lIns="0" rIns="0" tIns="0" bIns="0" anchor="ctr">
            <a:spAutoFit/>
          </a:bodyPr>
          <a:lstStyle/>
          <a:p>
            <a:pPr algn="r">
              <a:lnSpc>
                <a:spcPct val="115000"/>
              </a:lnSpc>
            </a:pPr>
            <a:r>
              <a:rPr sz="1200" b="0">
                <a:solidFill>
                  <a:srgbClr val="C9D1DE"/>
                </a:solidFill>
                <a:latin typeface="Consolas"/>
              </a:rPr>
              <a:t>×1,06</a:t>
            </a:r>
          </a:p>
        </p:txBody>
      </p:sp>
      <p:sp>
        <p:nvSpPr>
          <p:cNvPr id="25" name="TextBox 24"/>
          <p:cNvSpPr txBox="1"/>
          <p:nvPr/>
        </p:nvSpPr>
        <p:spPr>
          <a:xfrm>
            <a:off x="7178040" y="3520440"/>
            <a:ext cx="4114800" cy="100584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Ward tiene el salto más claro. Complete llega al mismo tamaño con un salto menor. Average es una cadena: su última fusión solo añade el 24 de enero.</a:t>
            </a:r>
          </a:p>
        </p:txBody>
      </p:sp>
      <p:sp>
        <p:nvSpPr>
          <p:cNvPr id="26" name="Rectangle 25"/>
          <p:cNvSpPr/>
          <p:nvPr/>
        </p:nvSpPr>
        <p:spPr>
          <a:xfrm>
            <a:off x="7178040" y="4663440"/>
            <a:ext cx="4114800" cy="14173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78040" y="4663440"/>
            <a:ext cx="54864" cy="14173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34072" y="4846320"/>
            <a:ext cx="3657600" cy="109728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La paradoja cofenética.</a:t>
            </a:r>
            <a:r>
              <a:rPr sz="1200" b="0">
                <a:solidFill>
                  <a:srgbClr val="C9D1DE"/>
                </a:solidFill>
                <a:latin typeface="Segoe UI"/>
              </a:rPr>
              <a:t> Average es el árbol que mejor conserva las distancias (0,880 frente a 0,808 y 0,755) y el que da la partición inútil. Conservar distancias no es encontrar grupos.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EVALUACIÓN · SILHOUETTE SCORE PARA K = 2…10</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tabla de silueta y la selección de k</a:t>
            </a:r>
          </a:p>
        </p:txBody>
      </p:sp>
      <p:sp>
        <p:nvSpPr>
          <p:cNvPr id="6" name="TextBox 5"/>
          <p:cNvSpPr txBox="1"/>
          <p:nvPr/>
        </p:nvSpPr>
        <p:spPr>
          <a:xfrm>
            <a:off x="685800" y="1783080"/>
            <a:ext cx="6400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a:t>
            </a:r>
          </a:p>
        </p:txBody>
      </p:sp>
      <p:sp>
        <p:nvSpPr>
          <p:cNvPr id="7" name="TextBox 6"/>
          <p:cNvSpPr txBox="1"/>
          <p:nvPr/>
        </p:nvSpPr>
        <p:spPr>
          <a:xfrm>
            <a:off x="1325880" y="178308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WARD</a:t>
            </a:r>
          </a:p>
        </p:txBody>
      </p:sp>
      <p:sp>
        <p:nvSpPr>
          <p:cNvPr id="8" name="TextBox 7"/>
          <p:cNvSpPr txBox="1"/>
          <p:nvPr/>
        </p:nvSpPr>
        <p:spPr>
          <a:xfrm>
            <a:off x="2514600" y="1783080"/>
            <a:ext cx="13716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COMPLETE</a:t>
            </a:r>
          </a:p>
        </p:txBody>
      </p:sp>
      <p:sp>
        <p:nvSpPr>
          <p:cNvPr id="9" name="TextBox 8"/>
          <p:cNvSpPr txBox="1"/>
          <p:nvPr/>
        </p:nvSpPr>
        <p:spPr>
          <a:xfrm>
            <a:off x="3886200" y="1783080"/>
            <a:ext cx="12801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AVERAGE</a:t>
            </a:r>
          </a:p>
        </p:txBody>
      </p:sp>
      <p:sp>
        <p:nvSpPr>
          <p:cNvPr id="10" name="TextBox 9"/>
          <p:cNvSpPr txBox="1"/>
          <p:nvPr/>
        </p:nvSpPr>
        <p:spPr>
          <a:xfrm>
            <a:off x="5166360" y="1783080"/>
            <a:ext cx="21945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CLÚSTER MÁS CHICO</a:t>
            </a:r>
          </a:p>
        </p:txBody>
      </p:sp>
      <p:sp>
        <p:nvSpPr>
          <p:cNvPr id="11" name="Rectangle 10"/>
          <p:cNvSpPr/>
          <p:nvPr/>
        </p:nvSpPr>
        <p:spPr>
          <a:xfrm>
            <a:off x="685800" y="2075688"/>
            <a:ext cx="66751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112264"/>
            <a:ext cx="6675120" cy="356616"/>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12264"/>
            <a:ext cx="530352" cy="393192"/>
          </a:xfrm>
          <a:prstGeom prst="rect">
            <a:avLst/>
          </a:prstGeom>
          <a:noFill/>
        </p:spPr>
        <p:txBody>
          <a:bodyPr wrap="square" lIns="0" rIns="0" tIns="0" bIns="0" anchor="ctr">
            <a:spAutoFit/>
          </a:bodyPr>
          <a:lstStyle/>
          <a:p>
            <a:pPr algn="l">
              <a:lnSpc>
                <a:spcPct val="115000"/>
              </a:lnSpc>
            </a:pPr>
            <a:r>
              <a:rPr sz="1250" b="1">
                <a:solidFill>
                  <a:srgbClr val="E6E9EF"/>
                </a:solidFill>
                <a:latin typeface="Segoe UI"/>
              </a:rPr>
              <a:t>2</a:t>
            </a:r>
          </a:p>
        </p:txBody>
      </p:sp>
      <p:sp>
        <p:nvSpPr>
          <p:cNvPr id="14" name="TextBox 13"/>
          <p:cNvSpPr txBox="1"/>
          <p:nvPr/>
        </p:nvSpPr>
        <p:spPr>
          <a:xfrm>
            <a:off x="1325880" y="2112264"/>
            <a:ext cx="1078992" cy="393192"/>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0,400</a:t>
            </a:r>
          </a:p>
        </p:txBody>
      </p:sp>
      <p:sp>
        <p:nvSpPr>
          <p:cNvPr id="15" name="TextBox 14"/>
          <p:cNvSpPr txBox="1"/>
          <p:nvPr/>
        </p:nvSpPr>
        <p:spPr>
          <a:xfrm>
            <a:off x="2514600" y="2112264"/>
            <a:ext cx="1261872" cy="393192"/>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0,414</a:t>
            </a:r>
          </a:p>
        </p:txBody>
      </p:sp>
      <p:sp>
        <p:nvSpPr>
          <p:cNvPr id="16" name="TextBox 15"/>
          <p:cNvSpPr txBox="1"/>
          <p:nvPr/>
        </p:nvSpPr>
        <p:spPr>
          <a:xfrm>
            <a:off x="3886200" y="2112264"/>
            <a:ext cx="1170432" cy="393192"/>
          </a:xfrm>
          <a:prstGeom prst="rect">
            <a:avLst/>
          </a:prstGeom>
          <a:noFill/>
        </p:spPr>
        <p:txBody>
          <a:bodyPr wrap="square" lIns="0" rIns="0" tIns="0" bIns="0" anchor="ctr">
            <a:spAutoFit/>
          </a:bodyPr>
          <a:lstStyle/>
          <a:p>
            <a:pPr algn="r">
              <a:lnSpc>
                <a:spcPct val="115000"/>
              </a:lnSpc>
            </a:pPr>
            <a:r>
              <a:rPr sz="1250" b="1">
                <a:solidFill>
                  <a:srgbClr val="F28B82"/>
                </a:solidFill>
                <a:latin typeface="Consolas"/>
              </a:rPr>
              <a:t>0,423</a:t>
            </a:r>
          </a:p>
        </p:txBody>
      </p:sp>
      <p:sp>
        <p:nvSpPr>
          <p:cNvPr id="17" name="TextBox 16"/>
          <p:cNvSpPr txBox="1"/>
          <p:nvPr/>
        </p:nvSpPr>
        <p:spPr>
          <a:xfrm>
            <a:off x="5166360" y="2112264"/>
            <a:ext cx="2084832" cy="393192"/>
          </a:xfrm>
          <a:prstGeom prst="rect">
            <a:avLst/>
          </a:prstGeom>
          <a:noFill/>
        </p:spPr>
        <p:txBody>
          <a:bodyPr wrap="square" lIns="0" rIns="0" tIns="0" bIns="0" anchor="ctr">
            <a:spAutoFit/>
          </a:bodyPr>
          <a:lstStyle/>
          <a:p>
            <a:pPr algn="r">
              <a:lnSpc>
                <a:spcPct val="115000"/>
              </a:lnSpc>
            </a:pPr>
            <a:r>
              <a:rPr sz="1250" b="1">
                <a:solidFill>
                  <a:srgbClr val="E6E9EF"/>
                </a:solidFill>
                <a:latin typeface="Consolas"/>
              </a:rPr>
              <a:t>22 / 22 / 1</a:t>
            </a:r>
          </a:p>
        </p:txBody>
      </p:sp>
      <p:sp>
        <p:nvSpPr>
          <p:cNvPr id="18" name="TextBox 17"/>
          <p:cNvSpPr txBox="1"/>
          <p:nvPr/>
        </p:nvSpPr>
        <p:spPr>
          <a:xfrm>
            <a:off x="777240" y="2505456"/>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3</a:t>
            </a:r>
          </a:p>
        </p:txBody>
      </p:sp>
      <p:sp>
        <p:nvSpPr>
          <p:cNvPr id="19" name="TextBox 18"/>
          <p:cNvSpPr txBox="1"/>
          <p:nvPr/>
        </p:nvSpPr>
        <p:spPr>
          <a:xfrm>
            <a:off x="1325880" y="2505456"/>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0,200</a:t>
            </a:r>
          </a:p>
        </p:txBody>
      </p:sp>
      <p:sp>
        <p:nvSpPr>
          <p:cNvPr id="20" name="TextBox 19"/>
          <p:cNvSpPr txBox="1"/>
          <p:nvPr/>
        </p:nvSpPr>
        <p:spPr>
          <a:xfrm>
            <a:off x="2514600" y="2505456"/>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0,401</a:t>
            </a:r>
          </a:p>
        </p:txBody>
      </p:sp>
      <p:sp>
        <p:nvSpPr>
          <p:cNvPr id="21" name="TextBox 20"/>
          <p:cNvSpPr txBox="1"/>
          <p:nvPr/>
        </p:nvSpPr>
        <p:spPr>
          <a:xfrm>
            <a:off x="3886200" y="2505456"/>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0,371</a:t>
            </a:r>
          </a:p>
        </p:txBody>
      </p:sp>
      <p:sp>
        <p:nvSpPr>
          <p:cNvPr id="22" name="TextBox 21"/>
          <p:cNvSpPr txBox="1"/>
          <p:nvPr/>
        </p:nvSpPr>
        <p:spPr>
          <a:xfrm>
            <a:off x="5166360" y="2505456"/>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 / 2 / 1</a:t>
            </a:r>
          </a:p>
        </p:txBody>
      </p:sp>
      <p:sp>
        <p:nvSpPr>
          <p:cNvPr id="23" name="TextBox 22"/>
          <p:cNvSpPr txBox="1"/>
          <p:nvPr/>
        </p:nvSpPr>
        <p:spPr>
          <a:xfrm>
            <a:off x="777240" y="2898648"/>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4</a:t>
            </a:r>
          </a:p>
        </p:txBody>
      </p:sp>
      <p:sp>
        <p:nvSpPr>
          <p:cNvPr id="24" name="TextBox 23"/>
          <p:cNvSpPr txBox="1"/>
          <p:nvPr/>
        </p:nvSpPr>
        <p:spPr>
          <a:xfrm>
            <a:off x="1325880" y="2898648"/>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0,141</a:t>
            </a:r>
          </a:p>
        </p:txBody>
      </p:sp>
      <p:sp>
        <p:nvSpPr>
          <p:cNvPr id="25" name="TextBox 24"/>
          <p:cNvSpPr txBox="1"/>
          <p:nvPr/>
        </p:nvSpPr>
        <p:spPr>
          <a:xfrm>
            <a:off x="2514600" y="2898648"/>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0,381</a:t>
            </a:r>
          </a:p>
        </p:txBody>
      </p:sp>
      <p:sp>
        <p:nvSpPr>
          <p:cNvPr id="26" name="TextBox 25"/>
          <p:cNvSpPr txBox="1"/>
          <p:nvPr/>
        </p:nvSpPr>
        <p:spPr>
          <a:xfrm>
            <a:off x="3886200" y="2898648"/>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0,373</a:t>
            </a:r>
          </a:p>
        </p:txBody>
      </p:sp>
      <p:sp>
        <p:nvSpPr>
          <p:cNvPr id="27" name="TextBox 26"/>
          <p:cNvSpPr txBox="1"/>
          <p:nvPr/>
        </p:nvSpPr>
        <p:spPr>
          <a:xfrm>
            <a:off x="5166360" y="2898648"/>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 / 2 / 1</a:t>
            </a:r>
          </a:p>
        </p:txBody>
      </p:sp>
      <p:sp>
        <p:nvSpPr>
          <p:cNvPr id="28" name="TextBox 27"/>
          <p:cNvSpPr txBox="1"/>
          <p:nvPr/>
        </p:nvSpPr>
        <p:spPr>
          <a:xfrm>
            <a:off x="777240" y="3291840"/>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5</a:t>
            </a:r>
          </a:p>
        </p:txBody>
      </p:sp>
      <p:sp>
        <p:nvSpPr>
          <p:cNvPr id="29" name="TextBox 28"/>
          <p:cNvSpPr txBox="1"/>
          <p:nvPr/>
        </p:nvSpPr>
        <p:spPr>
          <a:xfrm>
            <a:off x="1325880" y="3291840"/>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0,146</a:t>
            </a:r>
          </a:p>
        </p:txBody>
      </p:sp>
      <p:sp>
        <p:nvSpPr>
          <p:cNvPr id="30" name="TextBox 29"/>
          <p:cNvSpPr txBox="1"/>
          <p:nvPr/>
        </p:nvSpPr>
        <p:spPr>
          <a:xfrm>
            <a:off x="2514600" y="3291840"/>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0,113</a:t>
            </a:r>
          </a:p>
        </p:txBody>
      </p:sp>
      <p:sp>
        <p:nvSpPr>
          <p:cNvPr id="31" name="TextBox 30"/>
          <p:cNvSpPr txBox="1"/>
          <p:nvPr/>
        </p:nvSpPr>
        <p:spPr>
          <a:xfrm>
            <a:off x="3886200" y="3291840"/>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0,339</a:t>
            </a:r>
          </a:p>
        </p:txBody>
      </p:sp>
      <p:sp>
        <p:nvSpPr>
          <p:cNvPr id="32" name="TextBox 31"/>
          <p:cNvSpPr txBox="1"/>
          <p:nvPr/>
        </p:nvSpPr>
        <p:spPr>
          <a:xfrm>
            <a:off x="5166360" y="3291840"/>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8 / 2 / 1</a:t>
            </a:r>
          </a:p>
        </p:txBody>
      </p:sp>
      <p:sp>
        <p:nvSpPr>
          <p:cNvPr id="33" name="TextBox 32"/>
          <p:cNvSpPr txBox="1"/>
          <p:nvPr/>
        </p:nvSpPr>
        <p:spPr>
          <a:xfrm>
            <a:off x="777240" y="3685032"/>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6</a:t>
            </a:r>
          </a:p>
        </p:txBody>
      </p:sp>
      <p:sp>
        <p:nvSpPr>
          <p:cNvPr id="34" name="TextBox 33"/>
          <p:cNvSpPr txBox="1"/>
          <p:nvPr/>
        </p:nvSpPr>
        <p:spPr>
          <a:xfrm>
            <a:off x="1325880" y="3685032"/>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0,150</a:t>
            </a:r>
          </a:p>
        </p:txBody>
      </p:sp>
      <p:sp>
        <p:nvSpPr>
          <p:cNvPr id="35" name="TextBox 34"/>
          <p:cNvSpPr txBox="1"/>
          <p:nvPr/>
        </p:nvSpPr>
        <p:spPr>
          <a:xfrm>
            <a:off x="2514600" y="3685032"/>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0,116</a:t>
            </a:r>
          </a:p>
        </p:txBody>
      </p:sp>
      <p:sp>
        <p:nvSpPr>
          <p:cNvPr id="36" name="TextBox 35"/>
          <p:cNvSpPr txBox="1"/>
          <p:nvPr/>
        </p:nvSpPr>
        <p:spPr>
          <a:xfrm>
            <a:off x="3886200" y="3685032"/>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0,329</a:t>
            </a:r>
          </a:p>
        </p:txBody>
      </p:sp>
      <p:sp>
        <p:nvSpPr>
          <p:cNvPr id="37" name="TextBox 36"/>
          <p:cNvSpPr txBox="1"/>
          <p:nvPr/>
        </p:nvSpPr>
        <p:spPr>
          <a:xfrm>
            <a:off x="5166360" y="3685032"/>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38" name="TextBox 37"/>
          <p:cNvSpPr txBox="1"/>
          <p:nvPr/>
        </p:nvSpPr>
        <p:spPr>
          <a:xfrm>
            <a:off x="777240" y="4078224"/>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7</a:t>
            </a:r>
          </a:p>
        </p:txBody>
      </p:sp>
      <p:sp>
        <p:nvSpPr>
          <p:cNvPr id="39" name="TextBox 38"/>
          <p:cNvSpPr txBox="1"/>
          <p:nvPr/>
        </p:nvSpPr>
        <p:spPr>
          <a:xfrm>
            <a:off x="1325880" y="4078224"/>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0,092</a:t>
            </a:r>
          </a:p>
        </p:txBody>
      </p:sp>
      <p:sp>
        <p:nvSpPr>
          <p:cNvPr id="40" name="TextBox 39"/>
          <p:cNvSpPr txBox="1"/>
          <p:nvPr/>
        </p:nvSpPr>
        <p:spPr>
          <a:xfrm>
            <a:off x="2514600" y="4078224"/>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0,156</a:t>
            </a:r>
          </a:p>
        </p:txBody>
      </p:sp>
      <p:sp>
        <p:nvSpPr>
          <p:cNvPr id="41" name="TextBox 40"/>
          <p:cNvSpPr txBox="1"/>
          <p:nvPr/>
        </p:nvSpPr>
        <p:spPr>
          <a:xfrm>
            <a:off x="3886200" y="4078224"/>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0,348</a:t>
            </a:r>
          </a:p>
        </p:txBody>
      </p:sp>
      <p:sp>
        <p:nvSpPr>
          <p:cNvPr id="42" name="TextBox 41"/>
          <p:cNvSpPr txBox="1"/>
          <p:nvPr/>
        </p:nvSpPr>
        <p:spPr>
          <a:xfrm>
            <a:off x="5166360" y="4078224"/>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43" name="TextBox 42"/>
          <p:cNvSpPr txBox="1"/>
          <p:nvPr/>
        </p:nvSpPr>
        <p:spPr>
          <a:xfrm>
            <a:off x="777240" y="4471416"/>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8</a:t>
            </a:r>
          </a:p>
        </p:txBody>
      </p:sp>
      <p:sp>
        <p:nvSpPr>
          <p:cNvPr id="44" name="TextBox 43"/>
          <p:cNvSpPr txBox="1"/>
          <p:nvPr/>
        </p:nvSpPr>
        <p:spPr>
          <a:xfrm>
            <a:off x="1325880" y="4471416"/>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0,101</a:t>
            </a:r>
          </a:p>
        </p:txBody>
      </p:sp>
      <p:sp>
        <p:nvSpPr>
          <p:cNvPr id="45" name="TextBox 44"/>
          <p:cNvSpPr txBox="1"/>
          <p:nvPr/>
        </p:nvSpPr>
        <p:spPr>
          <a:xfrm>
            <a:off x="2514600" y="4471416"/>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0,155</a:t>
            </a:r>
          </a:p>
        </p:txBody>
      </p:sp>
      <p:sp>
        <p:nvSpPr>
          <p:cNvPr id="46" name="TextBox 45"/>
          <p:cNvSpPr txBox="1"/>
          <p:nvPr/>
        </p:nvSpPr>
        <p:spPr>
          <a:xfrm>
            <a:off x="3886200" y="4471416"/>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0,322</a:t>
            </a:r>
          </a:p>
        </p:txBody>
      </p:sp>
      <p:sp>
        <p:nvSpPr>
          <p:cNvPr id="47" name="TextBox 46"/>
          <p:cNvSpPr txBox="1"/>
          <p:nvPr/>
        </p:nvSpPr>
        <p:spPr>
          <a:xfrm>
            <a:off x="5166360" y="4471416"/>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48" name="TextBox 47"/>
          <p:cNvSpPr txBox="1"/>
          <p:nvPr/>
        </p:nvSpPr>
        <p:spPr>
          <a:xfrm>
            <a:off x="777240" y="4864608"/>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9</a:t>
            </a:r>
          </a:p>
        </p:txBody>
      </p:sp>
      <p:sp>
        <p:nvSpPr>
          <p:cNvPr id="49" name="TextBox 48"/>
          <p:cNvSpPr txBox="1"/>
          <p:nvPr/>
        </p:nvSpPr>
        <p:spPr>
          <a:xfrm>
            <a:off x="1325880" y="4864608"/>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0,110</a:t>
            </a:r>
          </a:p>
        </p:txBody>
      </p:sp>
      <p:sp>
        <p:nvSpPr>
          <p:cNvPr id="50" name="TextBox 49"/>
          <p:cNvSpPr txBox="1"/>
          <p:nvPr/>
        </p:nvSpPr>
        <p:spPr>
          <a:xfrm>
            <a:off x="2514600" y="4864608"/>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0,156</a:t>
            </a:r>
          </a:p>
        </p:txBody>
      </p:sp>
      <p:sp>
        <p:nvSpPr>
          <p:cNvPr id="51" name="TextBox 50"/>
          <p:cNvSpPr txBox="1"/>
          <p:nvPr/>
        </p:nvSpPr>
        <p:spPr>
          <a:xfrm>
            <a:off x="3886200" y="4864608"/>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0,324</a:t>
            </a:r>
          </a:p>
        </p:txBody>
      </p:sp>
      <p:sp>
        <p:nvSpPr>
          <p:cNvPr id="52" name="TextBox 51"/>
          <p:cNvSpPr txBox="1"/>
          <p:nvPr/>
        </p:nvSpPr>
        <p:spPr>
          <a:xfrm>
            <a:off x="5166360" y="4864608"/>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6 / 2 / 1</a:t>
            </a:r>
          </a:p>
        </p:txBody>
      </p:sp>
      <p:sp>
        <p:nvSpPr>
          <p:cNvPr id="53" name="TextBox 52"/>
          <p:cNvSpPr txBox="1"/>
          <p:nvPr/>
        </p:nvSpPr>
        <p:spPr>
          <a:xfrm>
            <a:off x="777240" y="5257800"/>
            <a:ext cx="5303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10</a:t>
            </a:r>
          </a:p>
        </p:txBody>
      </p:sp>
      <p:sp>
        <p:nvSpPr>
          <p:cNvPr id="54" name="TextBox 53"/>
          <p:cNvSpPr txBox="1"/>
          <p:nvPr/>
        </p:nvSpPr>
        <p:spPr>
          <a:xfrm>
            <a:off x="1325880" y="5257800"/>
            <a:ext cx="107899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0,110</a:t>
            </a:r>
          </a:p>
        </p:txBody>
      </p:sp>
      <p:sp>
        <p:nvSpPr>
          <p:cNvPr id="55" name="TextBox 54"/>
          <p:cNvSpPr txBox="1"/>
          <p:nvPr/>
        </p:nvSpPr>
        <p:spPr>
          <a:xfrm>
            <a:off x="2514600" y="5257800"/>
            <a:ext cx="12618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0,150</a:t>
            </a:r>
          </a:p>
        </p:txBody>
      </p:sp>
      <p:sp>
        <p:nvSpPr>
          <p:cNvPr id="56" name="TextBox 55"/>
          <p:cNvSpPr txBox="1"/>
          <p:nvPr/>
        </p:nvSpPr>
        <p:spPr>
          <a:xfrm>
            <a:off x="3886200" y="5257800"/>
            <a:ext cx="117043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0,319</a:t>
            </a:r>
          </a:p>
        </p:txBody>
      </p:sp>
      <p:sp>
        <p:nvSpPr>
          <p:cNvPr id="57" name="TextBox 56"/>
          <p:cNvSpPr txBox="1"/>
          <p:nvPr/>
        </p:nvSpPr>
        <p:spPr>
          <a:xfrm>
            <a:off x="5166360" y="5257800"/>
            <a:ext cx="20848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 / 2 / 1</a:t>
            </a:r>
          </a:p>
        </p:txBody>
      </p:sp>
      <p:sp>
        <p:nvSpPr>
          <p:cNvPr id="58" name="TextBox 57"/>
          <p:cNvSpPr txBox="1"/>
          <p:nvPr/>
        </p:nvSpPr>
        <p:spPr>
          <a:xfrm>
            <a:off x="8001000" y="1783080"/>
            <a:ext cx="3291840" cy="640080"/>
          </a:xfrm>
          <a:prstGeom prst="rect">
            <a:avLst/>
          </a:prstGeom>
          <a:noFill/>
        </p:spPr>
        <p:txBody>
          <a:bodyPr wrap="square" lIns="0" rIns="0" tIns="0" bIns="0" anchor="t">
            <a:spAutoFit/>
          </a:bodyPr>
          <a:lstStyle/>
          <a:p>
            <a:pPr algn="l">
              <a:lnSpc>
                <a:spcPct val="115000"/>
              </a:lnSpc>
            </a:pPr>
            <a:r>
              <a:rPr sz="3400" b="1">
                <a:solidFill>
                  <a:srgbClr val="7BD992"/>
                </a:solidFill>
                <a:latin typeface="Consolas"/>
              </a:rPr>
              <a:t>k = 2</a:t>
            </a:r>
          </a:p>
        </p:txBody>
      </p:sp>
      <p:sp>
        <p:nvSpPr>
          <p:cNvPr id="59" name="TextBox 58"/>
          <p:cNvSpPr txBox="1"/>
          <p:nvPr/>
        </p:nvSpPr>
        <p:spPr>
          <a:xfrm>
            <a:off x="8001000" y="24414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Ward y complete: 114 / 22, el mismo k</a:t>
            </a:r>
          </a:p>
          <a:p>
            <a:pPr algn="l">
              <a:lnSpc>
                <a:spcPct val="115000"/>
              </a:lnSpc>
            </a:pPr>
            <a:r>
              <a:rPr sz="1150" b="0">
                <a:solidFill>
                  <a:srgbClr val="9AA3B2"/>
                </a:solidFill>
                <a:latin typeface="Segoe UI"/>
              </a:rPr>
              <a:t>que eligió K-Means</a:t>
            </a:r>
          </a:p>
        </p:txBody>
      </p:sp>
      <p:sp>
        <p:nvSpPr>
          <p:cNvPr id="60" name="Rectangle 59"/>
          <p:cNvSpPr/>
          <p:nvPr/>
        </p:nvSpPr>
        <p:spPr>
          <a:xfrm>
            <a:off x="8001000" y="3108960"/>
            <a:ext cx="3291840" cy="26517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01000" y="3108960"/>
            <a:ext cx="54864" cy="265176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57032" y="3291840"/>
            <a:ext cx="2834640" cy="233172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Regla de Shiro: ningún clúster con menos del 5 % de los días (7).</a:t>
            </a:r>
            <a:r>
              <a:rPr sz="1250" b="0">
                <a:solidFill>
                  <a:srgbClr val="C9D1DE"/>
                </a:solidFill>
                <a:latin typeface="Segoe UI"/>
              </a:rPr>
              <a:t> Un tipo de día que casi no ocurre no lo aprende el agente ni lo estima el simulador. Average deja un clúster de 1 día en todo el rango (columna roja): no tiene ninguna partición válida.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FFB877"/>
                </a:solidFill>
                <a:latin typeface="Consolas"/>
              </a:rPr>
              <a:t>LA TRAMPA DE LA MÉTRICA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mejor silueta de la tabla es la peor partición</a:t>
            </a:r>
          </a:p>
        </p:txBody>
      </p:sp>
      <p:sp>
        <p:nvSpPr>
          <p:cNvPr id="6" name="Rounded Rectangle 5"/>
          <p:cNvSpPr/>
          <p:nvPr/>
        </p:nvSpPr>
        <p:spPr>
          <a:xfrm>
            <a:off x="694944" y="1669829"/>
            <a:ext cx="10588752" cy="328974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2_silueta.png"/>
          <p:cNvPicPr>
            <a:picLocks noChangeAspect="1"/>
          </p:cNvPicPr>
          <p:nvPr/>
        </p:nvPicPr>
        <p:blipFill>
          <a:blip r:embed="rId2"/>
          <a:stretch>
            <a:fillRect/>
          </a:stretch>
        </p:blipFill>
        <p:spPr>
          <a:xfrm>
            <a:off x="777240" y="1752125"/>
            <a:ext cx="10424160" cy="3125150"/>
          </a:xfrm>
          <a:prstGeom prst="rect">
            <a:avLst/>
          </a:prstGeom>
        </p:spPr>
      </p:pic>
      <p:sp>
        <p:nvSpPr>
          <p:cNvPr id="8" name="TextBox 7"/>
          <p:cNvSpPr txBox="1"/>
          <p:nvPr/>
        </p:nvSpPr>
        <p:spPr>
          <a:xfrm>
            <a:off x="685800" y="5074920"/>
            <a:ext cx="329184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0,423</a:t>
            </a:r>
          </a:p>
        </p:txBody>
      </p:sp>
      <p:sp>
        <p:nvSpPr>
          <p:cNvPr id="9" name="TextBox 8"/>
          <p:cNvSpPr txBox="1"/>
          <p:nvPr/>
        </p:nvSpPr>
        <p:spPr>
          <a:xfrm>
            <a:off x="685800" y="573328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silueta máxima: average</a:t>
            </a:r>
          </a:p>
          <a:p>
            <a:pPr algn="l">
              <a:lnSpc>
                <a:spcPct val="115000"/>
              </a:lnSpc>
            </a:pPr>
            <a:r>
              <a:rPr sz="1150" b="0">
                <a:solidFill>
                  <a:srgbClr val="9AA3B2"/>
                </a:solidFill>
                <a:latin typeface="Segoe UI"/>
              </a:rPr>
              <a:t>separando 1 día contra 135</a:t>
            </a:r>
          </a:p>
        </p:txBody>
      </p:sp>
      <p:sp>
        <p:nvSpPr>
          <p:cNvPr id="10" name="TextBox 9"/>
          <p:cNvSpPr txBox="1"/>
          <p:nvPr/>
        </p:nvSpPr>
        <p:spPr>
          <a:xfrm>
            <a:off x="4297680" y="5074920"/>
            <a:ext cx="329184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0,475</a:t>
            </a:r>
          </a:p>
        </p:txBody>
      </p:sp>
      <p:sp>
        <p:nvSpPr>
          <p:cNvPr id="11" name="TextBox 10"/>
          <p:cNvSpPr txBox="1"/>
          <p:nvPr/>
        </p:nvSpPr>
        <p:spPr>
          <a:xfrm>
            <a:off x="4297680" y="573328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Dunn máximo: la misma</a:t>
            </a:r>
          </a:p>
          <a:p>
            <a:pPr algn="l">
              <a:lnSpc>
                <a:spcPct val="115000"/>
              </a:lnSpc>
            </a:pPr>
            <a:r>
              <a:rPr sz="1150" b="0">
                <a:solidFill>
                  <a:srgbClr val="9AA3B2"/>
                </a:solidFill>
                <a:latin typeface="Segoe UI"/>
              </a:rPr>
              <a:t>partición de 1 día</a:t>
            </a:r>
          </a:p>
        </p:txBody>
      </p:sp>
      <p:sp>
        <p:nvSpPr>
          <p:cNvPr id="12" name="TextBox 11"/>
          <p:cNvSpPr txBox="1"/>
          <p:nvPr/>
        </p:nvSpPr>
        <p:spPr>
          <a:xfrm>
            <a:off x="7909560" y="5074920"/>
            <a:ext cx="3383280" cy="640080"/>
          </a:xfrm>
          <a:prstGeom prst="rect">
            <a:avLst/>
          </a:prstGeom>
          <a:noFill/>
        </p:spPr>
        <p:txBody>
          <a:bodyPr wrap="square" lIns="0" rIns="0" tIns="0" bIns="0" anchor="t">
            <a:spAutoFit/>
          </a:bodyPr>
          <a:lstStyle/>
          <a:p>
            <a:pPr algn="l">
              <a:lnSpc>
                <a:spcPct val="115000"/>
              </a:lnSpc>
            </a:pPr>
            <a:r>
              <a:rPr sz="3000" b="1">
                <a:solidFill>
                  <a:srgbClr val="FFB877"/>
                </a:solidFill>
                <a:latin typeface="Consolas"/>
              </a:rPr>
              <a:t>0,517</a:t>
            </a:r>
          </a:p>
        </p:txBody>
      </p:sp>
      <p:sp>
        <p:nvSpPr>
          <p:cNvPr id="13" name="TextBox 12"/>
          <p:cNvSpPr txBox="1"/>
          <p:nvPr/>
        </p:nvSpPr>
        <p:spPr>
          <a:xfrm>
            <a:off x="7909560" y="573328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complete estandarizado:</a:t>
            </a:r>
          </a:p>
          <a:p>
            <a:pPr algn="l">
              <a:lnSpc>
                <a:spcPct val="115000"/>
              </a:lnSpc>
            </a:pPr>
            <a:r>
              <a:rPr sz="1150" b="0">
                <a:solidFill>
                  <a:srgbClr val="9AA3B2"/>
                </a:solidFill>
                <a:latin typeface="Segoe UI"/>
              </a:rPr>
              <a:t>134 / 2, otra vez aislamiento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VISUALIZACIÓN 2D · PCA Y T-SNE</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Ward y complete dibujan la frontera de K-Means</a:t>
            </a:r>
          </a:p>
        </p:txBody>
      </p:sp>
      <p:sp>
        <p:nvSpPr>
          <p:cNvPr id="6" name="Rounded Rectangle 5"/>
          <p:cNvSpPr/>
          <p:nvPr/>
        </p:nvSpPr>
        <p:spPr>
          <a:xfrm>
            <a:off x="694944" y="1730923"/>
            <a:ext cx="7754112" cy="385335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4_proyecciones.png"/>
          <p:cNvPicPr>
            <a:picLocks noChangeAspect="1"/>
          </p:cNvPicPr>
          <p:nvPr/>
        </p:nvPicPr>
        <p:blipFill>
          <a:blip r:embed="rId2"/>
          <a:stretch>
            <a:fillRect/>
          </a:stretch>
        </p:blipFill>
        <p:spPr>
          <a:xfrm>
            <a:off x="777240" y="1813219"/>
            <a:ext cx="7589520" cy="3688761"/>
          </a:xfrm>
          <a:prstGeom prst="rect">
            <a:avLst/>
          </a:prstGeom>
        </p:spPr>
      </p:pic>
      <p:sp>
        <p:nvSpPr>
          <p:cNvPr id="8" name="TextBox 7"/>
          <p:cNvSpPr txBox="1"/>
          <p:nvPr/>
        </p:nvSpPr>
        <p:spPr>
          <a:xfrm>
            <a:off x="8778240" y="1783080"/>
            <a:ext cx="265176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50,1 %</a:t>
            </a:r>
          </a:p>
        </p:txBody>
      </p:sp>
      <p:sp>
        <p:nvSpPr>
          <p:cNvPr id="9" name="TextBox 8"/>
          <p:cNvSpPr txBox="1"/>
          <p:nvPr/>
        </p:nvSpPr>
        <p:spPr>
          <a:xfrm>
            <a:off x="8778240" y="2441448"/>
            <a:ext cx="26517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la varianza en PC1 + PC2</a:t>
            </a:r>
          </a:p>
          <a:p>
            <a:pPr algn="l">
              <a:lnSpc>
                <a:spcPct val="115000"/>
              </a:lnSpc>
            </a:pPr>
            <a:r>
              <a:rPr sz="1150" b="0">
                <a:solidFill>
                  <a:srgbClr val="9AA3B2"/>
                </a:solidFill>
                <a:latin typeface="Segoe UI"/>
              </a:rPr>
              <a:t>(las mismas proyecciones del C2-T2)</a:t>
            </a:r>
          </a:p>
        </p:txBody>
      </p:sp>
      <p:sp>
        <p:nvSpPr>
          <p:cNvPr id="10" name="TextBox 9"/>
          <p:cNvSpPr txBox="1"/>
          <p:nvPr/>
        </p:nvSpPr>
        <p:spPr>
          <a:xfrm>
            <a:off x="8778240" y="3063240"/>
            <a:ext cx="265176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8 días</a:t>
            </a:r>
          </a:p>
        </p:txBody>
      </p:sp>
      <p:sp>
        <p:nvSpPr>
          <p:cNvPr id="11" name="TextBox 10"/>
          <p:cNvSpPr txBox="1"/>
          <p:nvPr/>
        </p:nvSpPr>
        <p:spPr>
          <a:xfrm>
            <a:off x="8778240" y="3721608"/>
            <a:ext cx="26517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cambian de grupo con Ward</a:t>
            </a:r>
          </a:p>
          <a:p>
            <a:pPr algn="l">
              <a:lnSpc>
                <a:spcPct val="115000"/>
              </a:lnSpc>
            </a:pPr>
            <a:r>
              <a:rPr sz="1150" b="0">
                <a:solidFill>
                  <a:srgbClr val="9AA3B2"/>
                </a:solidFill>
                <a:latin typeface="Segoe UI"/>
              </a:rPr>
              <a:t>y complete: todos en la costura</a:t>
            </a:r>
          </a:p>
        </p:txBody>
      </p:sp>
      <p:sp>
        <p:nvSpPr>
          <p:cNvPr id="12" name="TextBox 11"/>
          <p:cNvSpPr txBox="1"/>
          <p:nvPr/>
        </p:nvSpPr>
        <p:spPr>
          <a:xfrm>
            <a:off x="8778240" y="4343400"/>
            <a:ext cx="2651760" cy="14630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Rombos: días con tipo distinto al de K-Means. Punto rojo: el día que average aísla. t-SNE no muestra estructura que PCA no muestre: la diferencia entre tipos es de intensidad.</a:t>
            </a:r>
          </a:p>
        </p:txBody>
      </p:sp>
      <p:sp>
        <p:nvSpPr>
          <p:cNvPr id="13" name="Rectangle 12"/>
          <p:cNvSpPr/>
          <p:nvPr/>
        </p:nvSpPr>
        <p:spPr>
          <a:xfrm>
            <a:off x="685800" y="5669280"/>
            <a:ext cx="10607040" cy="566928"/>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5669280"/>
            <a:ext cx="54864" cy="566928"/>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5852160"/>
            <a:ext cx="10149840" cy="246888"/>
          </a:xfrm>
          <a:prstGeom prst="rect">
            <a:avLst/>
          </a:prstGeom>
          <a:noFill/>
        </p:spPr>
        <p:txBody>
          <a:bodyPr wrap="square" lIns="0" rIns="0" tIns="0" bIns="0" anchor="t">
            <a:spAutoFit/>
          </a:bodyPr>
          <a:lstStyle/>
          <a:p>
            <a:pPr algn="l">
              <a:lnSpc>
                <a:spcPct val="115000"/>
              </a:lnSpc>
            </a:pPr>
            <a:r>
              <a:rPr sz="1200" b="0">
                <a:solidFill>
                  <a:srgbClr val="C9D1DE"/>
                </a:solidFill>
                <a:latin typeface="Segoe UI"/>
              </a:rPr>
              <a:t>Días normales densos a la izquierda; días de carga alta dispersos hacia la derecha, a lo largo de PC1 («cuánto se consume de día»).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ANÁLISIS · QUÉ TIENEN EN COMÚN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Un bloque diurno de actividad en casa, no un día de la semana</a:t>
            </a:r>
          </a:p>
        </p:txBody>
      </p:sp>
      <p:sp>
        <p:nvSpPr>
          <p:cNvPr id="6" name="Rounded Rectangle 5"/>
          <p:cNvSpPr/>
          <p:nvPr/>
        </p:nvSpPr>
        <p:spPr>
          <a:xfrm>
            <a:off x="694944" y="1702022"/>
            <a:ext cx="10588752" cy="3088195"/>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5_perfiles.png"/>
          <p:cNvPicPr>
            <a:picLocks noChangeAspect="1"/>
          </p:cNvPicPr>
          <p:nvPr/>
        </p:nvPicPr>
        <p:blipFill>
          <a:blip r:embed="rId2"/>
          <a:stretch>
            <a:fillRect/>
          </a:stretch>
        </p:blipFill>
        <p:spPr>
          <a:xfrm>
            <a:off x="777240" y="1784318"/>
            <a:ext cx="10424160" cy="2923603"/>
          </a:xfrm>
          <a:prstGeom prst="rect">
            <a:avLst/>
          </a:prstGeom>
        </p:spPr>
      </p:pic>
      <p:sp>
        <p:nvSpPr>
          <p:cNvPr id="8" name="TextBox 7"/>
          <p:cNvSpPr txBox="1"/>
          <p:nvPr/>
        </p:nvSpPr>
        <p:spPr>
          <a:xfrm>
            <a:off x="685800" y="4983480"/>
            <a:ext cx="3291840" cy="640080"/>
          </a:xfrm>
          <a:prstGeom prst="rect">
            <a:avLst/>
          </a:prstGeom>
          <a:noFill/>
        </p:spPr>
        <p:txBody>
          <a:bodyPr wrap="square" lIns="0" rIns="0" tIns="0" bIns="0" anchor="t">
            <a:spAutoFit/>
          </a:bodyPr>
          <a:lstStyle/>
          <a:p>
            <a:pPr algn="l">
              <a:lnSpc>
                <a:spcPct val="115000"/>
              </a:lnSpc>
            </a:pPr>
            <a:r>
              <a:rPr sz="3000" b="1">
                <a:solidFill>
                  <a:srgbClr val="FFB877"/>
                </a:solidFill>
                <a:latin typeface="Consolas"/>
              </a:rPr>
              <a:t>2,5×</a:t>
            </a:r>
          </a:p>
        </p:txBody>
      </p:sp>
      <p:sp>
        <p:nvSpPr>
          <p:cNvPr id="9" name="TextBox 8"/>
          <p:cNvSpPr txBox="1"/>
          <p:nvPr/>
        </p:nvSpPr>
        <p:spPr>
          <a:xfrm>
            <a:off x="685800" y="56418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consumo del día de carga alta</a:t>
            </a:r>
          </a:p>
          <a:p>
            <a:pPr algn="l">
              <a:lnSpc>
                <a:spcPct val="115000"/>
              </a:lnSpc>
            </a:pPr>
            <a:r>
              <a:rPr sz="1150" b="0">
                <a:solidFill>
                  <a:srgbClr val="9AA3B2"/>
                </a:solidFill>
                <a:latin typeface="Segoe UI"/>
              </a:rPr>
              <a:t>entre las 8 y las 18 h (242 vs 99 Wh)</a:t>
            </a:r>
          </a:p>
        </p:txBody>
      </p:sp>
      <p:sp>
        <p:nvSpPr>
          <p:cNvPr id="10" name="TextBox 9"/>
          <p:cNvSpPr txBox="1"/>
          <p:nvPr/>
        </p:nvSpPr>
        <p:spPr>
          <a:xfrm>
            <a:off x="4297680" y="4983480"/>
            <a:ext cx="3291840" cy="640080"/>
          </a:xfrm>
          <a:prstGeom prst="rect">
            <a:avLst/>
          </a:prstGeom>
          <a:noFill/>
        </p:spPr>
        <p:txBody>
          <a:bodyPr wrap="square" lIns="0" rIns="0" tIns="0" bIns="0" anchor="t">
            <a:spAutoFit/>
          </a:bodyPr>
          <a:lstStyle/>
          <a:p>
            <a:pPr algn="l">
              <a:lnSpc>
                <a:spcPct val="115000"/>
              </a:lnSpc>
            </a:pPr>
            <a:r>
              <a:rPr sz="3000" b="1">
                <a:solidFill>
                  <a:srgbClr val="E6E9EF"/>
                </a:solidFill>
                <a:latin typeface="Consolas"/>
              </a:rPr>
              <a:t>+24 %</a:t>
            </a:r>
          </a:p>
        </p:txBody>
      </p:sp>
      <p:sp>
        <p:nvSpPr>
          <p:cNvPr id="11" name="TextBox 10"/>
          <p:cNvSpPr txBox="1"/>
          <p:nvPr/>
        </p:nvSpPr>
        <p:spPr>
          <a:xfrm>
            <a:off x="4297680" y="56418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iluminación; también más humedad</a:t>
            </a:r>
          </a:p>
          <a:p>
            <a:pPr algn="l">
              <a:lnSpc>
                <a:spcPct val="115000"/>
              </a:lnSpc>
            </a:pPr>
            <a:r>
              <a:rPr sz="1150" b="0">
                <a:solidFill>
                  <a:srgbClr val="9AA3B2"/>
                </a:solidFill>
                <a:latin typeface="Segoe UI"/>
              </a:rPr>
              <a:t>en cocina y lavandería</a:t>
            </a:r>
          </a:p>
        </p:txBody>
      </p:sp>
      <p:sp>
        <p:nvSpPr>
          <p:cNvPr id="12" name="TextBox 11"/>
          <p:cNvSpPr txBox="1"/>
          <p:nvPr/>
        </p:nvSpPr>
        <p:spPr>
          <a:xfrm>
            <a:off x="7909560" y="4983480"/>
            <a:ext cx="338328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27 vs 28 %</a:t>
            </a:r>
          </a:p>
        </p:txBody>
      </p:sp>
      <p:sp>
        <p:nvSpPr>
          <p:cNvPr id="13" name="TextBox 12"/>
          <p:cNvSpPr txBox="1"/>
          <p:nvPr/>
        </p:nvSpPr>
        <p:spPr>
          <a:xfrm>
            <a:off x="7909560" y="564184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fin de semana en cada</a:t>
            </a:r>
          </a:p>
          <a:p>
            <a:pPr algn="l">
              <a:lnSpc>
                <a:spcPct val="115000"/>
              </a:lnSpc>
            </a:pPr>
            <a:r>
              <a:rPr sz="1150" b="0">
                <a:solidFill>
                  <a:srgbClr val="9AA3B2"/>
                </a:solidFill>
                <a:latin typeface="Segoe UI"/>
              </a:rPr>
              <a:t>grupo: el calendario no explica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ANÁLISIS · EJEMPLOS REPRESENTATIVOS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medoide de cada tipo, y los días que no encajan</a:t>
            </a:r>
          </a:p>
        </p:txBody>
      </p:sp>
      <p:sp>
        <p:nvSpPr>
          <p:cNvPr id="6" name="TextBox 5"/>
          <p:cNvSpPr txBox="1"/>
          <p:nvPr/>
        </p:nvSpPr>
        <p:spPr>
          <a:xfrm>
            <a:off x="685800" y="1783080"/>
            <a:ext cx="137160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CLÚSTER</a:t>
            </a:r>
          </a:p>
        </p:txBody>
      </p:sp>
      <p:sp>
        <p:nvSpPr>
          <p:cNvPr id="7" name="TextBox 6"/>
          <p:cNvSpPr txBox="1"/>
          <p:nvPr/>
        </p:nvSpPr>
        <p:spPr>
          <a:xfrm>
            <a:off x="2057400" y="1783080"/>
            <a:ext cx="12801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PAPEL</a:t>
            </a:r>
          </a:p>
        </p:txBody>
      </p:sp>
      <p:sp>
        <p:nvSpPr>
          <p:cNvPr id="8" name="TextBox 7"/>
          <p:cNvSpPr txBox="1"/>
          <p:nvPr/>
        </p:nvSpPr>
        <p:spPr>
          <a:xfrm>
            <a:off x="3337560" y="1783080"/>
            <a:ext cx="15544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DÍA</a:t>
            </a:r>
          </a:p>
        </p:txBody>
      </p:sp>
      <p:sp>
        <p:nvSpPr>
          <p:cNvPr id="9" name="TextBox 8"/>
          <p:cNvSpPr txBox="1"/>
          <p:nvPr/>
        </p:nvSpPr>
        <p:spPr>
          <a:xfrm>
            <a:off x="4892040" y="1783080"/>
            <a:ext cx="822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KWH</a:t>
            </a:r>
          </a:p>
        </p:txBody>
      </p:sp>
      <p:sp>
        <p:nvSpPr>
          <p:cNvPr id="10" name="TextBox 9"/>
          <p:cNvSpPr txBox="1"/>
          <p:nvPr/>
        </p:nvSpPr>
        <p:spPr>
          <a:xfrm>
            <a:off x="5715000" y="1783080"/>
            <a:ext cx="18288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PICO</a:t>
            </a:r>
          </a:p>
        </p:txBody>
      </p:sp>
      <p:sp>
        <p:nvSpPr>
          <p:cNvPr id="11" name="Rectangle 10"/>
          <p:cNvSpPr/>
          <p:nvPr/>
        </p:nvSpPr>
        <p:spPr>
          <a:xfrm>
            <a:off x="685800" y="2075688"/>
            <a:ext cx="68580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12264"/>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13" name="TextBox 12"/>
          <p:cNvSpPr txBox="1"/>
          <p:nvPr/>
        </p:nvSpPr>
        <p:spPr>
          <a:xfrm>
            <a:off x="2148840" y="2112264"/>
            <a:ext cx="1170432" cy="393192"/>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medoide</a:t>
            </a:r>
          </a:p>
        </p:txBody>
      </p:sp>
      <p:sp>
        <p:nvSpPr>
          <p:cNvPr id="14" name="TextBox 13"/>
          <p:cNvSpPr txBox="1"/>
          <p:nvPr/>
        </p:nvSpPr>
        <p:spPr>
          <a:xfrm>
            <a:off x="3429000" y="2112264"/>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27-abr</a:t>
            </a:r>
          </a:p>
        </p:txBody>
      </p:sp>
      <p:sp>
        <p:nvSpPr>
          <p:cNvPr id="15" name="TextBox 14"/>
          <p:cNvSpPr txBox="1"/>
          <p:nvPr/>
        </p:nvSpPr>
        <p:spPr>
          <a:xfrm>
            <a:off x="4892040" y="2112264"/>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10,8</a:t>
            </a:r>
          </a:p>
        </p:txBody>
      </p:sp>
      <p:sp>
        <p:nvSpPr>
          <p:cNvPr id="16" name="TextBox 15"/>
          <p:cNvSpPr txBox="1"/>
          <p:nvPr/>
        </p:nvSpPr>
        <p:spPr>
          <a:xfrm>
            <a:off x="5715000" y="2112264"/>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163 Wh · 18 h</a:t>
            </a:r>
          </a:p>
        </p:txBody>
      </p:sp>
      <p:sp>
        <p:nvSpPr>
          <p:cNvPr id="17" name="TextBox 16"/>
          <p:cNvSpPr txBox="1"/>
          <p:nvPr/>
        </p:nvSpPr>
        <p:spPr>
          <a:xfrm>
            <a:off x="777240" y="2505456"/>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18" name="TextBox 17"/>
          <p:cNvSpPr txBox="1"/>
          <p:nvPr/>
        </p:nvSpPr>
        <p:spPr>
          <a:xfrm>
            <a:off x="2148840" y="2505456"/>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2.º típico</a:t>
            </a:r>
          </a:p>
        </p:txBody>
      </p:sp>
      <p:sp>
        <p:nvSpPr>
          <p:cNvPr id="19" name="TextBox 18"/>
          <p:cNvSpPr txBox="1"/>
          <p:nvPr/>
        </p:nvSpPr>
        <p:spPr>
          <a:xfrm>
            <a:off x="3429000" y="2505456"/>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dom 27-mar</a:t>
            </a:r>
          </a:p>
        </p:txBody>
      </p:sp>
      <p:sp>
        <p:nvSpPr>
          <p:cNvPr id="20" name="TextBox 19"/>
          <p:cNvSpPr txBox="1"/>
          <p:nvPr/>
        </p:nvSpPr>
        <p:spPr>
          <a:xfrm>
            <a:off x="4892040" y="2505456"/>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10,5</a:t>
            </a:r>
          </a:p>
        </p:txBody>
      </p:sp>
      <p:sp>
        <p:nvSpPr>
          <p:cNvPr id="21" name="TextBox 20"/>
          <p:cNvSpPr txBox="1"/>
          <p:nvPr/>
        </p:nvSpPr>
        <p:spPr>
          <a:xfrm>
            <a:off x="5715000" y="2505456"/>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157 Wh · 18 h</a:t>
            </a:r>
          </a:p>
        </p:txBody>
      </p:sp>
      <p:sp>
        <p:nvSpPr>
          <p:cNvPr id="22" name="TextBox 21"/>
          <p:cNvSpPr txBox="1"/>
          <p:nvPr/>
        </p:nvSpPr>
        <p:spPr>
          <a:xfrm>
            <a:off x="777240" y="2898648"/>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23" name="TextBox 22"/>
          <p:cNvSpPr txBox="1"/>
          <p:nvPr/>
        </p:nvSpPr>
        <p:spPr>
          <a:xfrm>
            <a:off x="2148840" y="2898648"/>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3.º típico</a:t>
            </a:r>
          </a:p>
        </p:txBody>
      </p:sp>
      <p:sp>
        <p:nvSpPr>
          <p:cNvPr id="24" name="TextBox 23"/>
          <p:cNvSpPr txBox="1"/>
          <p:nvPr/>
        </p:nvSpPr>
        <p:spPr>
          <a:xfrm>
            <a:off x="3429000" y="2898648"/>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30-mar</a:t>
            </a:r>
          </a:p>
        </p:txBody>
      </p:sp>
      <p:sp>
        <p:nvSpPr>
          <p:cNvPr id="25" name="TextBox 24"/>
          <p:cNvSpPr txBox="1"/>
          <p:nvPr/>
        </p:nvSpPr>
        <p:spPr>
          <a:xfrm>
            <a:off x="4892040" y="2898648"/>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12,6</a:t>
            </a:r>
          </a:p>
        </p:txBody>
      </p:sp>
      <p:sp>
        <p:nvSpPr>
          <p:cNvPr id="26" name="TextBox 25"/>
          <p:cNvSpPr txBox="1"/>
          <p:nvPr/>
        </p:nvSpPr>
        <p:spPr>
          <a:xfrm>
            <a:off x="5715000" y="2898648"/>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197 Wh · 20 h</a:t>
            </a:r>
          </a:p>
        </p:txBody>
      </p:sp>
      <p:sp>
        <p:nvSpPr>
          <p:cNvPr id="27" name="TextBox 26"/>
          <p:cNvSpPr txBox="1"/>
          <p:nvPr/>
        </p:nvSpPr>
        <p:spPr>
          <a:xfrm>
            <a:off x="777240" y="3291840"/>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28" name="TextBox 27"/>
          <p:cNvSpPr txBox="1"/>
          <p:nvPr/>
        </p:nvSpPr>
        <p:spPr>
          <a:xfrm>
            <a:off x="2148840" y="3291840"/>
            <a:ext cx="1170432" cy="393192"/>
          </a:xfrm>
          <a:prstGeom prst="rect">
            <a:avLst/>
          </a:prstGeom>
          <a:noFill/>
        </p:spPr>
        <p:txBody>
          <a:bodyPr wrap="square" lIns="0" rIns="0" tIns="0" bIns="0" anchor="ctr">
            <a:spAutoFit/>
          </a:bodyPr>
          <a:lstStyle/>
          <a:p>
            <a:pPr algn="l">
              <a:lnSpc>
                <a:spcPct val="115000"/>
              </a:lnSpc>
            </a:pPr>
            <a:r>
              <a:rPr sz="1250" b="0">
                <a:solidFill>
                  <a:srgbClr val="FFB877"/>
                </a:solidFill>
                <a:latin typeface="Consolas"/>
              </a:rPr>
              <a:t>medoide</a:t>
            </a:r>
          </a:p>
        </p:txBody>
      </p:sp>
      <p:sp>
        <p:nvSpPr>
          <p:cNvPr id="29" name="TextBox 28"/>
          <p:cNvSpPr txBox="1"/>
          <p:nvPr/>
        </p:nvSpPr>
        <p:spPr>
          <a:xfrm>
            <a:off x="3429000" y="3291840"/>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03-feb</a:t>
            </a:r>
          </a:p>
        </p:txBody>
      </p:sp>
      <p:sp>
        <p:nvSpPr>
          <p:cNvPr id="30" name="TextBox 29"/>
          <p:cNvSpPr txBox="1"/>
          <p:nvPr/>
        </p:nvSpPr>
        <p:spPr>
          <a:xfrm>
            <a:off x="4892040" y="3291840"/>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19,1</a:t>
            </a:r>
          </a:p>
        </p:txBody>
      </p:sp>
      <p:sp>
        <p:nvSpPr>
          <p:cNvPr id="31" name="TextBox 30"/>
          <p:cNvSpPr txBox="1"/>
          <p:nvPr/>
        </p:nvSpPr>
        <p:spPr>
          <a:xfrm>
            <a:off x="5715000" y="3291840"/>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320 Wh · 16 h</a:t>
            </a:r>
          </a:p>
        </p:txBody>
      </p:sp>
      <p:sp>
        <p:nvSpPr>
          <p:cNvPr id="32" name="TextBox 31"/>
          <p:cNvSpPr txBox="1"/>
          <p:nvPr/>
        </p:nvSpPr>
        <p:spPr>
          <a:xfrm>
            <a:off x="777240" y="3685032"/>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33" name="TextBox 32"/>
          <p:cNvSpPr txBox="1"/>
          <p:nvPr/>
        </p:nvSpPr>
        <p:spPr>
          <a:xfrm>
            <a:off x="2148840" y="3685032"/>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2.º típico</a:t>
            </a:r>
          </a:p>
        </p:txBody>
      </p:sp>
      <p:sp>
        <p:nvSpPr>
          <p:cNvPr id="34" name="TextBox 33"/>
          <p:cNvSpPr txBox="1"/>
          <p:nvPr/>
        </p:nvSpPr>
        <p:spPr>
          <a:xfrm>
            <a:off x="3429000" y="3685032"/>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sáb 16-abr</a:t>
            </a:r>
          </a:p>
        </p:txBody>
      </p:sp>
      <p:sp>
        <p:nvSpPr>
          <p:cNvPr id="35" name="TextBox 34"/>
          <p:cNvSpPr txBox="1"/>
          <p:nvPr/>
        </p:nvSpPr>
        <p:spPr>
          <a:xfrm>
            <a:off x="4892040" y="3685032"/>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19,3</a:t>
            </a:r>
          </a:p>
        </p:txBody>
      </p:sp>
      <p:sp>
        <p:nvSpPr>
          <p:cNvPr id="36" name="TextBox 35"/>
          <p:cNvSpPr txBox="1"/>
          <p:nvPr/>
        </p:nvSpPr>
        <p:spPr>
          <a:xfrm>
            <a:off x="5715000" y="3685032"/>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442 Wh · 16 h</a:t>
            </a:r>
          </a:p>
        </p:txBody>
      </p:sp>
      <p:sp>
        <p:nvSpPr>
          <p:cNvPr id="37" name="TextBox 36"/>
          <p:cNvSpPr txBox="1"/>
          <p:nvPr/>
        </p:nvSpPr>
        <p:spPr>
          <a:xfrm>
            <a:off x="777240" y="4078224"/>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38" name="TextBox 37"/>
          <p:cNvSpPr txBox="1"/>
          <p:nvPr/>
        </p:nvSpPr>
        <p:spPr>
          <a:xfrm>
            <a:off x="2148840" y="4078224"/>
            <a:ext cx="117043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3.º típico</a:t>
            </a:r>
          </a:p>
        </p:txBody>
      </p:sp>
      <p:sp>
        <p:nvSpPr>
          <p:cNvPr id="39" name="TextBox 38"/>
          <p:cNvSpPr txBox="1"/>
          <p:nvPr/>
        </p:nvSpPr>
        <p:spPr>
          <a:xfrm>
            <a:off x="3429000" y="4078224"/>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lun 29-feb</a:t>
            </a:r>
          </a:p>
        </p:txBody>
      </p:sp>
      <p:sp>
        <p:nvSpPr>
          <p:cNvPr id="40" name="TextBox 39"/>
          <p:cNvSpPr txBox="1"/>
          <p:nvPr/>
        </p:nvSpPr>
        <p:spPr>
          <a:xfrm>
            <a:off x="4892040" y="4078224"/>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22,6</a:t>
            </a:r>
          </a:p>
        </p:txBody>
      </p:sp>
      <p:sp>
        <p:nvSpPr>
          <p:cNvPr id="41" name="TextBox 40"/>
          <p:cNvSpPr txBox="1"/>
          <p:nvPr/>
        </p:nvSpPr>
        <p:spPr>
          <a:xfrm>
            <a:off x="5715000" y="4078224"/>
            <a:ext cx="171907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368 Wh · 12 h</a:t>
            </a:r>
          </a:p>
        </p:txBody>
      </p:sp>
      <p:sp>
        <p:nvSpPr>
          <p:cNvPr id="42" name="TextBox 41"/>
          <p:cNvSpPr txBox="1"/>
          <p:nvPr/>
        </p:nvSpPr>
        <p:spPr>
          <a:xfrm>
            <a:off x="777240" y="4471416"/>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43" name="TextBox 42"/>
          <p:cNvSpPr txBox="1"/>
          <p:nvPr/>
        </p:nvSpPr>
        <p:spPr>
          <a:xfrm>
            <a:off x="2148840" y="4471416"/>
            <a:ext cx="1170432" cy="393192"/>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aislado</a:t>
            </a:r>
          </a:p>
        </p:txBody>
      </p:sp>
      <p:sp>
        <p:nvSpPr>
          <p:cNvPr id="44" name="TextBox 43"/>
          <p:cNvSpPr txBox="1"/>
          <p:nvPr/>
        </p:nvSpPr>
        <p:spPr>
          <a:xfrm>
            <a:off x="3429000" y="4471416"/>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dom 24-ene</a:t>
            </a:r>
          </a:p>
        </p:txBody>
      </p:sp>
      <p:sp>
        <p:nvSpPr>
          <p:cNvPr id="45" name="TextBox 44"/>
          <p:cNvSpPr txBox="1"/>
          <p:nvPr/>
        </p:nvSpPr>
        <p:spPr>
          <a:xfrm>
            <a:off x="4892040" y="4471416"/>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21,6</a:t>
            </a:r>
          </a:p>
        </p:txBody>
      </p:sp>
      <p:sp>
        <p:nvSpPr>
          <p:cNvPr id="46" name="TextBox 45"/>
          <p:cNvSpPr txBox="1"/>
          <p:nvPr/>
        </p:nvSpPr>
        <p:spPr>
          <a:xfrm>
            <a:off x="5715000" y="4471416"/>
            <a:ext cx="171907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608 Wh · 8 h</a:t>
            </a:r>
          </a:p>
        </p:txBody>
      </p:sp>
      <p:sp>
        <p:nvSpPr>
          <p:cNvPr id="47" name="TextBox 46"/>
          <p:cNvSpPr txBox="1"/>
          <p:nvPr/>
        </p:nvSpPr>
        <p:spPr>
          <a:xfrm>
            <a:off x="777240" y="4864608"/>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Carga alta</a:t>
            </a:r>
          </a:p>
        </p:txBody>
      </p:sp>
      <p:sp>
        <p:nvSpPr>
          <p:cNvPr id="48" name="TextBox 47"/>
          <p:cNvSpPr txBox="1"/>
          <p:nvPr/>
        </p:nvSpPr>
        <p:spPr>
          <a:xfrm>
            <a:off x="2148840" y="4864608"/>
            <a:ext cx="1170432" cy="393192"/>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aislado</a:t>
            </a:r>
          </a:p>
        </p:txBody>
      </p:sp>
      <p:sp>
        <p:nvSpPr>
          <p:cNvPr id="49" name="TextBox 48"/>
          <p:cNvSpPr txBox="1"/>
          <p:nvPr/>
        </p:nvSpPr>
        <p:spPr>
          <a:xfrm>
            <a:off x="3429000" y="4864608"/>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mié 16-mar</a:t>
            </a:r>
          </a:p>
        </p:txBody>
      </p:sp>
      <p:sp>
        <p:nvSpPr>
          <p:cNvPr id="50" name="TextBox 49"/>
          <p:cNvSpPr txBox="1"/>
          <p:nvPr/>
        </p:nvSpPr>
        <p:spPr>
          <a:xfrm>
            <a:off x="4892040" y="4864608"/>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22,8</a:t>
            </a:r>
          </a:p>
        </p:txBody>
      </p:sp>
      <p:sp>
        <p:nvSpPr>
          <p:cNvPr id="51" name="TextBox 50"/>
          <p:cNvSpPr txBox="1"/>
          <p:nvPr/>
        </p:nvSpPr>
        <p:spPr>
          <a:xfrm>
            <a:off x="5715000" y="4864608"/>
            <a:ext cx="171907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563 Wh · 18 h</a:t>
            </a:r>
          </a:p>
        </p:txBody>
      </p:sp>
      <p:sp>
        <p:nvSpPr>
          <p:cNvPr id="52" name="TextBox 51"/>
          <p:cNvSpPr txBox="1"/>
          <p:nvPr/>
        </p:nvSpPr>
        <p:spPr>
          <a:xfrm>
            <a:off x="777240" y="5257800"/>
            <a:ext cx="126187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Normal</a:t>
            </a:r>
          </a:p>
        </p:txBody>
      </p:sp>
      <p:sp>
        <p:nvSpPr>
          <p:cNvPr id="53" name="TextBox 52"/>
          <p:cNvSpPr txBox="1"/>
          <p:nvPr/>
        </p:nvSpPr>
        <p:spPr>
          <a:xfrm>
            <a:off x="2148840" y="5257800"/>
            <a:ext cx="1170432" cy="393192"/>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aislado</a:t>
            </a:r>
          </a:p>
        </p:txBody>
      </p:sp>
      <p:sp>
        <p:nvSpPr>
          <p:cNvPr id="54" name="TextBox 53"/>
          <p:cNvSpPr txBox="1"/>
          <p:nvPr/>
        </p:nvSpPr>
        <p:spPr>
          <a:xfrm>
            <a:off x="3429000" y="5257800"/>
            <a:ext cx="1444752" cy="393192"/>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vie 15-abr</a:t>
            </a:r>
          </a:p>
        </p:txBody>
      </p:sp>
      <p:sp>
        <p:nvSpPr>
          <p:cNvPr id="55" name="TextBox 54"/>
          <p:cNvSpPr txBox="1"/>
          <p:nvPr/>
        </p:nvSpPr>
        <p:spPr>
          <a:xfrm>
            <a:off x="4892040" y="5257800"/>
            <a:ext cx="713232" cy="393192"/>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18,9</a:t>
            </a:r>
          </a:p>
        </p:txBody>
      </p:sp>
      <p:sp>
        <p:nvSpPr>
          <p:cNvPr id="56" name="TextBox 55"/>
          <p:cNvSpPr txBox="1"/>
          <p:nvPr/>
        </p:nvSpPr>
        <p:spPr>
          <a:xfrm>
            <a:off x="5715000" y="5257800"/>
            <a:ext cx="1719072" cy="393192"/>
          </a:xfrm>
          <a:prstGeom prst="rect">
            <a:avLst/>
          </a:prstGeom>
          <a:noFill/>
        </p:spPr>
        <p:txBody>
          <a:bodyPr wrap="square" lIns="0" rIns="0" tIns="0" bIns="0" anchor="ctr">
            <a:spAutoFit/>
          </a:bodyPr>
          <a:lstStyle/>
          <a:p>
            <a:pPr algn="r">
              <a:lnSpc>
                <a:spcPct val="115000"/>
              </a:lnSpc>
            </a:pPr>
            <a:r>
              <a:rPr sz="1250" b="0">
                <a:solidFill>
                  <a:srgbClr val="F28B82"/>
                </a:solidFill>
                <a:latin typeface="Consolas"/>
              </a:rPr>
              <a:t>372 Wh · 6 h</a:t>
            </a:r>
          </a:p>
        </p:txBody>
      </p:sp>
      <p:sp>
        <p:nvSpPr>
          <p:cNvPr id="57" name="Rectangle 56"/>
          <p:cNvSpPr/>
          <p:nvPr/>
        </p:nvSpPr>
        <p:spPr>
          <a:xfrm>
            <a:off x="7909560" y="1783080"/>
            <a:ext cx="3383280" cy="13258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09560" y="1783080"/>
            <a:ext cx="54864" cy="13258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65592" y="1965960"/>
            <a:ext cx="2926080" cy="10058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Medoide, no centroide.</a:t>
            </a:r>
            <a:r>
              <a:rPr sz="1250" b="0">
                <a:solidFill>
                  <a:srgbClr val="C9D1DE"/>
                </a:solidFill>
                <a:latin typeface="Segoe UI"/>
              </a:rPr>
              <a:t> El centroide es un promedio que nunca ocurrió; el medoide es el día real con menor distancia media a su grupo.</a:t>
            </a:r>
          </a:p>
        </p:txBody>
      </p:sp>
      <p:sp>
        <p:nvSpPr>
          <p:cNvPr id="60" name="Rectangle 59"/>
          <p:cNvSpPr/>
          <p:nvPr/>
        </p:nvSpPr>
        <p:spPr>
          <a:xfrm>
            <a:off x="7909560" y="3291840"/>
            <a:ext cx="3383280" cy="25146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909560" y="3291840"/>
            <a:ext cx="54864" cy="25146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65592" y="3474720"/>
            <a:ext cx="2926080" cy="21945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Los aislados son raros por cuándo consumen, no por cuánto.</a:t>
            </a:r>
            <a:r>
              <a:rPr sz="1250" b="0">
                <a:solidFill>
                  <a:srgbClr val="C9D1DE"/>
                </a:solidFill>
                <a:latin typeface="Segoe UI"/>
              </a:rPr>
              <a:t> 608 Wh a las 8 de la mañana (la hora más alta del periodo), una carga desde las 6 h, tres picos separados. El 4-abr consume más (27,2 kWh) y no queda aislado. Son los días que el taller de DBSCAN busca.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COMPARACIÓN CON K-MEANS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¿Cambió la forma? Casi no. ¿Se mantuvieron? El 94 %</a:t>
            </a:r>
          </a:p>
        </p:txBody>
      </p:sp>
      <p:sp>
        <p:nvSpPr>
          <p:cNvPr id="6" name="Rounded Rectangle 5"/>
          <p:cNvSpPr/>
          <p:nvPr/>
        </p:nvSpPr>
        <p:spPr>
          <a:xfrm>
            <a:off x="694944" y="1670677"/>
            <a:ext cx="10588752" cy="315088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7_frontera.png"/>
          <p:cNvPicPr>
            <a:picLocks noChangeAspect="1"/>
          </p:cNvPicPr>
          <p:nvPr/>
        </p:nvPicPr>
        <p:blipFill>
          <a:blip r:embed="rId2"/>
          <a:stretch>
            <a:fillRect/>
          </a:stretch>
        </p:blipFill>
        <p:spPr>
          <a:xfrm>
            <a:off x="777240" y="1752973"/>
            <a:ext cx="10424160" cy="2986294"/>
          </a:xfrm>
          <a:prstGeom prst="rect">
            <a:avLst/>
          </a:prstGeom>
        </p:spPr>
      </p:pic>
      <p:sp>
        <p:nvSpPr>
          <p:cNvPr id="8" name="TextBox 7"/>
          <p:cNvSpPr txBox="1"/>
          <p:nvPr/>
        </p:nvSpPr>
        <p:spPr>
          <a:xfrm>
            <a:off x="685800" y="4983480"/>
            <a:ext cx="329184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128 de 136</a:t>
            </a:r>
          </a:p>
        </p:txBody>
      </p:sp>
      <p:sp>
        <p:nvSpPr>
          <p:cNvPr id="9" name="TextBox 8"/>
          <p:cNvSpPr txBox="1"/>
          <p:nvPr/>
        </p:nvSpPr>
        <p:spPr>
          <a:xfrm>
            <a:off x="685800" y="56418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conservan su grupo entre</a:t>
            </a:r>
          </a:p>
          <a:p>
            <a:pPr algn="l">
              <a:lnSpc>
                <a:spcPct val="115000"/>
              </a:lnSpc>
            </a:pPr>
            <a:r>
              <a:rPr sz="1150" b="0">
                <a:solidFill>
                  <a:srgbClr val="9AA3B2"/>
                </a:solidFill>
                <a:latin typeface="Segoe UI"/>
              </a:rPr>
              <a:t>K-Means y Ward (ARI 0,736)</a:t>
            </a:r>
          </a:p>
        </p:txBody>
      </p:sp>
      <p:sp>
        <p:nvSpPr>
          <p:cNvPr id="10" name="TextBox 9"/>
          <p:cNvSpPr txBox="1"/>
          <p:nvPr/>
        </p:nvSpPr>
        <p:spPr>
          <a:xfrm>
            <a:off x="4297680" y="4983480"/>
            <a:ext cx="338328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20 %</a:t>
            </a:r>
          </a:p>
        </p:txBody>
      </p:sp>
      <p:sp>
        <p:nvSpPr>
          <p:cNvPr id="11" name="TextBox 10"/>
          <p:cNvSpPr txBox="1"/>
          <p:nvPr/>
        </p:nvSpPr>
        <p:spPr>
          <a:xfrm>
            <a:off x="4297680" y="564184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los 8 que cambian están todos en el</a:t>
            </a:r>
          </a:p>
          <a:p>
            <a:pPr algn="l">
              <a:lnSpc>
                <a:spcPct val="115000"/>
              </a:lnSpc>
            </a:pPr>
            <a:r>
              <a:rPr sz="1150" b="0">
                <a:solidFill>
                  <a:srgbClr val="9AA3B2"/>
                </a:solidFill>
                <a:latin typeface="Segoe UI"/>
              </a:rPr>
              <a:t>20 % de días más cercanos a la frontera</a:t>
            </a:r>
          </a:p>
        </p:txBody>
      </p:sp>
      <p:sp>
        <p:nvSpPr>
          <p:cNvPr id="12" name="TextBox 11"/>
          <p:cNvSpPr txBox="1"/>
          <p:nvPr/>
        </p:nvSpPr>
        <p:spPr>
          <a:xfrm>
            <a:off x="7909560" y="4983480"/>
            <a:ext cx="3383280" cy="640080"/>
          </a:xfrm>
          <a:prstGeom prst="rect">
            <a:avLst/>
          </a:prstGeom>
          <a:noFill/>
        </p:spPr>
        <p:txBody>
          <a:bodyPr wrap="square" lIns="0" rIns="0" tIns="0" bIns="0" anchor="t">
            <a:spAutoFit/>
          </a:bodyPr>
          <a:lstStyle/>
          <a:p>
            <a:pPr algn="l">
              <a:lnSpc>
                <a:spcPct val="115000"/>
              </a:lnSpc>
            </a:pPr>
            <a:r>
              <a:rPr sz="2800" b="1">
                <a:solidFill>
                  <a:srgbClr val="FFB877"/>
                </a:solidFill>
                <a:latin typeface="Consolas"/>
              </a:rPr>
              <a:t>+3,8 %</a:t>
            </a:r>
          </a:p>
        </p:txBody>
      </p:sp>
      <p:sp>
        <p:nvSpPr>
          <p:cNvPr id="13" name="TextBox 12"/>
          <p:cNvSpPr txBox="1"/>
          <p:nvPr/>
        </p:nvSpPr>
        <p:spPr>
          <a:xfrm>
            <a:off x="7909560" y="5641848"/>
            <a:ext cx="33832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inercia de Ward sobre K-Means:</a:t>
            </a:r>
          </a:p>
          <a:p>
            <a:pPr algn="l">
              <a:lnSpc>
                <a:spcPct val="115000"/>
              </a:lnSpc>
            </a:pPr>
            <a:r>
              <a:rPr sz="1150" b="0">
                <a:solidFill>
                  <a:srgbClr val="9AA3B2"/>
                </a:solidFill>
                <a:latin typeface="Segoe UI"/>
              </a:rPr>
              <a:t>fusiones codiciosas que no se deshacen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CONTROL TEMPORAL</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Determinista no es lo mismo que estable</a:t>
            </a:r>
          </a:p>
        </p:txBody>
      </p:sp>
      <p:sp>
        <p:nvSpPr>
          <p:cNvPr id="6" name="TextBox 5"/>
          <p:cNvSpPr txBox="1"/>
          <p:nvPr/>
        </p:nvSpPr>
        <p:spPr>
          <a:xfrm>
            <a:off x="685800" y="1783080"/>
            <a:ext cx="20116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TÉCNICA</a:t>
            </a:r>
          </a:p>
        </p:txBody>
      </p:sp>
      <p:sp>
        <p:nvSpPr>
          <p:cNvPr id="7" name="TextBox 6"/>
          <p:cNvSpPr txBox="1"/>
          <p:nvPr/>
        </p:nvSpPr>
        <p:spPr>
          <a:xfrm>
            <a:off x="2697480" y="1783080"/>
            <a:ext cx="26517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ARI 110 VS 136 DÍAS</a:t>
            </a:r>
          </a:p>
        </p:txBody>
      </p:sp>
      <p:sp>
        <p:nvSpPr>
          <p:cNvPr id="8" name="TextBox 7"/>
          <p:cNvSpPr txBox="1"/>
          <p:nvPr/>
        </p:nvSpPr>
        <p:spPr>
          <a:xfrm>
            <a:off x="5349240" y="1783080"/>
            <a:ext cx="228600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REPARTO CON 110</a:t>
            </a:r>
          </a:p>
        </p:txBody>
      </p:sp>
      <p:sp>
        <p:nvSpPr>
          <p:cNvPr id="9" name="TextBox 8"/>
          <p:cNvSpPr txBox="1"/>
          <p:nvPr/>
        </p:nvSpPr>
        <p:spPr>
          <a:xfrm>
            <a:off x="7635240" y="1783080"/>
            <a:ext cx="24688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CARGA ALTA EN MAYO</a:t>
            </a:r>
          </a:p>
        </p:txBody>
      </p:sp>
      <p:sp>
        <p:nvSpPr>
          <p:cNvPr id="10" name="Rectangle 9"/>
          <p:cNvSpPr/>
          <p:nvPr/>
        </p:nvSpPr>
        <p:spPr>
          <a:xfrm>
            <a:off x="685800" y="2075688"/>
            <a:ext cx="941832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112264"/>
            <a:ext cx="9418320" cy="384048"/>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12264"/>
            <a:ext cx="1901952" cy="420624"/>
          </a:xfrm>
          <a:prstGeom prst="rect">
            <a:avLst/>
          </a:prstGeom>
          <a:noFill/>
        </p:spPr>
        <p:txBody>
          <a:bodyPr wrap="square" lIns="0" rIns="0" tIns="0" bIns="0" anchor="ctr">
            <a:spAutoFit/>
          </a:bodyPr>
          <a:lstStyle/>
          <a:p>
            <a:pPr algn="l">
              <a:lnSpc>
                <a:spcPct val="115000"/>
              </a:lnSpc>
            </a:pPr>
            <a:r>
              <a:rPr sz="1350" b="1">
                <a:solidFill>
                  <a:srgbClr val="E6E9EF"/>
                </a:solidFill>
                <a:latin typeface="Segoe UI"/>
              </a:rPr>
              <a:t>K-Means</a:t>
            </a:r>
          </a:p>
        </p:txBody>
      </p:sp>
      <p:sp>
        <p:nvSpPr>
          <p:cNvPr id="13" name="TextBox 12"/>
          <p:cNvSpPr txBox="1"/>
          <p:nvPr/>
        </p:nvSpPr>
        <p:spPr>
          <a:xfrm>
            <a:off x="2697480" y="2112264"/>
            <a:ext cx="2542032" cy="420624"/>
          </a:xfrm>
          <a:prstGeom prst="rect">
            <a:avLst/>
          </a:prstGeom>
          <a:noFill/>
        </p:spPr>
        <p:txBody>
          <a:bodyPr wrap="square" lIns="0" rIns="0" tIns="0" bIns="0" anchor="ctr">
            <a:spAutoFit/>
          </a:bodyPr>
          <a:lstStyle/>
          <a:p>
            <a:pPr algn="r">
              <a:lnSpc>
                <a:spcPct val="115000"/>
              </a:lnSpc>
            </a:pPr>
            <a:r>
              <a:rPr sz="1350" b="1">
                <a:solidFill>
                  <a:srgbClr val="E6E9EF"/>
                </a:solidFill>
                <a:latin typeface="Consolas"/>
              </a:rPr>
              <a:t>1,000</a:t>
            </a:r>
          </a:p>
        </p:txBody>
      </p:sp>
      <p:sp>
        <p:nvSpPr>
          <p:cNvPr id="14" name="TextBox 13"/>
          <p:cNvSpPr txBox="1"/>
          <p:nvPr/>
        </p:nvSpPr>
        <p:spPr>
          <a:xfrm>
            <a:off x="5349240" y="2112264"/>
            <a:ext cx="2176272" cy="420624"/>
          </a:xfrm>
          <a:prstGeom prst="rect">
            <a:avLst/>
          </a:prstGeom>
          <a:noFill/>
        </p:spPr>
        <p:txBody>
          <a:bodyPr wrap="square" lIns="0" rIns="0" tIns="0" bIns="0" anchor="ctr">
            <a:spAutoFit/>
          </a:bodyPr>
          <a:lstStyle/>
          <a:p>
            <a:pPr algn="r">
              <a:lnSpc>
                <a:spcPct val="115000"/>
              </a:lnSpc>
            </a:pPr>
            <a:r>
              <a:rPr sz="1350" b="1">
                <a:solidFill>
                  <a:srgbClr val="E6E9EF"/>
                </a:solidFill>
                <a:latin typeface="Consolas"/>
              </a:rPr>
              <a:t>85 / 25</a:t>
            </a:r>
          </a:p>
        </p:txBody>
      </p:sp>
      <p:sp>
        <p:nvSpPr>
          <p:cNvPr id="15" name="TextBox 14"/>
          <p:cNvSpPr txBox="1"/>
          <p:nvPr/>
        </p:nvSpPr>
        <p:spPr>
          <a:xfrm>
            <a:off x="7635240" y="2112264"/>
            <a:ext cx="2359152" cy="420624"/>
          </a:xfrm>
          <a:prstGeom prst="rect">
            <a:avLst/>
          </a:prstGeom>
          <a:noFill/>
        </p:spPr>
        <p:txBody>
          <a:bodyPr wrap="square" lIns="0" rIns="0" tIns="0" bIns="0" anchor="ctr">
            <a:spAutoFit/>
          </a:bodyPr>
          <a:lstStyle/>
          <a:p>
            <a:pPr algn="r">
              <a:lnSpc>
                <a:spcPct val="115000"/>
              </a:lnSpc>
            </a:pPr>
            <a:r>
              <a:rPr sz="1350" b="1">
                <a:solidFill>
                  <a:srgbClr val="E6E9EF"/>
                </a:solidFill>
                <a:latin typeface="Consolas"/>
              </a:rPr>
              <a:t>11,5 %</a:t>
            </a:r>
          </a:p>
        </p:txBody>
      </p:sp>
      <p:sp>
        <p:nvSpPr>
          <p:cNvPr id="16" name="TextBox 15"/>
          <p:cNvSpPr txBox="1"/>
          <p:nvPr/>
        </p:nvSpPr>
        <p:spPr>
          <a:xfrm>
            <a:off x="777240" y="2532888"/>
            <a:ext cx="1901952" cy="420624"/>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Ward</a:t>
            </a:r>
          </a:p>
        </p:txBody>
      </p:sp>
      <p:sp>
        <p:nvSpPr>
          <p:cNvPr id="17" name="TextBox 16"/>
          <p:cNvSpPr txBox="1"/>
          <p:nvPr/>
        </p:nvSpPr>
        <p:spPr>
          <a:xfrm>
            <a:off x="2697480" y="2532888"/>
            <a:ext cx="2542032" cy="420624"/>
          </a:xfrm>
          <a:prstGeom prst="rect">
            <a:avLst/>
          </a:prstGeom>
          <a:noFill/>
        </p:spPr>
        <p:txBody>
          <a:bodyPr wrap="square" lIns="0" rIns="0" tIns="0" bIns="0" anchor="ctr">
            <a:spAutoFit/>
          </a:bodyPr>
          <a:lstStyle/>
          <a:p>
            <a:pPr algn="r">
              <a:lnSpc>
                <a:spcPct val="115000"/>
              </a:lnSpc>
            </a:pPr>
            <a:r>
              <a:rPr sz="1350" b="0">
                <a:solidFill>
                  <a:srgbClr val="F28B82"/>
                </a:solidFill>
                <a:latin typeface="Consolas"/>
              </a:rPr>
              <a:t>0,359</a:t>
            </a:r>
          </a:p>
        </p:txBody>
      </p:sp>
      <p:sp>
        <p:nvSpPr>
          <p:cNvPr id="18" name="TextBox 17"/>
          <p:cNvSpPr txBox="1"/>
          <p:nvPr/>
        </p:nvSpPr>
        <p:spPr>
          <a:xfrm>
            <a:off x="5349240" y="2532888"/>
            <a:ext cx="2176272" cy="420624"/>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70 / 40</a:t>
            </a:r>
          </a:p>
        </p:txBody>
      </p:sp>
      <p:sp>
        <p:nvSpPr>
          <p:cNvPr id="19" name="TextBox 18"/>
          <p:cNvSpPr txBox="1"/>
          <p:nvPr/>
        </p:nvSpPr>
        <p:spPr>
          <a:xfrm>
            <a:off x="7635240" y="2532888"/>
            <a:ext cx="2359152" cy="420624"/>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19,2 %</a:t>
            </a:r>
          </a:p>
        </p:txBody>
      </p:sp>
      <p:sp>
        <p:nvSpPr>
          <p:cNvPr id="20" name="TextBox 19"/>
          <p:cNvSpPr txBox="1"/>
          <p:nvPr/>
        </p:nvSpPr>
        <p:spPr>
          <a:xfrm>
            <a:off x="777240" y="2953512"/>
            <a:ext cx="1901952" cy="420624"/>
          </a:xfrm>
          <a:prstGeom prst="rect">
            <a:avLst/>
          </a:prstGeom>
          <a:noFill/>
        </p:spPr>
        <p:txBody>
          <a:bodyPr wrap="square" lIns="0" rIns="0" tIns="0" bIns="0" anchor="ctr">
            <a:spAutoFit/>
          </a:bodyPr>
          <a:lstStyle/>
          <a:p>
            <a:pPr algn="l">
              <a:lnSpc>
                <a:spcPct val="115000"/>
              </a:lnSpc>
            </a:pPr>
            <a:r>
              <a:rPr sz="1350" b="0">
                <a:solidFill>
                  <a:srgbClr val="C9D1DE"/>
                </a:solidFill>
                <a:latin typeface="Segoe UI"/>
              </a:rPr>
              <a:t>Complete</a:t>
            </a:r>
          </a:p>
        </p:txBody>
      </p:sp>
      <p:sp>
        <p:nvSpPr>
          <p:cNvPr id="21" name="TextBox 20"/>
          <p:cNvSpPr txBox="1"/>
          <p:nvPr/>
        </p:nvSpPr>
        <p:spPr>
          <a:xfrm>
            <a:off x="2697480" y="2953512"/>
            <a:ext cx="2542032" cy="420624"/>
          </a:xfrm>
          <a:prstGeom prst="rect">
            <a:avLst/>
          </a:prstGeom>
          <a:noFill/>
        </p:spPr>
        <p:txBody>
          <a:bodyPr wrap="square" lIns="0" rIns="0" tIns="0" bIns="0" anchor="ctr">
            <a:spAutoFit/>
          </a:bodyPr>
          <a:lstStyle/>
          <a:p>
            <a:pPr algn="r">
              <a:lnSpc>
                <a:spcPct val="115000"/>
              </a:lnSpc>
            </a:pPr>
            <a:r>
              <a:rPr sz="1350" b="0">
                <a:solidFill>
                  <a:srgbClr val="F28B82"/>
                </a:solidFill>
                <a:latin typeface="Consolas"/>
              </a:rPr>
              <a:t>0,401</a:t>
            </a:r>
          </a:p>
        </p:txBody>
      </p:sp>
      <p:sp>
        <p:nvSpPr>
          <p:cNvPr id="22" name="TextBox 21"/>
          <p:cNvSpPr txBox="1"/>
          <p:nvPr/>
        </p:nvSpPr>
        <p:spPr>
          <a:xfrm>
            <a:off x="5349240" y="2953512"/>
            <a:ext cx="2176272" cy="420624"/>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72 / 38</a:t>
            </a:r>
          </a:p>
        </p:txBody>
      </p:sp>
      <p:sp>
        <p:nvSpPr>
          <p:cNvPr id="23" name="TextBox 22"/>
          <p:cNvSpPr txBox="1"/>
          <p:nvPr/>
        </p:nvSpPr>
        <p:spPr>
          <a:xfrm>
            <a:off x="7635240" y="2953512"/>
            <a:ext cx="2359152" cy="420624"/>
          </a:xfrm>
          <a:prstGeom prst="rect">
            <a:avLst/>
          </a:prstGeom>
          <a:noFill/>
        </p:spPr>
        <p:txBody>
          <a:bodyPr wrap="square" lIns="0" rIns="0" tIns="0" bIns="0" anchor="ctr">
            <a:spAutoFit/>
          </a:bodyPr>
          <a:lstStyle/>
          <a:p>
            <a:pPr algn="r">
              <a:lnSpc>
                <a:spcPct val="115000"/>
              </a:lnSpc>
            </a:pPr>
            <a:r>
              <a:rPr sz="1350" b="0">
                <a:solidFill>
                  <a:srgbClr val="C9D1DE"/>
                </a:solidFill>
                <a:latin typeface="Consolas"/>
              </a:rPr>
              <a:t>19,2 %</a:t>
            </a:r>
          </a:p>
        </p:txBody>
      </p:sp>
      <p:sp>
        <p:nvSpPr>
          <p:cNvPr id="24" name="Rectangle 23"/>
          <p:cNvSpPr/>
          <p:nvPr/>
        </p:nvSpPr>
        <p:spPr>
          <a:xfrm>
            <a:off x="685800" y="3703320"/>
            <a:ext cx="512064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3703320"/>
            <a:ext cx="54864" cy="16002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3886200"/>
            <a:ext cx="4663440" cy="128016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Qué pasó.</a:t>
            </a:r>
            <a:r>
              <a:rPr sz="1350" b="0">
                <a:solidFill>
                  <a:srgbClr val="C9D1DE"/>
                </a:solidFill>
                <a:latin typeface="Segoe UI"/>
              </a:rPr>
              <a:t> Ajustado solo con enero–abril, el árbol de Ward cambia su primera división: el grupo intermedio (la «mañana activa» del C2-T2, 21 de sus 25 días) se pasa al lado de carga alta. K-Means da exactamente el mismo reparto.</a:t>
            </a:r>
          </a:p>
        </p:txBody>
      </p:sp>
      <p:sp>
        <p:nvSpPr>
          <p:cNvPr id="27" name="Rectangle 26"/>
          <p:cNvSpPr/>
          <p:nvPr/>
        </p:nvSpPr>
        <p:spPr>
          <a:xfrm>
            <a:off x="6080760" y="3703320"/>
            <a:ext cx="521208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80760" y="3703320"/>
            <a:ext cx="54864" cy="16002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6792" y="3886200"/>
            <a:ext cx="4754880" cy="1280160"/>
          </a:xfrm>
          <a:prstGeom prst="rect">
            <a:avLst/>
          </a:prstGeom>
          <a:noFill/>
        </p:spPr>
        <p:txBody>
          <a:bodyPr wrap="square" lIns="0" rIns="0" tIns="0" bIns="0" anchor="t">
            <a:spAutoFit/>
          </a:bodyPr>
          <a:lstStyle/>
          <a:p>
            <a:pPr algn="l">
              <a:lnSpc>
                <a:spcPct val="115000"/>
              </a:lnSpc>
            </a:pPr>
            <a:r>
              <a:rPr sz="1350" b="1">
                <a:solidFill>
                  <a:srgbClr val="E6E9EF"/>
                </a:solidFill>
                <a:latin typeface="Segoe UI"/>
              </a:rPr>
              <a:t>Por qué decide.</a:t>
            </a:r>
            <a:r>
              <a:rPr sz="1350" b="0">
                <a:solidFill>
                  <a:srgbClr val="C9D1DE"/>
                </a:solidFill>
                <a:latin typeface="Segoe UI"/>
              </a:rPr>
              <a:t> Shiro recibe un día nuevo cada 24 horas. «Día de carga alta» no puede cambiar de significado cada vez que se agrega un mes. El jerárquico es determinista; K-Means con una sola inicialización reproduce su reparto solo el 40 % de las veces (se usa n_init = 10).</a:t>
            </a:r>
          </a:p>
        </p:txBody>
      </p:sp>
      <p:sp>
        <p:nvSpPr>
          <p:cNvPr id="30" name="TextBox 29"/>
          <p:cNvSpPr txBox="1"/>
          <p:nvPr/>
        </p:nvSpPr>
        <p:spPr>
          <a:xfrm>
            <a:off x="685800" y="5577840"/>
            <a:ext cx="10607040" cy="365760"/>
          </a:xfrm>
          <a:prstGeom prst="rect">
            <a:avLst/>
          </a:prstGeom>
          <a:noFill/>
        </p:spPr>
        <p:txBody>
          <a:bodyPr wrap="square" lIns="0" rIns="0" tIns="0" bIns="0" anchor="t">
            <a:spAutoFit/>
          </a:bodyPr>
          <a:lstStyle/>
          <a:p>
            <a:pPr algn="l">
              <a:lnSpc>
                <a:spcPct val="115000"/>
              </a:lnSpc>
            </a:pPr>
            <a:r>
              <a:rPr sz="1500" b="0">
                <a:solidFill>
                  <a:srgbClr val="7BD992"/>
                </a:solidFill>
                <a:latin typeface="Segoe UI Semibold"/>
              </a:rPr>
              <a:t>→ K-Means asigna el tipo de día en producción; el árbol sirve para auditar, no para asignar.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REFLEXIÓN FINAL · K-MEANS VS. JERÁRQUICO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K-Means para producción; jerárquico para auditoría</a:t>
            </a:r>
          </a:p>
        </p:txBody>
      </p:sp>
      <p:sp>
        <p:nvSpPr>
          <p:cNvPr id="6" name="TextBox 5"/>
          <p:cNvSpPr txBox="1"/>
          <p:nvPr/>
        </p:nvSpPr>
        <p:spPr>
          <a:xfrm>
            <a:off x="685800" y="1783080"/>
            <a:ext cx="30175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CRITERIO</a:t>
            </a:r>
          </a:p>
        </p:txBody>
      </p:sp>
      <p:sp>
        <p:nvSpPr>
          <p:cNvPr id="7" name="TextBox 6"/>
          <p:cNvSpPr txBox="1"/>
          <p:nvPr/>
        </p:nvSpPr>
        <p:spPr>
          <a:xfrm>
            <a:off x="3703320" y="1783080"/>
            <a:ext cx="21031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K-MEANS</a:t>
            </a:r>
          </a:p>
        </p:txBody>
      </p:sp>
      <p:sp>
        <p:nvSpPr>
          <p:cNvPr id="8" name="TextBox 7"/>
          <p:cNvSpPr txBox="1"/>
          <p:nvPr/>
        </p:nvSpPr>
        <p:spPr>
          <a:xfrm>
            <a:off x="5806440" y="1783080"/>
            <a:ext cx="35661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JERÁRQUICO</a:t>
            </a:r>
          </a:p>
        </p:txBody>
      </p:sp>
      <p:sp>
        <p:nvSpPr>
          <p:cNvPr id="9" name="TextBox 8"/>
          <p:cNvSpPr txBox="1"/>
          <p:nvPr/>
        </p:nvSpPr>
        <p:spPr>
          <a:xfrm>
            <a:off x="9372600" y="1783080"/>
            <a:ext cx="1920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GANA</a:t>
            </a:r>
          </a:p>
        </p:txBody>
      </p:sp>
      <p:sp>
        <p:nvSpPr>
          <p:cNvPr id="10" name="Rectangle 9"/>
          <p:cNvSpPr/>
          <p:nvPr/>
        </p:nvSpPr>
        <p:spPr>
          <a:xfrm>
            <a:off x="685800" y="2075688"/>
            <a:ext cx="106070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12264"/>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Asignar un día nuevo</a:t>
            </a:r>
          </a:p>
        </p:txBody>
      </p:sp>
      <p:sp>
        <p:nvSpPr>
          <p:cNvPr id="12" name="TextBox 11"/>
          <p:cNvSpPr txBox="1"/>
          <p:nvPr/>
        </p:nvSpPr>
        <p:spPr>
          <a:xfrm>
            <a:off x="3794760" y="2112264"/>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predict</a:t>
            </a:r>
          </a:p>
        </p:txBody>
      </p:sp>
      <p:sp>
        <p:nvSpPr>
          <p:cNvPr id="13" name="TextBox 12"/>
          <p:cNvSpPr txBox="1"/>
          <p:nvPr/>
        </p:nvSpPr>
        <p:spPr>
          <a:xfrm>
            <a:off x="5897880" y="2112264"/>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no tiene predict</a:t>
            </a:r>
          </a:p>
        </p:txBody>
      </p:sp>
      <p:sp>
        <p:nvSpPr>
          <p:cNvPr id="14" name="TextBox 13"/>
          <p:cNvSpPr txBox="1"/>
          <p:nvPr/>
        </p:nvSpPr>
        <p:spPr>
          <a:xfrm>
            <a:off x="9464040" y="2112264"/>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15" name="TextBox 14"/>
          <p:cNvSpPr txBox="1"/>
          <p:nvPr/>
        </p:nvSpPr>
        <p:spPr>
          <a:xfrm>
            <a:off x="777240" y="2514600"/>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Estable al añadir un mes</a:t>
            </a:r>
          </a:p>
        </p:txBody>
      </p:sp>
      <p:sp>
        <p:nvSpPr>
          <p:cNvPr id="16" name="TextBox 15"/>
          <p:cNvSpPr txBox="1"/>
          <p:nvPr/>
        </p:nvSpPr>
        <p:spPr>
          <a:xfrm>
            <a:off x="3794760" y="2514600"/>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ARI 1,000</a:t>
            </a:r>
          </a:p>
        </p:txBody>
      </p:sp>
      <p:sp>
        <p:nvSpPr>
          <p:cNvPr id="17" name="TextBox 16"/>
          <p:cNvSpPr txBox="1"/>
          <p:nvPr/>
        </p:nvSpPr>
        <p:spPr>
          <a:xfrm>
            <a:off x="5897880" y="2514600"/>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ARI 0,359</a:t>
            </a:r>
          </a:p>
        </p:txBody>
      </p:sp>
      <p:sp>
        <p:nvSpPr>
          <p:cNvPr id="18" name="TextBox 17"/>
          <p:cNvSpPr txBox="1"/>
          <p:nvPr/>
        </p:nvSpPr>
        <p:spPr>
          <a:xfrm>
            <a:off x="9464040" y="2514600"/>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19" name="TextBox 18"/>
          <p:cNvSpPr txBox="1"/>
          <p:nvPr/>
        </p:nvSpPr>
        <p:spPr>
          <a:xfrm>
            <a:off x="777240" y="2916936"/>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Estimar el tipo a medio día</a:t>
            </a:r>
          </a:p>
        </p:txBody>
      </p:sp>
      <p:sp>
        <p:nvSpPr>
          <p:cNvPr id="20" name="TextBox 19"/>
          <p:cNvSpPr txBox="1"/>
          <p:nvPr/>
        </p:nvSpPr>
        <p:spPr>
          <a:xfrm>
            <a:off x="3794760" y="2916936"/>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directo</a:t>
            </a:r>
          </a:p>
        </p:txBody>
      </p:sp>
      <p:sp>
        <p:nvSpPr>
          <p:cNvPr id="21" name="TextBox 20"/>
          <p:cNvSpPr txBox="1"/>
          <p:nvPr/>
        </p:nvSpPr>
        <p:spPr>
          <a:xfrm>
            <a:off x="5897880" y="2916936"/>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centroides derivados</a:t>
            </a:r>
          </a:p>
        </p:txBody>
      </p:sp>
      <p:sp>
        <p:nvSpPr>
          <p:cNvPr id="22" name="TextBox 21"/>
          <p:cNvSpPr txBox="1"/>
          <p:nvPr/>
        </p:nvSpPr>
        <p:spPr>
          <a:xfrm>
            <a:off x="9464040" y="2916936"/>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23" name="TextBox 22"/>
          <p:cNvSpPr txBox="1"/>
          <p:nvPr/>
        </p:nvSpPr>
        <p:spPr>
          <a:xfrm>
            <a:off x="777240" y="3319272"/>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Coste</a:t>
            </a:r>
          </a:p>
        </p:txBody>
      </p:sp>
      <p:sp>
        <p:nvSpPr>
          <p:cNvPr id="24" name="TextBox 23"/>
          <p:cNvSpPr txBox="1"/>
          <p:nvPr/>
        </p:nvSpPr>
        <p:spPr>
          <a:xfrm>
            <a:off x="3794760" y="3319272"/>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lineal</a:t>
            </a:r>
          </a:p>
        </p:txBody>
      </p:sp>
      <p:sp>
        <p:nvSpPr>
          <p:cNvPr id="25" name="TextBox 24"/>
          <p:cNvSpPr txBox="1"/>
          <p:nvPr/>
        </p:nvSpPr>
        <p:spPr>
          <a:xfrm>
            <a:off x="5897880" y="3319272"/>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O(n²): 1,6 GB en lecturas</a:t>
            </a:r>
          </a:p>
        </p:txBody>
      </p:sp>
      <p:sp>
        <p:nvSpPr>
          <p:cNvPr id="26" name="TextBox 25"/>
          <p:cNvSpPr txBox="1"/>
          <p:nvPr/>
        </p:nvSpPr>
        <p:spPr>
          <a:xfrm>
            <a:off x="9464040" y="3319272"/>
            <a:ext cx="181051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K-Means</a:t>
            </a:r>
          </a:p>
        </p:txBody>
      </p:sp>
      <p:sp>
        <p:nvSpPr>
          <p:cNvPr id="27" name="TextBox 26"/>
          <p:cNvSpPr txBox="1"/>
          <p:nvPr/>
        </p:nvSpPr>
        <p:spPr>
          <a:xfrm>
            <a:off x="777240" y="3721608"/>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Determinismo</a:t>
            </a:r>
          </a:p>
        </p:txBody>
      </p:sp>
      <p:sp>
        <p:nvSpPr>
          <p:cNvPr id="28" name="TextBox 27"/>
          <p:cNvSpPr txBox="1"/>
          <p:nvPr/>
        </p:nvSpPr>
        <p:spPr>
          <a:xfrm>
            <a:off x="3794760" y="3721608"/>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necesita n_init</a:t>
            </a:r>
          </a:p>
        </p:txBody>
      </p:sp>
      <p:sp>
        <p:nvSpPr>
          <p:cNvPr id="29" name="TextBox 28"/>
          <p:cNvSpPr txBox="1"/>
          <p:nvPr/>
        </p:nvSpPr>
        <p:spPr>
          <a:xfrm>
            <a:off x="5897880" y="3721608"/>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total</a:t>
            </a:r>
          </a:p>
        </p:txBody>
      </p:sp>
      <p:sp>
        <p:nvSpPr>
          <p:cNvPr id="30" name="TextBox 29"/>
          <p:cNvSpPr txBox="1"/>
          <p:nvPr/>
        </p:nvSpPr>
        <p:spPr>
          <a:xfrm>
            <a:off x="9464040" y="3721608"/>
            <a:ext cx="1810512" cy="402336"/>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Jerárquico</a:t>
            </a:r>
          </a:p>
        </p:txBody>
      </p:sp>
      <p:sp>
        <p:nvSpPr>
          <p:cNvPr id="31" name="TextBox 30"/>
          <p:cNvSpPr txBox="1"/>
          <p:nvPr/>
        </p:nvSpPr>
        <p:spPr>
          <a:xfrm>
            <a:off x="777240" y="4123944"/>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Estructura anidada</a:t>
            </a:r>
          </a:p>
        </p:txBody>
      </p:sp>
      <p:sp>
        <p:nvSpPr>
          <p:cNvPr id="32" name="TextBox 31"/>
          <p:cNvSpPr txBox="1"/>
          <p:nvPr/>
        </p:nvSpPr>
        <p:spPr>
          <a:xfrm>
            <a:off x="3794760" y="4123944"/>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no</a:t>
            </a:r>
          </a:p>
        </p:txBody>
      </p:sp>
      <p:sp>
        <p:nvSpPr>
          <p:cNvPr id="33" name="TextBox 32"/>
          <p:cNvSpPr txBox="1"/>
          <p:nvPr/>
        </p:nvSpPr>
        <p:spPr>
          <a:xfrm>
            <a:off x="5897880" y="4123944"/>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normal / intermedio / alta</a:t>
            </a:r>
          </a:p>
        </p:txBody>
      </p:sp>
      <p:sp>
        <p:nvSpPr>
          <p:cNvPr id="34" name="TextBox 33"/>
          <p:cNvSpPr txBox="1"/>
          <p:nvPr/>
        </p:nvSpPr>
        <p:spPr>
          <a:xfrm>
            <a:off x="9464040" y="4123944"/>
            <a:ext cx="1810512" cy="402336"/>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Jerárquico</a:t>
            </a:r>
          </a:p>
        </p:txBody>
      </p:sp>
      <p:sp>
        <p:nvSpPr>
          <p:cNvPr id="35" name="TextBox 34"/>
          <p:cNvSpPr txBox="1"/>
          <p:nvPr/>
        </p:nvSpPr>
        <p:spPr>
          <a:xfrm>
            <a:off x="777240" y="4526280"/>
            <a:ext cx="29077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Detectar días atípicos</a:t>
            </a:r>
          </a:p>
        </p:txBody>
      </p:sp>
      <p:sp>
        <p:nvSpPr>
          <p:cNvPr id="36" name="TextBox 35"/>
          <p:cNvSpPr txBox="1"/>
          <p:nvPr/>
        </p:nvSpPr>
        <p:spPr>
          <a:xfrm>
            <a:off x="3794760" y="4526280"/>
            <a:ext cx="199339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los absorbe</a:t>
            </a:r>
          </a:p>
        </p:txBody>
      </p:sp>
      <p:sp>
        <p:nvSpPr>
          <p:cNvPr id="37" name="TextBox 36"/>
          <p:cNvSpPr txBox="1"/>
          <p:nvPr/>
        </p:nvSpPr>
        <p:spPr>
          <a:xfrm>
            <a:off x="5897880" y="4526280"/>
            <a:ext cx="34564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average / complete los aíslan</a:t>
            </a:r>
          </a:p>
        </p:txBody>
      </p:sp>
      <p:sp>
        <p:nvSpPr>
          <p:cNvPr id="38" name="TextBox 37"/>
          <p:cNvSpPr txBox="1"/>
          <p:nvPr/>
        </p:nvSpPr>
        <p:spPr>
          <a:xfrm>
            <a:off x="9464040" y="4526280"/>
            <a:ext cx="1810512" cy="402336"/>
          </a:xfrm>
          <a:prstGeom prst="rect">
            <a:avLst/>
          </a:prstGeom>
          <a:noFill/>
        </p:spPr>
        <p:txBody>
          <a:bodyPr wrap="square" lIns="0" rIns="0" tIns="0" bIns="0" anchor="ctr">
            <a:spAutoFit/>
          </a:bodyPr>
          <a:lstStyle/>
          <a:p>
            <a:pPr algn="l">
              <a:lnSpc>
                <a:spcPct val="115000"/>
              </a:lnSpc>
            </a:pPr>
            <a:r>
              <a:rPr sz="1250" b="0">
                <a:solidFill>
                  <a:srgbClr val="4C9AFF"/>
                </a:solidFill>
                <a:latin typeface="Consolas"/>
              </a:rPr>
              <a:t>Jerárquico</a:t>
            </a:r>
          </a:p>
        </p:txBody>
      </p:sp>
      <p:sp>
        <p:nvSpPr>
          <p:cNvPr id="39" name="Rectangle 38"/>
          <p:cNvSpPr/>
          <p:nvPr/>
        </p:nvSpPr>
        <p:spPr>
          <a:xfrm>
            <a:off x="685800" y="5120640"/>
            <a:ext cx="10607040" cy="9601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 y="5120640"/>
            <a:ext cx="54864" cy="9601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1832" y="5303520"/>
            <a:ext cx="10149840" cy="64008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Para nuestro caso:</a:t>
            </a:r>
            <a:r>
              <a:rPr sz="1300" b="0">
                <a:solidFill>
                  <a:srgbClr val="C9D1DE"/>
                </a:solidFill>
                <a:latin typeface="Segoe UI"/>
              </a:rPr>
              <a:t> K-Means asigna el tipo de día en línea. El jerárquico confirmó que los dos tipos son reales (dos criterios de fusión, 94 % de acuerdo), mostró el nivel intermedio y señaló los días que no encajan: se vuelve a correr en cada reentrenamiento mensual del gemelo como auditoría.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3 · Clustering jerárquico</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20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el MDP recibe de este taller</a:t>
            </a:r>
          </a:p>
        </p:txBody>
      </p:sp>
      <p:sp>
        <p:nvSpPr>
          <p:cNvPr id="6" name="TextBox 5"/>
          <p:cNvSpPr txBox="1"/>
          <p:nvPr/>
        </p:nvSpPr>
        <p:spPr>
          <a:xfrm>
            <a:off x="68580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variable «tipo de día» queda auditada.</a:t>
            </a:r>
          </a:p>
        </p:txBody>
      </p:sp>
      <p:sp>
        <p:nvSpPr>
          <p:cNvPr id="8" name="TextBox 7"/>
          <p:cNvSpPr txBox="1"/>
          <p:nvPr/>
        </p:nvSpPr>
        <p:spPr>
          <a:xfrm>
            <a:off x="128016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Ward y complete: k = 2, 114 / 22, 94 % de acuerdo con K-Means.</a:t>
            </a:r>
          </a:p>
        </p:txBody>
      </p:sp>
      <p:sp>
        <p:nvSpPr>
          <p:cNvPr id="9" name="TextBox 8"/>
          <p:cNvSpPr txBox="1"/>
          <p:nvPr/>
        </p:nvSpPr>
        <p:spPr>
          <a:xfrm>
            <a:off x="612648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Su frontera es difusa, y está medida.</a:t>
            </a:r>
          </a:p>
        </p:txBody>
      </p:sp>
      <p:sp>
        <p:nvSpPr>
          <p:cNvPr id="11" name="TextBox 10"/>
          <p:cNvSpPr txBox="1"/>
          <p:nvPr/>
        </p:nvSpPr>
        <p:spPr>
          <a:xfrm>
            <a:off x="672084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 margen al centroide entra al estado como confianza.</a:t>
            </a:r>
          </a:p>
        </p:txBody>
      </p:sp>
      <p:sp>
        <p:nvSpPr>
          <p:cNvPr id="12" name="TextBox 11"/>
          <p:cNvSpPr txBox="1"/>
          <p:nvPr/>
        </p:nvSpPr>
        <p:spPr>
          <a:xfrm>
            <a:off x="68580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K-Means asigna en producción.</a:t>
            </a:r>
          </a:p>
        </p:txBody>
      </p:sp>
      <p:sp>
        <p:nvSpPr>
          <p:cNvPr id="14" name="TextBox 13"/>
          <p:cNvSpPr txBox="1"/>
          <p:nvPr/>
        </p:nvSpPr>
        <p:spPr>
          <a:xfrm>
            <a:off x="128016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Estable al agregar un mes; con predict y estimación a medio día.</a:t>
            </a:r>
          </a:p>
        </p:txBody>
      </p:sp>
      <p:sp>
        <p:nvSpPr>
          <p:cNvPr id="15" name="TextBox 14"/>
          <p:cNvSpPr txBox="1"/>
          <p:nvPr/>
        </p:nvSpPr>
        <p:spPr>
          <a:xfrm>
            <a:off x="612648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jerárquico, como auditoría mensual.</a:t>
            </a:r>
          </a:p>
        </p:txBody>
      </p:sp>
      <p:sp>
        <p:nvSpPr>
          <p:cNvPr id="17" name="TextBox 16"/>
          <p:cNvSpPr txBox="1"/>
          <p:nvPr/>
        </p:nvSpPr>
        <p:spPr>
          <a:xfrm>
            <a:off x="672084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 su acuerdo con K-Means cae, la definición está cambiando.</a:t>
            </a:r>
          </a:p>
        </p:txBody>
      </p:sp>
      <p:sp>
        <p:nvSpPr>
          <p:cNvPr id="18" name="TextBox 17"/>
          <p:cNvSpPr txBox="1"/>
          <p:nvPr/>
        </p:nvSpPr>
        <p:spPr>
          <a:xfrm>
            <a:off x="68580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k nunca se elige solo por la métrica.</a:t>
            </a:r>
          </a:p>
        </p:txBody>
      </p:sp>
      <p:sp>
        <p:nvSpPr>
          <p:cNvPr id="20" name="TextBox 19"/>
          <p:cNvSpPr txBox="1"/>
          <p:nvPr/>
        </p:nvSpPr>
        <p:spPr>
          <a:xfrm>
            <a:off x="128016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Nueva convención: tamaño mínimo de clúster del 5 %.</a:t>
            </a:r>
          </a:p>
        </p:txBody>
      </p:sp>
      <p:sp>
        <p:nvSpPr>
          <p:cNvPr id="21" name="TextBox 20"/>
          <p:cNvSpPr txBox="1"/>
          <p:nvPr/>
        </p:nvSpPr>
        <p:spPr>
          <a:xfrm>
            <a:off x="612648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Hay días atípicos</a:t>
            </a:r>
          </a:p>
        </p:txBody>
      </p:sp>
      <p:sp>
        <p:nvSpPr>
          <p:cNvPr id="23" name="TextBox 22"/>
          <p:cNvSpPr txBox="1"/>
          <p:nvPr/>
        </p:nvSpPr>
        <p:spPr>
          <a:xfrm>
            <a:off x="672084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Raros por cuándo consumen: 24-ene, 16-mar, 15-abr → el taller de DBSCAN.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3 · CÓMO SE CALCULÓ CADA MÉTRICA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dunn_index() es la misma función del Taller de K-Means — sin cambios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06</a:t>
            </a:r>
          </a:p>
        </p:txBody>
      </p:sp>
      <p:sp>
        <p:nvSpPr>
          <p:cNvPr id="6" name="Rectangle 5"/>
          <p:cNvSpPr/>
          <p:nvPr/>
        </p:nvSpPr>
        <p:spPr>
          <a:xfrm>
            <a:off x="3213474" y="1581912"/>
            <a:ext cx="5762003" cy="383133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dunn3.png"/>
          <p:cNvPicPr>
            <a:picLocks noChangeAspect="1"/>
          </p:cNvPicPr>
          <p:nvPr/>
        </p:nvPicPr>
        <p:blipFill>
          <a:blip r:embed="rId2"/>
          <a:stretch>
            <a:fillRect/>
          </a:stretch>
        </p:blipFill>
        <p:spPr>
          <a:xfrm>
            <a:off x="3231762" y="1600200"/>
            <a:ext cx="5725427" cy="3794760"/>
          </a:xfrm>
          <a:prstGeom prst="rect">
            <a:avLst/>
          </a:prstGeom>
        </p:spPr>
      </p:pic>
      <p:sp>
        <p:nvSpPr>
          <p:cNvPr id="8" name="Rectangle 7"/>
          <p:cNvSpPr/>
          <p:nvPr/>
        </p:nvSpPr>
        <p:spPr>
          <a:xfrm>
            <a:off x="685800" y="5532120"/>
            <a:ext cx="10817352"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532120"/>
            <a:ext cx="54864" cy="86868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696712"/>
            <a:ext cx="10360152" cy="59435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Una sola celda produce las tres columnas de la tabla anterior.</a:t>
            </a:r>
            <a:r>
              <a:rPr sz="1250" b="0" i="0">
                <a:solidFill>
                  <a:srgbClr val="C9D1DE"/>
                </a:solidFill>
                <a:latin typeface="Segoe UI"/>
              </a:rPr>
              <a:t> barrido() aplica fcluster(), silhouette_score() y esta misma dunn_index() a VERSIONES (crudo en Wh y estandarizado) × ENLACES (ward, complete, average) × k = 2…10. La columna «menor» —el tamaño del clúster más chico— no la pide el enunciado; es la que decide.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5.1 · TABLA COMPLETA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Las ocho variables, Ward frente a K-Means, lado a lado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10</a:t>
            </a:r>
          </a:p>
        </p:txBody>
      </p:sp>
      <p:sp>
        <p:nvSpPr>
          <p:cNvPr id="6" name="TextBox 5"/>
          <p:cNvSpPr txBox="1"/>
          <p:nvPr/>
        </p:nvSpPr>
        <p:spPr>
          <a:xfrm>
            <a:off x="685800" y="1783080"/>
            <a:ext cx="4434840" cy="274320"/>
          </a:xfrm>
          <a:prstGeom prst="rect">
            <a:avLst/>
          </a:prstGeom>
          <a:noFill/>
        </p:spPr>
        <p:txBody>
          <a:bodyPr wrap="square" lIns="0" rIns="0" tIns="0" bIns="0">
            <a:spAutoFit/>
          </a:bodyPr>
          <a:lstStyle/>
          <a:p>
            <a:pPr algn="l"/>
            <a:r>
              <a:rPr sz="950" b="0" i="0">
                <a:solidFill>
                  <a:srgbClr val="6F7787"/>
                </a:solidFill>
                <a:latin typeface="Consolas"/>
              </a:rPr>
              <a:t>VARIABLE (MEDIA)</a:t>
            </a:r>
          </a:p>
        </p:txBody>
      </p:sp>
      <p:sp>
        <p:nvSpPr>
          <p:cNvPr id="7" name="TextBox 6"/>
          <p:cNvSpPr txBox="1"/>
          <p:nvPr/>
        </p:nvSpPr>
        <p:spPr>
          <a:xfrm>
            <a:off x="5257800" y="1783080"/>
            <a:ext cx="1965960" cy="274320"/>
          </a:xfrm>
          <a:prstGeom prst="rect">
            <a:avLst/>
          </a:prstGeom>
          <a:noFill/>
        </p:spPr>
        <p:txBody>
          <a:bodyPr wrap="square" lIns="0" rIns="0" tIns="0" bIns="0">
            <a:spAutoFit/>
          </a:bodyPr>
          <a:lstStyle/>
          <a:p>
            <a:pPr algn="r"/>
            <a:r>
              <a:rPr sz="950" b="0" i="0">
                <a:solidFill>
                  <a:srgbClr val="6F7787"/>
                </a:solidFill>
                <a:latin typeface="Consolas"/>
              </a:rPr>
              <a:t>WARD NORMAL (114)</a:t>
            </a:r>
          </a:p>
        </p:txBody>
      </p:sp>
      <p:sp>
        <p:nvSpPr>
          <p:cNvPr id="8" name="TextBox 7"/>
          <p:cNvSpPr txBox="1"/>
          <p:nvPr/>
        </p:nvSpPr>
        <p:spPr>
          <a:xfrm>
            <a:off x="7360920" y="1783080"/>
            <a:ext cx="1965960" cy="274320"/>
          </a:xfrm>
          <a:prstGeom prst="rect">
            <a:avLst/>
          </a:prstGeom>
          <a:noFill/>
        </p:spPr>
        <p:txBody>
          <a:bodyPr wrap="square" lIns="0" rIns="0" tIns="0" bIns="0">
            <a:spAutoFit/>
          </a:bodyPr>
          <a:lstStyle/>
          <a:p>
            <a:pPr algn="r"/>
            <a:r>
              <a:rPr sz="950" b="0" i="0">
                <a:solidFill>
                  <a:srgbClr val="6F7787"/>
                </a:solidFill>
                <a:latin typeface="Consolas"/>
              </a:rPr>
              <a:t>WARD CARGA ALTA (22)</a:t>
            </a:r>
          </a:p>
        </p:txBody>
      </p:sp>
      <p:sp>
        <p:nvSpPr>
          <p:cNvPr id="9" name="TextBox 8"/>
          <p:cNvSpPr txBox="1"/>
          <p:nvPr/>
        </p:nvSpPr>
        <p:spPr>
          <a:xfrm>
            <a:off x="9464040" y="1783080"/>
            <a:ext cx="2039112" cy="274320"/>
          </a:xfrm>
          <a:prstGeom prst="rect">
            <a:avLst/>
          </a:prstGeom>
          <a:noFill/>
        </p:spPr>
        <p:txBody>
          <a:bodyPr wrap="square" lIns="0" rIns="0" tIns="0" bIns="0">
            <a:spAutoFit/>
          </a:bodyPr>
          <a:lstStyle/>
          <a:p>
            <a:pPr algn="r"/>
            <a:r>
              <a:rPr sz="950" b="0" i="0">
                <a:solidFill>
                  <a:srgbClr val="6F7787"/>
                </a:solidFill>
                <a:latin typeface="Consolas"/>
              </a:rPr>
              <a:t>K-MEANS (108 / 28)</a:t>
            </a:r>
          </a:p>
        </p:txBody>
      </p:sp>
      <p:sp>
        <p:nvSpPr>
          <p:cNvPr id="10" name="Rectangle 9"/>
          <p:cNvSpPr/>
          <p:nvPr/>
        </p:nvSpPr>
        <p:spPr>
          <a:xfrm>
            <a:off x="685800" y="211226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48840"/>
            <a:ext cx="4343400" cy="347472"/>
          </a:xfrm>
          <a:prstGeom prst="rect">
            <a:avLst/>
          </a:prstGeom>
          <a:noFill/>
        </p:spPr>
        <p:txBody>
          <a:bodyPr wrap="square" lIns="0" rIns="0" tIns="0" bIns="0" anchor="ctr">
            <a:spAutoFit/>
          </a:bodyPr>
          <a:lstStyle/>
          <a:p>
            <a:pPr algn="l"/>
            <a:r>
              <a:rPr sz="1250" b="0" i="0">
                <a:solidFill>
                  <a:srgbClr val="C9D1DE"/>
                </a:solidFill>
                <a:latin typeface="Segoe UI"/>
              </a:rPr>
              <a:t>Consumo diario (kWh)</a:t>
            </a:r>
          </a:p>
        </p:txBody>
      </p:sp>
      <p:sp>
        <p:nvSpPr>
          <p:cNvPr id="12" name="TextBox 11"/>
          <p:cNvSpPr txBox="1"/>
          <p:nvPr/>
        </p:nvSpPr>
        <p:spPr>
          <a:xfrm>
            <a:off x="5257800" y="2148840"/>
            <a:ext cx="1965960" cy="347472"/>
          </a:xfrm>
          <a:prstGeom prst="rect">
            <a:avLst/>
          </a:prstGeom>
          <a:noFill/>
        </p:spPr>
        <p:txBody>
          <a:bodyPr wrap="square" lIns="0" rIns="0" tIns="0" bIns="0" anchor="ctr">
            <a:spAutoFit/>
          </a:bodyPr>
          <a:lstStyle/>
          <a:p>
            <a:pPr algn="r"/>
            <a:r>
              <a:rPr sz="1250" b="0" i="0">
                <a:solidFill>
                  <a:srgbClr val="C9D1DE"/>
                </a:solidFill>
                <a:latin typeface="Consolas"/>
              </a:rPr>
              <a:t>12,6</a:t>
            </a:r>
          </a:p>
        </p:txBody>
      </p:sp>
      <p:sp>
        <p:nvSpPr>
          <p:cNvPr id="13" name="TextBox 12"/>
          <p:cNvSpPr txBox="1"/>
          <p:nvPr/>
        </p:nvSpPr>
        <p:spPr>
          <a:xfrm>
            <a:off x="7360920" y="2148840"/>
            <a:ext cx="1965960" cy="347472"/>
          </a:xfrm>
          <a:prstGeom prst="rect">
            <a:avLst/>
          </a:prstGeom>
          <a:noFill/>
        </p:spPr>
        <p:txBody>
          <a:bodyPr wrap="square" lIns="0" rIns="0" tIns="0" bIns="0" anchor="ctr">
            <a:spAutoFit/>
          </a:bodyPr>
          <a:lstStyle/>
          <a:p>
            <a:pPr algn="r"/>
            <a:r>
              <a:rPr sz="1250" b="0" i="0">
                <a:solidFill>
                  <a:srgbClr val="C9D1DE"/>
                </a:solidFill>
                <a:latin typeface="Consolas"/>
              </a:rPr>
              <a:t>21,6</a:t>
            </a:r>
          </a:p>
        </p:txBody>
      </p:sp>
      <p:sp>
        <p:nvSpPr>
          <p:cNvPr id="14" name="TextBox 13"/>
          <p:cNvSpPr txBox="1"/>
          <p:nvPr/>
        </p:nvSpPr>
        <p:spPr>
          <a:xfrm>
            <a:off x="9464040" y="2148840"/>
            <a:ext cx="2039112" cy="347472"/>
          </a:xfrm>
          <a:prstGeom prst="rect">
            <a:avLst/>
          </a:prstGeom>
          <a:noFill/>
        </p:spPr>
        <p:txBody>
          <a:bodyPr wrap="square" lIns="0" rIns="0" tIns="0" bIns="0" anchor="ctr">
            <a:spAutoFit/>
          </a:bodyPr>
          <a:lstStyle/>
          <a:p>
            <a:pPr algn="r"/>
            <a:r>
              <a:rPr sz="1250" b="0" i="0">
                <a:solidFill>
                  <a:srgbClr val="C9D1DE"/>
                </a:solidFill>
                <a:latin typeface="Consolas"/>
              </a:rPr>
              <a:t>12,2 / 20,9</a:t>
            </a:r>
          </a:p>
        </p:txBody>
      </p:sp>
      <p:sp>
        <p:nvSpPr>
          <p:cNvPr id="15" name="TextBox 14"/>
          <p:cNvSpPr txBox="1"/>
          <p:nvPr/>
        </p:nvSpPr>
        <p:spPr>
          <a:xfrm>
            <a:off x="777240" y="2532888"/>
            <a:ext cx="4343400" cy="347472"/>
          </a:xfrm>
          <a:prstGeom prst="rect">
            <a:avLst/>
          </a:prstGeom>
          <a:noFill/>
        </p:spPr>
        <p:txBody>
          <a:bodyPr wrap="square" lIns="0" rIns="0" tIns="0" bIns="0" anchor="ctr">
            <a:spAutoFit/>
          </a:bodyPr>
          <a:lstStyle/>
          <a:p>
            <a:pPr algn="l"/>
            <a:r>
              <a:rPr sz="1250" b="0" i="0">
                <a:solidFill>
                  <a:srgbClr val="C9D1DE"/>
                </a:solidFill>
                <a:latin typeface="Segoe UI"/>
              </a:rPr>
              <a:t>Wh medio 8–18 h</a:t>
            </a:r>
          </a:p>
        </p:txBody>
      </p:sp>
      <p:sp>
        <p:nvSpPr>
          <p:cNvPr id="16" name="TextBox 15"/>
          <p:cNvSpPr txBox="1"/>
          <p:nvPr/>
        </p:nvSpPr>
        <p:spPr>
          <a:xfrm>
            <a:off x="5257800" y="2532888"/>
            <a:ext cx="1965960" cy="347472"/>
          </a:xfrm>
          <a:prstGeom prst="rect">
            <a:avLst/>
          </a:prstGeom>
          <a:noFill/>
        </p:spPr>
        <p:txBody>
          <a:bodyPr wrap="square" lIns="0" rIns="0" tIns="0" bIns="0" anchor="ctr">
            <a:spAutoFit/>
          </a:bodyPr>
          <a:lstStyle/>
          <a:p>
            <a:pPr algn="r"/>
            <a:r>
              <a:rPr sz="1250" b="0" i="0">
                <a:solidFill>
                  <a:srgbClr val="C9D1DE"/>
                </a:solidFill>
                <a:latin typeface="Consolas"/>
              </a:rPr>
              <a:t>98,5</a:t>
            </a:r>
          </a:p>
        </p:txBody>
      </p:sp>
      <p:sp>
        <p:nvSpPr>
          <p:cNvPr id="17" name="TextBox 16"/>
          <p:cNvSpPr txBox="1"/>
          <p:nvPr/>
        </p:nvSpPr>
        <p:spPr>
          <a:xfrm>
            <a:off x="7360920" y="2532888"/>
            <a:ext cx="1965960" cy="347472"/>
          </a:xfrm>
          <a:prstGeom prst="rect">
            <a:avLst/>
          </a:prstGeom>
          <a:noFill/>
        </p:spPr>
        <p:txBody>
          <a:bodyPr wrap="square" lIns="0" rIns="0" tIns="0" bIns="0" anchor="ctr">
            <a:spAutoFit/>
          </a:bodyPr>
          <a:lstStyle/>
          <a:p>
            <a:pPr algn="r"/>
            <a:r>
              <a:rPr sz="1250" b="0" i="0">
                <a:solidFill>
                  <a:srgbClr val="C9D1DE"/>
                </a:solidFill>
                <a:latin typeface="Consolas"/>
              </a:rPr>
              <a:t>241,8</a:t>
            </a:r>
          </a:p>
        </p:txBody>
      </p:sp>
      <p:sp>
        <p:nvSpPr>
          <p:cNvPr id="18" name="TextBox 17"/>
          <p:cNvSpPr txBox="1"/>
          <p:nvPr/>
        </p:nvSpPr>
        <p:spPr>
          <a:xfrm>
            <a:off x="9464040" y="2532888"/>
            <a:ext cx="2039112" cy="347472"/>
          </a:xfrm>
          <a:prstGeom prst="rect">
            <a:avLst/>
          </a:prstGeom>
          <a:noFill/>
        </p:spPr>
        <p:txBody>
          <a:bodyPr wrap="square" lIns="0" rIns="0" tIns="0" bIns="0" anchor="ctr">
            <a:spAutoFit/>
          </a:bodyPr>
          <a:lstStyle/>
          <a:p>
            <a:pPr algn="r"/>
            <a:r>
              <a:rPr sz="1250" b="0" i="0">
                <a:solidFill>
                  <a:srgbClr val="C9D1DE"/>
                </a:solidFill>
                <a:latin typeface="Consolas"/>
              </a:rPr>
              <a:t>93,3 / 231,1</a:t>
            </a:r>
          </a:p>
        </p:txBody>
      </p:sp>
      <p:sp>
        <p:nvSpPr>
          <p:cNvPr id="19" name="TextBox 18"/>
          <p:cNvSpPr txBox="1"/>
          <p:nvPr/>
        </p:nvSpPr>
        <p:spPr>
          <a:xfrm>
            <a:off x="777240" y="2916936"/>
            <a:ext cx="4343400" cy="347472"/>
          </a:xfrm>
          <a:prstGeom prst="rect">
            <a:avLst/>
          </a:prstGeom>
          <a:noFill/>
        </p:spPr>
        <p:txBody>
          <a:bodyPr wrap="square" lIns="0" rIns="0" tIns="0" bIns="0" anchor="ctr">
            <a:spAutoFit/>
          </a:bodyPr>
          <a:lstStyle/>
          <a:p>
            <a:pPr algn="l"/>
            <a:r>
              <a:rPr sz="1250" b="0" i="0">
                <a:solidFill>
                  <a:srgbClr val="C9D1DE"/>
                </a:solidFill>
                <a:latin typeface="Segoe UI"/>
              </a:rPr>
              <a:t>Hora pico media</a:t>
            </a:r>
          </a:p>
        </p:txBody>
      </p:sp>
      <p:sp>
        <p:nvSpPr>
          <p:cNvPr id="20" name="TextBox 19"/>
          <p:cNvSpPr txBox="1"/>
          <p:nvPr/>
        </p:nvSpPr>
        <p:spPr>
          <a:xfrm>
            <a:off x="5257800" y="2916936"/>
            <a:ext cx="1965960" cy="347472"/>
          </a:xfrm>
          <a:prstGeom prst="rect">
            <a:avLst/>
          </a:prstGeom>
          <a:noFill/>
        </p:spPr>
        <p:txBody>
          <a:bodyPr wrap="square" lIns="0" rIns="0" tIns="0" bIns="0" anchor="ctr">
            <a:spAutoFit/>
          </a:bodyPr>
          <a:lstStyle/>
          <a:p>
            <a:pPr algn="r"/>
            <a:r>
              <a:rPr sz="1250" b="0" i="0">
                <a:solidFill>
                  <a:srgbClr val="C9D1DE"/>
                </a:solidFill>
                <a:latin typeface="Consolas"/>
              </a:rPr>
              <a:t>15,2 h</a:t>
            </a:r>
          </a:p>
        </p:txBody>
      </p:sp>
      <p:sp>
        <p:nvSpPr>
          <p:cNvPr id="21" name="TextBox 20"/>
          <p:cNvSpPr txBox="1"/>
          <p:nvPr/>
        </p:nvSpPr>
        <p:spPr>
          <a:xfrm>
            <a:off x="7360920" y="2916936"/>
            <a:ext cx="1965960" cy="347472"/>
          </a:xfrm>
          <a:prstGeom prst="rect">
            <a:avLst/>
          </a:prstGeom>
          <a:noFill/>
        </p:spPr>
        <p:txBody>
          <a:bodyPr wrap="square" lIns="0" rIns="0" tIns="0" bIns="0" anchor="ctr">
            <a:spAutoFit/>
          </a:bodyPr>
          <a:lstStyle/>
          <a:p>
            <a:pPr algn="r"/>
            <a:r>
              <a:rPr sz="1250" b="0" i="0">
                <a:solidFill>
                  <a:srgbClr val="C9D1DE"/>
                </a:solidFill>
                <a:latin typeface="Consolas"/>
              </a:rPr>
              <a:t>13,2 h</a:t>
            </a:r>
          </a:p>
        </p:txBody>
      </p:sp>
      <p:sp>
        <p:nvSpPr>
          <p:cNvPr id="22" name="TextBox 21"/>
          <p:cNvSpPr txBox="1"/>
          <p:nvPr/>
        </p:nvSpPr>
        <p:spPr>
          <a:xfrm>
            <a:off x="9464040" y="2916936"/>
            <a:ext cx="2039112" cy="347472"/>
          </a:xfrm>
          <a:prstGeom prst="rect">
            <a:avLst/>
          </a:prstGeom>
          <a:noFill/>
        </p:spPr>
        <p:txBody>
          <a:bodyPr wrap="square" lIns="0" rIns="0" tIns="0" bIns="0" anchor="ctr">
            <a:spAutoFit/>
          </a:bodyPr>
          <a:lstStyle/>
          <a:p>
            <a:pPr algn="r"/>
            <a:r>
              <a:rPr sz="1250" b="0" i="0">
                <a:solidFill>
                  <a:srgbClr val="C9D1DE"/>
                </a:solidFill>
                <a:latin typeface="Consolas"/>
              </a:rPr>
              <a:t>15,3 h / 13,1 h</a:t>
            </a:r>
          </a:p>
        </p:txBody>
      </p:sp>
      <p:sp>
        <p:nvSpPr>
          <p:cNvPr id="23" name="TextBox 22"/>
          <p:cNvSpPr txBox="1"/>
          <p:nvPr/>
        </p:nvSpPr>
        <p:spPr>
          <a:xfrm>
            <a:off x="777240" y="3300984"/>
            <a:ext cx="4343400" cy="347472"/>
          </a:xfrm>
          <a:prstGeom prst="rect">
            <a:avLst/>
          </a:prstGeom>
          <a:noFill/>
        </p:spPr>
        <p:txBody>
          <a:bodyPr wrap="square" lIns="0" rIns="0" tIns="0" bIns="0" anchor="ctr">
            <a:spAutoFit/>
          </a:bodyPr>
          <a:lstStyle/>
          <a:p>
            <a:pPr algn="l"/>
            <a:r>
              <a:rPr sz="1250" b="0" i="0">
                <a:solidFill>
                  <a:srgbClr val="C9D1DE"/>
                </a:solidFill>
                <a:latin typeface="Segoe UI"/>
              </a:rPr>
              <a:t>lights (Wh/día)</a:t>
            </a:r>
          </a:p>
        </p:txBody>
      </p:sp>
      <p:sp>
        <p:nvSpPr>
          <p:cNvPr id="24" name="TextBox 23"/>
          <p:cNvSpPr txBox="1"/>
          <p:nvPr/>
        </p:nvSpPr>
        <p:spPr>
          <a:xfrm>
            <a:off x="5257800" y="3300984"/>
            <a:ext cx="1965960" cy="347472"/>
          </a:xfrm>
          <a:prstGeom prst="rect">
            <a:avLst/>
          </a:prstGeom>
          <a:noFill/>
        </p:spPr>
        <p:txBody>
          <a:bodyPr wrap="square" lIns="0" rIns="0" tIns="0" bIns="0" anchor="ctr">
            <a:spAutoFit/>
          </a:bodyPr>
          <a:lstStyle/>
          <a:p>
            <a:pPr algn="r"/>
            <a:r>
              <a:rPr sz="1250" b="0" i="0">
                <a:solidFill>
                  <a:srgbClr val="C9D1DE"/>
                </a:solidFill>
                <a:latin typeface="Consolas"/>
              </a:rPr>
              <a:t>522</a:t>
            </a:r>
          </a:p>
        </p:txBody>
      </p:sp>
      <p:sp>
        <p:nvSpPr>
          <p:cNvPr id="25" name="TextBox 24"/>
          <p:cNvSpPr txBox="1"/>
          <p:nvPr/>
        </p:nvSpPr>
        <p:spPr>
          <a:xfrm>
            <a:off x="7360920" y="3300984"/>
            <a:ext cx="1965960" cy="347472"/>
          </a:xfrm>
          <a:prstGeom prst="rect">
            <a:avLst/>
          </a:prstGeom>
          <a:noFill/>
        </p:spPr>
        <p:txBody>
          <a:bodyPr wrap="square" lIns="0" rIns="0" tIns="0" bIns="0" anchor="ctr">
            <a:spAutoFit/>
          </a:bodyPr>
          <a:lstStyle/>
          <a:p>
            <a:pPr algn="r"/>
            <a:r>
              <a:rPr sz="1250" b="0" i="0">
                <a:solidFill>
                  <a:srgbClr val="C9D1DE"/>
                </a:solidFill>
                <a:latin typeface="Consolas"/>
              </a:rPr>
              <a:t>645</a:t>
            </a:r>
          </a:p>
        </p:txBody>
      </p:sp>
      <p:sp>
        <p:nvSpPr>
          <p:cNvPr id="26" name="TextBox 25"/>
          <p:cNvSpPr txBox="1"/>
          <p:nvPr/>
        </p:nvSpPr>
        <p:spPr>
          <a:xfrm>
            <a:off x="9464040" y="3300984"/>
            <a:ext cx="2039112" cy="347472"/>
          </a:xfrm>
          <a:prstGeom prst="rect">
            <a:avLst/>
          </a:prstGeom>
          <a:noFill/>
        </p:spPr>
        <p:txBody>
          <a:bodyPr wrap="square" lIns="0" rIns="0" tIns="0" bIns="0" anchor="ctr">
            <a:spAutoFit/>
          </a:bodyPr>
          <a:lstStyle/>
          <a:p>
            <a:pPr algn="r"/>
            <a:r>
              <a:rPr sz="1250" b="0" i="0">
                <a:solidFill>
                  <a:srgbClr val="C9D1DE"/>
                </a:solidFill>
                <a:latin typeface="Consolas"/>
              </a:rPr>
              <a:t>502 / 697</a:t>
            </a:r>
          </a:p>
        </p:txBody>
      </p:sp>
      <p:sp>
        <p:nvSpPr>
          <p:cNvPr id="27" name="TextBox 26"/>
          <p:cNvSpPr txBox="1"/>
          <p:nvPr/>
        </p:nvSpPr>
        <p:spPr>
          <a:xfrm>
            <a:off x="777240" y="3685032"/>
            <a:ext cx="4343400" cy="347472"/>
          </a:xfrm>
          <a:prstGeom prst="rect">
            <a:avLst/>
          </a:prstGeom>
          <a:noFill/>
        </p:spPr>
        <p:txBody>
          <a:bodyPr wrap="square" lIns="0" rIns="0" tIns="0" bIns="0" anchor="ctr">
            <a:spAutoFit/>
          </a:bodyPr>
          <a:lstStyle/>
          <a:p>
            <a:pPr algn="l"/>
            <a:r>
              <a:rPr sz="1250" b="0" i="0">
                <a:solidFill>
                  <a:srgbClr val="C9D1DE"/>
                </a:solidFill>
                <a:latin typeface="Segoe UI"/>
              </a:rPr>
              <a:t>RH_1 cocina (%)</a:t>
            </a:r>
          </a:p>
        </p:txBody>
      </p:sp>
      <p:sp>
        <p:nvSpPr>
          <p:cNvPr id="28" name="TextBox 27"/>
          <p:cNvSpPr txBox="1"/>
          <p:nvPr/>
        </p:nvSpPr>
        <p:spPr>
          <a:xfrm>
            <a:off x="5257800" y="3685032"/>
            <a:ext cx="1965960" cy="347472"/>
          </a:xfrm>
          <a:prstGeom prst="rect">
            <a:avLst/>
          </a:prstGeom>
          <a:noFill/>
        </p:spPr>
        <p:txBody>
          <a:bodyPr wrap="square" lIns="0" rIns="0" tIns="0" bIns="0" anchor="ctr">
            <a:spAutoFit/>
          </a:bodyPr>
          <a:lstStyle/>
          <a:p>
            <a:pPr algn="r"/>
            <a:r>
              <a:rPr sz="1250" b="0" i="0">
                <a:solidFill>
                  <a:srgbClr val="C9D1DE"/>
                </a:solidFill>
                <a:latin typeface="Consolas"/>
              </a:rPr>
              <a:t>39,9</a:t>
            </a:r>
          </a:p>
        </p:txBody>
      </p:sp>
      <p:sp>
        <p:nvSpPr>
          <p:cNvPr id="29" name="TextBox 28"/>
          <p:cNvSpPr txBox="1"/>
          <p:nvPr/>
        </p:nvSpPr>
        <p:spPr>
          <a:xfrm>
            <a:off x="7360920" y="3685032"/>
            <a:ext cx="1965960" cy="347472"/>
          </a:xfrm>
          <a:prstGeom prst="rect">
            <a:avLst/>
          </a:prstGeom>
          <a:noFill/>
        </p:spPr>
        <p:txBody>
          <a:bodyPr wrap="square" lIns="0" rIns="0" tIns="0" bIns="0" anchor="ctr">
            <a:spAutoFit/>
          </a:bodyPr>
          <a:lstStyle/>
          <a:p>
            <a:pPr algn="r"/>
            <a:r>
              <a:rPr sz="1250" b="0" i="0">
                <a:solidFill>
                  <a:srgbClr val="C9D1DE"/>
                </a:solidFill>
                <a:latin typeface="Consolas"/>
              </a:rPr>
              <a:t>41,7</a:t>
            </a:r>
          </a:p>
        </p:txBody>
      </p:sp>
      <p:sp>
        <p:nvSpPr>
          <p:cNvPr id="30" name="TextBox 29"/>
          <p:cNvSpPr txBox="1"/>
          <p:nvPr/>
        </p:nvSpPr>
        <p:spPr>
          <a:xfrm>
            <a:off x="9464040" y="3685032"/>
            <a:ext cx="2039112" cy="347472"/>
          </a:xfrm>
          <a:prstGeom prst="rect">
            <a:avLst/>
          </a:prstGeom>
          <a:noFill/>
        </p:spPr>
        <p:txBody>
          <a:bodyPr wrap="square" lIns="0" rIns="0" tIns="0" bIns="0" anchor="ctr">
            <a:spAutoFit/>
          </a:bodyPr>
          <a:lstStyle/>
          <a:p>
            <a:pPr algn="r"/>
            <a:r>
              <a:rPr sz="1250" b="0" i="0">
                <a:solidFill>
                  <a:srgbClr val="C9D1DE"/>
                </a:solidFill>
                <a:latin typeface="Consolas"/>
              </a:rPr>
              <a:t>39,9 / 41,3</a:t>
            </a:r>
          </a:p>
        </p:txBody>
      </p:sp>
      <p:sp>
        <p:nvSpPr>
          <p:cNvPr id="31" name="TextBox 30"/>
          <p:cNvSpPr txBox="1"/>
          <p:nvPr/>
        </p:nvSpPr>
        <p:spPr>
          <a:xfrm>
            <a:off x="777240" y="4069080"/>
            <a:ext cx="4343400" cy="347472"/>
          </a:xfrm>
          <a:prstGeom prst="rect">
            <a:avLst/>
          </a:prstGeom>
          <a:noFill/>
        </p:spPr>
        <p:txBody>
          <a:bodyPr wrap="square" lIns="0" rIns="0" tIns="0" bIns="0" anchor="ctr">
            <a:spAutoFit/>
          </a:bodyPr>
          <a:lstStyle/>
          <a:p>
            <a:pPr algn="l"/>
            <a:r>
              <a:rPr sz="1250" b="0" i="0">
                <a:solidFill>
                  <a:srgbClr val="C9D1DE"/>
                </a:solidFill>
                <a:latin typeface="Segoe UI"/>
              </a:rPr>
              <a:t>RH_3 lavandería (%)</a:t>
            </a:r>
          </a:p>
        </p:txBody>
      </p:sp>
      <p:sp>
        <p:nvSpPr>
          <p:cNvPr id="32" name="TextBox 31"/>
          <p:cNvSpPr txBox="1"/>
          <p:nvPr/>
        </p:nvSpPr>
        <p:spPr>
          <a:xfrm>
            <a:off x="5257800" y="4069080"/>
            <a:ext cx="1965960" cy="347472"/>
          </a:xfrm>
          <a:prstGeom prst="rect">
            <a:avLst/>
          </a:prstGeom>
          <a:noFill/>
        </p:spPr>
        <p:txBody>
          <a:bodyPr wrap="square" lIns="0" rIns="0" tIns="0" bIns="0" anchor="ctr">
            <a:spAutoFit/>
          </a:bodyPr>
          <a:lstStyle/>
          <a:p>
            <a:pPr algn="r"/>
            <a:r>
              <a:rPr sz="1250" b="0" i="0">
                <a:solidFill>
                  <a:srgbClr val="C9D1DE"/>
                </a:solidFill>
                <a:latin typeface="Consolas"/>
              </a:rPr>
              <a:t>39,0</a:t>
            </a:r>
          </a:p>
        </p:txBody>
      </p:sp>
      <p:sp>
        <p:nvSpPr>
          <p:cNvPr id="33" name="TextBox 32"/>
          <p:cNvSpPr txBox="1"/>
          <p:nvPr/>
        </p:nvSpPr>
        <p:spPr>
          <a:xfrm>
            <a:off x="7360920" y="4069080"/>
            <a:ext cx="1965960" cy="347472"/>
          </a:xfrm>
          <a:prstGeom prst="rect">
            <a:avLst/>
          </a:prstGeom>
          <a:noFill/>
        </p:spPr>
        <p:txBody>
          <a:bodyPr wrap="square" lIns="0" rIns="0" tIns="0" bIns="0" anchor="ctr">
            <a:spAutoFit/>
          </a:bodyPr>
          <a:lstStyle/>
          <a:p>
            <a:pPr algn="r"/>
            <a:r>
              <a:rPr sz="1250" b="0" i="0">
                <a:solidFill>
                  <a:srgbClr val="C9D1DE"/>
                </a:solidFill>
                <a:latin typeface="Consolas"/>
              </a:rPr>
              <a:t>40,3</a:t>
            </a:r>
          </a:p>
        </p:txBody>
      </p:sp>
      <p:sp>
        <p:nvSpPr>
          <p:cNvPr id="34" name="TextBox 33"/>
          <p:cNvSpPr txBox="1"/>
          <p:nvPr/>
        </p:nvSpPr>
        <p:spPr>
          <a:xfrm>
            <a:off x="9464040" y="4069080"/>
            <a:ext cx="2039112" cy="347472"/>
          </a:xfrm>
          <a:prstGeom prst="rect">
            <a:avLst/>
          </a:prstGeom>
          <a:noFill/>
        </p:spPr>
        <p:txBody>
          <a:bodyPr wrap="square" lIns="0" rIns="0" tIns="0" bIns="0" anchor="ctr">
            <a:spAutoFit/>
          </a:bodyPr>
          <a:lstStyle/>
          <a:p>
            <a:pPr algn="r"/>
            <a:r>
              <a:rPr sz="1250" b="0" i="0">
                <a:solidFill>
                  <a:srgbClr val="C9D1DE"/>
                </a:solidFill>
                <a:latin typeface="Consolas"/>
              </a:rPr>
              <a:t>38,9 / 40,3</a:t>
            </a:r>
          </a:p>
        </p:txBody>
      </p:sp>
      <p:sp>
        <p:nvSpPr>
          <p:cNvPr id="35" name="TextBox 34"/>
          <p:cNvSpPr txBox="1"/>
          <p:nvPr/>
        </p:nvSpPr>
        <p:spPr>
          <a:xfrm>
            <a:off x="777240" y="4453128"/>
            <a:ext cx="4343400" cy="347472"/>
          </a:xfrm>
          <a:prstGeom prst="rect">
            <a:avLst/>
          </a:prstGeom>
          <a:noFill/>
        </p:spPr>
        <p:txBody>
          <a:bodyPr wrap="square" lIns="0" rIns="0" tIns="0" bIns="0" anchor="ctr">
            <a:spAutoFit/>
          </a:bodyPr>
          <a:lstStyle/>
          <a:p>
            <a:pPr algn="l"/>
            <a:r>
              <a:rPr sz="1250" b="0" i="0">
                <a:solidFill>
                  <a:srgbClr val="C9D1DE"/>
                </a:solidFill>
                <a:latin typeface="Segoe UI"/>
              </a:rPr>
              <a:t>T_out (°C)</a:t>
            </a:r>
          </a:p>
        </p:txBody>
      </p:sp>
      <p:sp>
        <p:nvSpPr>
          <p:cNvPr id="36" name="TextBox 35"/>
          <p:cNvSpPr txBox="1"/>
          <p:nvPr/>
        </p:nvSpPr>
        <p:spPr>
          <a:xfrm>
            <a:off x="5257800" y="4453128"/>
            <a:ext cx="1965960" cy="347472"/>
          </a:xfrm>
          <a:prstGeom prst="rect">
            <a:avLst/>
          </a:prstGeom>
          <a:noFill/>
        </p:spPr>
        <p:txBody>
          <a:bodyPr wrap="square" lIns="0" rIns="0" tIns="0" bIns="0" anchor="ctr">
            <a:spAutoFit/>
          </a:bodyPr>
          <a:lstStyle/>
          <a:p>
            <a:pPr algn="r"/>
            <a:r>
              <a:rPr sz="1250" b="0" i="0">
                <a:solidFill>
                  <a:srgbClr val="C9D1DE"/>
                </a:solidFill>
                <a:latin typeface="Consolas"/>
              </a:rPr>
              <a:t>7,2</a:t>
            </a:r>
          </a:p>
        </p:txBody>
      </p:sp>
      <p:sp>
        <p:nvSpPr>
          <p:cNvPr id="37" name="TextBox 36"/>
          <p:cNvSpPr txBox="1"/>
          <p:nvPr/>
        </p:nvSpPr>
        <p:spPr>
          <a:xfrm>
            <a:off x="7360920" y="4453128"/>
            <a:ext cx="1965960" cy="347472"/>
          </a:xfrm>
          <a:prstGeom prst="rect">
            <a:avLst/>
          </a:prstGeom>
          <a:noFill/>
        </p:spPr>
        <p:txBody>
          <a:bodyPr wrap="square" lIns="0" rIns="0" tIns="0" bIns="0" anchor="ctr">
            <a:spAutoFit/>
          </a:bodyPr>
          <a:lstStyle/>
          <a:p>
            <a:pPr algn="r"/>
            <a:r>
              <a:rPr sz="1250" b="0" i="0">
                <a:solidFill>
                  <a:srgbClr val="C9D1DE"/>
                </a:solidFill>
                <a:latin typeface="Consolas"/>
              </a:rPr>
              <a:t>8,2</a:t>
            </a:r>
          </a:p>
        </p:txBody>
      </p:sp>
      <p:sp>
        <p:nvSpPr>
          <p:cNvPr id="38" name="TextBox 37"/>
          <p:cNvSpPr txBox="1"/>
          <p:nvPr/>
        </p:nvSpPr>
        <p:spPr>
          <a:xfrm>
            <a:off x="9464040" y="4453128"/>
            <a:ext cx="2039112" cy="347472"/>
          </a:xfrm>
          <a:prstGeom prst="rect">
            <a:avLst/>
          </a:prstGeom>
          <a:noFill/>
        </p:spPr>
        <p:txBody>
          <a:bodyPr wrap="square" lIns="0" rIns="0" tIns="0" bIns="0" anchor="ctr">
            <a:spAutoFit/>
          </a:bodyPr>
          <a:lstStyle/>
          <a:p>
            <a:pPr algn="r"/>
            <a:r>
              <a:rPr sz="1250" b="0" i="0">
                <a:solidFill>
                  <a:srgbClr val="C9D1DE"/>
                </a:solidFill>
                <a:latin typeface="Consolas"/>
              </a:rPr>
              <a:t>7,4 / 7,3</a:t>
            </a:r>
          </a:p>
        </p:txBody>
      </p:sp>
      <p:sp>
        <p:nvSpPr>
          <p:cNvPr id="39" name="TextBox 38"/>
          <p:cNvSpPr txBox="1"/>
          <p:nvPr/>
        </p:nvSpPr>
        <p:spPr>
          <a:xfrm>
            <a:off x="777240" y="4837176"/>
            <a:ext cx="4343400" cy="347472"/>
          </a:xfrm>
          <a:prstGeom prst="rect">
            <a:avLst/>
          </a:prstGeom>
          <a:noFill/>
        </p:spPr>
        <p:txBody>
          <a:bodyPr wrap="square" lIns="0" rIns="0" tIns="0" bIns="0" anchor="ctr">
            <a:spAutoFit/>
          </a:bodyPr>
          <a:lstStyle/>
          <a:p>
            <a:pPr algn="l"/>
            <a:r>
              <a:rPr sz="1250" b="0" i="0">
                <a:solidFill>
                  <a:srgbClr val="C9D1DE"/>
                </a:solidFill>
                <a:latin typeface="Segoe UI"/>
              </a:rPr>
              <a:t>% fin de semana</a:t>
            </a:r>
          </a:p>
        </p:txBody>
      </p:sp>
      <p:sp>
        <p:nvSpPr>
          <p:cNvPr id="40" name="TextBox 39"/>
          <p:cNvSpPr txBox="1"/>
          <p:nvPr/>
        </p:nvSpPr>
        <p:spPr>
          <a:xfrm>
            <a:off x="5257800" y="4837176"/>
            <a:ext cx="1965960" cy="347472"/>
          </a:xfrm>
          <a:prstGeom prst="rect">
            <a:avLst/>
          </a:prstGeom>
          <a:noFill/>
        </p:spPr>
        <p:txBody>
          <a:bodyPr wrap="square" lIns="0" rIns="0" tIns="0" bIns="0" anchor="ctr">
            <a:spAutoFit/>
          </a:bodyPr>
          <a:lstStyle/>
          <a:p>
            <a:pPr algn="r"/>
            <a:r>
              <a:rPr sz="1250" b="0" i="0">
                <a:solidFill>
                  <a:srgbClr val="C9D1DE"/>
                </a:solidFill>
                <a:latin typeface="Consolas"/>
              </a:rPr>
              <a:t>28,1</a:t>
            </a:r>
          </a:p>
        </p:txBody>
      </p:sp>
      <p:sp>
        <p:nvSpPr>
          <p:cNvPr id="41" name="TextBox 40"/>
          <p:cNvSpPr txBox="1"/>
          <p:nvPr/>
        </p:nvSpPr>
        <p:spPr>
          <a:xfrm>
            <a:off x="7360920" y="4837176"/>
            <a:ext cx="1965960" cy="347472"/>
          </a:xfrm>
          <a:prstGeom prst="rect">
            <a:avLst/>
          </a:prstGeom>
          <a:noFill/>
        </p:spPr>
        <p:txBody>
          <a:bodyPr wrap="square" lIns="0" rIns="0" tIns="0" bIns="0" anchor="ctr">
            <a:spAutoFit/>
          </a:bodyPr>
          <a:lstStyle/>
          <a:p>
            <a:pPr algn="r"/>
            <a:r>
              <a:rPr sz="1250" b="0" i="0">
                <a:solidFill>
                  <a:srgbClr val="C9D1DE"/>
                </a:solidFill>
                <a:latin typeface="Consolas"/>
              </a:rPr>
              <a:t>27,3</a:t>
            </a:r>
          </a:p>
        </p:txBody>
      </p:sp>
      <p:sp>
        <p:nvSpPr>
          <p:cNvPr id="42" name="TextBox 41"/>
          <p:cNvSpPr txBox="1"/>
          <p:nvPr/>
        </p:nvSpPr>
        <p:spPr>
          <a:xfrm>
            <a:off x="9464040" y="4837176"/>
            <a:ext cx="2039112" cy="347472"/>
          </a:xfrm>
          <a:prstGeom prst="rect">
            <a:avLst/>
          </a:prstGeom>
          <a:noFill/>
        </p:spPr>
        <p:txBody>
          <a:bodyPr wrap="square" lIns="0" rIns="0" tIns="0" bIns="0" anchor="ctr">
            <a:spAutoFit/>
          </a:bodyPr>
          <a:lstStyle/>
          <a:p>
            <a:pPr algn="r"/>
            <a:r>
              <a:rPr sz="1250" b="0" i="0">
                <a:solidFill>
                  <a:srgbClr val="C9D1DE"/>
                </a:solidFill>
                <a:latin typeface="Consolas"/>
              </a:rPr>
              <a:t>27,8 / 28,6</a:t>
            </a:r>
          </a:p>
        </p:txBody>
      </p:sp>
      <p:sp>
        <p:nvSpPr>
          <p:cNvPr id="43" name="Rectangle 42"/>
          <p:cNvSpPr/>
          <p:nvPr/>
        </p:nvSpPr>
        <p:spPr>
          <a:xfrm>
            <a:off x="685800" y="5440680"/>
            <a:ext cx="10817352" cy="9601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5440680"/>
            <a:ext cx="54864" cy="96012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5605272"/>
            <a:ext cx="10360152" cy="68580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Ward y K-Means casi describen la misma casa.</a:t>
            </a:r>
            <a:r>
              <a:rPr sz="1250" b="0" i="0">
                <a:solidFill>
                  <a:srgbClr val="C9D1DE"/>
                </a:solidFill>
                <a:latin typeface="Segoe UI"/>
              </a:rPr>
              <a:t> El día de carga alta comparte, en las dos técnicas, un bloque diurno 2,5 veces más fuerte (8–18 h), +24 % de iluminación y algo más de humedad en cocina y lavandería. Lo único que no comparten es el calendario: 27–28 % de fin de semana en ambos grupos, casi idéntico.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5.2 · FIGURA QUE FALTABA EN EL AVANCE</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El medoide de cada tipo, y los tres días que no encajan en ninguno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12</a:t>
            </a:r>
          </a:p>
        </p:txBody>
      </p:sp>
      <p:sp>
        <p:nvSpPr>
          <p:cNvPr id="6" name="Rounded Rectangle 5"/>
          <p:cNvSpPr/>
          <p:nvPr/>
        </p:nvSpPr>
        <p:spPr>
          <a:xfrm>
            <a:off x="694944" y="1783080"/>
            <a:ext cx="10588752" cy="3246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6_representativos.png"/>
          <p:cNvPicPr>
            <a:picLocks noChangeAspect="1"/>
          </p:cNvPicPr>
          <p:nvPr/>
        </p:nvPicPr>
        <p:blipFill>
          <a:blip r:embed="rId2"/>
          <a:stretch>
            <a:fillRect/>
          </a:stretch>
        </p:blipFill>
        <p:spPr>
          <a:xfrm>
            <a:off x="864927" y="1911096"/>
            <a:ext cx="10248784" cy="2990087"/>
          </a:xfrm>
          <a:prstGeom prst="rect">
            <a:avLst/>
          </a:prstGeom>
        </p:spPr>
      </p:pic>
      <p:sp>
        <p:nvSpPr>
          <p:cNvPr id="8" name="Rectangle 7"/>
          <p:cNvSpPr/>
          <p:nvPr/>
        </p:nvSpPr>
        <p:spPr>
          <a:xfrm>
            <a:off x="685800" y="5257800"/>
            <a:ext cx="10817352" cy="10515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257800"/>
            <a:ext cx="54864" cy="105156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422392"/>
            <a:ext cx="10360152" cy="77723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Figura 5. El día que la casa realmente vivió, no un promedio.</a:t>
            </a:r>
            <a:r>
              <a:rPr sz="1250" b="0" i="0">
                <a:solidFill>
                  <a:srgbClr val="C9D1DE"/>
                </a:solidFill>
                <a:latin typeface="Segoe UI"/>
              </a:rPr>
              <a:t> Trazo grueso: el medoide de cada tipo — el día real con menor distancia media a su grupo, distinto del centroide de K-Means, que nunca ocurrió. En rojo, los tres días que average o complete aíslan: 24-ene, 16-mar y 15-abr, raros por cuándo consumen y no por cuánto.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E8710A"/>
                </a:solidFill>
                <a:latin typeface="Consolas"/>
              </a:rPr>
              <a:t>METODOLOGÍA · LO QUE K-MEANS NO DA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La jerarquía anidada: a k = 3 el árbol redescubre la «mañana activa»</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13</a:t>
            </a:r>
          </a:p>
        </p:txBody>
      </p:sp>
      <p:sp>
        <p:nvSpPr>
          <p:cNvPr id="6" name="Rectangle 5"/>
          <p:cNvSpPr/>
          <p:nvPr/>
        </p:nvSpPr>
        <p:spPr>
          <a:xfrm>
            <a:off x="685800" y="1828800"/>
            <a:ext cx="5166360" cy="3063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11680"/>
            <a:ext cx="4709160" cy="274320"/>
          </a:xfrm>
          <a:prstGeom prst="rect">
            <a:avLst/>
          </a:prstGeom>
          <a:noFill/>
        </p:spPr>
        <p:txBody>
          <a:bodyPr wrap="square" lIns="0" rIns="0" tIns="0" bIns="0">
            <a:spAutoFit/>
          </a:bodyPr>
          <a:lstStyle/>
          <a:p>
            <a:pPr algn="l"/>
            <a:r>
              <a:rPr sz="1000" b="1" i="0">
                <a:solidFill>
                  <a:srgbClr val="7BD992"/>
                </a:solidFill>
                <a:latin typeface="Consolas"/>
              </a:rPr>
              <a:t>k = 2 → k = 3 · ARI 0,796</a:t>
            </a:r>
          </a:p>
        </p:txBody>
      </p:sp>
      <p:sp>
        <p:nvSpPr>
          <p:cNvPr id="8" name="TextBox 7"/>
          <p:cNvSpPr txBox="1"/>
          <p:nvPr/>
        </p:nvSpPr>
        <p:spPr>
          <a:xfrm>
            <a:off x="941832" y="2331720"/>
            <a:ext cx="4709160" cy="822960"/>
          </a:xfrm>
          <a:prstGeom prst="rect">
            <a:avLst/>
          </a:prstGeom>
          <a:noFill/>
        </p:spPr>
        <p:txBody>
          <a:bodyPr wrap="square" lIns="0" rIns="0" tIns="0" bIns="0">
            <a:spAutoFit/>
          </a:bodyPr>
          <a:lstStyle/>
          <a:p>
            <a:pPr algn="l">
              <a:lnSpc>
                <a:spcPct val="110000"/>
              </a:lnSpc>
            </a:pPr>
            <a:r>
              <a:rPr sz="1700" b="0" i="0">
                <a:solidFill>
                  <a:srgbClr val="E6E9EF"/>
                </a:solidFill>
                <a:latin typeface="Segoe UI Semibold"/>
              </a:rPr>
              <a:t>El grupo intermedio es la «mañana activa» del Taller 2</a:t>
            </a:r>
          </a:p>
        </p:txBody>
      </p:sp>
      <p:sp>
        <p:nvSpPr>
          <p:cNvPr id="9" name="TextBox 8"/>
          <p:cNvSpPr txBox="1"/>
          <p:nvPr/>
        </p:nvSpPr>
        <p:spPr>
          <a:xfrm>
            <a:off x="941832" y="3200400"/>
            <a:ext cx="4709160" cy="1554480"/>
          </a:xfrm>
          <a:prstGeom prst="rect">
            <a:avLst/>
          </a:prstGeom>
          <a:noFill/>
        </p:spPr>
        <p:txBody>
          <a:bodyPr wrap="square" lIns="0" rIns="0" tIns="0" bIns="0">
            <a:spAutoFit/>
          </a:bodyPr>
          <a:lstStyle/>
          <a:p>
            <a:pPr algn="l">
              <a:lnSpc>
                <a:spcPct val="115000"/>
              </a:lnSpc>
            </a:pPr>
            <a:r>
              <a:rPr sz="1250" b="0" i="0">
                <a:solidFill>
                  <a:srgbClr val="9AA3B2"/>
                </a:solidFill>
                <a:latin typeface="Segoe UI"/>
              </a:rPr>
              <a:t>Ward parte los 114 días normales en 86 bajos (11,6 kWh) y un grupo intermedio de 28 días (15,4 kWh, 46,4 % de fin de semana) que contiene los 7 días de frontera. Con k = 3, Ward y K-Means coinciden con un ARI de 0,796: el mismo subtipo que K-Means había encontrado por su cuenta en el taller anterior.</a:t>
            </a:r>
          </a:p>
        </p:txBody>
      </p:sp>
      <p:sp>
        <p:nvSpPr>
          <p:cNvPr id="10" name="Rectangle 9"/>
          <p:cNvSpPr/>
          <p:nvPr/>
        </p:nvSpPr>
        <p:spPr>
          <a:xfrm>
            <a:off x="6062472" y="1828800"/>
            <a:ext cx="5166360" cy="3063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2011680"/>
            <a:ext cx="4709160" cy="274320"/>
          </a:xfrm>
          <a:prstGeom prst="rect">
            <a:avLst/>
          </a:prstGeom>
          <a:noFill/>
        </p:spPr>
        <p:txBody>
          <a:bodyPr wrap="square" lIns="0" rIns="0" tIns="0" bIns="0">
            <a:spAutoFit/>
          </a:bodyPr>
          <a:lstStyle/>
          <a:p>
            <a:pPr algn="l"/>
            <a:r>
              <a:rPr sz="1000" b="1" i="0">
                <a:solidFill>
                  <a:srgbClr val="FFB877"/>
                </a:solidFill>
                <a:latin typeface="Consolas"/>
              </a:rPr>
              <a:t>k = 3 → k = 4 · ARI 0,543</a:t>
            </a:r>
          </a:p>
        </p:txBody>
      </p:sp>
      <p:sp>
        <p:nvSpPr>
          <p:cNvPr id="12" name="TextBox 11"/>
          <p:cNvSpPr txBox="1"/>
          <p:nvPr/>
        </p:nvSpPr>
        <p:spPr>
          <a:xfrm>
            <a:off x="6318504" y="2331720"/>
            <a:ext cx="4709160" cy="822960"/>
          </a:xfrm>
          <a:prstGeom prst="rect">
            <a:avLst/>
          </a:prstGeom>
          <a:noFill/>
        </p:spPr>
        <p:txBody>
          <a:bodyPr wrap="square" lIns="0" rIns="0" tIns="0" bIns="0">
            <a:spAutoFit/>
          </a:bodyPr>
          <a:lstStyle/>
          <a:p>
            <a:pPr algn="l">
              <a:lnSpc>
                <a:spcPct val="110000"/>
              </a:lnSpc>
            </a:pPr>
            <a:r>
              <a:rPr sz="1700" b="0" i="0">
                <a:solidFill>
                  <a:srgbClr val="E6E9EF"/>
                </a:solidFill>
                <a:latin typeface="Segoe UI Semibold"/>
              </a:rPr>
              <a:t>Ahí se acaba la estructura real</a:t>
            </a:r>
          </a:p>
        </p:txBody>
      </p:sp>
      <p:sp>
        <p:nvSpPr>
          <p:cNvPr id="13" name="TextBox 12"/>
          <p:cNvSpPr txBox="1"/>
          <p:nvPr/>
        </p:nvSpPr>
        <p:spPr>
          <a:xfrm>
            <a:off x="6318504" y="3200400"/>
            <a:ext cx="4709160" cy="1554480"/>
          </a:xfrm>
          <a:prstGeom prst="rect">
            <a:avLst/>
          </a:prstGeom>
          <a:noFill/>
        </p:spPr>
        <p:txBody>
          <a:bodyPr wrap="square" lIns="0" rIns="0" tIns="0" bIns="0">
            <a:spAutoFit/>
          </a:bodyPr>
          <a:lstStyle/>
          <a:p>
            <a:pPr algn="l">
              <a:lnSpc>
                <a:spcPct val="115000"/>
              </a:lnSpc>
            </a:pPr>
            <a:r>
              <a:rPr sz="1250" b="0" i="0">
                <a:solidFill>
                  <a:srgbClr val="9AA3B2"/>
                </a:solidFill>
                <a:latin typeface="Segoe UI"/>
              </a:rPr>
              <a:t>Con k = 4 el acuerdo con K-Means cae a 0,543 y los cortes ya no tienen señal: la casa no tiene más niveles que auditar. El MDP se queda con k = 2 como variable de estado; la capa de explicación puede usar el tercer nivel («día normal con mañana activa») sin tocar el estado del agente.</a:t>
            </a:r>
          </a:p>
        </p:txBody>
      </p:sp>
      <p:sp>
        <p:nvSpPr>
          <p:cNvPr id="14" name="Rectangle 13"/>
          <p:cNvSpPr/>
          <p:nvPr/>
        </p:nvSpPr>
        <p:spPr>
          <a:xfrm>
            <a:off x="685800" y="5074920"/>
            <a:ext cx="10817352"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5074920"/>
            <a:ext cx="54864" cy="12344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5239512"/>
            <a:ext cx="10360152" cy="96012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Lo que el árbol da y K-Means no puede dar: una jerarquía.</a:t>
            </a:r>
            <a:r>
              <a:rPr sz="1300" b="0" i="0">
                <a:solidFill>
                  <a:srgbClr val="C9D1DE"/>
                </a:solidFill>
                <a:latin typeface="Segoe UI"/>
              </a:rPr>
              <a:t> K-Means siempre devuelve k grupos planos, del mismo tamaño conceptual. El árbol muestra que «carga alta» y «mañana activa» están anidados dentro de la misma familia de días activos — útil para explicarle una decisión a un humano, aunque el agente de Shiro siga viendo solo dos estados.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6.1 · DISPERSIÓN INTERNA, NO SOLO EL CENTRO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El radio y el diámetro de cada grupo, K-Means frente a Ward</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15</a:t>
            </a:r>
          </a:p>
        </p:txBody>
      </p:sp>
      <p:sp>
        <p:nvSpPr>
          <p:cNvPr id="6" name="TextBox 5"/>
          <p:cNvSpPr txBox="1"/>
          <p:nvPr/>
        </p:nvSpPr>
        <p:spPr>
          <a:xfrm>
            <a:off x="685800" y="1920240"/>
            <a:ext cx="4937760" cy="274320"/>
          </a:xfrm>
          <a:prstGeom prst="rect">
            <a:avLst/>
          </a:prstGeom>
          <a:noFill/>
        </p:spPr>
        <p:txBody>
          <a:bodyPr wrap="square" lIns="0" rIns="0" tIns="0" bIns="0">
            <a:spAutoFit/>
          </a:bodyPr>
          <a:lstStyle/>
          <a:p>
            <a:pPr algn="l"/>
            <a:r>
              <a:rPr sz="950" b="0" i="0">
                <a:solidFill>
                  <a:srgbClr val="6F7787"/>
                </a:solidFill>
                <a:latin typeface="Consolas"/>
              </a:rPr>
              <a:t>TÉCNICA · CLÚSTER</a:t>
            </a:r>
          </a:p>
        </p:txBody>
      </p:sp>
      <p:sp>
        <p:nvSpPr>
          <p:cNvPr id="7" name="TextBox 6"/>
          <p:cNvSpPr txBox="1"/>
          <p:nvPr/>
        </p:nvSpPr>
        <p:spPr>
          <a:xfrm>
            <a:off x="5760720" y="1920240"/>
            <a:ext cx="1691640" cy="274320"/>
          </a:xfrm>
          <a:prstGeom prst="rect">
            <a:avLst/>
          </a:prstGeom>
          <a:noFill/>
        </p:spPr>
        <p:txBody>
          <a:bodyPr wrap="square" lIns="0" rIns="0" tIns="0" bIns="0">
            <a:spAutoFit/>
          </a:bodyPr>
          <a:lstStyle/>
          <a:p>
            <a:pPr algn="r"/>
            <a:r>
              <a:rPr sz="950" b="0" i="0">
                <a:solidFill>
                  <a:srgbClr val="6F7787"/>
                </a:solidFill>
                <a:latin typeface="Consolas"/>
              </a:rPr>
              <a:t>DÍAS</a:t>
            </a:r>
          </a:p>
        </p:txBody>
      </p:sp>
      <p:sp>
        <p:nvSpPr>
          <p:cNvPr id="8" name="TextBox 7"/>
          <p:cNvSpPr txBox="1"/>
          <p:nvPr/>
        </p:nvSpPr>
        <p:spPr>
          <a:xfrm>
            <a:off x="7589520" y="1920240"/>
            <a:ext cx="1920240" cy="274320"/>
          </a:xfrm>
          <a:prstGeom prst="rect">
            <a:avLst/>
          </a:prstGeom>
          <a:noFill/>
        </p:spPr>
        <p:txBody>
          <a:bodyPr wrap="square" lIns="0" rIns="0" tIns="0" bIns="0">
            <a:spAutoFit/>
          </a:bodyPr>
          <a:lstStyle/>
          <a:p>
            <a:pPr algn="r"/>
            <a:r>
              <a:rPr sz="950" b="0" i="0">
                <a:solidFill>
                  <a:srgbClr val="6F7787"/>
                </a:solidFill>
                <a:latin typeface="Consolas"/>
              </a:rPr>
              <a:t>RADIO MEDIO (Wh)</a:t>
            </a:r>
          </a:p>
        </p:txBody>
      </p:sp>
      <p:sp>
        <p:nvSpPr>
          <p:cNvPr id="9" name="TextBox 8"/>
          <p:cNvSpPr txBox="1"/>
          <p:nvPr/>
        </p:nvSpPr>
        <p:spPr>
          <a:xfrm>
            <a:off x="9646920" y="1920240"/>
            <a:ext cx="1856231" cy="274320"/>
          </a:xfrm>
          <a:prstGeom prst="rect">
            <a:avLst/>
          </a:prstGeom>
          <a:noFill/>
        </p:spPr>
        <p:txBody>
          <a:bodyPr wrap="square" lIns="0" rIns="0" tIns="0" bIns="0">
            <a:spAutoFit/>
          </a:bodyPr>
          <a:lstStyle/>
          <a:p>
            <a:pPr algn="r"/>
            <a:r>
              <a:rPr sz="950" b="0" i="0">
                <a:solidFill>
                  <a:srgbClr val="6F7787"/>
                </a:solidFill>
                <a:latin typeface="Consolas"/>
              </a:rPr>
              <a:t>DIÁMETRO (Wh)</a:t>
            </a:r>
          </a:p>
        </p:txBody>
      </p:sp>
      <p:sp>
        <p:nvSpPr>
          <p:cNvPr id="10" name="Rectangle 9"/>
          <p:cNvSpPr/>
          <p:nvPr/>
        </p:nvSpPr>
        <p:spPr>
          <a:xfrm>
            <a:off x="685800" y="224942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86000"/>
            <a:ext cx="4846320" cy="438912"/>
          </a:xfrm>
          <a:prstGeom prst="rect">
            <a:avLst/>
          </a:prstGeom>
          <a:noFill/>
        </p:spPr>
        <p:txBody>
          <a:bodyPr wrap="square" lIns="0" rIns="0" tIns="0" bIns="0" anchor="ctr">
            <a:spAutoFit/>
          </a:bodyPr>
          <a:lstStyle/>
          <a:p>
            <a:pPr algn="l"/>
            <a:r>
              <a:rPr sz="1250" b="0" i="0">
                <a:solidFill>
                  <a:srgbClr val="C9D1DE"/>
                </a:solidFill>
                <a:latin typeface="Segoe UI"/>
              </a:rPr>
              <a:t>K-Means · normal</a:t>
            </a:r>
          </a:p>
        </p:txBody>
      </p:sp>
      <p:sp>
        <p:nvSpPr>
          <p:cNvPr id="12" name="TextBox 11"/>
          <p:cNvSpPr txBox="1"/>
          <p:nvPr/>
        </p:nvSpPr>
        <p:spPr>
          <a:xfrm>
            <a:off x="5760720" y="2286000"/>
            <a:ext cx="1691640" cy="438912"/>
          </a:xfrm>
          <a:prstGeom prst="rect">
            <a:avLst/>
          </a:prstGeom>
          <a:noFill/>
        </p:spPr>
        <p:txBody>
          <a:bodyPr wrap="square" lIns="0" rIns="0" tIns="0" bIns="0" anchor="ctr">
            <a:spAutoFit/>
          </a:bodyPr>
          <a:lstStyle/>
          <a:p>
            <a:pPr algn="r"/>
            <a:r>
              <a:rPr sz="1250" b="0" i="0">
                <a:solidFill>
                  <a:srgbClr val="C9D1DE"/>
                </a:solidFill>
                <a:latin typeface="Consolas"/>
              </a:rPr>
              <a:t>108</a:t>
            </a:r>
          </a:p>
        </p:txBody>
      </p:sp>
      <p:sp>
        <p:nvSpPr>
          <p:cNvPr id="13" name="TextBox 12"/>
          <p:cNvSpPr txBox="1"/>
          <p:nvPr/>
        </p:nvSpPr>
        <p:spPr>
          <a:xfrm>
            <a:off x="7589520" y="2286000"/>
            <a:ext cx="1920240" cy="438912"/>
          </a:xfrm>
          <a:prstGeom prst="rect">
            <a:avLst/>
          </a:prstGeom>
          <a:noFill/>
        </p:spPr>
        <p:txBody>
          <a:bodyPr wrap="square" lIns="0" rIns="0" tIns="0" bIns="0" anchor="ctr">
            <a:spAutoFit/>
          </a:bodyPr>
          <a:lstStyle/>
          <a:p>
            <a:pPr algn="r"/>
            <a:r>
              <a:rPr sz="1250" b="0" i="0">
                <a:solidFill>
                  <a:srgbClr val="C9D1DE"/>
                </a:solidFill>
                <a:latin typeface="Consolas"/>
              </a:rPr>
              <a:t>235,0</a:t>
            </a:r>
          </a:p>
        </p:txBody>
      </p:sp>
      <p:sp>
        <p:nvSpPr>
          <p:cNvPr id="14" name="TextBox 13"/>
          <p:cNvSpPr txBox="1"/>
          <p:nvPr/>
        </p:nvSpPr>
        <p:spPr>
          <a:xfrm>
            <a:off x="9646920" y="2286000"/>
            <a:ext cx="1856231" cy="438912"/>
          </a:xfrm>
          <a:prstGeom prst="rect">
            <a:avLst/>
          </a:prstGeom>
          <a:noFill/>
        </p:spPr>
        <p:txBody>
          <a:bodyPr wrap="square" lIns="0" rIns="0" tIns="0" bIns="0" anchor="ctr">
            <a:spAutoFit/>
          </a:bodyPr>
          <a:lstStyle/>
          <a:p>
            <a:pPr algn="r"/>
            <a:r>
              <a:rPr sz="1250" b="0" i="0">
                <a:solidFill>
                  <a:srgbClr val="C9D1DE"/>
                </a:solidFill>
                <a:latin typeface="Consolas"/>
              </a:rPr>
              <a:t>813,4</a:t>
            </a:r>
          </a:p>
        </p:txBody>
      </p:sp>
      <p:sp>
        <p:nvSpPr>
          <p:cNvPr id="15" name="TextBox 14"/>
          <p:cNvSpPr txBox="1"/>
          <p:nvPr/>
        </p:nvSpPr>
        <p:spPr>
          <a:xfrm>
            <a:off x="777240" y="2761488"/>
            <a:ext cx="4846320" cy="438912"/>
          </a:xfrm>
          <a:prstGeom prst="rect">
            <a:avLst/>
          </a:prstGeom>
          <a:noFill/>
        </p:spPr>
        <p:txBody>
          <a:bodyPr wrap="square" lIns="0" rIns="0" tIns="0" bIns="0" anchor="ctr">
            <a:spAutoFit/>
          </a:bodyPr>
          <a:lstStyle/>
          <a:p>
            <a:pPr algn="l"/>
            <a:r>
              <a:rPr sz="1250" b="0" i="0">
                <a:solidFill>
                  <a:srgbClr val="C9D1DE"/>
                </a:solidFill>
                <a:latin typeface="Segoe UI"/>
              </a:rPr>
              <a:t>K-Means · carga alta</a:t>
            </a:r>
          </a:p>
        </p:txBody>
      </p:sp>
      <p:sp>
        <p:nvSpPr>
          <p:cNvPr id="16" name="TextBox 15"/>
          <p:cNvSpPr txBox="1"/>
          <p:nvPr/>
        </p:nvSpPr>
        <p:spPr>
          <a:xfrm>
            <a:off x="5760720" y="2761488"/>
            <a:ext cx="1691640" cy="438912"/>
          </a:xfrm>
          <a:prstGeom prst="rect">
            <a:avLst/>
          </a:prstGeom>
          <a:noFill/>
        </p:spPr>
        <p:txBody>
          <a:bodyPr wrap="square" lIns="0" rIns="0" tIns="0" bIns="0" anchor="ctr">
            <a:spAutoFit/>
          </a:bodyPr>
          <a:lstStyle/>
          <a:p>
            <a:pPr algn="r"/>
            <a:r>
              <a:rPr sz="1250" b="0" i="0">
                <a:solidFill>
                  <a:srgbClr val="C9D1DE"/>
                </a:solidFill>
                <a:latin typeface="Consolas"/>
              </a:rPr>
              <a:t>28</a:t>
            </a:r>
          </a:p>
        </p:txBody>
      </p:sp>
      <p:sp>
        <p:nvSpPr>
          <p:cNvPr id="17" name="TextBox 16"/>
          <p:cNvSpPr txBox="1"/>
          <p:nvPr/>
        </p:nvSpPr>
        <p:spPr>
          <a:xfrm>
            <a:off x="7589520" y="2761488"/>
            <a:ext cx="1920240" cy="438912"/>
          </a:xfrm>
          <a:prstGeom prst="rect">
            <a:avLst/>
          </a:prstGeom>
          <a:noFill/>
        </p:spPr>
        <p:txBody>
          <a:bodyPr wrap="square" lIns="0" rIns="0" tIns="0" bIns="0" anchor="ctr">
            <a:spAutoFit/>
          </a:bodyPr>
          <a:lstStyle/>
          <a:p>
            <a:pPr algn="r"/>
            <a:r>
              <a:rPr sz="1250" b="0" i="0">
                <a:solidFill>
                  <a:srgbClr val="C9D1DE"/>
                </a:solidFill>
                <a:latin typeface="Consolas"/>
              </a:rPr>
              <a:t>405,7</a:t>
            </a:r>
          </a:p>
        </p:txBody>
      </p:sp>
      <p:sp>
        <p:nvSpPr>
          <p:cNvPr id="18" name="TextBox 17"/>
          <p:cNvSpPr txBox="1"/>
          <p:nvPr/>
        </p:nvSpPr>
        <p:spPr>
          <a:xfrm>
            <a:off x="9646920" y="2761488"/>
            <a:ext cx="1856231" cy="438912"/>
          </a:xfrm>
          <a:prstGeom prst="rect">
            <a:avLst/>
          </a:prstGeom>
          <a:noFill/>
        </p:spPr>
        <p:txBody>
          <a:bodyPr wrap="square" lIns="0" rIns="0" tIns="0" bIns="0" anchor="ctr">
            <a:spAutoFit/>
          </a:bodyPr>
          <a:lstStyle/>
          <a:p>
            <a:pPr algn="r"/>
            <a:r>
              <a:rPr sz="1250" b="0" i="0">
                <a:solidFill>
                  <a:srgbClr val="C9D1DE"/>
                </a:solidFill>
                <a:latin typeface="Consolas"/>
              </a:rPr>
              <a:t>966,7</a:t>
            </a:r>
          </a:p>
        </p:txBody>
      </p:sp>
      <p:sp>
        <p:nvSpPr>
          <p:cNvPr id="19" name="TextBox 18"/>
          <p:cNvSpPr txBox="1"/>
          <p:nvPr/>
        </p:nvSpPr>
        <p:spPr>
          <a:xfrm>
            <a:off x="777240" y="3236976"/>
            <a:ext cx="4846320" cy="438912"/>
          </a:xfrm>
          <a:prstGeom prst="rect">
            <a:avLst/>
          </a:prstGeom>
          <a:noFill/>
        </p:spPr>
        <p:txBody>
          <a:bodyPr wrap="square" lIns="0" rIns="0" tIns="0" bIns="0" anchor="ctr">
            <a:spAutoFit/>
          </a:bodyPr>
          <a:lstStyle/>
          <a:p>
            <a:pPr algn="l"/>
            <a:r>
              <a:rPr sz="1250" b="0" i="0">
                <a:solidFill>
                  <a:srgbClr val="C9D1DE"/>
                </a:solidFill>
                <a:latin typeface="Segoe UI"/>
              </a:rPr>
              <a:t>Ward · normal</a:t>
            </a:r>
          </a:p>
        </p:txBody>
      </p:sp>
      <p:sp>
        <p:nvSpPr>
          <p:cNvPr id="20" name="TextBox 19"/>
          <p:cNvSpPr txBox="1"/>
          <p:nvPr/>
        </p:nvSpPr>
        <p:spPr>
          <a:xfrm>
            <a:off x="5760720" y="3236976"/>
            <a:ext cx="1691640" cy="438912"/>
          </a:xfrm>
          <a:prstGeom prst="rect">
            <a:avLst/>
          </a:prstGeom>
          <a:noFill/>
        </p:spPr>
        <p:txBody>
          <a:bodyPr wrap="square" lIns="0" rIns="0" tIns="0" bIns="0" anchor="ctr">
            <a:spAutoFit/>
          </a:bodyPr>
          <a:lstStyle/>
          <a:p>
            <a:pPr algn="r"/>
            <a:r>
              <a:rPr sz="1250" b="0" i="0">
                <a:solidFill>
                  <a:srgbClr val="C9D1DE"/>
                </a:solidFill>
                <a:latin typeface="Consolas"/>
              </a:rPr>
              <a:t>114</a:t>
            </a:r>
          </a:p>
        </p:txBody>
      </p:sp>
      <p:sp>
        <p:nvSpPr>
          <p:cNvPr id="21" name="TextBox 20"/>
          <p:cNvSpPr txBox="1"/>
          <p:nvPr/>
        </p:nvSpPr>
        <p:spPr>
          <a:xfrm>
            <a:off x="7589520" y="3236976"/>
            <a:ext cx="1920240" cy="438912"/>
          </a:xfrm>
          <a:prstGeom prst="rect">
            <a:avLst/>
          </a:prstGeom>
          <a:noFill/>
        </p:spPr>
        <p:txBody>
          <a:bodyPr wrap="square" lIns="0" rIns="0" tIns="0" bIns="0" anchor="ctr">
            <a:spAutoFit/>
          </a:bodyPr>
          <a:lstStyle/>
          <a:p>
            <a:pPr algn="r"/>
            <a:r>
              <a:rPr sz="1250" b="0" i="0">
                <a:solidFill>
                  <a:srgbClr val="C9D1DE"/>
                </a:solidFill>
                <a:latin typeface="Consolas"/>
              </a:rPr>
              <a:t>249,4</a:t>
            </a:r>
          </a:p>
        </p:txBody>
      </p:sp>
      <p:sp>
        <p:nvSpPr>
          <p:cNvPr id="22" name="TextBox 21"/>
          <p:cNvSpPr txBox="1"/>
          <p:nvPr/>
        </p:nvSpPr>
        <p:spPr>
          <a:xfrm>
            <a:off x="9646920" y="3236976"/>
            <a:ext cx="1856231" cy="438912"/>
          </a:xfrm>
          <a:prstGeom prst="rect">
            <a:avLst/>
          </a:prstGeom>
          <a:noFill/>
        </p:spPr>
        <p:txBody>
          <a:bodyPr wrap="square" lIns="0" rIns="0" tIns="0" bIns="0" anchor="ctr">
            <a:spAutoFit/>
          </a:bodyPr>
          <a:lstStyle/>
          <a:p>
            <a:pPr algn="r"/>
            <a:r>
              <a:rPr sz="1250" b="0" i="0">
                <a:solidFill>
                  <a:srgbClr val="C9D1DE"/>
                </a:solidFill>
                <a:latin typeface="Consolas"/>
              </a:rPr>
              <a:t>866,6</a:t>
            </a:r>
          </a:p>
        </p:txBody>
      </p:sp>
      <p:sp>
        <p:nvSpPr>
          <p:cNvPr id="23" name="TextBox 22"/>
          <p:cNvSpPr txBox="1"/>
          <p:nvPr/>
        </p:nvSpPr>
        <p:spPr>
          <a:xfrm>
            <a:off x="777240" y="3712464"/>
            <a:ext cx="4846320" cy="438912"/>
          </a:xfrm>
          <a:prstGeom prst="rect">
            <a:avLst/>
          </a:prstGeom>
          <a:noFill/>
        </p:spPr>
        <p:txBody>
          <a:bodyPr wrap="square" lIns="0" rIns="0" tIns="0" bIns="0" anchor="ctr">
            <a:spAutoFit/>
          </a:bodyPr>
          <a:lstStyle/>
          <a:p>
            <a:pPr algn="l"/>
            <a:r>
              <a:rPr sz="1250" b="0" i="0">
                <a:solidFill>
                  <a:srgbClr val="C9D1DE"/>
                </a:solidFill>
                <a:latin typeface="Segoe UI"/>
              </a:rPr>
              <a:t>Ward · carga alta</a:t>
            </a:r>
          </a:p>
        </p:txBody>
      </p:sp>
      <p:sp>
        <p:nvSpPr>
          <p:cNvPr id="24" name="TextBox 23"/>
          <p:cNvSpPr txBox="1"/>
          <p:nvPr/>
        </p:nvSpPr>
        <p:spPr>
          <a:xfrm>
            <a:off x="5760720" y="3712464"/>
            <a:ext cx="1691640" cy="438912"/>
          </a:xfrm>
          <a:prstGeom prst="rect">
            <a:avLst/>
          </a:prstGeom>
          <a:noFill/>
        </p:spPr>
        <p:txBody>
          <a:bodyPr wrap="square" lIns="0" rIns="0" tIns="0" bIns="0" anchor="ctr">
            <a:spAutoFit/>
          </a:bodyPr>
          <a:lstStyle/>
          <a:p>
            <a:pPr algn="r"/>
            <a:r>
              <a:rPr sz="1250" b="0" i="0">
                <a:solidFill>
                  <a:srgbClr val="C9D1DE"/>
                </a:solidFill>
                <a:latin typeface="Consolas"/>
              </a:rPr>
              <a:t>22</a:t>
            </a:r>
          </a:p>
        </p:txBody>
      </p:sp>
      <p:sp>
        <p:nvSpPr>
          <p:cNvPr id="25" name="TextBox 24"/>
          <p:cNvSpPr txBox="1"/>
          <p:nvPr/>
        </p:nvSpPr>
        <p:spPr>
          <a:xfrm>
            <a:off x="7589520" y="3712464"/>
            <a:ext cx="1920240" cy="438912"/>
          </a:xfrm>
          <a:prstGeom prst="rect">
            <a:avLst/>
          </a:prstGeom>
          <a:noFill/>
        </p:spPr>
        <p:txBody>
          <a:bodyPr wrap="square" lIns="0" rIns="0" tIns="0" bIns="0" anchor="ctr">
            <a:spAutoFit/>
          </a:bodyPr>
          <a:lstStyle/>
          <a:p>
            <a:pPr algn="r"/>
            <a:r>
              <a:rPr sz="1250" b="0" i="0">
                <a:solidFill>
                  <a:srgbClr val="C9D1DE"/>
                </a:solidFill>
                <a:latin typeface="Consolas"/>
              </a:rPr>
              <a:t>411,3</a:t>
            </a:r>
          </a:p>
        </p:txBody>
      </p:sp>
      <p:sp>
        <p:nvSpPr>
          <p:cNvPr id="26" name="TextBox 25"/>
          <p:cNvSpPr txBox="1"/>
          <p:nvPr/>
        </p:nvSpPr>
        <p:spPr>
          <a:xfrm>
            <a:off x="9646920" y="3712464"/>
            <a:ext cx="1856231" cy="438912"/>
          </a:xfrm>
          <a:prstGeom prst="rect">
            <a:avLst/>
          </a:prstGeom>
          <a:noFill/>
        </p:spPr>
        <p:txBody>
          <a:bodyPr wrap="square" lIns="0" rIns="0" tIns="0" bIns="0" anchor="ctr">
            <a:spAutoFit/>
          </a:bodyPr>
          <a:lstStyle/>
          <a:p>
            <a:pPr algn="r"/>
            <a:r>
              <a:rPr sz="1250" b="0" i="0">
                <a:solidFill>
                  <a:srgbClr val="C9D1DE"/>
                </a:solidFill>
                <a:latin typeface="Consolas"/>
              </a:rPr>
              <a:t>966,7</a:t>
            </a:r>
          </a:p>
        </p:txBody>
      </p:sp>
      <p:sp>
        <p:nvSpPr>
          <p:cNvPr id="27" name="Rectangle 26"/>
          <p:cNvSpPr/>
          <p:nvPr/>
        </p:nvSpPr>
        <p:spPr>
          <a:xfrm>
            <a:off x="685800" y="4343400"/>
            <a:ext cx="10817352" cy="16459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4343400"/>
            <a:ext cx="54864" cy="164592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4507992"/>
            <a:ext cx="10360152" cy="137160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Casi no cambió la forma.</a:t>
            </a:r>
            <a:r>
              <a:rPr sz="1300" b="0" i="0">
                <a:solidFill>
                  <a:srgbClr val="C9D1DE"/>
                </a:solidFill>
                <a:latin typeface="Segoe UI"/>
              </a:rPr>
              <a:t> El radio medio del grupo de carga alta crece de 235 a 406 Wh en K-Means y de 249 a 411 Wh en Ward: 1,7 veces más disperso en las dos técnicas. El diámetro del grupo de carga alta es idéntico entre técnicas (966,7 Wh) — Ward mueve 7 días de frontera hacia el lado normal, y eso ensancha un poco ese grupo, pero no cambia cuánto varían entre sí los días de carga alta.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PUNTO 6.2 · LOS OCHO DÍAS QUE CAMBIAN DE LADO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De carga alta a normal (7) y de normal a carga alta (1): las fechas exactas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16</a:t>
            </a:r>
          </a:p>
        </p:txBody>
      </p:sp>
      <p:sp>
        <p:nvSpPr>
          <p:cNvPr id="6" name="TextBox 5"/>
          <p:cNvSpPr txBox="1"/>
          <p:nvPr/>
        </p:nvSpPr>
        <p:spPr>
          <a:xfrm>
            <a:off x="685800" y="1783080"/>
            <a:ext cx="2743200" cy="274320"/>
          </a:xfrm>
          <a:prstGeom prst="rect">
            <a:avLst/>
          </a:prstGeom>
          <a:noFill/>
        </p:spPr>
        <p:txBody>
          <a:bodyPr wrap="square" lIns="0" rIns="0" tIns="0" bIns="0">
            <a:spAutoFit/>
          </a:bodyPr>
          <a:lstStyle/>
          <a:p>
            <a:pPr algn="l"/>
            <a:r>
              <a:rPr sz="950" b="0" i="0">
                <a:solidFill>
                  <a:srgbClr val="6F7787"/>
                </a:solidFill>
                <a:latin typeface="Consolas"/>
              </a:rPr>
              <a:t>FECHA</a:t>
            </a:r>
          </a:p>
        </p:txBody>
      </p:sp>
      <p:sp>
        <p:nvSpPr>
          <p:cNvPr id="7" name="TextBox 6"/>
          <p:cNvSpPr txBox="1"/>
          <p:nvPr/>
        </p:nvSpPr>
        <p:spPr>
          <a:xfrm>
            <a:off x="3657600" y="1783080"/>
            <a:ext cx="3017520" cy="274320"/>
          </a:xfrm>
          <a:prstGeom prst="rect">
            <a:avLst/>
          </a:prstGeom>
          <a:noFill/>
        </p:spPr>
        <p:txBody>
          <a:bodyPr wrap="square" lIns="0" rIns="0" tIns="0" bIns="0">
            <a:spAutoFit/>
          </a:bodyPr>
          <a:lstStyle/>
          <a:p>
            <a:pPr algn="r"/>
            <a:r>
              <a:rPr sz="950" b="0" i="0">
                <a:solidFill>
                  <a:srgbClr val="6F7787"/>
                </a:solidFill>
                <a:latin typeface="Consolas"/>
              </a:rPr>
              <a:t>ETIQUETA K-MEANS</a:t>
            </a:r>
          </a:p>
        </p:txBody>
      </p:sp>
      <p:sp>
        <p:nvSpPr>
          <p:cNvPr id="8" name="TextBox 7"/>
          <p:cNvSpPr txBox="1"/>
          <p:nvPr/>
        </p:nvSpPr>
        <p:spPr>
          <a:xfrm>
            <a:off x="6858000" y="1783080"/>
            <a:ext cx="4645152" cy="274320"/>
          </a:xfrm>
          <a:prstGeom prst="rect">
            <a:avLst/>
          </a:prstGeom>
          <a:noFill/>
        </p:spPr>
        <p:txBody>
          <a:bodyPr wrap="square" lIns="0" rIns="0" tIns="0" bIns="0">
            <a:spAutoFit/>
          </a:bodyPr>
          <a:lstStyle/>
          <a:p>
            <a:pPr algn="r"/>
            <a:r>
              <a:rPr sz="950" b="0" i="0">
                <a:solidFill>
                  <a:srgbClr val="6F7787"/>
                </a:solidFill>
                <a:latin typeface="Consolas"/>
              </a:rPr>
              <a:t>ETIQUETA WARD</a:t>
            </a:r>
          </a:p>
        </p:txBody>
      </p:sp>
      <p:sp>
        <p:nvSpPr>
          <p:cNvPr id="9" name="Rectangle 8"/>
          <p:cNvSpPr/>
          <p:nvPr/>
        </p:nvSpPr>
        <p:spPr>
          <a:xfrm>
            <a:off x="685800" y="2075688"/>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12264"/>
            <a:ext cx="2651760" cy="329184"/>
          </a:xfrm>
          <a:prstGeom prst="rect">
            <a:avLst/>
          </a:prstGeom>
          <a:noFill/>
        </p:spPr>
        <p:txBody>
          <a:bodyPr wrap="square" lIns="0" rIns="0" tIns="0" bIns="0" anchor="ctr">
            <a:spAutoFit/>
          </a:bodyPr>
          <a:lstStyle/>
          <a:p>
            <a:pPr algn="l"/>
            <a:r>
              <a:rPr sz="1250" b="0" i="0">
                <a:solidFill>
                  <a:srgbClr val="C9D1DE"/>
                </a:solidFill>
                <a:latin typeface="Segoe UI"/>
              </a:rPr>
              <a:t>17-ene</a:t>
            </a:r>
          </a:p>
        </p:txBody>
      </p:sp>
      <p:sp>
        <p:nvSpPr>
          <p:cNvPr id="11" name="TextBox 10"/>
          <p:cNvSpPr txBox="1"/>
          <p:nvPr/>
        </p:nvSpPr>
        <p:spPr>
          <a:xfrm>
            <a:off x="3657600" y="2112264"/>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12" name="TextBox 11"/>
          <p:cNvSpPr txBox="1"/>
          <p:nvPr/>
        </p:nvSpPr>
        <p:spPr>
          <a:xfrm>
            <a:off x="6858000" y="2112264"/>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13" name="TextBox 12"/>
          <p:cNvSpPr txBox="1"/>
          <p:nvPr/>
        </p:nvSpPr>
        <p:spPr>
          <a:xfrm>
            <a:off x="777240" y="2478024"/>
            <a:ext cx="2651760" cy="329184"/>
          </a:xfrm>
          <a:prstGeom prst="rect">
            <a:avLst/>
          </a:prstGeom>
          <a:noFill/>
        </p:spPr>
        <p:txBody>
          <a:bodyPr wrap="square" lIns="0" rIns="0" tIns="0" bIns="0" anchor="ctr">
            <a:spAutoFit/>
          </a:bodyPr>
          <a:lstStyle/>
          <a:p>
            <a:pPr algn="l"/>
            <a:r>
              <a:rPr sz="1250" b="0" i="0">
                <a:solidFill>
                  <a:srgbClr val="C9D1DE"/>
                </a:solidFill>
                <a:latin typeface="Segoe UI"/>
              </a:rPr>
              <a:t>31-ene</a:t>
            </a:r>
          </a:p>
        </p:txBody>
      </p:sp>
      <p:sp>
        <p:nvSpPr>
          <p:cNvPr id="14" name="TextBox 13"/>
          <p:cNvSpPr txBox="1"/>
          <p:nvPr/>
        </p:nvSpPr>
        <p:spPr>
          <a:xfrm>
            <a:off x="3657600" y="2478024"/>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15" name="TextBox 14"/>
          <p:cNvSpPr txBox="1"/>
          <p:nvPr/>
        </p:nvSpPr>
        <p:spPr>
          <a:xfrm>
            <a:off x="6858000" y="2478024"/>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16" name="TextBox 15"/>
          <p:cNvSpPr txBox="1"/>
          <p:nvPr/>
        </p:nvSpPr>
        <p:spPr>
          <a:xfrm>
            <a:off x="777240" y="2843784"/>
            <a:ext cx="2651760" cy="329184"/>
          </a:xfrm>
          <a:prstGeom prst="rect">
            <a:avLst/>
          </a:prstGeom>
          <a:noFill/>
        </p:spPr>
        <p:txBody>
          <a:bodyPr wrap="square" lIns="0" rIns="0" tIns="0" bIns="0" anchor="ctr">
            <a:spAutoFit/>
          </a:bodyPr>
          <a:lstStyle/>
          <a:p>
            <a:pPr algn="l"/>
            <a:r>
              <a:rPr sz="1250" b="0" i="0">
                <a:solidFill>
                  <a:srgbClr val="C9D1DE"/>
                </a:solidFill>
                <a:latin typeface="Segoe UI"/>
              </a:rPr>
              <a:t>09-feb</a:t>
            </a:r>
          </a:p>
        </p:txBody>
      </p:sp>
      <p:sp>
        <p:nvSpPr>
          <p:cNvPr id="17" name="TextBox 16"/>
          <p:cNvSpPr txBox="1"/>
          <p:nvPr/>
        </p:nvSpPr>
        <p:spPr>
          <a:xfrm>
            <a:off x="3657600" y="2843784"/>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18" name="TextBox 17"/>
          <p:cNvSpPr txBox="1"/>
          <p:nvPr/>
        </p:nvSpPr>
        <p:spPr>
          <a:xfrm>
            <a:off x="6858000" y="2843784"/>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19" name="TextBox 18"/>
          <p:cNvSpPr txBox="1"/>
          <p:nvPr/>
        </p:nvSpPr>
        <p:spPr>
          <a:xfrm>
            <a:off x="777240" y="3209544"/>
            <a:ext cx="2651760" cy="329184"/>
          </a:xfrm>
          <a:prstGeom prst="rect">
            <a:avLst/>
          </a:prstGeom>
          <a:noFill/>
        </p:spPr>
        <p:txBody>
          <a:bodyPr wrap="square" lIns="0" rIns="0" tIns="0" bIns="0" anchor="ctr">
            <a:spAutoFit/>
          </a:bodyPr>
          <a:lstStyle/>
          <a:p>
            <a:pPr algn="l"/>
            <a:r>
              <a:rPr sz="1250" b="0" i="0">
                <a:solidFill>
                  <a:srgbClr val="C9D1DE"/>
                </a:solidFill>
                <a:latin typeface="Segoe UI"/>
              </a:rPr>
              <a:t>12-feb</a:t>
            </a:r>
          </a:p>
        </p:txBody>
      </p:sp>
      <p:sp>
        <p:nvSpPr>
          <p:cNvPr id="20" name="TextBox 19"/>
          <p:cNvSpPr txBox="1"/>
          <p:nvPr/>
        </p:nvSpPr>
        <p:spPr>
          <a:xfrm>
            <a:off x="3657600" y="3209544"/>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21" name="TextBox 20"/>
          <p:cNvSpPr txBox="1"/>
          <p:nvPr/>
        </p:nvSpPr>
        <p:spPr>
          <a:xfrm>
            <a:off x="6858000" y="3209544"/>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22" name="TextBox 21"/>
          <p:cNvSpPr txBox="1"/>
          <p:nvPr/>
        </p:nvSpPr>
        <p:spPr>
          <a:xfrm>
            <a:off x="777240" y="3575303"/>
            <a:ext cx="2651760" cy="329184"/>
          </a:xfrm>
          <a:prstGeom prst="rect">
            <a:avLst/>
          </a:prstGeom>
          <a:noFill/>
        </p:spPr>
        <p:txBody>
          <a:bodyPr wrap="square" lIns="0" rIns="0" tIns="0" bIns="0" anchor="ctr">
            <a:spAutoFit/>
          </a:bodyPr>
          <a:lstStyle/>
          <a:p>
            <a:pPr algn="l"/>
            <a:r>
              <a:rPr sz="1250" b="0" i="0">
                <a:solidFill>
                  <a:srgbClr val="C9D1DE"/>
                </a:solidFill>
                <a:latin typeface="Segoe UI"/>
              </a:rPr>
              <a:t>25-feb</a:t>
            </a:r>
          </a:p>
        </p:txBody>
      </p:sp>
      <p:sp>
        <p:nvSpPr>
          <p:cNvPr id="23" name="TextBox 22"/>
          <p:cNvSpPr txBox="1"/>
          <p:nvPr/>
        </p:nvSpPr>
        <p:spPr>
          <a:xfrm>
            <a:off x="3657600" y="3575303"/>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24" name="TextBox 23"/>
          <p:cNvSpPr txBox="1"/>
          <p:nvPr/>
        </p:nvSpPr>
        <p:spPr>
          <a:xfrm>
            <a:off x="6858000" y="3575303"/>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25" name="TextBox 24"/>
          <p:cNvSpPr txBox="1"/>
          <p:nvPr/>
        </p:nvSpPr>
        <p:spPr>
          <a:xfrm>
            <a:off x="777240" y="3941063"/>
            <a:ext cx="2651760" cy="329184"/>
          </a:xfrm>
          <a:prstGeom prst="rect">
            <a:avLst/>
          </a:prstGeom>
          <a:noFill/>
        </p:spPr>
        <p:txBody>
          <a:bodyPr wrap="square" lIns="0" rIns="0" tIns="0" bIns="0" anchor="ctr">
            <a:spAutoFit/>
          </a:bodyPr>
          <a:lstStyle/>
          <a:p>
            <a:pPr algn="l"/>
            <a:r>
              <a:rPr sz="1250" b="0" i="0">
                <a:solidFill>
                  <a:srgbClr val="C9D1DE"/>
                </a:solidFill>
                <a:latin typeface="Segoe UI"/>
              </a:rPr>
              <a:t>19-mar</a:t>
            </a:r>
          </a:p>
        </p:txBody>
      </p:sp>
      <p:sp>
        <p:nvSpPr>
          <p:cNvPr id="26" name="TextBox 25"/>
          <p:cNvSpPr txBox="1"/>
          <p:nvPr/>
        </p:nvSpPr>
        <p:spPr>
          <a:xfrm>
            <a:off x="3657600" y="3941063"/>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27" name="TextBox 26"/>
          <p:cNvSpPr txBox="1"/>
          <p:nvPr/>
        </p:nvSpPr>
        <p:spPr>
          <a:xfrm>
            <a:off x="6858000" y="3941063"/>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28" name="TextBox 27"/>
          <p:cNvSpPr txBox="1"/>
          <p:nvPr/>
        </p:nvSpPr>
        <p:spPr>
          <a:xfrm>
            <a:off x="777240" y="4306824"/>
            <a:ext cx="2651760" cy="329184"/>
          </a:xfrm>
          <a:prstGeom prst="rect">
            <a:avLst/>
          </a:prstGeom>
          <a:noFill/>
        </p:spPr>
        <p:txBody>
          <a:bodyPr wrap="square" lIns="0" rIns="0" tIns="0" bIns="0" anchor="ctr">
            <a:spAutoFit/>
          </a:bodyPr>
          <a:lstStyle/>
          <a:p>
            <a:pPr algn="l"/>
            <a:r>
              <a:rPr sz="1250" b="0" i="0">
                <a:solidFill>
                  <a:srgbClr val="C9D1DE"/>
                </a:solidFill>
                <a:latin typeface="Segoe UI"/>
              </a:rPr>
              <a:t>28-mar</a:t>
            </a:r>
          </a:p>
        </p:txBody>
      </p:sp>
      <p:sp>
        <p:nvSpPr>
          <p:cNvPr id="29" name="TextBox 28"/>
          <p:cNvSpPr txBox="1"/>
          <p:nvPr/>
        </p:nvSpPr>
        <p:spPr>
          <a:xfrm>
            <a:off x="3657600" y="4306824"/>
            <a:ext cx="3017520"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30" name="TextBox 29"/>
          <p:cNvSpPr txBox="1"/>
          <p:nvPr/>
        </p:nvSpPr>
        <p:spPr>
          <a:xfrm>
            <a:off x="6858000" y="4306824"/>
            <a:ext cx="4645152"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31" name="TextBox 30"/>
          <p:cNvSpPr txBox="1"/>
          <p:nvPr/>
        </p:nvSpPr>
        <p:spPr>
          <a:xfrm>
            <a:off x="777240" y="4672584"/>
            <a:ext cx="2651760" cy="329184"/>
          </a:xfrm>
          <a:prstGeom prst="rect">
            <a:avLst/>
          </a:prstGeom>
          <a:noFill/>
        </p:spPr>
        <p:txBody>
          <a:bodyPr wrap="square" lIns="0" rIns="0" tIns="0" bIns="0" anchor="ctr">
            <a:spAutoFit/>
          </a:bodyPr>
          <a:lstStyle/>
          <a:p>
            <a:pPr algn="l"/>
            <a:r>
              <a:rPr sz="1250" b="0" i="0">
                <a:solidFill>
                  <a:srgbClr val="C9D1DE"/>
                </a:solidFill>
                <a:latin typeface="Segoe UI"/>
              </a:rPr>
              <a:t>09-abr</a:t>
            </a:r>
          </a:p>
        </p:txBody>
      </p:sp>
      <p:sp>
        <p:nvSpPr>
          <p:cNvPr id="32" name="TextBox 31"/>
          <p:cNvSpPr txBox="1"/>
          <p:nvPr/>
        </p:nvSpPr>
        <p:spPr>
          <a:xfrm>
            <a:off x="3657600" y="4672584"/>
            <a:ext cx="3017520" cy="329184"/>
          </a:xfrm>
          <a:prstGeom prst="rect">
            <a:avLst/>
          </a:prstGeom>
          <a:noFill/>
        </p:spPr>
        <p:txBody>
          <a:bodyPr wrap="square" lIns="0" rIns="0" tIns="0" bIns="0" anchor="ctr">
            <a:spAutoFit/>
          </a:bodyPr>
          <a:lstStyle/>
          <a:p>
            <a:pPr algn="r"/>
            <a:r>
              <a:rPr sz="1250" b="0" i="0">
                <a:solidFill>
                  <a:srgbClr val="C9D1DE"/>
                </a:solidFill>
                <a:latin typeface="Consolas"/>
              </a:rPr>
              <a:t>normal</a:t>
            </a:r>
          </a:p>
        </p:txBody>
      </p:sp>
      <p:sp>
        <p:nvSpPr>
          <p:cNvPr id="33" name="TextBox 32"/>
          <p:cNvSpPr txBox="1"/>
          <p:nvPr/>
        </p:nvSpPr>
        <p:spPr>
          <a:xfrm>
            <a:off x="6858000" y="4672584"/>
            <a:ext cx="4645152" cy="329184"/>
          </a:xfrm>
          <a:prstGeom prst="rect">
            <a:avLst/>
          </a:prstGeom>
          <a:noFill/>
        </p:spPr>
        <p:txBody>
          <a:bodyPr wrap="square" lIns="0" rIns="0" tIns="0" bIns="0" anchor="ctr">
            <a:spAutoFit/>
          </a:bodyPr>
          <a:lstStyle/>
          <a:p>
            <a:pPr algn="r"/>
            <a:r>
              <a:rPr sz="1250" b="0" i="0">
                <a:solidFill>
                  <a:srgbClr val="C9D1DE"/>
                </a:solidFill>
                <a:latin typeface="Consolas"/>
              </a:rPr>
              <a:t>carga alta</a:t>
            </a:r>
          </a:p>
        </p:txBody>
      </p:sp>
      <p:sp>
        <p:nvSpPr>
          <p:cNvPr id="34" name="Rectangle 33"/>
          <p:cNvSpPr/>
          <p:nvPr/>
        </p:nvSpPr>
        <p:spPr>
          <a:xfrm>
            <a:off x="685800" y="5074920"/>
            <a:ext cx="10817352" cy="12344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5074920"/>
            <a:ext cx="54864" cy="123444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 y="5239512"/>
            <a:ext cx="10360152" cy="960120"/>
          </a:xfrm>
          <a:prstGeom prst="rect">
            <a:avLst/>
          </a:prstGeom>
          <a:noFill/>
        </p:spPr>
        <p:txBody>
          <a:bodyPr wrap="square" lIns="0" rIns="0" tIns="0" bIns="0">
            <a:spAutoFit/>
          </a:bodyPr>
          <a:lstStyle/>
          <a:p>
            <a:pPr algn="l">
              <a:lnSpc>
                <a:spcPct val="110000"/>
              </a:lnSpc>
            </a:pPr>
            <a:r>
              <a:rPr sz="1300" b="1" i="0">
                <a:solidFill>
                  <a:srgbClr val="E6E9EF"/>
                </a:solidFill>
                <a:latin typeface="Segoe UI"/>
              </a:rPr>
              <a:t>Margen medio: 0,110 en los que cambian, 0,358 en el resto.</a:t>
            </a:r>
            <a:r>
              <a:rPr sz="1300" b="0" i="0">
                <a:solidFill>
                  <a:srgbClr val="C9D1DE"/>
                </a:solidFill>
                <a:latin typeface="Segoe UI"/>
              </a:rPr>
              <a:t> Los ocho están en el 20 % de días más cercanos a la frontera y son de carga alta moderada (15–21 kWh) — ni tan bajos como un día normal ni tan altos como el resto de carga alta. El tipo de día es robusto en su núcleo y difuso en su borde; el margen entra al MDP como la confianza de esa estimación.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§6.3 · CÓMO SE HIZO LA PRUEBA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El código del control temporal y de la prueba de determinismo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3 · Clustering jerárquico</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18</a:t>
            </a:r>
          </a:p>
        </p:txBody>
      </p:sp>
      <p:sp>
        <p:nvSpPr>
          <p:cNvPr id="6" name="Rectangle 5"/>
          <p:cNvSpPr/>
          <p:nvPr/>
        </p:nvSpPr>
        <p:spPr>
          <a:xfrm>
            <a:off x="2513422" y="1581912"/>
            <a:ext cx="7162107" cy="383133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temporal.png"/>
          <p:cNvPicPr>
            <a:picLocks noChangeAspect="1"/>
          </p:cNvPicPr>
          <p:nvPr/>
        </p:nvPicPr>
        <p:blipFill>
          <a:blip r:embed="rId2"/>
          <a:stretch>
            <a:fillRect/>
          </a:stretch>
        </p:blipFill>
        <p:spPr>
          <a:xfrm>
            <a:off x="2531710" y="1600200"/>
            <a:ext cx="7125531" cy="3794760"/>
          </a:xfrm>
          <a:prstGeom prst="rect">
            <a:avLst/>
          </a:prstGeom>
        </p:spPr>
      </p:pic>
      <p:sp>
        <p:nvSpPr>
          <p:cNvPr id="8" name="Rectangle 7"/>
          <p:cNvSpPr/>
          <p:nvPr/>
        </p:nvSpPr>
        <p:spPr>
          <a:xfrm>
            <a:off x="685800" y="5532120"/>
            <a:ext cx="10817352"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532120"/>
            <a:ext cx="54864" cy="86868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696712"/>
            <a:ext cx="10360152" cy="59435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Dos preguntas, una celda.</a:t>
            </a:r>
            <a:r>
              <a:rPr sz="1250" b="0" i="0">
                <a:solidFill>
                  <a:srgbClr val="C9D1DE"/>
                </a:solidFill>
                <a:latin typeface="Segoe UI"/>
              </a:rPr>
              <a:t> Ajusta cada técnica solo con los 110 días de enero–abril y compara el reparto contra los 136 días completos (ARI); después mide determinismo con n_init=1 en 50 semillas distintas.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