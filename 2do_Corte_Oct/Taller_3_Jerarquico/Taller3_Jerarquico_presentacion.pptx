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48640"/>
            <a:ext cx="310896" cy="310896"/>
          </a:xfrm>
          <a:prstGeom prst="roundRect">
            <a:avLst>
              <a:gd name="adj" fmla="val 4000"/>
            </a:avLst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" y="5669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6E9EF"/>
                </a:solidFill>
                <a:latin typeface="Segoe UI Semibold"/>
              </a:rPr>
              <a:t>Shiro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6035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Aprendizaje de Máquina · Corte 2 · Taller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1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8710A"/>
                </a:solidFill>
                <a:latin typeface="Consolas"/>
              </a:rPr>
              <a:t>EL HALLAZGO DE ESTE TALLER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07899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E6E9EF"/>
                </a:solidFill>
                <a:latin typeface="Segoe UI Semibold"/>
              </a:rPr>
              <a:t>El árbol confirma los dos tipos de día.</a:t>
            </a:r>
          </a:p>
          <a:p>
            <a:pPr algn="l">
              <a:lnSpc>
                <a:spcPct val="100000"/>
              </a:lnSpc>
            </a:pPr>
            <a:r>
              <a:rPr sz="4400" b="0">
                <a:solidFill>
                  <a:srgbClr val="E6E9EF"/>
                </a:solidFill>
                <a:latin typeface="Segoe UI Semibold"/>
              </a:rPr>
              <a:t>Pero no sirve para asignarlos.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AA3B2"/>
                </a:solidFill>
                <a:latin typeface="Segoe UI"/>
              </a:rPr>
              <a:t>Clustering jerárquico con tres enlaces para auditar la variable «tipo de día» del MDP de Shiro: ¿es una propiedad de la casa o un artefacto de K-Means?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5257800"/>
            <a:ext cx="10820095" cy="9525"/>
          </a:xfrm>
          <a:prstGeom prst="rect">
            <a:avLst/>
          </a:prstGeom>
          <a:solidFill>
            <a:srgbClr val="23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406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D1DE"/>
                </a:solidFill>
                <a:latin typeface="Segoe UI Semibold"/>
              </a:rPr>
              <a:t>Jose Leonardo Diazgranados · Sofía Londoño · Andrés Felipe Céspedes Rondón · Alex Duran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424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Universidad Sergio Arboleda · Semestre 26-2 · Docente: Hernán Darío Cruz Bueno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295" y="544068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Appliances Energy Prediction · UCI #374</a:t>
            </a:r>
          </a:p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7787"/>
                </a:solidFill>
                <a:latin typeface="Consolas"/>
              </a:rPr>
              <a:t>random_state = 42 · 28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ENCUADRE · QUÉ AUDITA ESTE TALLER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K-Means siempre devuelve k grupos, existan o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3B2"/>
                </a:solidFill>
                <a:latin typeface="Segoe UI"/>
              </a:rPr>
              <a:t>El taller de K-Means le dio al estado del MDP la variable «tipo de día» (normal / carga alta). Antes de que el agente dependa de ella, el jerárquico la audita con tres definiciones distintas de «grupo».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¿Es real?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Si Ward, complete y average llegan al mismo reparto, no es un artefacto.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§3 · §5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¿Quién lo asigna?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En producción llega un día nuevo cada 24 horas. ¿Qué técnica lo clasifica?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§6 · COMPARACIÓN CON K-MEANS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74320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29718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6E9EF"/>
                </a:solidFill>
                <a:latin typeface="Segoe UI Semibold"/>
              </a:rPr>
              <a:t>¿Qué días no encajan?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474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Días que ningún tipo describe: el gemelo no debe aprenderlos como rutina.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7BD992"/>
                </a:solidFill>
                <a:latin typeface="Consolas"/>
              </a:rPr>
              <a:t>§5.2 · ANTESALA DE DBSCAN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10607040" cy="8686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74920"/>
            <a:ext cx="54864" cy="8686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25780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La misma unidad que K-Means.</a:t>
            </a:r>
            <a:r>
              <a:rPr sz="1300" b="0">
                <a:solidFill>
                  <a:srgbClr val="C9D1DE"/>
                </a:solidFill>
                <a:latin typeface="Segoe UI"/>
              </a:rPr>
              <a:t> 136 días × 24 medias horarias de consumo. El enunciado pide comparar con K-Means, y la comparación solo es directa —día por día— sobre la misma matriz.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PUNTO 3 · PREPARACIÓN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Selección, limpieza y un escalado que aquí sí importa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BD992"/>
                </a:solidFill>
                <a:latin typeface="Consolas"/>
              </a:rPr>
              <a:t>SELECCIÓN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82880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Solo la curva de consumo de 24 h. El calendario (V = 0,000) y el clima (|d| &lt; 0,5) no distinguen los tipos; se reservan para caracterizar después, sin circularidad.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BD992"/>
                </a:solidFill>
                <a:latin typeface="Consolas"/>
              </a:rPr>
              <a:t>LIMPIEZA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78892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0 valores faltantes. Se descartan 2 días incompletos (11-ene, 27-may). Los días extremos se conservan: son parte del objeto de estudio.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BD992"/>
                </a:solidFill>
                <a:latin typeface="Consolas"/>
              </a:rPr>
              <a:t>ESCALADO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749040"/>
            <a:ext cx="5394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9D1DE"/>
                </a:solidFill>
                <a:latin typeface="Segoe UI"/>
              </a:rPr>
              <a:t>Principal: Wh sin estandarizar (misma unidad en las 24 columnas). Contraste: StandardScaler, que en el jerárquico cambia casi todo.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136 × 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414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completos × medias horarias (Wh)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71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6E9EF"/>
                </a:solidFill>
                <a:latin typeface="Consolas"/>
              </a:rPr>
              <a:t>50 → 12.477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6301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varianza del consumo a las 4 h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frente a las 11 h: 248 veces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846320"/>
            <a:ext cx="10607040" cy="10972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846320"/>
            <a:ext cx="54864" cy="109728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5029200"/>
            <a:ext cx="10149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Estandarizar multiplica por ~16 el peso de la madrugada.</a:t>
            </a:r>
            <a:r>
              <a:rPr sz="1300" b="0">
                <a:solidFill>
                  <a:srgbClr val="C9D1DE"/>
                </a:solidFill>
                <a:latin typeface="Segoe UI"/>
              </a:rPr>
              <a:t> K-Means lo resistía (ARI 1,000). Ward pasa de 114 / 22 a 105 / 31; complete queda en 134 / 2, aislando dos noches raras (12-ene: 168 Wh a la 1 a. m.; 26-ene: 197 Wh a medianoche).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APLICACIÓN · DENDROGRAM() CON LÍNEA DE CORTE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Tres enlaces, tres definiciones de «grupo»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62883"/>
            <a:ext cx="6108192" cy="472095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1_dendrogra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45179"/>
            <a:ext cx="5943600" cy="45563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17830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ENLACE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78308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REPARTO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1783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SALTO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8040" y="2075688"/>
            <a:ext cx="411480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112264"/>
            <a:ext cx="1124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12264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2.228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12264"/>
            <a:ext cx="10332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114 /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211226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×1,78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478024"/>
            <a:ext cx="1124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78024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1.079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78024"/>
            <a:ext cx="10332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114 /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69880" y="247802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×1,23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843784"/>
            <a:ext cx="11247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43784"/>
            <a:ext cx="8046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766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43784"/>
            <a:ext cx="10332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F28B82"/>
                </a:solidFill>
                <a:latin typeface="Consolas"/>
              </a:rPr>
              <a:t>135 /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84378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Consolas"/>
              </a:rPr>
              <a:t>×1,06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52044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AA3B2"/>
                </a:solidFill>
                <a:latin typeface="Segoe UI"/>
              </a:rPr>
              <a:t>Ward tiene el salto más claro. Complete llega al mismo tamaño con un salto menor. Average es una cadena: su última fusión solo añade el 24 de enero.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663440"/>
            <a:ext cx="4114800" cy="14173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4663440"/>
            <a:ext cx="54864" cy="141732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484632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9EF"/>
                </a:solidFill>
                <a:latin typeface="Segoe UI"/>
              </a:rPr>
              <a:t>La paradoja cofenética.</a:t>
            </a:r>
            <a:r>
              <a:rPr sz="1200" b="0">
                <a:solidFill>
                  <a:srgbClr val="C9D1DE"/>
                </a:solidFill>
                <a:latin typeface="Segoe UI"/>
              </a:rPr>
              <a:t> Average es el árbol que mejor conserva las distancias (0,880 frente a 0,808 y 0,755) y el que da la partición inútil. Conservar distancias no es encontrar grupos.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EVALUACIÓN · SILHOUETTE SCORE PARA K = 2…10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La tabla de silueta y la selección de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83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783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CLÚSTER MÁS CHICO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75688"/>
            <a:ext cx="667512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112264"/>
            <a:ext cx="6675120" cy="356616"/>
          </a:xfrm>
          <a:prstGeom prst="rect">
            <a:avLst/>
          </a:prstGeom>
          <a:solidFill>
            <a:srgbClr val="1A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12264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12264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0,400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112264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0,414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112264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F28B82"/>
                </a:solidFill>
                <a:latin typeface="Consolas"/>
              </a:rPr>
              <a:t>0,423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12264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Consolas"/>
              </a:rPr>
              <a:t>22 / 22 /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05456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05456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505456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0,401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505456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505456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22 / 2 /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98648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898648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2898648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0,381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898648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898648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22 / 2 /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291840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291840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291840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291840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3291840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8 / 2 /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685032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685032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3685032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685032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3685032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6 / 2 /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078224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078224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0,092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078224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0,156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4078224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60" y="4078224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6 / 2 /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471416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4471416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600" y="4471416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4471416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4471416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6 / 2 /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864608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4864608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14600" y="4864608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0,156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86200" y="4864608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4864608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6 / 2 /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257800"/>
            <a:ext cx="5303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" y="5257800"/>
            <a:ext cx="10789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600" y="5257800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0,150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86200" y="5257800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0,319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5257800"/>
            <a:ext cx="20848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 / 2 / 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17830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7BD992"/>
                </a:solidFill>
                <a:latin typeface="Consolas"/>
              </a:rPr>
              <a:t>k =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01000" y="24414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Ward y complete: 114 / 22, el mismo k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que eligió K-Means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01000" y="3108960"/>
            <a:ext cx="3291840" cy="265176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01000" y="3108960"/>
            <a:ext cx="54864" cy="265176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57032" y="3291840"/>
            <a:ext cx="283464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Regla de Shiro: ningún clúster con menos del 5 % de los días (7).</a:t>
            </a:r>
            <a:r>
              <a:rPr sz="1250" b="0">
                <a:solidFill>
                  <a:srgbClr val="C9D1DE"/>
                </a:solidFill>
                <a:latin typeface="Segoe UI"/>
              </a:rPr>
              <a:t> Un tipo de día que casi no ocurre no lo aprende el agente ni lo estima el simulador. Average deja un clúster de 1 día en todo el rango (columna roja): no tiene ninguna partición válida.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FFB877"/>
                </a:solidFill>
                <a:latin typeface="Consolas"/>
              </a:rPr>
              <a:t>LA TRAMPA DE LA MÉTRICA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La mejor silueta de la tabla es la peor partición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69829"/>
            <a:ext cx="10588752" cy="328974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2_silu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52125"/>
            <a:ext cx="10424160" cy="3125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074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28B82"/>
                </a:solidFill>
                <a:latin typeface="Consolas"/>
              </a:rPr>
              <a:t>0,423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332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silueta máxima: average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separando 1 día contra 135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074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28B82"/>
                </a:solidFill>
                <a:latin typeface="Consolas"/>
              </a:rPr>
              <a:t>0,475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73328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Dunn máximo: la misma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partición de 1 día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0749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B877"/>
                </a:solidFill>
                <a:latin typeface="Consolas"/>
              </a:rPr>
              <a:t>0,517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73328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complete estandarizado: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134 / 2, otra vez aislamiento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VISUALIZACIÓN 2D · PCA Y T-SNE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Ward y complete dibujan la frontera de K-Means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30923"/>
            <a:ext cx="7754112" cy="385335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4_proy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13219"/>
            <a:ext cx="7589520" cy="36887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78308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9EF"/>
                </a:solidFill>
                <a:latin typeface="Consolas"/>
              </a:rPr>
              <a:t>50,1 %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44144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de la varianza en PC1 + PC2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(las mismas proyecciones del C2-T2)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6324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BD992"/>
                </a:solidFill>
                <a:latin typeface="Consolas"/>
              </a:rPr>
              <a:t>8 días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721608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cambian de grupo con Ward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y complete: todos en la costura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343400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Rombos: días con tipo distinto al de K-Means. Punto rojo: el día que average aísla. t-SNE no muestra estructura que PCA no muestre: la diferencia entre tipos es de intensidad.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669280"/>
            <a:ext cx="10607040" cy="566928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5669280"/>
            <a:ext cx="54864" cy="566928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52160"/>
            <a:ext cx="10149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1DE"/>
                </a:solidFill>
                <a:latin typeface="Segoe UI"/>
              </a:rPr>
              <a:t>Días normales densos a la izquierda; días de carga alta dispersos hacia la derecha, a lo largo de PC1 («cuánto se consume de día»).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ANÁLISIS · QUÉ TIENEN EN COMÚN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Un bloque diurno de actividad en casa, no un día de la semana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702022"/>
            <a:ext cx="10588752" cy="308819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5_per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4318"/>
            <a:ext cx="10424160" cy="29236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983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B877"/>
                </a:solidFill>
                <a:latin typeface="Consolas"/>
              </a:rPr>
              <a:t>2,5×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418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consumo del día de carga alta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entre las 8 y las 18 h (242 vs 99 Wh)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983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6E9EF"/>
                </a:solidFill>
                <a:latin typeface="Consolas"/>
              </a:rPr>
              <a:t>+24 %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6418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iluminación; también más humedad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en cocina y lavandería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9834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7BD992"/>
                </a:solidFill>
                <a:latin typeface="Consolas"/>
              </a:rPr>
              <a:t>27 vs 28 %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64184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de fin de semana en cada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grupo: el calendario no explica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ANÁLISIS · EJEMPLOS REPRESENTATIVOS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El medoide de cada tipo, y los días que no encajan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CLÚSTER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830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PAPEL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830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DÍA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783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83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PICO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075688"/>
            <a:ext cx="685800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12264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12264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C9AFF"/>
                </a:solidFill>
                <a:latin typeface="Consolas"/>
              </a:rPr>
              <a:t>medoide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12264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mié 27-abr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12264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10,8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112264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163 Wh · 18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505456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505456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2.º típico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505456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dom 27-mar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505456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10,5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250545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157 Wh · 18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898648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898648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3.º típico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2898648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mié 30-mar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898648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12,6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898648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197 Wh · 20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291840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Carga alta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291840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B877"/>
                </a:solidFill>
                <a:latin typeface="Consolas"/>
              </a:rPr>
              <a:t>medoide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291840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mié 03-feb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291840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19,1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291840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320 Wh · 16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685032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Carga 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8840" y="3685032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2.º típico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685032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sáb 16-abr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3685032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19,3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685032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442 Wh · 16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078224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Carga alta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4078224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3.º típico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078224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lun 29-feb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4078224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22,6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15000" y="4078224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368 Wh · 12 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471416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Carga alta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471416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aislado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4471416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dom 24-ene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4471416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21,6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447141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608 Wh · 8 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864608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Carga alta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48840" y="4864608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aislado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4864608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mié 16-mar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2040" y="4864608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22,8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4864608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563 Wh · 18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5257800"/>
            <a:ext cx="12618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Normal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5257800"/>
            <a:ext cx="1170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aislado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0" y="5257800"/>
            <a:ext cx="144475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vie 15-abr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92040" y="5257800"/>
            <a:ext cx="7132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18,9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5000" y="5257800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>
                <a:solidFill>
                  <a:srgbClr val="F28B82"/>
                </a:solidFill>
                <a:latin typeface="Consolas"/>
              </a:rPr>
              <a:t>372 Wh · 6 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1783080"/>
            <a:ext cx="3383280" cy="132588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09560" y="1783080"/>
            <a:ext cx="54864" cy="132588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65592" y="196596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Medoide, no centroide.</a:t>
            </a:r>
            <a:r>
              <a:rPr sz="1250" b="0">
                <a:solidFill>
                  <a:srgbClr val="C9D1DE"/>
                </a:solidFill>
                <a:latin typeface="Segoe UI"/>
              </a:rPr>
              <a:t> El centroide es un promedio que nunca ocurrió; el medoide es el día real con menor distancia media a su grupo.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09560" y="3291840"/>
            <a:ext cx="3383280" cy="25146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09560" y="3291840"/>
            <a:ext cx="54864" cy="25146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65592" y="3474720"/>
            <a:ext cx="2926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6E9EF"/>
                </a:solidFill>
                <a:latin typeface="Segoe UI"/>
              </a:rPr>
              <a:t>Los aislados son raros por cuándo consumen, no por cuánto.</a:t>
            </a:r>
            <a:r>
              <a:rPr sz="1250" b="0">
                <a:solidFill>
                  <a:srgbClr val="C9D1DE"/>
                </a:solidFill>
                <a:latin typeface="Segoe UI"/>
              </a:rPr>
              <a:t> 608 Wh a las 8 de la mañana (la hora más alta del periodo), una carga desde las 6 h, tres picos separados. El 4-abr consume más (27,2 kWh) y no queda aislado. Son los días que el taller de DBSCAN busca.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COMPARACIÓN CON K-MEANS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¿Cambió la forma? Casi no. ¿Se mantuvieron? El 94 %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70677"/>
            <a:ext cx="10588752" cy="315088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J7_front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52973"/>
            <a:ext cx="10424160" cy="29862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983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BD992"/>
                </a:solidFill>
                <a:latin typeface="Consolas"/>
              </a:rPr>
              <a:t>128 de 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418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días conservan su grupo entre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K-Means y Ward (ARI 0,736)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9834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E9EF"/>
                </a:solidFill>
                <a:latin typeface="Consolas"/>
              </a:rPr>
              <a:t>20 %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64184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los 8 que cambian están todos en el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20 % de días más cercanos a la frontera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9834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B877"/>
                </a:solidFill>
                <a:latin typeface="Consolas"/>
              </a:rPr>
              <a:t>+3,8 %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5641848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inercia de Ward sobre K-Means: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3B2"/>
                </a:solidFill>
                <a:latin typeface="Segoe UI"/>
              </a:rPr>
              <a:t>fusiones codiciosas que no se deshacen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CONTROL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Determinista no es lo mismo que estable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830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ARI 110 VS 136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783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REPARTO CON 110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783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CARGA ALTA EN MAYO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941832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12264"/>
            <a:ext cx="9418320" cy="384048"/>
          </a:xfrm>
          <a:prstGeom prst="rect">
            <a:avLst/>
          </a:prstGeom>
          <a:solidFill>
            <a:srgbClr val="1A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12264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Segoe UI"/>
              </a:rPr>
              <a:t>K-Means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112264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Consolas"/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112264"/>
            <a:ext cx="21762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Consolas"/>
              </a:rPr>
              <a:t>85 /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2112264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Consolas"/>
              </a:rPr>
              <a:t>11,5 %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32888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Segoe UI"/>
              </a:rPr>
              <a:t>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532888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F28B82"/>
                </a:solidFill>
                <a:latin typeface="Consolas"/>
              </a:rPr>
              <a:t>0,359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21762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Consolas"/>
              </a:rPr>
              <a:t>70 / 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532888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Consolas"/>
              </a:rPr>
              <a:t>19,2 %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53512"/>
            <a:ext cx="19019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Segoe UI"/>
              </a:rPr>
              <a:t>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953512"/>
            <a:ext cx="254203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F28B82"/>
                </a:solidFill>
                <a:latin typeface="Consolas"/>
              </a:rPr>
              <a:t>0,401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953512"/>
            <a:ext cx="21762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Consolas"/>
              </a:rPr>
              <a:t>72 / 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53512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C9D1DE"/>
                </a:solidFill>
                <a:latin typeface="Consolas"/>
              </a:rPr>
              <a:t>19,2 %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03320"/>
            <a:ext cx="512064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3703320"/>
            <a:ext cx="54864" cy="1600200"/>
          </a:xfrm>
          <a:prstGeom prst="rect">
            <a:avLst/>
          </a:prstGeom>
          <a:solidFill>
            <a:srgbClr val="E871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388620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Segoe UI"/>
              </a:rPr>
              <a:t>Qué pasó.</a:t>
            </a:r>
            <a:r>
              <a:rPr sz="1350" b="0">
                <a:solidFill>
                  <a:srgbClr val="C9D1DE"/>
                </a:solidFill>
                <a:latin typeface="Segoe UI"/>
              </a:rPr>
              <a:t> Ajustado solo con enero–abril, el árbol de Ward cambia su primera división: el grupo intermedio (la «mañana activa» del C2-T2, 21 de sus 25 días) se pasa al lado de carga alta. K-Means da exactamente el mismo reparto.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3703320"/>
            <a:ext cx="5212080" cy="160020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3703320"/>
            <a:ext cx="54864" cy="160020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88620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E6E9EF"/>
                </a:solidFill>
                <a:latin typeface="Segoe UI"/>
              </a:rPr>
              <a:t>Por qué decide.</a:t>
            </a:r>
            <a:r>
              <a:rPr sz="1350" b="0">
                <a:solidFill>
                  <a:srgbClr val="C9D1DE"/>
                </a:solidFill>
                <a:latin typeface="Segoe UI"/>
              </a:rPr>
              <a:t> Shiro recibe un día nuevo cada 24 horas. «Día de carga alta» no puede cambiar de significado cada vez que se agrega un mes. El jerárquico es determinista; K-Means con una sola inicialización reproduce su reparto solo el 40 % de las veces (se usa n_init = 10).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577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BD992"/>
                </a:solidFill>
                <a:latin typeface="Segoe UI Semibold"/>
              </a:rPr>
              <a:t>→ K-Means asigna el tipo de día en producción; el árbol sirve para auditar, no para asignar.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REFLEXIÓN FINAL · K-MEANS VS. JERÁRQUICO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K-Means para producción; jerárquico para auditoría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CRITERIO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7830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K-MEANS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830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JERÁRQUICO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17830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7787"/>
                </a:solidFill>
                <a:latin typeface="Consolas"/>
              </a:rPr>
              <a:t>GANA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075688"/>
            <a:ext cx="10607040" cy="9525"/>
          </a:xfrm>
          <a:prstGeom prst="rect">
            <a:avLst/>
          </a:prstGeom>
          <a:solidFill>
            <a:srgbClr val="2C3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12264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Asignar un día nuevo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12264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112264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no tiene 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112264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Consolas"/>
              </a:rPr>
              <a:t>K-Means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Estable al añadir un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514600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ARI 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514600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ARI 0,359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514600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Consolas"/>
              </a:rPr>
              <a:t>K-Means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16936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Estimar el tipo a medio día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16936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directo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916936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centroides derivados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16936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Consolas"/>
              </a:rPr>
              <a:t>K-Means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319272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Coste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319272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lineal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319272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O(n²): 1,6 GB en lecturas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19272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7BD992"/>
                </a:solidFill>
                <a:latin typeface="Consolas"/>
              </a:rPr>
              <a:t>K-Means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21608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Determinismo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721608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necesita n_init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3721608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721608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C9AFF"/>
                </a:solidFill>
                <a:latin typeface="Consolas"/>
              </a:rPr>
              <a:t>Jerárquico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23944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Estructura anidada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123944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123944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normal / intermedio / alta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4123944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C9AFF"/>
                </a:solidFill>
                <a:latin typeface="Consolas"/>
              </a:rPr>
              <a:t>Jerárquico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526280"/>
            <a:ext cx="29077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Segoe UI"/>
              </a:rPr>
              <a:t>Detectar días atípicos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526280"/>
            <a:ext cx="199339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los absorbe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526280"/>
            <a:ext cx="345643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9D1DE"/>
                </a:solidFill>
                <a:latin typeface="Consolas"/>
              </a:rPr>
              <a:t>average / complete los aíslan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526280"/>
            <a:ext cx="181051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4C9AFF"/>
                </a:solidFill>
                <a:latin typeface="Consolas"/>
              </a:rPr>
              <a:t>Jerárquico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120640"/>
            <a:ext cx="10607040" cy="960120"/>
          </a:xfrm>
          <a:prstGeom prst="rect">
            <a:avLst/>
          </a:prstGeom>
          <a:solidFill>
            <a:srgbClr val="151920"/>
          </a:solidFill>
          <a:ln w="9525">
            <a:solidFill>
              <a:srgbClr val="23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5120640"/>
            <a:ext cx="54864" cy="960120"/>
          </a:xfrm>
          <a:prstGeom prst="rect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303520"/>
            <a:ext cx="10149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9EF"/>
                </a:solidFill>
                <a:latin typeface="Segoe UI"/>
              </a:rPr>
              <a:t>Para nuestro caso:</a:t>
            </a:r>
            <a:r>
              <a:rPr sz="1300" b="0">
                <a:solidFill>
                  <a:srgbClr val="C9D1DE"/>
                </a:solidFill>
                <a:latin typeface="Segoe UI"/>
              </a:rPr>
              <a:t> K-Means asigna el tipo de día en línea. El jerárquico confirmó que los dos tipos son reales (dos criterios de fusión, 94 % de acuerdo), mostró el nivel intermedio y señaló los días que no encajan: se vuelve a correr en cada reentrenamiento mensual del gemelo como auditoría.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Shiro Twin · C2 Taller 3 · Clustering jerárquico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9149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F7787"/>
                </a:solidFill>
                <a:latin typeface="Consola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BD992"/>
                </a:solidFill>
                <a:latin typeface="Consolas"/>
              </a:rPr>
              <a:t>CIERRE · QUÉ CAMBIA EN SHIRO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04672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E6E9EF"/>
                </a:solidFill>
                <a:latin typeface="Segoe UI Semibold"/>
              </a:rPr>
              <a:t>Lo que el MDP recibe de este taller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La variable «tipo de día» queda auditada.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Ward y complete: k = 2, 114 / 22, 94 % de acuerdo con K-Means.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Su frontera es difusa, y está medida.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28599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El margen al centroide entra al estado como confianza.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K-Means asigna en producción.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Estable al agregar un mes; con predict y estimación a medio día.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39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20039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El jerárquico, como auditoría mensual.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6118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Si su acuerdo con K-Means cae, la definición está cambiando.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k nunca se elige solo por la métrica.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Nueva convención: tamaño mínimo de clúster del 5 %.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5262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BD992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2627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6E9EF"/>
                </a:solidFill>
                <a:latin typeface="Segoe UI Semibold"/>
              </a:rPr>
              <a:t>Hay días atípicos: raros por cuándo consumen.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93775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A3B2"/>
                </a:solidFill>
                <a:latin typeface="Segoe UI"/>
              </a:rPr>
              <a:t>24-ene, 16-mar, 15-abr → el taller de DBSCAN.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