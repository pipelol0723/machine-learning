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67" r:id="rId18"/>
    <p:sldId id="259" r:id="rId10"/>
    <p:sldId id="260" r:id="rId11"/>
    <p:sldId id="268" r:id="rId19"/>
    <p:sldId id="261" r:id="rId12"/>
    <p:sldId id="269" r:id="rId20"/>
    <p:sldId id="262" r:id="rId13"/>
    <p:sldId id="270" r:id="rId21"/>
    <p:sldId id="263" r:id="rId14"/>
    <p:sldId id="271" r:id="rId22"/>
    <p:sldId id="264" r:id="rId15"/>
    <p:sldId id="272" r:id="rId23"/>
    <p:sldId id="265" r:id="rId16"/>
    <p:sldId id="273" r:id="rId24"/>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taller resuelve la pregunta inversa a los dos anteriores: K-Means encontró los tipos de día y el jerárquico confirmó que son reales, pero ambos están obligados a asignar cada punto a algún grupo. DBSCAN no: lo que está en una zona de baja densidad queda como ruido, y eso le sirve a dos piezas de Shiro — el gemelo digital (qué días no debe aprender como rutina) y la capa Guardian (si la densidad puede definir «raro para esta hora» mejor que un umbral fijo de 200 Wh que envejece y no ve el contexto).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Dos partes con dos unidades de análisis distintas: Parte A trabaja con 136 días (24 medias horarias cada uno, la misma matriz de K-Means y el jerárquico) para auditar la variable «tipo de día»; Parte B trabaja con las 19.729 lecturas de 10 minutos para construir una alarma que dependa del contexto y no solo de la magnitud. Como en todo el proyecto, se ajusta con enero–abril y mayo queda como control temporal.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 usan las mismas 24 columnas en Wh, sin estandarizar, por la misma razón que en el jerárquico: estandarizar amplificaría 16 veces el ruido de la madrugada. El gráfico de k-distancias mide, para cada día, la distancia a su vecino número min_samples; el codo (detectado con un Kneedle simplificado) da eps = 208 Wh con min_samples = 5 — un tipo de día existe si al menos una semana laboral de días se parecen entre sí. Un eps de 208 Wh en 24 dimensiones equivale a unos 42 Wh por hora.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ese eps, DBSCAN no encuentra dos tipos de día: encuentra un solo gran grupo de 82 días y deja 54 como ruido (39,7 %), y ahí caen los 28 días de carga alta completos, junto con 26 normales. Para DBSCAN, la carga alta no es un grupo, es la periferia dispersa de una única rutina densa. K-Means y el jerárquico la agrupaban porque están obligados a asignar cada día a algún clúster; DBSCAN no tiene esa obligación, y por eso revela algo que los otros dos no podían mostrar.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enunciado anticipa que si todo es un gran grupo hay que separar, y cómo separar es una decisión. Se separa por tipo de día —la única agrupación que el proyecto ya validó con dos técnicas— y se usa el calendario como contraste. Cada grupo recibe el eps de su propio codo: con 452 Wh en vez de 208, 24 de los 28 días de carga alta sí forman grupo. Es la limitación clásica de DBSCAN, un solo eps para densidades distintas, convertida en dato útil para Shiro.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rejilla de 147 configuraciones (21 valores de eps × 7 de min_samples) confirma que eps manda: por debajo de 175 Wh fragmenta en varios clústers pequeños con mucho ruido; entre 200 y 250 Wh aparece el gran grupo con la carga alta en el ruido; desde 450 Wh casi todo se absorbe. min_samples solo desplaza dónde ocurre ese mismo patrón. En ninguna de las 147 configuraciones DBSCAN separa los dos tipos como dos grupos comparables.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día no es atípico por una sola elección de parámetros: se llama atípico robusto al que es ruido en al menos el 80 % de 25 configuraciones distintas de eps y min_samples, evaluadas por separado dentro de cada tipo de día. Son 22 días (16 %), 20 normales y 2 de carga alta, y entre ellos están los tres que el jerárquico ya había aislado (24-ene, 16-mar, 15-abr) — tres técnicas distintas coinciden en las mismas fechas. Se concentran en enero (40 % de sus días) porque ahí el consumo es más alto y más variable.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las 30 columnas numéricas del dataset, DBSCAN no encuentra patrones de consumo: encuentra semanas del calendario, porque encadena lecturas consecutivas (autocorrelación) y los sensores interiores derivan con la estación. La decisión de qué columnas usar es la que más importa: se eligen consumo y sus retardos (lag1, media, desviación de la última hora), siempre con shift(1) para no usar información futura, y con log1p por la cola larga del consumo.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Separar por franja horaria (madrugada, mañana, tarde, noche) es la misma segmentación que ya usa el proyecto: la franja nunca entra al modelo, solo separa. De madrugada DBSCAN ve lo que el umbral no ve —arranques tempranos de 190 a 370 Wh que nunca cruzan el umbral fijo—, y en la tarde deja pasar lo que el umbral grita, como 910 Wh a las 5 p. m., porque ahí consumir mucho es la rutina de la casa. Y entre el 35 % y el 60 % del ruido no son subidas: son bajadas, el final de un evento, no su inicio.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control temporal muestra que la densidad tampoco es inmune a la estación: sus núcleos son de invierno, y en mayo, más tranquilo, DBSCAN marca un 33 % menos. El umbral fijo baja un 25 %. Lo que la densidad conserva es el reparto por franja —sigue marcando algo en cada una—, mientras el umbral de mayo casi nunca avisa de madrugada. Las cuatro tarjetas resumen las respuestas del enunciado: cuántos clústers, qué fue ruido, cómo cambia con los parámetros y qué implica para el sector.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Seis conclusiones para Shiro: la carga alta es un tipo real pero 2,2 veces más disperso, así que la incertidumbre del simulador debe depender del tipo de día; los días atípicos (16 %) se marcan pero no se borran, porque quitarlos le robaría al gemelo el invierno; «día desconocido» entra al MDP como señal barata para que la política se vuelva conservadora; Guardian tendrá dos alarmas, el umbral por magnitud y DBSCAN por franja para la rareza en contexto, avisando solo en las subidas; ninguna definición es inmune a la estación; y quedan tres lecciones de método sobre columnas, cuantización y separación por grupos.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tabla muestra que la elección de min_samples = 5 no es arbitraria pero tampoco es la única razonable: de 3 a 8 el resultado es esencialmente el mismo (un gran grupo, 48-54 días de ruido, toda la carga alta afuera). Solo con min_samples mucho más grande (12 o 25, la regla D+1) el codo se mueve lo suficiente para que algo de carga alta entre — y aun así, 18 de 28 siguen sin grupo. Vale la pena mostrar esta tabla si preguntan por qué min_samples = 5 y no otro valor: la respuesta es que ninguno cambia la conclusión.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tabla pone lado a lado las dos formas de separar que se probaron, algo que la diapositiva anterior solo resumía con dos números. El contraste es contundente: separar por calendario dejaría 27 de 28 días de carga alta en el ruido (20 laborables + 7 de fin de semana), casi lo mismo que sin separar. Separar por tipo de día es lo único que realmente cambia el panorama, y es la variable que K-Means y el jerárquico ya habían validado con dos técnicas distintas.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código responde la pregunta que distingue un atípico real de uno que solo depende de haber elegido mal eps o min_samples. Se corre DBSCAN 25 veces por tipo de día (5 valores de min_samples por 5 factores de eps alrededor del codo) y solo se cuenta como atípico robusto el día que es ruido en 20 de esas 25 corridas o más. Es el mismo espíritu que el control de robustez que ya se usó en el taller de K-Means y el jerárquico: no confiar en una sola configuración de parámetros.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versión día por día del control temporal, que el documento original solo mencionaba de pasada. Es un experimento elegante: se ajusta DBSCAN solo con los 110 días hasta abril, se guardan los puntos núcleo de cada tipo, y a cada día de mayo se le mide la distancia a su vecino núcleo más cercano. Si esa distancia supera eps, el día queda «sin vecinos densos en la historia» — desconocido para el gemelo. Solo pasa con 2 de 26 días de mayo, y son días de tipo normal con la mañana más cargada de lo usual.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tabla es la evidencia numérica de una decisión metodológica importante: cómo se corrige el redondeo del medidor a 10 Wh. Sin corregir, el logaritmo separa artificialmente los escalones de redondeo y crea 14 clústers, 6 de ellos con un solo valor de consumo exacto — un artefacto, no una estructura real. El dithering (sumar ±5 Wh de ruido uniforme, que es exactamente la incertidumbre real de un medidor con esa resolución) es la corrección estándar para datos cuantizados, y aquí se ve su efecto medido: de 14 clústers espurios a 7, con el 95% de las lecturas en un solo gran grupo.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tabla añade la columna más reveladora de la Parte B, que no aparecía en el resumen visual: qué fracción del ruido de cada franja es en realidad una subida de consumo. Entre 35% y 65% no lo es — son bajadas o lecturas sin cambio, el final de un evento. Es el argumento central para diseñar la alarma de Guardian: no basta con que DBSCAN marque una lectura como rara, hay que filtrar además por dirección, porque solo una subida representa un evento que vale la pena investigar.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tabla desglosa por franja el par de números (-33% DBSCAN, -25% umbral) que la diapositiva de control temporal solo daba en total. Lo interesante es que madrugada no cambia casi nada en mayo con ninguna definición: no hay nada estacional que corregir ahí. El cambio se concentra en mañana, tarde y noche, que es exactamente donde el p90 de consumo de mayo cae más — 220, 260 y 140 Wh frente a los valores de invierno. Confirma que las dos definiciones de anomalía comparten el mismo punto débil: ninguna es inmune al mes.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4 · DBSCAN</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01</a:t>
            </a:r>
          </a:p>
        </p:txBody>
      </p:sp>
      <p:sp>
        <p:nvSpPr>
          <p:cNvPr id="4" name="Rounded Rectangle 3"/>
          <p:cNvSpPr/>
          <p:nvPr/>
        </p:nvSpPr>
        <p:spPr>
          <a:xfrm>
            <a:off x="685800" y="548640"/>
            <a:ext cx="310896" cy="310896"/>
          </a:xfrm>
          <a:prstGeom prst="roundRect">
            <a:avLst>
              <a:gd name="adj" fmla="val 4000"/>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48640"/>
            <a:ext cx="310896" cy="310896"/>
          </a:xfrm>
          <a:prstGeom prst="rect">
            <a:avLst/>
          </a:prstGeom>
          <a:noFill/>
        </p:spPr>
        <p:txBody>
          <a:bodyPr wrap="square" lIns="0" rIns="0" tIns="0" bIns="0" anchor="ctr">
            <a:spAutoFit/>
          </a:bodyPr>
          <a:lstStyle/>
          <a:p>
            <a:pPr algn="ctr">
              <a:lnSpc>
                <a:spcPct val="115000"/>
              </a:lnSpc>
            </a:pPr>
            <a:r>
              <a:rPr sz="1300" b="1">
                <a:solidFill>
                  <a:srgbClr val="FFFFFF"/>
                </a:solidFill>
                <a:latin typeface="Consolas"/>
              </a:rPr>
              <a:t>S</a:t>
            </a:r>
          </a:p>
        </p:txBody>
      </p:sp>
      <p:sp>
        <p:nvSpPr>
          <p:cNvPr id="6" name="TextBox 5"/>
          <p:cNvSpPr txBox="1"/>
          <p:nvPr/>
        </p:nvSpPr>
        <p:spPr>
          <a:xfrm>
            <a:off x="1124712" y="566928"/>
            <a:ext cx="1828800" cy="274320"/>
          </a:xfrm>
          <a:prstGeom prst="rect">
            <a:avLst/>
          </a:prstGeom>
          <a:noFill/>
        </p:spPr>
        <p:txBody>
          <a:bodyPr wrap="square" lIns="0" rIns="0" tIns="0" bIns="0" anchor="t">
            <a:spAutoFit/>
          </a:bodyPr>
          <a:lstStyle/>
          <a:p>
            <a:pPr algn="l">
              <a:lnSpc>
                <a:spcPct val="115000"/>
              </a:lnSpc>
            </a:pPr>
            <a:r>
              <a:rPr sz="1300" b="0">
                <a:solidFill>
                  <a:srgbClr val="E6E9EF"/>
                </a:solidFill>
                <a:latin typeface="Segoe UI Semibold"/>
              </a:rPr>
              <a:t>Shiro Twin</a:t>
            </a:r>
          </a:p>
        </p:txBody>
      </p:sp>
      <p:sp>
        <p:nvSpPr>
          <p:cNvPr id="7" name="TextBox 6"/>
          <p:cNvSpPr txBox="1"/>
          <p:nvPr/>
        </p:nvSpPr>
        <p:spPr>
          <a:xfrm>
            <a:off x="2697480" y="603504"/>
            <a:ext cx="5486400" cy="274320"/>
          </a:xfrm>
          <a:prstGeom prst="rect">
            <a:avLst/>
          </a:prstGeom>
          <a:noFill/>
        </p:spPr>
        <p:txBody>
          <a:bodyPr wrap="square" lIns="0" rIns="0" tIns="0" bIns="0" anchor="t">
            <a:spAutoFit/>
          </a:bodyPr>
          <a:lstStyle/>
          <a:p>
            <a:pPr algn="l">
              <a:lnSpc>
                <a:spcPct val="115000"/>
              </a:lnSpc>
            </a:pPr>
            <a:r>
              <a:rPr sz="1000" b="0">
                <a:solidFill>
                  <a:srgbClr val="6F7787"/>
                </a:solidFill>
                <a:latin typeface="Consolas"/>
              </a:rPr>
              <a:t>Aprendizaje de Máquina · Corte 2 · Taller 4</a:t>
            </a:r>
          </a:p>
        </p:txBody>
      </p:sp>
      <p:sp>
        <p:nvSpPr>
          <p:cNvPr id="8" name="TextBox 7"/>
          <p:cNvSpPr txBox="1"/>
          <p:nvPr/>
        </p:nvSpPr>
        <p:spPr>
          <a:xfrm>
            <a:off x="685800" y="1874519"/>
            <a:ext cx="7315200" cy="274320"/>
          </a:xfrm>
          <a:prstGeom prst="rect">
            <a:avLst/>
          </a:prstGeom>
          <a:noFill/>
        </p:spPr>
        <p:txBody>
          <a:bodyPr wrap="square" lIns="0" rIns="0" tIns="0" bIns="0" anchor="t">
            <a:spAutoFit/>
          </a:bodyPr>
          <a:lstStyle/>
          <a:p>
            <a:pPr algn="l">
              <a:lnSpc>
                <a:spcPct val="115000"/>
              </a:lnSpc>
            </a:pPr>
            <a:r>
              <a:rPr sz="1100" b="0">
                <a:solidFill>
                  <a:srgbClr val="E8710A"/>
                </a:solidFill>
                <a:latin typeface="Consolas"/>
              </a:rPr>
              <a:t>EL HALLAZGO DE ESTE TALLER</a:t>
            </a:r>
          </a:p>
        </p:txBody>
      </p:sp>
      <p:sp>
        <p:nvSpPr>
          <p:cNvPr id="9" name="TextBox 8"/>
          <p:cNvSpPr txBox="1"/>
          <p:nvPr/>
        </p:nvSpPr>
        <p:spPr>
          <a:xfrm>
            <a:off x="685800" y="2240280"/>
            <a:ext cx="10789920" cy="1645920"/>
          </a:xfrm>
          <a:prstGeom prst="rect">
            <a:avLst/>
          </a:prstGeom>
          <a:noFill/>
        </p:spPr>
        <p:txBody>
          <a:bodyPr wrap="square" lIns="0" rIns="0" tIns="0" bIns="0" anchor="t">
            <a:spAutoFit/>
          </a:bodyPr>
          <a:lstStyle/>
          <a:p>
            <a:pPr algn="l">
              <a:lnSpc>
                <a:spcPct val="100000"/>
              </a:lnSpc>
            </a:pPr>
            <a:r>
              <a:rPr sz="4200" b="0">
                <a:solidFill>
                  <a:srgbClr val="E6E9EF"/>
                </a:solidFill>
                <a:latin typeface="Segoe UI Semibold"/>
              </a:rPr>
              <a:t>La carga alta no es un grupo denso.</a:t>
            </a:r>
          </a:p>
          <a:p>
            <a:pPr algn="l">
              <a:lnSpc>
                <a:spcPct val="100000"/>
              </a:lnSpc>
            </a:pPr>
            <a:r>
              <a:rPr sz="4200" b="0">
                <a:solidFill>
                  <a:srgbClr val="E6E9EF"/>
                </a:solidFill>
                <a:latin typeface="Segoe UI Semibold"/>
              </a:rPr>
              <a:t>Y lo raro depende de la hora.</a:t>
            </a:r>
          </a:p>
        </p:txBody>
      </p:sp>
      <p:sp>
        <p:nvSpPr>
          <p:cNvPr id="10" name="TextBox 9"/>
          <p:cNvSpPr txBox="1"/>
          <p:nvPr/>
        </p:nvSpPr>
        <p:spPr>
          <a:xfrm>
            <a:off x="685800" y="4069080"/>
            <a:ext cx="9326880" cy="822960"/>
          </a:xfrm>
          <a:prstGeom prst="rect">
            <a:avLst/>
          </a:prstGeom>
          <a:noFill/>
        </p:spPr>
        <p:txBody>
          <a:bodyPr wrap="square" lIns="0" rIns="0" tIns="0" bIns="0" anchor="t">
            <a:spAutoFit/>
          </a:bodyPr>
          <a:lstStyle/>
          <a:p>
            <a:pPr algn="l">
              <a:lnSpc>
                <a:spcPct val="115000"/>
              </a:lnSpc>
            </a:pPr>
            <a:r>
              <a:rPr sz="1600" b="0">
                <a:solidFill>
                  <a:srgbClr val="9AA3B2"/>
                </a:solidFill>
                <a:latin typeface="Segoe UI"/>
              </a:rPr>
              <a:t>DBSCAN sobre 136 días y 19.729 lecturas para encontrar lo que no pertenece a ningún patrón: los días que el gemelo no debe aprender como rutina y una definición de anomalía que no dependa de un umbral fijo.</a:t>
            </a:r>
          </a:p>
        </p:txBody>
      </p:sp>
      <p:sp>
        <p:nvSpPr>
          <p:cNvPr id="11" name="Rectangle 10"/>
          <p:cNvSpPr/>
          <p:nvPr/>
        </p:nvSpPr>
        <p:spPr>
          <a:xfrm>
            <a:off x="685800" y="5257800"/>
            <a:ext cx="10820095" cy="9525"/>
          </a:xfrm>
          <a:prstGeom prst="rect">
            <a:avLst/>
          </a:prstGeom>
          <a:solidFill>
            <a:srgbClr val="23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5440680"/>
            <a:ext cx="7772400" cy="274320"/>
          </a:xfrm>
          <a:prstGeom prst="rect">
            <a:avLst/>
          </a:prstGeom>
          <a:noFill/>
        </p:spPr>
        <p:txBody>
          <a:bodyPr wrap="square" lIns="0" rIns="0" tIns="0" bIns="0" anchor="t">
            <a:spAutoFit/>
          </a:bodyPr>
          <a:lstStyle/>
          <a:p>
            <a:pPr algn="l">
              <a:lnSpc>
                <a:spcPct val="115000"/>
              </a:lnSpc>
            </a:pPr>
            <a:r>
              <a:rPr sz="1100" b="0">
                <a:solidFill>
                  <a:srgbClr val="C9D1DE"/>
                </a:solidFill>
                <a:latin typeface="Segoe UI Semibold"/>
              </a:rPr>
              <a:t>Jose Leonardo Diazgranados · Sofía Londoño · Andrés Felipe Céspedes Rondón · Alex Duran</a:t>
            </a:r>
          </a:p>
        </p:txBody>
      </p:sp>
      <p:sp>
        <p:nvSpPr>
          <p:cNvPr id="13" name="TextBox 12"/>
          <p:cNvSpPr txBox="1"/>
          <p:nvPr/>
        </p:nvSpPr>
        <p:spPr>
          <a:xfrm>
            <a:off x="685800" y="5742432"/>
            <a:ext cx="7772400" cy="274320"/>
          </a:xfrm>
          <a:prstGeom prst="rect">
            <a:avLst/>
          </a:prstGeom>
          <a:noFill/>
        </p:spPr>
        <p:txBody>
          <a:bodyPr wrap="square" lIns="0" rIns="0" tIns="0" bIns="0" anchor="t">
            <a:spAutoFit/>
          </a:bodyPr>
          <a:lstStyle/>
          <a:p>
            <a:pPr algn="l">
              <a:lnSpc>
                <a:spcPct val="115000"/>
              </a:lnSpc>
            </a:pPr>
            <a:r>
              <a:rPr sz="1000" b="0">
                <a:solidFill>
                  <a:srgbClr val="6F7787"/>
                </a:solidFill>
                <a:latin typeface="Consolas"/>
              </a:rPr>
              <a:t>Universidad Sergio Arboleda · Semestre 26-2 · Docente: Hernán Darío Cruz Bueno</a:t>
            </a:r>
          </a:p>
        </p:txBody>
      </p:sp>
      <p:sp>
        <p:nvSpPr>
          <p:cNvPr id="14" name="TextBox 13"/>
          <p:cNvSpPr txBox="1"/>
          <p:nvPr/>
        </p:nvSpPr>
        <p:spPr>
          <a:xfrm>
            <a:off x="7848295" y="5440680"/>
            <a:ext cx="3657600" cy="548640"/>
          </a:xfrm>
          <a:prstGeom prst="rect">
            <a:avLst/>
          </a:prstGeom>
          <a:noFill/>
        </p:spPr>
        <p:txBody>
          <a:bodyPr wrap="square" lIns="0" rIns="0" tIns="0" bIns="0" anchor="t">
            <a:spAutoFit/>
          </a:bodyPr>
          <a:lstStyle/>
          <a:p>
            <a:pPr algn="r">
              <a:lnSpc>
                <a:spcPct val="115000"/>
              </a:lnSpc>
            </a:pPr>
            <a:r>
              <a:rPr sz="1000" b="0">
                <a:solidFill>
                  <a:srgbClr val="6F7787"/>
                </a:solidFill>
                <a:latin typeface="Consolas"/>
              </a:rPr>
              <a:t>Appliances Energy Prediction · UCI #374</a:t>
            </a:r>
          </a:p>
          <a:p>
            <a:pPr algn="r">
              <a:lnSpc>
                <a:spcPct val="115000"/>
              </a:lnSpc>
            </a:pPr>
            <a:r>
              <a:rPr sz="1000" b="0">
                <a:solidFill>
                  <a:srgbClr val="6F7787"/>
                </a:solidFill>
                <a:latin typeface="Consolas"/>
              </a:rPr>
              <a:t>random_state = 42 · 28 sep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4 · DBSCAN</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02</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ENCUADRE · QUÉ DECIDE ESTE TALLER</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¿Qué no pertenece a ningún patrón?</a:t>
            </a:r>
          </a:p>
        </p:txBody>
      </p:sp>
      <p:sp>
        <p:nvSpPr>
          <p:cNvPr id="6" name="TextBox 5"/>
          <p:cNvSpPr txBox="1"/>
          <p:nvPr/>
        </p:nvSpPr>
        <p:spPr>
          <a:xfrm>
            <a:off x="685800" y="1783080"/>
            <a:ext cx="10607040" cy="731520"/>
          </a:xfrm>
          <a:prstGeom prst="rect">
            <a:avLst/>
          </a:prstGeom>
          <a:noFill/>
        </p:spPr>
        <p:txBody>
          <a:bodyPr wrap="square" lIns="0" rIns="0" tIns="0" bIns="0" anchor="t">
            <a:spAutoFit/>
          </a:bodyPr>
          <a:lstStyle/>
          <a:p>
            <a:pPr algn="l">
              <a:lnSpc>
                <a:spcPct val="115000"/>
              </a:lnSpc>
            </a:pPr>
            <a:r>
              <a:rPr sz="1500" b="0">
                <a:solidFill>
                  <a:srgbClr val="9AA3B2"/>
                </a:solidFill>
                <a:latin typeface="Segoe UI"/>
              </a:rPr>
              <a:t>K-Means encontró los tipos de día y el jerárquico los auditó. DBSCAN no obliga a cada punto a entrar en un grupo: lo que está en zona de baja densidad queda como ruido.</a:t>
            </a:r>
          </a:p>
        </p:txBody>
      </p:sp>
      <p:sp>
        <p:nvSpPr>
          <p:cNvPr id="7" name="Rounded Rectangle 6"/>
          <p:cNvSpPr/>
          <p:nvPr/>
        </p:nvSpPr>
        <p:spPr>
          <a:xfrm>
            <a:off x="685800" y="2743200"/>
            <a:ext cx="5166360" cy="192024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971800"/>
            <a:ext cx="4663440" cy="457200"/>
          </a:xfrm>
          <a:prstGeom prst="rect">
            <a:avLst/>
          </a:prstGeom>
          <a:noFill/>
        </p:spPr>
        <p:txBody>
          <a:bodyPr wrap="square" lIns="0" rIns="0" tIns="0" bIns="0" anchor="t">
            <a:spAutoFit/>
          </a:bodyPr>
          <a:lstStyle/>
          <a:p>
            <a:pPr algn="l">
              <a:lnSpc>
                <a:spcPct val="115000"/>
              </a:lnSpc>
            </a:pPr>
            <a:r>
              <a:rPr sz="1900" b="0">
                <a:solidFill>
                  <a:srgbClr val="E6E9EF"/>
                </a:solidFill>
                <a:latin typeface="Segoe UI Semibold"/>
              </a:rPr>
              <a:t>A · Días</a:t>
            </a:r>
          </a:p>
        </p:txBody>
      </p:sp>
      <p:sp>
        <p:nvSpPr>
          <p:cNvPr id="9" name="TextBox 8"/>
          <p:cNvSpPr txBox="1"/>
          <p:nvPr/>
        </p:nvSpPr>
        <p:spPr>
          <a:xfrm>
            <a:off x="960120" y="3474720"/>
            <a:ext cx="4663440" cy="731520"/>
          </a:xfrm>
          <a:prstGeom prst="rect">
            <a:avLst/>
          </a:prstGeom>
          <a:noFill/>
        </p:spPr>
        <p:txBody>
          <a:bodyPr wrap="square" lIns="0" rIns="0" tIns="0" bIns="0" anchor="t">
            <a:spAutoFit/>
          </a:bodyPr>
          <a:lstStyle/>
          <a:p>
            <a:pPr algn="l">
              <a:lnSpc>
                <a:spcPct val="115000"/>
              </a:lnSpc>
            </a:pPr>
            <a:r>
              <a:rPr sz="1400" b="0">
                <a:solidFill>
                  <a:srgbClr val="9AA3B2"/>
                </a:solidFill>
                <a:latin typeface="Segoe UI"/>
              </a:rPr>
              <a:t>¿Los tipos de día son grupos densos? ¿Qué días no debe aprender el gemelo como rutina?</a:t>
            </a:r>
          </a:p>
        </p:txBody>
      </p:sp>
      <p:sp>
        <p:nvSpPr>
          <p:cNvPr id="10" name="TextBox 9"/>
          <p:cNvSpPr txBox="1"/>
          <p:nvPr/>
        </p:nvSpPr>
        <p:spPr>
          <a:xfrm>
            <a:off x="960120" y="4251960"/>
            <a:ext cx="4663440"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GEMELO DIGITAL · VARIABLE TIPO DE DÍA</a:t>
            </a:r>
          </a:p>
        </p:txBody>
      </p:sp>
      <p:sp>
        <p:nvSpPr>
          <p:cNvPr id="11" name="Rounded Rectangle 10"/>
          <p:cNvSpPr/>
          <p:nvPr/>
        </p:nvSpPr>
        <p:spPr>
          <a:xfrm>
            <a:off x="6126480" y="2743200"/>
            <a:ext cx="5166360" cy="192024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971800"/>
            <a:ext cx="4663440" cy="457200"/>
          </a:xfrm>
          <a:prstGeom prst="rect">
            <a:avLst/>
          </a:prstGeom>
          <a:noFill/>
        </p:spPr>
        <p:txBody>
          <a:bodyPr wrap="square" lIns="0" rIns="0" tIns="0" bIns="0" anchor="t">
            <a:spAutoFit/>
          </a:bodyPr>
          <a:lstStyle/>
          <a:p>
            <a:pPr algn="l">
              <a:lnSpc>
                <a:spcPct val="115000"/>
              </a:lnSpc>
            </a:pPr>
            <a:r>
              <a:rPr sz="1900" b="0">
                <a:solidFill>
                  <a:srgbClr val="E6E9EF"/>
                </a:solidFill>
                <a:latin typeface="Segoe UI Semibold"/>
              </a:rPr>
              <a:t>B · Lecturas</a:t>
            </a:r>
          </a:p>
        </p:txBody>
      </p:sp>
      <p:sp>
        <p:nvSpPr>
          <p:cNvPr id="13" name="TextBox 12"/>
          <p:cNvSpPr txBox="1"/>
          <p:nvPr/>
        </p:nvSpPr>
        <p:spPr>
          <a:xfrm>
            <a:off x="6400800" y="3474720"/>
            <a:ext cx="4663440" cy="731520"/>
          </a:xfrm>
          <a:prstGeom prst="rect">
            <a:avLst/>
          </a:prstGeom>
          <a:noFill/>
        </p:spPr>
        <p:txBody>
          <a:bodyPr wrap="square" lIns="0" rIns="0" tIns="0" bIns="0" anchor="t">
            <a:spAutoFit/>
          </a:bodyPr>
          <a:lstStyle/>
          <a:p>
            <a:pPr algn="l">
              <a:lnSpc>
                <a:spcPct val="115000"/>
              </a:lnSpc>
            </a:pPr>
            <a:r>
              <a:rPr sz="1400" b="0">
                <a:solidFill>
                  <a:srgbClr val="9AA3B2"/>
                </a:solidFill>
                <a:latin typeface="Segoe UI"/>
              </a:rPr>
              <a:t>El umbral fijo de 200 Wh envejece y no ve la hora. ¿Puede la densidad definir «raro para este momento»?</a:t>
            </a:r>
          </a:p>
        </p:txBody>
      </p:sp>
      <p:sp>
        <p:nvSpPr>
          <p:cNvPr id="14" name="TextBox 13"/>
          <p:cNvSpPr txBox="1"/>
          <p:nvPr/>
        </p:nvSpPr>
        <p:spPr>
          <a:xfrm>
            <a:off x="6400800" y="4251960"/>
            <a:ext cx="4663440" cy="274320"/>
          </a:xfrm>
          <a:prstGeom prst="rect">
            <a:avLst/>
          </a:prstGeom>
          <a:noFill/>
        </p:spPr>
        <p:txBody>
          <a:bodyPr wrap="square" lIns="0" rIns="0" tIns="0" bIns="0" anchor="t">
            <a:spAutoFit/>
          </a:bodyPr>
          <a:lstStyle/>
          <a:p>
            <a:pPr algn="l">
              <a:lnSpc>
                <a:spcPct val="115000"/>
              </a:lnSpc>
            </a:pPr>
            <a:r>
              <a:rPr sz="950" b="0">
                <a:solidFill>
                  <a:srgbClr val="7BD992"/>
                </a:solidFill>
                <a:latin typeface="Consolas"/>
              </a:rPr>
              <a:t>CAPA GUARDIAN · DETECTOR</a:t>
            </a:r>
          </a:p>
        </p:txBody>
      </p:sp>
      <p:sp>
        <p:nvSpPr>
          <p:cNvPr id="15" name="Rectangle 14"/>
          <p:cNvSpPr/>
          <p:nvPr/>
        </p:nvSpPr>
        <p:spPr>
          <a:xfrm>
            <a:off x="685800" y="5029200"/>
            <a:ext cx="10607040" cy="6858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5029200"/>
            <a:ext cx="54864" cy="68580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 y="5212080"/>
            <a:ext cx="10149840" cy="36576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Control temporal.</a:t>
            </a:r>
            <a:r>
              <a:rPr sz="1300" b="0">
                <a:solidFill>
                  <a:srgbClr val="C9D1DE"/>
                </a:solidFill>
                <a:latin typeface="Segoe UI"/>
              </a:rPr>
              <a:t> Todo se ajusta con enero–abril; mayo se usa como control, igual que en todo el proyecto.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4 · DBSCAN</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03</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PARTE A · PASOS 1–4</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Gráfico de k-distancias: el codo está en 208 Wh</a:t>
            </a:r>
          </a:p>
        </p:txBody>
      </p:sp>
      <p:sp>
        <p:nvSpPr>
          <p:cNvPr id="6" name="Rounded Rectangle 5"/>
          <p:cNvSpPr/>
          <p:nvPr/>
        </p:nvSpPr>
        <p:spPr>
          <a:xfrm>
            <a:off x="694944" y="1787348"/>
            <a:ext cx="6748272" cy="2917543"/>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1_kdistancias.png"/>
          <p:cNvPicPr>
            <a:picLocks noChangeAspect="1"/>
          </p:cNvPicPr>
          <p:nvPr/>
        </p:nvPicPr>
        <p:blipFill>
          <a:blip r:embed="rId2"/>
          <a:stretch>
            <a:fillRect/>
          </a:stretch>
        </p:blipFill>
        <p:spPr>
          <a:xfrm>
            <a:off x="777240" y="1869644"/>
            <a:ext cx="6583680" cy="2752951"/>
          </a:xfrm>
          <a:prstGeom prst="rect">
            <a:avLst/>
          </a:prstGeom>
        </p:spPr>
      </p:pic>
      <p:sp>
        <p:nvSpPr>
          <p:cNvPr id="8" name="TextBox 7"/>
          <p:cNvSpPr txBox="1"/>
          <p:nvPr/>
        </p:nvSpPr>
        <p:spPr>
          <a:xfrm>
            <a:off x="7818120" y="1783080"/>
            <a:ext cx="3474720" cy="640080"/>
          </a:xfrm>
          <a:prstGeom prst="rect">
            <a:avLst/>
          </a:prstGeom>
          <a:noFill/>
        </p:spPr>
        <p:txBody>
          <a:bodyPr wrap="square" lIns="0" rIns="0" tIns="0" bIns="0" anchor="t">
            <a:spAutoFit/>
          </a:bodyPr>
          <a:lstStyle/>
          <a:p>
            <a:pPr algn="l">
              <a:lnSpc>
                <a:spcPct val="115000"/>
              </a:lnSpc>
            </a:pPr>
            <a:r>
              <a:rPr sz="3200" b="1">
                <a:solidFill>
                  <a:srgbClr val="7BD992"/>
                </a:solidFill>
                <a:latin typeface="Consolas"/>
              </a:rPr>
              <a:t>208 Wh</a:t>
            </a:r>
          </a:p>
        </p:txBody>
      </p:sp>
      <p:sp>
        <p:nvSpPr>
          <p:cNvPr id="9" name="TextBox 8"/>
          <p:cNvSpPr txBox="1"/>
          <p:nvPr/>
        </p:nvSpPr>
        <p:spPr>
          <a:xfrm>
            <a:off x="7818120" y="2441448"/>
            <a:ext cx="347472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eps en el codo con min_samples = 5</a:t>
            </a:r>
          </a:p>
          <a:p>
            <a:pPr algn="l">
              <a:lnSpc>
                <a:spcPct val="115000"/>
              </a:lnSpc>
            </a:pPr>
            <a:r>
              <a:rPr sz="1150" b="0">
                <a:solidFill>
                  <a:srgbClr val="9AA3B2"/>
                </a:solidFill>
                <a:latin typeface="Segoe UI"/>
              </a:rPr>
              <a:t>(una semana laboral de días parecidos)</a:t>
            </a:r>
          </a:p>
        </p:txBody>
      </p:sp>
      <p:sp>
        <p:nvSpPr>
          <p:cNvPr id="10" name="TextBox 9"/>
          <p:cNvSpPr txBox="1"/>
          <p:nvPr/>
        </p:nvSpPr>
        <p:spPr>
          <a:xfrm>
            <a:off x="7818120" y="3017520"/>
            <a:ext cx="3474720" cy="640080"/>
          </a:xfrm>
          <a:prstGeom prst="rect">
            <a:avLst/>
          </a:prstGeom>
          <a:noFill/>
        </p:spPr>
        <p:txBody>
          <a:bodyPr wrap="square" lIns="0" rIns="0" tIns="0" bIns="0" anchor="t">
            <a:spAutoFit/>
          </a:bodyPr>
          <a:lstStyle/>
          <a:p>
            <a:pPr algn="l">
              <a:lnSpc>
                <a:spcPct val="115000"/>
              </a:lnSpc>
            </a:pPr>
            <a:r>
              <a:rPr sz="2800" b="1">
                <a:solidFill>
                  <a:srgbClr val="E6E9EF"/>
                </a:solidFill>
                <a:latin typeface="Consolas"/>
              </a:rPr>
              <a:t>≈ 42 Wh/h</a:t>
            </a:r>
          </a:p>
        </p:txBody>
      </p:sp>
      <p:sp>
        <p:nvSpPr>
          <p:cNvPr id="11" name="TextBox 10"/>
          <p:cNvSpPr txBox="1"/>
          <p:nvPr/>
        </p:nvSpPr>
        <p:spPr>
          <a:xfrm>
            <a:off x="7818120" y="3675888"/>
            <a:ext cx="347472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en 24 dimensiones: dos días son vecinos</a:t>
            </a:r>
          </a:p>
          <a:p>
            <a:pPr algn="l">
              <a:lnSpc>
                <a:spcPct val="115000"/>
              </a:lnSpc>
            </a:pPr>
            <a:r>
              <a:rPr sz="1150" b="0">
                <a:solidFill>
                  <a:srgbClr val="9AA3B2"/>
                </a:solidFill>
                <a:latin typeface="Segoe UI"/>
              </a:rPr>
              <a:t>si difieren unos 42 Wh por hora</a:t>
            </a:r>
          </a:p>
        </p:txBody>
      </p:sp>
      <p:sp>
        <p:nvSpPr>
          <p:cNvPr id="12" name="Rectangle 11"/>
          <p:cNvSpPr/>
          <p:nvPr/>
        </p:nvSpPr>
        <p:spPr>
          <a:xfrm>
            <a:off x="685800" y="4983480"/>
            <a:ext cx="10607040" cy="8686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4983480"/>
            <a:ext cx="54864" cy="86868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5166360"/>
            <a:ext cx="10149840" cy="54864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Columnas y escalado.</a:t>
            </a:r>
            <a:r>
              <a:rPr sz="1300" b="0">
                <a:solidFill>
                  <a:srgbClr val="C9D1DE"/>
                </a:solidFill>
                <a:latin typeface="Segoe UI"/>
              </a:rPr>
              <a:t> 24 medias horarias en Wh, sin estandarizar: misma unidad y eps legible. Ni con la regla D + 1 = 25 vecinos aparece un segundo clúster.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4 · DBSCAN</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05</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PARTE A · PASOS 5–6</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Todo un gran grupo, y los 28 días de carga alta son ruido</a:t>
            </a:r>
          </a:p>
        </p:txBody>
      </p:sp>
      <p:sp>
        <p:nvSpPr>
          <p:cNvPr id="6" name="Rounded Rectangle 5"/>
          <p:cNvSpPr/>
          <p:nvPr/>
        </p:nvSpPr>
        <p:spPr>
          <a:xfrm>
            <a:off x="694944" y="1662854"/>
            <a:ext cx="10588752" cy="3212251"/>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2_global.png"/>
          <p:cNvPicPr>
            <a:picLocks noChangeAspect="1"/>
          </p:cNvPicPr>
          <p:nvPr/>
        </p:nvPicPr>
        <p:blipFill>
          <a:blip r:embed="rId2"/>
          <a:stretch>
            <a:fillRect/>
          </a:stretch>
        </p:blipFill>
        <p:spPr>
          <a:xfrm>
            <a:off x="777240" y="1745150"/>
            <a:ext cx="10424160" cy="3047659"/>
          </a:xfrm>
          <a:prstGeom prst="rect">
            <a:avLst/>
          </a:prstGeom>
        </p:spPr>
      </p:pic>
      <p:sp>
        <p:nvSpPr>
          <p:cNvPr id="8" name="TextBox 7"/>
          <p:cNvSpPr txBox="1"/>
          <p:nvPr/>
        </p:nvSpPr>
        <p:spPr>
          <a:xfrm>
            <a:off x="685800" y="5029200"/>
            <a:ext cx="3291840" cy="640080"/>
          </a:xfrm>
          <a:prstGeom prst="rect">
            <a:avLst/>
          </a:prstGeom>
          <a:noFill/>
        </p:spPr>
        <p:txBody>
          <a:bodyPr wrap="square" lIns="0" rIns="0" tIns="0" bIns="0" anchor="t">
            <a:spAutoFit/>
          </a:bodyPr>
          <a:lstStyle/>
          <a:p>
            <a:pPr algn="l">
              <a:lnSpc>
                <a:spcPct val="115000"/>
              </a:lnSpc>
            </a:pPr>
            <a:r>
              <a:rPr sz="3000" b="1">
                <a:solidFill>
                  <a:srgbClr val="7BD992"/>
                </a:solidFill>
                <a:latin typeface="Consolas"/>
              </a:rPr>
              <a:t>1 clúster</a:t>
            </a:r>
          </a:p>
        </p:txBody>
      </p:sp>
      <p:sp>
        <p:nvSpPr>
          <p:cNvPr id="9" name="TextBox 8"/>
          <p:cNvSpPr txBox="1"/>
          <p:nvPr/>
        </p:nvSpPr>
        <p:spPr>
          <a:xfrm>
            <a:off x="685800" y="568756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de 82 días: la rutina densa</a:t>
            </a:r>
          </a:p>
        </p:txBody>
      </p:sp>
      <p:sp>
        <p:nvSpPr>
          <p:cNvPr id="10" name="TextBox 9"/>
          <p:cNvSpPr txBox="1"/>
          <p:nvPr/>
        </p:nvSpPr>
        <p:spPr>
          <a:xfrm>
            <a:off x="4297680" y="5029200"/>
            <a:ext cx="3291840" cy="640080"/>
          </a:xfrm>
          <a:prstGeom prst="rect">
            <a:avLst/>
          </a:prstGeom>
          <a:noFill/>
        </p:spPr>
        <p:txBody>
          <a:bodyPr wrap="square" lIns="0" rIns="0" tIns="0" bIns="0" anchor="t">
            <a:spAutoFit/>
          </a:bodyPr>
          <a:lstStyle/>
          <a:p>
            <a:pPr algn="l">
              <a:lnSpc>
                <a:spcPct val="115000"/>
              </a:lnSpc>
            </a:pPr>
            <a:r>
              <a:rPr sz="3000" b="1">
                <a:solidFill>
                  <a:srgbClr val="F28B82"/>
                </a:solidFill>
                <a:latin typeface="Consolas"/>
              </a:rPr>
              <a:t>54 días</a:t>
            </a:r>
          </a:p>
        </p:txBody>
      </p:sp>
      <p:sp>
        <p:nvSpPr>
          <p:cNvPr id="11" name="TextBox 10"/>
          <p:cNvSpPr txBox="1"/>
          <p:nvPr/>
        </p:nvSpPr>
        <p:spPr>
          <a:xfrm>
            <a:off x="4297680" y="568756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de ruido (39,7 %): los 28 de carga</a:t>
            </a:r>
          </a:p>
          <a:p>
            <a:pPr algn="l">
              <a:lnSpc>
                <a:spcPct val="115000"/>
              </a:lnSpc>
            </a:pPr>
            <a:r>
              <a:rPr sz="1150" b="0">
                <a:solidFill>
                  <a:srgbClr val="9AA3B2"/>
                </a:solidFill>
                <a:latin typeface="Segoe UI"/>
              </a:rPr>
              <a:t>alta y 26 normales</a:t>
            </a:r>
          </a:p>
        </p:txBody>
      </p:sp>
      <p:sp>
        <p:nvSpPr>
          <p:cNvPr id="12" name="TextBox 11"/>
          <p:cNvSpPr txBox="1"/>
          <p:nvPr/>
        </p:nvSpPr>
        <p:spPr>
          <a:xfrm>
            <a:off x="7909560" y="5029200"/>
            <a:ext cx="3383280" cy="1188720"/>
          </a:xfrm>
          <a:prstGeom prst="rect">
            <a:avLst/>
          </a:prstGeom>
          <a:noFill/>
        </p:spPr>
        <p:txBody>
          <a:bodyPr wrap="square" lIns="0" rIns="0" tIns="0" bIns="0" anchor="t">
            <a:spAutoFit/>
          </a:bodyPr>
          <a:lstStyle/>
          <a:p>
            <a:pPr algn="l">
              <a:lnSpc>
                <a:spcPct val="115000"/>
              </a:lnSpc>
            </a:pPr>
            <a:r>
              <a:rPr sz="1250" b="0">
                <a:solidFill>
                  <a:srgbClr val="9AA3B2"/>
                </a:solidFill>
                <a:latin typeface="Segoe UI"/>
              </a:rPr>
              <a:t>Para DBSCAN, la carga alta no es un grupo: es la periferia dispersa de una única rutina. K-Means lo agrupaba porque está obligado a asignar cada día.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4 · DBSCAN</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06</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SEPARAR POR GRUPOS · LA DECISIÓN</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Cada tipo de día tiene su propia densidad</a:t>
            </a:r>
          </a:p>
        </p:txBody>
      </p:sp>
      <p:sp>
        <p:nvSpPr>
          <p:cNvPr id="6" name="Rounded Rectangle 5"/>
          <p:cNvSpPr/>
          <p:nvPr/>
        </p:nvSpPr>
        <p:spPr>
          <a:xfrm>
            <a:off x="694944" y="2095970"/>
            <a:ext cx="6931151" cy="23917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3_por_grupos.png"/>
          <p:cNvPicPr>
            <a:picLocks noChangeAspect="1"/>
          </p:cNvPicPr>
          <p:nvPr/>
        </p:nvPicPr>
        <p:blipFill>
          <a:blip r:embed="rId2"/>
          <a:stretch>
            <a:fillRect/>
          </a:stretch>
        </p:blipFill>
        <p:spPr>
          <a:xfrm>
            <a:off x="777240" y="2178266"/>
            <a:ext cx="6766559" cy="2227148"/>
          </a:xfrm>
          <a:prstGeom prst="rect">
            <a:avLst/>
          </a:prstGeom>
        </p:spPr>
      </p:pic>
      <p:sp>
        <p:nvSpPr>
          <p:cNvPr id="8" name="TextBox 7"/>
          <p:cNvSpPr txBox="1"/>
          <p:nvPr/>
        </p:nvSpPr>
        <p:spPr>
          <a:xfrm>
            <a:off x="8001000" y="1783080"/>
            <a:ext cx="3291840" cy="640080"/>
          </a:xfrm>
          <a:prstGeom prst="rect">
            <a:avLst/>
          </a:prstGeom>
          <a:noFill/>
        </p:spPr>
        <p:txBody>
          <a:bodyPr wrap="square" lIns="0" rIns="0" tIns="0" bIns="0" anchor="t">
            <a:spAutoFit/>
          </a:bodyPr>
          <a:lstStyle/>
          <a:p>
            <a:pPr algn="l">
              <a:lnSpc>
                <a:spcPct val="115000"/>
              </a:lnSpc>
            </a:pPr>
            <a:r>
              <a:rPr sz="3400" b="1">
                <a:solidFill>
                  <a:srgbClr val="FFB877"/>
                </a:solidFill>
                <a:latin typeface="Consolas"/>
              </a:rPr>
              <a:t>2,2×</a:t>
            </a:r>
          </a:p>
        </p:txBody>
      </p:sp>
      <p:sp>
        <p:nvSpPr>
          <p:cNvPr id="9" name="TextBox 8"/>
          <p:cNvSpPr txBox="1"/>
          <p:nvPr/>
        </p:nvSpPr>
        <p:spPr>
          <a:xfrm>
            <a:off x="8001000" y="244144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más disperso el día de carga alta:</a:t>
            </a:r>
          </a:p>
          <a:p>
            <a:pPr algn="l">
              <a:lnSpc>
                <a:spcPct val="115000"/>
              </a:lnSpc>
            </a:pPr>
            <a:r>
              <a:rPr sz="1150" b="0">
                <a:solidFill>
                  <a:srgbClr val="9AA3B2"/>
                </a:solidFill>
                <a:latin typeface="Segoe UI"/>
              </a:rPr>
              <a:t>eps de 452 Wh frente a 208</a:t>
            </a:r>
          </a:p>
        </p:txBody>
      </p:sp>
      <p:sp>
        <p:nvSpPr>
          <p:cNvPr id="10" name="TextBox 9"/>
          <p:cNvSpPr txBox="1"/>
          <p:nvPr/>
        </p:nvSpPr>
        <p:spPr>
          <a:xfrm>
            <a:off x="8001000" y="3063240"/>
            <a:ext cx="3291840" cy="640080"/>
          </a:xfrm>
          <a:prstGeom prst="rect">
            <a:avLst/>
          </a:prstGeom>
          <a:noFill/>
        </p:spPr>
        <p:txBody>
          <a:bodyPr wrap="square" lIns="0" rIns="0" tIns="0" bIns="0" anchor="t">
            <a:spAutoFit/>
          </a:bodyPr>
          <a:lstStyle/>
          <a:p>
            <a:pPr algn="l">
              <a:lnSpc>
                <a:spcPct val="115000"/>
              </a:lnSpc>
            </a:pPr>
            <a:r>
              <a:rPr sz="3000" b="1">
                <a:solidFill>
                  <a:srgbClr val="7BD992"/>
                </a:solidFill>
                <a:latin typeface="Consolas"/>
              </a:rPr>
              <a:t>24 de 28</a:t>
            </a:r>
          </a:p>
        </p:txBody>
      </p:sp>
      <p:sp>
        <p:nvSpPr>
          <p:cNvPr id="11" name="TextBox 10"/>
          <p:cNvSpPr txBox="1"/>
          <p:nvPr/>
        </p:nvSpPr>
        <p:spPr>
          <a:xfrm>
            <a:off x="8001000" y="372160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días de carga alta forman grupo</a:t>
            </a:r>
          </a:p>
          <a:p>
            <a:pPr algn="l">
              <a:lnSpc>
                <a:spcPct val="115000"/>
              </a:lnSpc>
            </a:pPr>
            <a:r>
              <a:rPr sz="1150" b="0">
                <a:solidFill>
                  <a:srgbClr val="9AA3B2"/>
                </a:solidFill>
                <a:latin typeface="Segoe UI"/>
              </a:rPr>
              <a:t>con su propio eps</a:t>
            </a:r>
          </a:p>
        </p:txBody>
      </p:sp>
      <p:sp>
        <p:nvSpPr>
          <p:cNvPr id="12" name="Rectangle 11"/>
          <p:cNvSpPr/>
          <p:nvPr/>
        </p:nvSpPr>
        <p:spPr>
          <a:xfrm>
            <a:off x="685800" y="5074920"/>
            <a:ext cx="10607040" cy="8686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5074920"/>
            <a:ext cx="54864" cy="86868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5257800"/>
            <a:ext cx="10149840" cy="54864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El calendario no sirve para separar.</a:t>
            </a:r>
            <a:r>
              <a:rPr sz="1300" b="0">
                <a:solidFill>
                  <a:srgbClr val="C9D1DE"/>
                </a:solidFill>
                <a:latin typeface="Segoe UI"/>
              </a:rPr>
              <a:t> Separando por fin de semana, 27 de los 28 días de carga alta siguen en el ruido. </a:t>
            </a:r>
            <a:r>
              <a:rPr sz="1300" b="1">
                <a:solidFill>
                  <a:srgbClr val="E6E9EF"/>
                </a:solidFill>
                <a:latin typeface="Segoe UI"/>
              </a:rPr>
              <a:t>Para Shiro:</a:t>
            </a:r>
            <a:r>
              <a:rPr sz="1300" b="0">
                <a:solidFill>
                  <a:srgbClr val="C9D1DE"/>
                </a:solidFill>
                <a:latin typeface="Segoe UI"/>
              </a:rPr>
              <a:t> la incertidumbre del simulador debe depender del tipo de día, no solo de la franja.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4 · DBSCAN</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08</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PASO 7 · EPS Y MIN_SAMPLES</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eps manda; min_samples solo desplaza el codo</a:t>
            </a:r>
          </a:p>
        </p:txBody>
      </p:sp>
      <p:sp>
        <p:nvSpPr>
          <p:cNvPr id="6" name="Rounded Rectangle 5"/>
          <p:cNvSpPr/>
          <p:nvPr/>
        </p:nvSpPr>
        <p:spPr>
          <a:xfrm>
            <a:off x="694944" y="1705687"/>
            <a:ext cx="10588752" cy="2806545"/>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4_sensibilidad.png"/>
          <p:cNvPicPr>
            <a:picLocks noChangeAspect="1"/>
          </p:cNvPicPr>
          <p:nvPr/>
        </p:nvPicPr>
        <p:blipFill>
          <a:blip r:embed="rId2"/>
          <a:stretch>
            <a:fillRect/>
          </a:stretch>
        </p:blipFill>
        <p:spPr>
          <a:xfrm>
            <a:off x="777240" y="1787983"/>
            <a:ext cx="10424160" cy="2641953"/>
          </a:xfrm>
          <a:prstGeom prst="rect">
            <a:avLst/>
          </a:prstGeom>
        </p:spPr>
      </p:pic>
      <p:sp>
        <p:nvSpPr>
          <p:cNvPr id="8" name="TextBox 7"/>
          <p:cNvSpPr txBox="1"/>
          <p:nvPr/>
        </p:nvSpPr>
        <p:spPr>
          <a:xfrm>
            <a:off x="685800" y="4800600"/>
            <a:ext cx="1645920" cy="365760"/>
          </a:xfrm>
          <a:prstGeom prst="rect">
            <a:avLst/>
          </a:prstGeom>
          <a:noFill/>
        </p:spPr>
        <p:txBody>
          <a:bodyPr wrap="square" lIns="0" rIns="0" tIns="0" bIns="0" anchor="t">
            <a:spAutoFit/>
          </a:bodyPr>
          <a:lstStyle/>
          <a:p>
            <a:pPr algn="l">
              <a:lnSpc>
                <a:spcPct val="115000"/>
              </a:lnSpc>
            </a:pPr>
            <a:r>
              <a:rPr sz="1300" b="0">
                <a:solidFill>
                  <a:srgbClr val="7BD992"/>
                </a:solidFill>
                <a:latin typeface="Consolas"/>
              </a:rPr>
              <a:t>&lt; 175 Wh</a:t>
            </a:r>
          </a:p>
        </p:txBody>
      </p:sp>
      <p:sp>
        <p:nvSpPr>
          <p:cNvPr id="9" name="TextBox 8"/>
          <p:cNvSpPr txBox="1"/>
          <p:nvPr/>
        </p:nvSpPr>
        <p:spPr>
          <a:xfrm>
            <a:off x="2423160" y="4800600"/>
            <a:ext cx="5303520" cy="365760"/>
          </a:xfrm>
          <a:prstGeom prst="rect">
            <a:avLst/>
          </a:prstGeom>
          <a:noFill/>
        </p:spPr>
        <p:txBody>
          <a:bodyPr wrap="square" lIns="0" rIns="0" tIns="0" bIns="0" anchor="t">
            <a:spAutoFit/>
          </a:bodyPr>
          <a:lstStyle/>
          <a:p>
            <a:pPr algn="l">
              <a:lnSpc>
                <a:spcPct val="115000"/>
              </a:lnSpc>
            </a:pPr>
            <a:r>
              <a:rPr sz="1300" b="0">
                <a:solidFill>
                  <a:srgbClr val="C9D1DE"/>
                </a:solidFill>
                <a:latin typeface="Segoe UI"/>
              </a:rPr>
              <a:t>fragmenta: hasta 4 clústers de 3–16 días y 62–116 días de ruido</a:t>
            </a:r>
          </a:p>
        </p:txBody>
      </p:sp>
      <p:sp>
        <p:nvSpPr>
          <p:cNvPr id="10" name="TextBox 9"/>
          <p:cNvSpPr txBox="1"/>
          <p:nvPr/>
        </p:nvSpPr>
        <p:spPr>
          <a:xfrm>
            <a:off x="685800" y="5184648"/>
            <a:ext cx="1645920" cy="365760"/>
          </a:xfrm>
          <a:prstGeom prst="rect">
            <a:avLst/>
          </a:prstGeom>
          <a:noFill/>
        </p:spPr>
        <p:txBody>
          <a:bodyPr wrap="square" lIns="0" rIns="0" tIns="0" bIns="0" anchor="t">
            <a:spAutoFit/>
          </a:bodyPr>
          <a:lstStyle/>
          <a:p>
            <a:pPr algn="l">
              <a:lnSpc>
                <a:spcPct val="115000"/>
              </a:lnSpc>
            </a:pPr>
            <a:r>
              <a:rPr sz="1300" b="0">
                <a:solidFill>
                  <a:srgbClr val="7BD992"/>
                </a:solidFill>
                <a:latin typeface="Consolas"/>
              </a:rPr>
              <a:t>200–250 Wh</a:t>
            </a:r>
          </a:p>
        </p:txBody>
      </p:sp>
      <p:sp>
        <p:nvSpPr>
          <p:cNvPr id="11" name="TextBox 10"/>
          <p:cNvSpPr txBox="1"/>
          <p:nvPr/>
        </p:nvSpPr>
        <p:spPr>
          <a:xfrm>
            <a:off x="2423160" y="5184648"/>
            <a:ext cx="5303520" cy="365760"/>
          </a:xfrm>
          <a:prstGeom prst="rect">
            <a:avLst/>
          </a:prstGeom>
          <a:noFill/>
        </p:spPr>
        <p:txBody>
          <a:bodyPr wrap="square" lIns="0" rIns="0" tIns="0" bIns="0" anchor="t">
            <a:spAutoFit/>
          </a:bodyPr>
          <a:lstStyle/>
          <a:p>
            <a:pPr algn="l">
              <a:lnSpc>
                <a:spcPct val="115000"/>
              </a:lnSpc>
            </a:pPr>
            <a:r>
              <a:rPr sz="1300" b="0">
                <a:solidFill>
                  <a:srgbClr val="C9D1DE"/>
                </a:solidFill>
                <a:latin typeface="Segoe UI"/>
              </a:rPr>
              <a:t>el codo: un gran grupo, los 28 días de carga alta en el ruido</a:t>
            </a:r>
          </a:p>
        </p:txBody>
      </p:sp>
      <p:sp>
        <p:nvSpPr>
          <p:cNvPr id="12" name="TextBox 11"/>
          <p:cNvSpPr txBox="1"/>
          <p:nvPr/>
        </p:nvSpPr>
        <p:spPr>
          <a:xfrm>
            <a:off x="685800" y="5568696"/>
            <a:ext cx="1645920" cy="365760"/>
          </a:xfrm>
          <a:prstGeom prst="rect">
            <a:avLst/>
          </a:prstGeom>
          <a:noFill/>
        </p:spPr>
        <p:txBody>
          <a:bodyPr wrap="square" lIns="0" rIns="0" tIns="0" bIns="0" anchor="t">
            <a:spAutoFit/>
          </a:bodyPr>
          <a:lstStyle/>
          <a:p>
            <a:pPr algn="l">
              <a:lnSpc>
                <a:spcPct val="115000"/>
              </a:lnSpc>
            </a:pPr>
            <a:r>
              <a:rPr sz="1300" b="0">
                <a:solidFill>
                  <a:srgbClr val="7BD992"/>
                </a:solidFill>
                <a:latin typeface="Consolas"/>
              </a:rPr>
              <a:t>≥ 450 Wh</a:t>
            </a:r>
          </a:p>
        </p:txBody>
      </p:sp>
      <p:sp>
        <p:nvSpPr>
          <p:cNvPr id="13" name="TextBox 12"/>
          <p:cNvSpPr txBox="1"/>
          <p:nvPr/>
        </p:nvSpPr>
        <p:spPr>
          <a:xfrm>
            <a:off x="2423160" y="5568696"/>
            <a:ext cx="5303520" cy="365760"/>
          </a:xfrm>
          <a:prstGeom prst="rect">
            <a:avLst/>
          </a:prstGeom>
          <a:noFill/>
        </p:spPr>
        <p:txBody>
          <a:bodyPr wrap="square" lIns="0" rIns="0" tIns="0" bIns="0" anchor="t">
            <a:spAutoFit/>
          </a:bodyPr>
          <a:lstStyle/>
          <a:p>
            <a:pPr algn="l">
              <a:lnSpc>
                <a:spcPct val="115000"/>
              </a:lnSpc>
            </a:pPr>
            <a:r>
              <a:rPr sz="1300" b="0">
                <a:solidFill>
                  <a:srgbClr val="C9D1DE"/>
                </a:solidFill>
                <a:latin typeface="Segoe UI"/>
              </a:rPr>
              <a:t>absorbe casi todo: 2 % de ruido o menos</a:t>
            </a:r>
          </a:p>
        </p:txBody>
      </p:sp>
      <p:sp>
        <p:nvSpPr>
          <p:cNvPr id="14" name="Rectangle 13"/>
          <p:cNvSpPr/>
          <p:nvPr/>
        </p:nvSpPr>
        <p:spPr>
          <a:xfrm>
            <a:off x="7909560" y="4754880"/>
            <a:ext cx="3383280" cy="11887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09560" y="4754880"/>
            <a:ext cx="54864" cy="118872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65592" y="4937760"/>
            <a:ext cx="2926080" cy="86868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147 configuraciones.</a:t>
            </a:r>
            <a:r>
              <a:rPr sz="1250" b="0">
                <a:solidFill>
                  <a:srgbClr val="C9D1DE"/>
                </a:solidFill>
                <a:latin typeface="Segoe UI"/>
              </a:rPr>
              <a:t> Ninguna separa los dos tipos como dos grupos: solo 6 dan más de un clúster, y el segundo tiene de 3 a 6 días.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4 · DBSCAN</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10</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¿QUÉ DÍAS SON RAROS DE VERDAD?</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22 atípicos robustos: 4 de cada 10 días de enero</a:t>
            </a:r>
          </a:p>
        </p:txBody>
      </p:sp>
      <p:sp>
        <p:nvSpPr>
          <p:cNvPr id="6" name="Rounded Rectangle 5"/>
          <p:cNvSpPr/>
          <p:nvPr/>
        </p:nvSpPr>
        <p:spPr>
          <a:xfrm>
            <a:off x="694944" y="1802067"/>
            <a:ext cx="7114032" cy="2248025"/>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5_atipicos.png"/>
          <p:cNvPicPr>
            <a:picLocks noChangeAspect="1"/>
          </p:cNvPicPr>
          <p:nvPr/>
        </p:nvPicPr>
        <p:blipFill>
          <a:blip r:embed="rId2"/>
          <a:stretch>
            <a:fillRect/>
          </a:stretch>
        </p:blipFill>
        <p:spPr>
          <a:xfrm>
            <a:off x="777240" y="1884363"/>
            <a:ext cx="6949440" cy="2083433"/>
          </a:xfrm>
          <a:prstGeom prst="rect">
            <a:avLst/>
          </a:prstGeom>
        </p:spPr>
      </p:pic>
      <p:sp>
        <p:nvSpPr>
          <p:cNvPr id="8" name="TextBox 7"/>
          <p:cNvSpPr txBox="1"/>
          <p:nvPr/>
        </p:nvSpPr>
        <p:spPr>
          <a:xfrm>
            <a:off x="685800" y="4434840"/>
            <a:ext cx="128016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MES</a:t>
            </a:r>
          </a:p>
        </p:txBody>
      </p:sp>
      <p:sp>
        <p:nvSpPr>
          <p:cNvPr id="9" name="TextBox 8"/>
          <p:cNvSpPr txBox="1"/>
          <p:nvPr/>
        </p:nvSpPr>
        <p:spPr>
          <a:xfrm>
            <a:off x="1965960" y="4434840"/>
            <a:ext cx="109728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ENE</a:t>
            </a:r>
          </a:p>
        </p:txBody>
      </p:sp>
      <p:sp>
        <p:nvSpPr>
          <p:cNvPr id="10" name="TextBox 9"/>
          <p:cNvSpPr txBox="1"/>
          <p:nvPr/>
        </p:nvSpPr>
        <p:spPr>
          <a:xfrm>
            <a:off x="3063240" y="4434840"/>
            <a:ext cx="109728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FEB</a:t>
            </a:r>
          </a:p>
        </p:txBody>
      </p:sp>
      <p:sp>
        <p:nvSpPr>
          <p:cNvPr id="11" name="TextBox 10"/>
          <p:cNvSpPr txBox="1"/>
          <p:nvPr/>
        </p:nvSpPr>
        <p:spPr>
          <a:xfrm>
            <a:off x="4160520" y="4434840"/>
            <a:ext cx="109728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MAR</a:t>
            </a:r>
          </a:p>
        </p:txBody>
      </p:sp>
      <p:sp>
        <p:nvSpPr>
          <p:cNvPr id="12" name="TextBox 11"/>
          <p:cNvSpPr txBox="1"/>
          <p:nvPr/>
        </p:nvSpPr>
        <p:spPr>
          <a:xfrm>
            <a:off x="5257800" y="4434840"/>
            <a:ext cx="109728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ABR</a:t>
            </a:r>
          </a:p>
        </p:txBody>
      </p:sp>
      <p:sp>
        <p:nvSpPr>
          <p:cNvPr id="13" name="TextBox 12"/>
          <p:cNvSpPr txBox="1"/>
          <p:nvPr/>
        </p:nvSpPr>
        <p:spPr>
          <a:xfrm>
            <a:off x="6355080" y="4434840"/>
            <a:ext cx="109728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MAY</a:t>
            </a:r>
          </a:p>
        </p:txBody>
      </p:sp>
      <p:sp>
        <p:nvSpPr>
          <p:cNvPr id="14" name="Rectangle 13"/>
          <p:cNvSpPr/>
          <p:nvPr/>
        </p:nvSpPr>
        <p:spPr>
          <a:xfrm>
            <a:off x="685800" y="4727448"/>
            <a:ext cx="676656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764024"/>
            <a:ext cx="1170432" cy="36576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Atípicos</a:t>
            </a:r>
          </a:p>
        </p:txBody>
      </p:sp>
      <p:sp>
        <p:nvSpPr>
          <p:cNvPr id="16" name="TextBox 15"/>
          <p:cNvSpPr txBox="1"/>
          <p:nvPr/>
        </p:nvSpPr>
        <p:spPr>
          <a:xfrm>
            <a:off x="1965960" y="4764024"/>
            <a:ext cx="987552" cy="365760"/>
          </a:xfrm>
          <a:prstGeom prst="rect">
            <a:avLst/>
          </a:prstGeom>
          <a:noFill/>
        </p:spPr>
        <p:txBody>
          <a:bodyPr wrap="square" lIns="0" rIns="0" tIns="0" bIns="0" anchor="ctr">
            <a:spAutoFit/>
          </a:bodyPr>
          <a:lstStyle/>
          <a:p>
            <a:pPr algn="r">
              <a:lnSpc>
                <a:spcPct val="115000"/>
              </a:lnSpc>
            </a:pPr>
            <a:r>
              <a:rPr sz="1300" b="0">
                <a:solidFill>
                  <a:srgbClr val="FFB877"/>
                </a:solidFill>
                <a:latin typeface="Consolas"/>
              </a:rPr>
              <a:t>8 / 20</a:t>
            </a:r>
          </a:p>
        </p:txBody>
      </p:sp>
      <p:sp>
        <p:nvSpPr>
          <p:cNvPr id="17" name="TextBox 16"/>
          <p:cNvSpPr txBox="1"/>
          <p:nvPr/>
        </p:nvSpPr>
        <p:spPr>
          <a:xfrm>
            <a:off x="3063240" y="4764024"/>
            <a:ext cx="987552" cy="36576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4 / 29</a:t>
            </a:r>
          </a:p>
        </p:txBody>
      </p:sp>
      <p:sp>
        <p:nvSpPr>
          <p:cNvPr id="18" name="TextBox 17"/>
          <p:cNvSpPr txBox="1"/>
          <p:nvPr/>
        </p:nvSpPr>
        <p:spPr>
          <a:xfrm>
            <a:off x="4160520" y="4764024"/>
            <a:ext cx="987552" cy="36576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4 / 31</a:t>
            </a:r>
          </a:p>
        </p:txBody>
      </p:sp>
      <p:sp>
        <p:nvSpPr>
          <p:cNvPr id="19" name="TextBox 18"/>
          <p:cNvSpPr txBox="1"/>
          <p:nvPr/>
        </p:nvSpPr>
        <p:spPr>
          <a:xfrm>
            <a:off x="5257800" y="4764024"/>
            <a:ext cx="987552" cy="36576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5 / 30</a:t>
            </a:r>
          </a:p>
        </p:txBody>
      </p:sp>
      <p:sp>
        <p:nvSpPr>
          <p:cNvPr id="20" name="TextBox 19"/>
          <p:cNvSpPr txBox="1"/>
          <p:nvPr/>
        </p:nvSpPr>
        <p:spPr>
          <a:xfrm>
            <a:off x="6355080" y="4764024"/>
            <a:ext cx="987552" cy="36576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1 / 26</a:t>
            </a:r>
          </a:p>
        </p:txBody>
      </p:sp>
      <p:sp>
        <p:nvSpPr>
          <p:cNvPr id="21" name="TextBox 20"/>
          <p:cNvSpPr txBox="1"/>
          <p:nvPr/>
        </p:nvSpPr>
        <p:spPr>
          <a:xfrm>
            <a:off x="777240" y="5129784"/>
            <a:ext cx="1170432" cy="36576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a:t>
            </a:r>
          </a:p>
        </p:txBody>
      </p:sp>
      <p:sp>
        <p:nvSpPr>
          <p:cNvPr id="22" name="TextBox 21"/>
          <p:cNvSpPr txBox="1"/>
          <p:nvPr/>
        </p:nvSpPr>
        <p:spPr>
          <a:xfrm>
            <a:off x="1965960" y="5129784"/>
            <a:ext cx="987552" cy="365760"/>
          </a:xfrm>
          <a:prstGeom prst="rect">
            <a:avLst/>
          </a:prstGeom>
          <a:noFill/>
        </p:spPr>
        <p:txBody>
          <a:bodyPr wrap="square" lIns="0" rIns="0" tIns="0" bIns="0" anchor="ctr">
            <a:spAutoFit/>
          </a:bodyPr>
          <a:lstStyle/>
          <a:p>
            <a:pPr algn="r">
              <a:lnSpc>
                <a:spcPct val="115000"/>
              </a:lnSpc>
            </a:pPr>
            <a:r>
              <a:rPr sz="1300" b="0">
                <a:solidFill>
                  <a:srgbClr val="FFB877"/>
                </a:solidFill>
                <a:latin typeface="Consolas"/>
              </a:rPr>
              <a:t>40 %</a:t>
            </a:r>
          </a:p>
        </p:txBody>
      </p:sp>
      <p:sp>
        <p:nvSpPr>
          <p:cNvPr id="23" name="TextBox 22"/>
          <p:cNvSpPr txBox="1"/>
          <p:nvPr/>
        </p:nvSpPr>
        <p:spPr>
          <a:xfrm>
            <a:off x="3063240" y="5129784"/>
            <a:ext cx="987552" cy="36576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14 %</a:t>
            </a:r>
          </a:p>
        </p:txBody>
      </p:sp>
      <p:sp>
        <p:nvSpPr>
          <p:cNvPr id="24" name="TextBox 23"/>
          <p:cNvSpPr txBox="1"/>
          <p:nvPr/>
        </p:nvSpPr>
        <p:spPr>
          <a:xfrm>
            <a:off x="4160520" y="5129784"/>
            <a:ext cx="987552" cy="36576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13 %</a:t>
            </a:r>
          </a:p>
        </p:txBody>
      </p:sp>
      <p:sp>
        <p:nvSpPr>
          <p:cNvPr id="25" name="TextBox 24"/>
          <p:cNvSpPr txBox="1"/>
          <p:nvPr/>
        </p:nvSpPr>
        <p:spPr>
          <a:xfrm>
            <a:off x="5257800" y="5129784"/>
            <a:ext cx="987552" cy="36576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17 %</a:t>
            </a:r>
          </a:p>
        </p:txBody>
      </p:sp>
      <p:sp>
        <p:nvSpPr>
          <p:cNvPr id="26" name="TextBox 25"/>
          <p:cNvSpPr txBox="1"/>
          <p:nvPr/>
        </p:nvSpPr>
        <p:spPr>
          <a:xfrm>
            <a:off x="6355080" y="5129784"/>
            <a:ext cx="987552" cy="36576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4 %</a:t>
            </a:r>
          </a:p>
        </p:txBody>
      </p:sp>
      <p:sp>
        <p:nvSpPr>
          <p:cNvPr id="27" name="Rectangle 26"/>
          <p:cNvSpPr/>
          <p:nvPr/>
        </p:nvSpPr>
        <p:spPr>
          <a:xfrm>
            <a:off x="8183879" y="1783080"/>
            <a:ext cx="3108960" cy="19202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83879" y="1783080"/>
            <a:ext cx="54864" cy="192024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39911" y="1965960"/>
            <a:ext cx="2651760" cy="160020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Qué tienen en común.</a:t>
            </a:r>
            <a:r>
              <a:rPr sz="1250" b="0">
                <a:solidFill>
                  <a:srgbClr val="C9D1DE"/>
                </a:solidFill>
                <a:latin typeface="Segoe UI"/>
              </a:rPr>
              <a:t> Unas 4 horas con más de 100 Wh sobre la mediana de su tipo, frente a 1 hora en el resto. Incluyen los tres días que el jerárquico aislaba (24-ene, 16-mar, 15-abr).</a:t>
            </a:r>
          </a:p>
        </p:txBody>
      </p:sp>
      <p:sp>
        <p:nvSpPr>
          <p:cNvPr id="30" name="Rectangle 29"/>
          <p:cNvSpPr/>
          <p:nvPr/>
        </p:nvSpPr>
        <p:spPr>
          <a:xfrm>
            <a:off x="8183879" y="3886200"/>
            <a:ext cx="3108960" cy="19202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83879" y="3886200"/>
            <a:ext cx="54864" cy="192024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39911" y="4069080"/>
            <a:ext cx="2651760" cy="160020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Se marcan, no se borran.</a:t>
            </a:r>
            <a:r>
              <a:rPr sz="1250" b="0">
                <a:solidFill>
                  <a:srgbClr val="C9D1DE"/>
                </a:solidFill>
                <a:latin typeface="Segoe UI"/>
              </a:rPr>
              <a:t> Borrarlos le quitaría al gemelo el invierno. El agente no confía en su estimación del tipo esos días. En mayo, solo 2 de 26 días son «desconocidos».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4 · DBSCAN</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12</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PARTE B · QUÉ COLUMNAS USAR</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Con todas las columnas, DBSCAN encuentra el calendario</a:t>
            </a:r>
          </a:p>
        </p:txBody>
      </p:sp>
      <p:sp>
        <p:nvSpPr>
          <p:cNvPr id="6" name="Rounded Rectangle 5"/>
          <p:cNvSpPr/>
          <p:nvPr/>
        </p:nvSpPr>
        <p:spPr>
          <a:xfrm>
            <a:off x="694944" y="1683675"/>
            <a:ext cx="10588752" cy="289629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6_todas_semanas.png"/>
          <p:cNvPicPr>
            <a:picLocks noChangeAspect="1"/>
          </p:cNvPicPr>
          <p:nvPr/>
        </p:nvPicPr>
        <p:blipFill>
          <a:blip r:embed="rId2"/>
          <a:stretch>
            <a:fillRect/>
          </a:stretch>
        </p:blipFill>
        <p:spPr>
          <a:xfrm>
            <a:off x="777240" y="1765971"/>
            <a:ext cx="10424160" cy="2731698"/>
          </a:xfrm>
          <a:prstGeom prst="rect">
            <a:avLst/>
          </a:prstGeom>
        </p:spPr>
      </p:pic>
      <p:sp>
        <p:nvSpPr>
          <p:cNvPr id="8" name="Rectangle 7"/>
          <p:cNvSpPr/>
          <p:nvPr/>
        </p:nvSpPr>
        <p:spPr>
          <a:xfrm>
            <a:off x="685800" y="4754880"/>
            <a:ext cx="5166360" cy="13258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4754880"/>
            <a:ext cx="54864" cy="132588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4937760"/>
            <a:ext cx="4709160" cy="100584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30 columnas → semanas.</a:t>
            </a:r>
            <a:r>
              <a:rPr sz="1250" b="0">
                <a:solidFill>
                  <a:srgbClr val="C9D1DE"/>
                </a:solidFill>
                <a:latin typeface="Segoe UI"/>
              </a:rPr>
              <a:t> Con la mitad del eps, 26 de 30 clústers caben en 7 días: autocorrelación y sensores que derivan con la estación. Se eligen consumo + retardos del parcial, con log1p.</a:t>
            </a:r>
          </a:p>
        </p:txBody>
      </p:sp>
      <p:sp>
        <p:nvSpPr>
          <p:cNvPr id="11" name="Rectangle 10"/>
          <p:cNvSpPr/>
          <p:nvPr/>
        </p:nvSpPr>
        <p:spPr>
          <a:xfrm>
            <a:off x="6126480" y="4754880"/>
            <a:ext cx="5166360" cy="13258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26480" y="4754880"/>
            <a:ext cx="54864" cy="132588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4937760"/>
            <a:ext cx="4709160" cy="100584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El medidor redondea a 10 Wh.</a:t>
            </a:r>
            <a:r>
              <a:rPr sz="1250" b="0">
                <a:solidFill>
                  <a:srgbClr val="C9D1DE"/>
                </a:solidFill>
                <a:latin typeface="Segoe UI"/>
              </a:rPr>
              <a:t> Eso crea capas de densidad falsa: 14 clústers, 6 con un único valor. Con dithering de ±5 Wh (la resolución del medidor) queda un gran grupo con el 95 % de las lecturas.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4 · DBSCAN</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14</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SEPARAR POR FRANJA · ANOMALÍA CONTEXTUAL</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El umbral mide magnitud; DBSCAN, rareza para la hora</a:t>
            </a:r>
          </a:p>
        </p:txBody>
      </p:sp>
      <p:sp>
        <p:nvSpPr>
          <p:cNvPr id="6" name="Rounded Rectangle 5"/>
          <p:cNvSpPr/>
          <p:nvPr/>
        </p:nvSpPr>
        <p:spPr>
          <a:xfrm>
            <a:off x="1465632" y="1655064"/>
            <a:ext cx="9047376" cy="286207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7_contextual.png"/>
          <p:cNvPicPr>
            <a:picLocks noChangeAspect="1"/>
          </p:cNvPicPr>
          <p:nvPr/>
        </p:nvPicPr>
        <p:blipFill>
          <a:blip r:embed="rId2"/>
          <a:stretch>
            <a:fillRect/>
          </a:stretch>
        </p:blipFill>
        <p:spPr>
          <a:xfrm>
            <a:off x="1547928" y="1737360"/>
            <a:ext cx="8882784" cy="2697480"/>
          </a:xfrm>
          <a:prstGeom prst="rect">
            <a:avLst/>
          </a:prstGeom>
        </p:spPr>
      </p:pic>
      <p:sp>
        <p:nvSpPr>
          <p:cNvPr id="8" name="TextBox 7"/>
          <p:cNvSpPr txBox="1"/>
          <p:nvPr/>
        </p:nvSpPr>
        <p:spPr>
          <a:xfrm>
            <a:off x="685800" y="4572000"/>
            <a:ext cx="155448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FRANJA</a:t>
            </a:r>
          </a:p>
        </p:txBody>
      </p:sp>
      <p:sp>
        <p:nvSpPr>
          <p:cNvPr id="9" name="TextBox 8"/>
          <p:cNvSpPr txBox="1"/>
          <p:nvPr/>
        </p:nvSpPr>
        <p:spPr>
          <a:xfrm>
            <a:off x="2240280" y="4572000"/>
            <a:ext cx="118872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RUIDO</a:t>
            </a:r>
          </a:p>
        </p:txBody>
      </p:sp>
      <p:sp>
        <p:nvSpPr>
          <p:cNvPr id="10" name="TextBox 9"/>
          <p:cNvSpPr txBox="1"/>
          <p:nvPr/>
        </p:nvSpPr>
        <p:spPr>
          <a:xfrm>
            <a:off x="3429000" y="4572000"/>
            <a:ext cx="155448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BAJO 200 WH</a:t>
            </a:r>
          </a:p>
        </p:txBody>
      </p:sp>
      <p:sp>
        <p:nvSpPr>
          <p:cNvPr id="11" name="TextBox 10"/>
          <p:cNvSpPr txBox="1"/>
          <p:nvPr/>
        </p:nvSpPr>
        <p:spPr>
          <a:xfrm>
            <a:off x="4983480" y="4572000"/>
            <a:ext cx="210312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&gt; 200 WH MARCADAS</a:t>
            </a:r>
          </a:p>
        </p:txBody>
      </p:sp>
      <p:sp>
        <p:nvSpPr>
          <p:cNvPr id="12" name="Rectangle 11"/>
          <p:cNvSpPr/>
          <p:nvPr/>
        </p:nvSpPr>
        <p:spPr>
          <a:xfrm>
            <a:off x="685800" y="4864608"/>
            <a:ext cx="640080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901184"/>
            <a:ext cx="1444752" cy="301752"/>
          </a:xfrm>
          <a:prstGeom prst="rect">
            <a:avLst/>
          </a:prstGeom>
          <a:noFill/>
        </p:spPr>
        <p:txBody>
          <a:bodyPr wrap="square" lIns="0" rIns="0" tIns="0" bIns="0" anchor="ctr">
            <a:spAutoFit/>
          </a:bodyPr>
          <a:lstStyle/>
          <a:p>
            <a:pPr algn="l">
              <a:lnSpc>
                <a:spcPct val="115000"/>
              </a:lnSpc>
            </a:pPr>
            <a:r>
              <a:rPr sz="1150" b="0">
                <a:solidFill>
                  <a:srgbClr val="C9D1DE"/>
                </a:solidFill>
                <a:latin typeface="Segoe UI"/>
              </a:rPr>
              <a:t>Madrugada</a:t>
            </a:r>
          </a:p>
        </p:txBody>
      </p:sp>
      <p:sp>
        <p:nvSpPr>
          <p:cNvPr id="14" name="TextBox 13"/>
          <p:cNvSpPr txBox="1"/>
          <p:nvPr/>
        </p:nvSpPr>
        <p:spPr>
          <a:xfrm>
            <a:off x="2240280" y="4901184"/>
            <a:ext cx="1078992" cy="301752"/>
          </a:xfrm>
          <a:prstGeom prst="rect">
            <a:avLst/>
          </a:prstGeom>
          <a:noFill/>
        </p:spPr>
        <p:txBody>
          <a:bodyPr wrap="square" lIns="0" rIns="0" tIns="0" bIns="0" anchor="ctr">
            <a:spAutoFit/>
          </a:bodyPr>
          <a:lstStyle/>
          <a:p>
            <a:pPr algn="r">
              <a:lnSpc>
                <a:spcPct val="115000"/>
              </a:lnSpc>
            </a:pPr>
            <a:r>
              <a:rPr sz="1150" b="0">
                <a:solidFill>
                  <a:srgbClr val="C9D1DE"/>
                </a:solidFill>
                <a:latin typeface="Consolas"/>
              </a:rPr>
              <a:t>2,0 %</a:t>
            </a:r>
          </a:p>
        </p:txBody>
      </p:sp>
      <p:sp>
        <p:nvSpPr>
          <p:cNvPr id="15" name="TextBox 14"/>
          <p:cNvSpPr txBox="1"/>
          <p:nvPr/>
        </p:nvSpPr>
        <p:spPr>
          <a:xfrm>
            <a:off x="3429000" y="4901184"/>
            <a:ext cx="1444752" cy="301752"/>
          </a:xfrm>
          <a:prstGeom prst="rect">
            <a:avLst/>
          </a:prstGeom>
          <a:noFill/>
        </p:spPr>
        <p:txBody>
          <a:bodyPr wrap="square" lIns="0" rIns="0" tIns="0" bIns="0" anchor="ctr">
            <a:spAutoFit/>
          </a:bodyPr>
          <a:lstStyle/>
          <a:p>
            <a:pPr algn="r">
              <a:lnSpc>
                <a:spcPct val="115000"/>
              </a:lnSpc>
            </a:pPr>
            <a:r>
              <a:rPr sz="1150" b="0">
                <a:solidFill>
                  <a:srgbClr val="7BD992"/>
                </a:solidFill>
                <a:latin typeface="Consolas"/>
              </a:rPr>
              <a:t>86 %</a:t>
            </a:r>
          </a:p>
        </p:txBody>
      </p:sp>
      <p:sp>
        <p:nvSpPr>
          <p:cNvPr id="16" name="TextBox 15"/>
          <p:cNvSpPr txBox="1"/>
          <p:nvPr/>
        </p:nvSpPr>
        <p:spPr>
          <a:xfrm>
            <a:off x="4983480" y="4901184"/>
            <a:ext cx="1993392" cy="301752"/>
          </a:xfrm>
          <a:prstGeom prst="rect">
            <a:avLst/>
          </a:prstGeom>
          <a:noFill/>
        </p:spPr>
        <p:txBody>
          <a:bodyPr wrap="square" lIns="0" rIns="0" tIns="0" bIns="0" anchor="ctr">
            <a:spAutoFit/>
          </a:bodyPr>
          <a:lstStyle/>
          <a:p>
            <a:pPr algn="r">
              <a:lnSpc>
                <a:spcPct val="115000"/>
              </a:lnSpc>
            </a:pPr>
            <a:r>
              <a:rPr sz="1150" b="0">
                <a:solidFill>
                  <a:srgbClr val="7BD992"/>
                </a:solidFill>
                <a:latin typeface="Consolas"/>
              </a:rPr>
              <a:t>100 %</a:t>
            </a:r>
          </a:p>
        </p:txBody>
      </p:sp>
      <p:sp>
        <p:nvSpPr>
          <p:cNvPr id="17" name="TextBox 16"/>
          <p:cNvSpPr txBox="1"/>
          <p:nvPr/>
        </p:nvSpPr>
        <p:spPr>
          <a:xfrm>
            <a:off x="777240" y="5202936"/>
            <a:ext cx="1444752" cy="301752"/>
          </a:xfrm>
          <a:prstGeom prst="rect">
            <a:avLst/>
          </a:prstGeom>
          <a:noFill/>
        </p:spPr>
        <p:txBody>
          <a:bodyPr wrap="square" lIns="0" rIns="0" tIns="0" bIns="0" anchor="ctr">
            <a:spAutoFit/>
          </a:bodyPr>
          <a:lstStyle/>
          <a:p>
            <a:pPr algn="l">
              <a:lnSpc>
                <a:spcPct val="115000"/>
              </a:lnSpc>
            </a:pPr>
            <a:r>
              <a:rPr sz="1150" b="0">
                <a:solidFill>
                  <a:srgbClr val="C9D1DE"/>
                </a:solidFill>
                <a:latin typeface="Segoe UI"/>
              </a:rPr>
              <a:t>Mañana</a:t>
            </a:r>
          </a:p>
        </p:txBody>
      </p:sp>
      <p:sp>
        <p:nvSpPr>
          <p:cNvPr id="18" name="TextBox 17"/>
          <p:cNvSpPr txBox="1"/>
          <p:nvPr/>
        </p:nvSpPr>
        <p:spPr>
          <a:xfrm>
            <a:off x="2240280" y="5202936"/>
            <a:ext cx="1078992" cy="301752"/>
          </a:xfrm>
          <a:prstGeom prst="rect">
            <a:avLst/>
          </a:prstGeom>
          <a:noFill/>
        </p:spPr>
        <p:txBody>
          <a:bodyPr wrap="square" lIns="0" rIns="0" tIns="0" bIns="0" anchor="ctr">
            <a:spAutoFit/>
          </a:bodyPr>
          <a:lstStyle/>
          <a:p>
            <a:pPr algn="r">
              <a:lnSpc>
                <a:spcPct val="115000"/>
              </a:lnSpc>
            </a:pPr>
            <a:r>
              <a:rPr sz="1150" b="0">
                <a:solidFill>
                  <a:srgbClr val="C9D1DE"/>
                </a:solidFill>
                <a:latin typeface="Consolas"/>
              </a:rPr>
              <a:t>3,6 %</a:t>
            </a:r>
          </a:p>
        </p:txBody>
      </p:sp>
      <p:sp>
        <p:nvSpPr>
          <p:cNvPr id="19" name="TextBox 18"/>
          <p:cNvSpPr txBox="1"/>
          <p:nvPr/>
        </p:nvSpPr>
        <p:spPr>
          <a:xfrm>
            <a:off x="3429000" y="5202936"/>
            <a:ext cx="1444752" cy="301752"/>
          </a:xfrm>
          <a:prstGeom prst="rect">
            <a:avLst/>
          </a:prstGeom>
          <a:noFill/>
        </p:spPr>
        <p:txBody>
          <a:bodyPr wrap="square" lIns="0" rIns="0" tIns="0" bIns="0" anchor="ctr">
            <a:spAutoFit/>
          </a:bodyPr>
          <a:lstStyle/>
          <a:p>
            <a:pPr algn="r">
              <a:lnSpc>
                <a:spcPct val="115000"/>
              </a:lnSpc>
            </a:pPr>
            <a:r>
              <a:rPr sz="1150" b="0">
                <a:solidFill>
                  <a:srgbClr val="C9D1DE"/>
                </a:solidFill>
                <a:latin typeface="Consolas"/>
              </a:rPr>
              <a:t>51 %</a:t>
            </a:r>
          </a:p>
        </p:txBody>
      </p:sp>
      <p:sp>
        <p:nvSpPr>
          <p:cNvPr id="20" name="TextBox 19"/>
          <p:cNvSpPr txBox="1"/>
          <p:nvPr/>
        </p:nvSpPr>
        <p:spPr>
          <a:xfrm>
            <a:off x="4983480" y="5202936"/>
            <a:ext cx="1993392" cy="301752"/>
          </a:xfrm>
          <a:prstGeom prst="rect">
            <a:avLst/>
          </a:prstGeom>
          <a:noFill/>
        </p:spPr>
        <p:txBody>
          <a:bodyPr wrap="square" lIns="0" rIns="0" tIns="0" bIns="0" anchor="ctr">
            <a:spAutoFit/>
          </a:bodyPr>
          <a:lstStyle/>
          <a:p>
            <a:pPr algn="r">
              <a:lnSpc>
                <a:spcPct val="115000"/>
              </a:lnSpc>
            </a:pPr>
            <a:r>
              <a:rPr sz="1150" b="0">
                <a:solidFill>
                  <a:srgbClr val="C9D1DE"/>
                </a:solidFill>
                <a:latin typeface="Consolas"/>
              </a:rPr>
              <a:t>14 %</a:t>
            </a:r>
          </a:p>
        </p:txBody>
      </p:sp>
      <p:sp>
        <p:nvSpPr>
          <p:cNvPr id="21" name="TextBox 20"/>
          <p:cNvSpPr txBox="1"/>
          <p:nvPr/>
        </p:nvSpPr>
        <p:spPr>
          <a:xfrm>
            <a:off x="777240" y="5504688"/>
            <a:ext cx="1444752" cy="301752"/>
          </a:xfrm>
          <a:prstGeom prst="rect">
            <a:avLst/>
          </a:prstGeom>
          <a:noFill/>
        </p:spPr>
        <p:txBody>
          <a:bodyPr wrap="square" lIns="0" rIns="0" tIns="0" bIns="0" anchor="ctr">
            <a:spAutoFit/>
          </a:bodyPr>
          <a:lstStyle/>
          <a:p>
            <a:pPr algn="l">
              <a:lnSpc>
                <a:spcPct val="115000"/>
              </a:lnSpc>
            </a:pPr>
            <a:r>
              <a:rPr sz="1150" b="0">
                <a:solidFill>
                  <a:srgbClr val="C9D1DE"/>
                </a:solidFill>
                <a:latin typeface="Segoe UI"/>
              </a:rPr>
              <a:t>Tarde</a:t>
            </a:r>
          </a:p>
        </p:txBody>
      </p:sp>
      <p:sp>
        <p:nvSpPr>
          <p:cNvPr id="22" name="TextBox 21"/>
          <p:cNvSpPr txBox="1"/>
          <p:nvPr/>
        </p:nvSpPr>
        <p:spPr>
          <a:xfrm>
            <a:off x="2240280" y="5504688"/>
            <a:ext cx="1078992" cy="301752"/>
          </a:xfrm>
          <a:prstGeom prst="rect">
            <a:avLst/>
          </a:prstGeom>
          <a:noFill/>
        </p:spPr>
        <p:txBody>
          <a:bodyPr wrap="square" lIns="0" rIns="0" tIns="0" bIns="0" anchor="ctr">
            <a:spAutoFit/>
          </a:bodyPr>
          <a:lstStyle/>
          <a:p>
            <a:pPr algn="r">
              <a:lnSpc>
                <a:spcPct val="115000"/>
              </a:lnSpc>
            </a:pPr>
            <a:r>
              <a:rPr sz="1150" b="0">
                <a:solidFill>
                  <a:srgbClr val="C9D1DE"/>
                </a:solidFill>
                <a:latin typeface="Consolas"/>
              </a:rPr>
              <a:t>2,0 %</a:t>
            </a:r>
          </a:p>
        </p:txBody>
      </p:sp>
      <p:sp>
        <p:nvSpPr>
          <p:cNvPr id="23" name="TextBox 22"/>
          <p:cNvSpPr txBox="1"/>
          <p:nvPr/>
        </p:nvSpPr>
        <p:spPr>
          <a:xfrm>
            <a:off x="3429000" y="5504688"/>
            <a:ext cx="1444752" cy="301752"/>
          </a:xfrm>
          <a:prstGeom prst="rect">
            <a:avLst/>
          </a:prstGeom>
          <a:noFill/>
        </p:spPr>
        <p:txBody>
          <a:bodyPr wrap="square" lIns="0" rIns="0" tIns="0" bIns="0" anchor="ctr">
            <a:spAutoFit/>
          </a:bodyPr>
          <a:lstStyle/>
          <a:p>
            <a:pPr algn="r">
              <a:lnSpc>
                <a:spcPct val="115000"/>
              </a:lnSpc>
            </a:pPr>
            <a:r>
              <a:rPr sz="1150" b="0">
                <a:solidFill>
                  <a:srgbClr val="C9D1DE"/>
                </a:solidFill>
                <a:latin typeface="Consolas"/>
              </a:rPr>
              <a:t>53 %</a:t>
            </a:r>
          </a:p>
        </p:txBody>
      </p:sp>
      <p:sp>
        <p:nvSpPr>
          <p:cNvPr id="24" name="TextBox 23"/>
          <p:cNvSpPr txBox="1"/>
          <p:nvPr/>
        </p:nvSpPr>
        <p:spPr>
          <a:xfrm>
            <a:off x="4983480" y="5504688"/>
            <a:ext cx="1993392" cy="301752"/>
          </a:xfrm>
          <a:prstGeom prst="rect">
            <a:avLst/>
          </a:prstGeom>
          <a:noFill/>
        </p:spPr>
        <p:txBody>
          <a:bodyPr wrap="square" lIns="0" rIns="0" tIns="0" bIns="0" anchor="ctr">
            <a:spAutoFit/>
          </a:bodyPr>
          <a:lstStyle/>
          <a:p>
            <a:pPr algn="r">
              <a:lnSpc>
                <a:spcPct val="115000"/>
              </a:lnSpc>
            </a:pPr>
            <a:r>
              <a:rPr sz="1150" b="0">
                <a:solidFill>
                  <a:srgbClr val="F28B82"/>
                </a:solidFill>
                <a:latin typeface="Consolas"/>
              </a:rPr>
              <a:t>6 %</a:t>
            </a:r>
          </a:p>
        </p:txBody>
      </p:sp>
      <p:sp>
        <p:nvSpPr>
          <p:cNvPr id="25" name="TextBox 24"/>
          <p:cNvSpPr txBox="1"/>
          <p:nvPr/>
        </p:nvSpPr>
        <p:spPr>
          <a:xfrm>
            <a:off x="777240" y="5806440"/>
            <a:ext cx="1444752" cy="301752"/>
          </a:xfrm>
          <a:prstGeom prst="rect">
            <a:avLst/>
          </a:prstGeom>
          <a:noFill/>
        </p:spPr>
        <p:txBody>
          <a:bodyPr wrap="square" lIns="0" rIns="0" tIns="0" bIns="0" anchor="ctr">
            <a:spAutoFit/>
          </a:bodyPr>
          <a:lstStyle/>
          <a:p>
            <a:pPr algn="l">
              <a:lnSpc>
                <a:spcPct val="115000"/>
              </a:lnSpc>
            </a:pPr>
            <a:r>
              <a:rPr sz="1150" b="0">
                <a:solidFill>
                  <a:srgbClr val="C9D1DE"/>
                </a:solidFill>
                <a:latin typeface="Segoe UI"/>
              </a:rPr>
              <a:t>Noche</a:t>
            </a:r>
          </a:p>
        </p:txBody>
      </p:sp>
      <p:sp>
        <p:nvSpPr>
          <p:cNvPr id="26" name="TextBox 25"/>
          <p:cNvSpPr txBox="1"/>
          <p:nvPr/>
        </p:nvSpPr>
        <p:spPr>
          <a:xfrm>
            <a:off x="2240280" y="5806440"/>
            <a:ext cx="1078992" cy="301752"/>
          </a:xfrm>
          <a:prstGeom prst="rect">
            <a:avLst/>
          </a:prstGeom>
          <a:noFill/>
        </p:spPr>
        <p:txBody>
          <a:bodyPr wrap="square" lIns="0" rIns="0" tIns="0" bIns="0" anchor="ctr">
            <a:spAutoFit/>
          </a:bodyPr>
          <a:lstStyle/>
          <a:p>
            <a:pPr algn="r">
              <a:lnSpc>
                <a:spcPct val="115000"/>
              </a:lnSpc>
            </a:pPr>
            <a:r>
              <a:rPr sz="1150" b="0">
                <a:solidFill>
                  <a:srgbClr val="C9D1DE"/>
                </a:solidFill>
                <a:latin typeface="Consolas"/>
              </a:rPr>
              <a:t>4,7 %</a:t>
            </a:r>
          </a:p>
        </p:txBody>
      </p:sp>
      <p:sp>
        <p:nvSpPr>
          <p:cNvPr id="27" name="TextBox 26"/>
          <p:cNvSpPr txBox="1"/>
          <p:nvPr/>
        </p:nvSpPr>
        <p:spPr>
          <a:xfrm>
            <a:off x="3429000" y="5806440"/>
            <a:ext cx="1444752" cy="301752"/>
          </a:xfrm>
          <a:prstGeom prst="rect">
            <a:avLst/>
          </a:prstGeom>
          <a:noFill/>
        </p:spPr>
        <p:txBody>
          <a:bodyPr wrap="square" lIns="0" rIns="0" tIns="0" bIns="0" anchor="ctr">
            <a:spAutoFit/>
          </a:bodyPr>
          <a:lstStyle/>
          <a:p>
            <a:pPr algn="r">
              <a:lnSpc>
                <a:spcPct val="115000"/>
              </a:lnSpc>
            </a:pPr>
            <a:r>
              <a:rPr sz="1150" b="0">
                <a:solidFill>
                  <a:srgbClr val="C9D1DE"/>
                </a:solidFill>
                <a:latin typeface="Consolas"/>
              </a:rPr>
              <a:t>44 %</a:t>
            </a:r>
          </a:p>
        </p:txBody>
      </p:sp>
      <p:sp>
        <p:nvSpPr>
          <p:cNvPr id="28" name="TextBox 27"/>
          <p:cNvSpPr txBox="1"/>
          <p:nvPr/>
        </p:nvSpPr>
        <p:spPr>
          <a:xfrm>
            <a:off x="4983480" y="5806440"/>
            <a:ext cx="1993392" cy="301752"/>
          </a:xfrm>
          <a:prstGeom prst="rect">
            <a:avLst/>
          </a:prstGeom>
          <a:noFill/>
        </p:spPr>
        <p:txBody>
          <a:bodyPr wrap="square" lIns="0" rIns="0" tIns="0" bIns="0" anchor="ctr">
            <a:spAutoFit/>
          </a:bodyPr>
          <a:lstStyle/>
          <a:p>
            <a:pPr algn="r">
              <a:lnSpc>
                <a:spcPct val="115000"/>
              </a:lnSpc>
            </a:pPr>
            <a:r>
              <a:rPr sz="1150" b="0">
                <a:solidFill>
                  <a:srgbClr val="C9D1DE"/>
                </a:solidFill>
                <a:latin typeface="Consolas"/>
              </a:rPr>
              <a:t>24 %</a:t>
            </a:r>
          </a:p>
        </p:txBody>
      </p:sp>
      <p:sp>
        <p:nvSpPr>
          <p:cNvPr id="29" name="Rectangle 28"/>
          <p:cNvSpPr/>
          <p:nvPr/>
        </p:nvSpPr>
        <p:spPr>
          <a:xfrm>
            <a:off x="7360920" y="4572000"/>
            <a:ext cx="3931920" cy="16002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60920" y="4572000"/>
            <a:ext cx="54864" cy="160020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16952" y="4754880"/>
            <a:ext cx="3474720" cy="1280160"/>
          </a:xfrm>
          <a:prstGeom prst="rect">
            <a:avLst/>
          </a:prstGeom>
          <a:noFill/>
        </p:spPr>
        <p:txBody>
          <a:bodyPr wrap="square" lIns="0" rIns="0" tIns="0" bIns="0" anchor="t">
            <a:spAutoFit/>
          </a:bodyPr>
          <a:lstStyle/>
          <a:p>
            <a:pPr algn="l">
              <a:lnSpc>
                <a:spcPct val="115000"/>
              </a:lnSpc>
            </a:pPr>
            <a:r>
              <a:rPr sz="1200" b="1">
                <a:solidFill>
                  <a:srgbClr val="E6E9EF"/>
                </a:solidFill>
                <a:latin typeface="Segoe UI"/>
              </a:rPr>
              <a:t>De madrugada</a:t>
            </a:r>
            <a:r>
              <a:rPr sz="1200" b="0">
                <a:solidFill>
                  <a:srgbClr val="C9D1DE"/>
                </a:solidFill>
                <a:latin typeface="Segoe UI"/>
              </a:rPr>
              <a:t> ve lo que el umbral no ve: consumos modestos a horas raras. </a:t>
            </a:r>
            <a:r>
              <a:rPr sz="1200" b="1">
                <a:solidFill>
                  <a:srgbClr val="E6E9EF"/>
                </a:solidFill>
                <a:latin typeface="Segoe UI"/>
              </a:rPr>
              <a:t>En la tarde</a:t>
            </a:r>
            <a:r>
              <a:rPr sz="1200" b="0">
                <a:solidFill>
                  <a:srgbClr val="C9D1DE"/>
                </a:solidFill>
                <a:latin typeface="Segoe UI"/>
              </a:rPr>
              <a:t> trata como normales 632 lecturas altas: es la rutina. Entre el 35 y el 60 % del ruido son bajadas: solo se alerta en las subidas.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4 · DBSCAN</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16</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CONTROL TEMPORAL Y RESPUESTAS</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La densidad también envejece</a:t>
            </a:r>
          </a:p>
        </p:txBody>
      </p:sp>
      <p:sp>
        <p:nvSpPr>
          <p:cNvPr id="6" name="TextBox 5"/>
          <p:cNvSpPr txBox="1"/>
          <p:nvPr/>
        </p:nvSpPr>
        <p:spPr>
          <a:xfrm>
            <a:off x="685800" y="1783080"/>
            <a:ext cx="3291840" cy="640080"/>
          </a:xfrm>
          <a:prstGeom prst="rect">
            <a:avLst/>
          </a:prstGeom>
          <a:noFill/>
        </p:spPr>
        <p:txBody>
          <a:bodyPr wrap="square" lIns="0" rIns="0" tIns="0" bIns="0" anchor="t">
            <a:spAutoFit/>
          </a:bodyPr>
          <a:lstStyle/>
          <a:p>
            <a:pPr algn="l">
              <a:lnSpc>
                <a:spcPct val="115000"/>
              </a:lnSpc>
            </a:pPr>
            <a:r>
              <a:rPr sz="3200" b="1">
                <a:solidFill>
                  <a:srgbClr val="F28B82"/>
                </a:solidFill>
                <a:latin typeface="Consolas"/>
              </a:rPr>
              <a:t>−33 %</a:t>
            </a:r>
          </a:p>
        </p:txBody>
      </p:sp>
      <p:sp>
        <p:nvSpPr>
          <p:cNvPr id="7" name="TextBox 6"/>
          <p:cNvSpPr txBox="1"/>
          <p:nvPr/>
        </p:nvSpPr>
        <p:spPr>
          <a:xfrm>
            <a:off x="685800" y="244144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lecturas que marca DBSCAN en mayo</a:t>
            </a:r>
          </a:p>
          <a:p>
            <a:pPr algn="l">
              <a:lnSpc>
                <a:spcPct val="115000"/>
              </a:lnSpc>
            </a:pPr>
            <a:r>
              <a:rPr sz="1150" b="0">
                <a:solidFill>
                  <a:srgbClr val="9AA3B2"/>
                </a:solidFill>
                <a:latin typeface="Segoe UI"/>
              </a:rPr>
              <a:t>(3,1 % → 2,1 %)</a:t>
            </a:r>
          </a:p>
        </p:txBody>
      </p:sp>
      <p:sp>
        <p:nvSpPr>
          <p:cNvPr id="8" name="TextBox 7"/>
          <p:cNvSpPr txBox="1"/>
          <p:nvPr/>
        </p:nvSpPr>
        <p:spPr>
          <a:xfrm>
            <a:off x="4297680" y="1783080"/>
            <a:ext cx="3291840" cy="640080"/>
          </a:xfrm>
          <a:prstGeom prst="rect">
            <a:avLst/>
          </a:prstGeom>
          <a:noFill/>
        </p:spPr>
        <p:txBody>
          <a:bodyPr wrap="square" lIns="0" rIns="0" tIns="0" bIns="0" anchor="t">
            <a:spAutoFit/>
          </a:bodyPr>
          <a:lstStyle/>
          <a:p>
            <a:pPr algn="l">
              <a:lnSpc>
                <a:spcPct val="115000"/>
              </a:lnSpc>
            </a:pPr>
            <a:r>
              <a:rPr sz="3200" b="1">
                <a:solidFill>
                  <a:srgbClr val="F28B82"/>
                </a:solidFill>
                <a:latin typeface="Consolas"/>
              </a:rPr>
              <a:t>−25 %</a:t>
            </a:r>
          </a:p>
        </p:txBody>
      </p:sp>
      <p:sp>
        <p:nvSpPr>
          <p:cNvPr id="9" name="TextBox 8"/>
          <p:cNvSpPr txBox="1"/>
          <p:nvPr/>
        </p:nvSpPr>
        <p:spPr>
          <a:xfrm>
            <a:off x="4297680" y="244144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lecturas sobre el umbral fijo</a:t>
            </a:r>
          </a:p>
          <a:p>
            <a:pPr algn="l">
              <a:lnSpc>
                <a:spcPct val="115000"/>
              </a:lnSpc>
            </a:pPr>
            <a:r>
              <a:rPr sz="1150" b="0">
                <a:solidFill>
                  <a:srgbClr val="9AA3B2"/>
                </a:solidFill>
                <a:latin typeface="Segoe UI"/>
              </a:rPr>
              <a:t>(10,2 % → 7,6 %)</a:t>
            </a:r>
          </a:p>
        </p:txBody>
      </p:sp>
      <p:sp>
        <p:nvSpPr>
          <p:cNvPr id="10" name="TextBox 9"/>
          <p:cNvSpPr txBox="1"/>
          <p:nvPr/>
        </p:nvSpPr>
        <p:spPr>
          <a:xfrm>
            <a:off x="7909560" y="1783080"/>
            <a:ext cx="3383280" cy="1188720"/>
          </a:xfrm>
          <a:prstGeom prst="rect">
            <a:avLst/>
          </a:prstGeom>
          <a:noFill/>
        </p:spPr>
        <p:txBody>
          <a:bodyPr wrap="square" lIns="0" rIns="0" tIns="0" bIns="0" anchor="t">
            <a:spAutoFit/>
          </a:bodyPr>
          <a:lstStyle/>
          <a:p>
            <a:pPr algn="l">
              <a:lnSpc>
                <a:spcPct val="115000"/>
              </a:lnSpc>
            </a:pPr>
            <a:r>
              <a:rPr sz="1250" b="0">
                <a:solidFill>
                  <a:srgbClr val="9AA3B2"/>
                </a:solidFill>
                <a:latin typeface="Segoe UI"/>
              </a:rPr>
              <a:t>Los núcleos son de invierno y mayo es más tranquilo. Las dos definiciones se reajustan cada mes.</a:t>
            </a:r>
          </a:p>
        </p:txBody>
      </p:sp>
      <p:sp>
        <p:nvSpPr>
          <p:cNvPr id="11" name="Rounded Rectangle 10"/>
          <p:cNvSpPr/>
          <p:nvPr/>
        </p:nvSpPr>
        <p:spPr>
          <a:xfrm>
            <a:off x="685800" y="3246120"/>
            <a:ext cx="5166360" cy="114300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383280"/>
            <a:ext cx="4754880" cy="365760"/>
          </a:xfrm>
          <a:prstGeom prst="rect">
            <a:avLst/>
          </a:prstGeom>
          <a:noFill/>
        </p:spPr>
        <p:txBody>
          <a:bodyPr wrap="square" lIns="0" rIns="0" tIns="0" bIns="0" anchor="t">
            <a:spAutoFit/>
          </a:bodyPr>
          <a:lstStyle/>
          <a:p>
            <a:pPr algn="l">
              <a:lnSpc>
                <a:spcPct val="115000"/>
              </a:lnSpc>
            </a:pPr>
            <a:r>
              <a:rPr sz="1400" b="0">
                <a:solidFill>
                  <a:srgbClr val="E6E9EF"/>
                </a:solidFill>
                <a:latin typeface="Segoe UI Semibold"/>
              </a:rPr>
              <a:t>¿Cuántos clústers?</a:t>
            </a:r>
          </a:p>
        </p:txBody>
      </p:sp>
      <p:sp>
        <p:nvSpPr>
          <p:cNvPr id="13" name="TextBox 12"/>
          <p:cNvSpPr txBox="1"/>
          <p:nvPr/>
        </p:nvSpPr>
        <p:spPr>
          <a:xfrm>
            <a:off x="914400" y="3749040"/>
            <a:ext cx="4754880" cy="548640"/>
          </a:xfrm>
          <a:prstGeom prst="rect">
            <a:avLst/>
          </a:prstGeom>
          <a:noFill/>
        </p:spPr>
        <p:txBody>
          <a:bodyPr wrap="square" lIns="0" rIns="0" tIns="0" bIns="0" anchor="t">
            <a:spAutoFit/>
          </a:bodyPr>
          <a:lstStyle/>
          <a:p>
            <a:pPr algn="l">
              <a:lnSpc>
                <a:spcPct val="115000"/>
              </a:lnSpc>
            </a:pPr>
            <a:r>
              <a:rPr sz="1250" b="0">
                <a:solidFill>
                  <a:srgbClr val="9AA3B2"/>
                </a:solidFill>
                <a:latin typeface="Segoe UI"/>
              </a:rPr>
              <a:t>Días: 1 (82), o 1 por tipo. Lecturas: 1 gran grupo (95 %); por franja, 1 a 4.</a:t>
            </a:r>
          </a:p>
        </p:txBody>
      </p:sp>
      <p:sp>
        <p:nvSpPr>
          <p:cNvPr id="14" name="Rounded Rectangle 13"/>
          <p:cNvSpPr/>
          <p:nvPr/>
        </p:nvSpPr>
        <p:spPr>
          <a:xfrm>
            <a:off x="6126480" y="3246120"/>
            <a:ext cx="5166360" cy="114300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3383280"/>
            <a:ext cx="4754880" cy="365760"/>
          </a:xfrm>
          <a:prstGeom prst="rect">
            <a:avLst/>
          </a:prstGeom>
          <a:noFill/>
        </p:spPr>
        <p:txBody>
          <a:bodyPr wrap="square" lIns="0" rIns="0" tIns="0" bIns="0" anchor="t">
            <a:spAutoFit/>
          </a:bodyPr>
          <a:lstStyle/>
          <a:p>
            <a:pPr algn="l">
              <a:lnSpc>
                <a:spcPct val="115000"/>
              </a:lnSpc>
            </a:pPr>
            <a:r>
              <a:rPr sz="1400" b="0">
                <a:solidFill>
                  <a:srgbClr val="E6E9EF"/>
                </a:solidFill>
                <a:latin typeface="Segoe UI Semibold"/>
              </a:rPr>
              <a:t>¿Qué fue ruido?</a:t>
            </a:r>
          </a:p>
        </p:txBody>
      </p:sp>
      <p:sp>
        <p:nvSpPr>
          <p:cNvPr id="16" name="TextBox 15"/>
          <p:cNvSpPr txBox="1"/>
          <p:nvPr/>
        </p:nvSpPr>
        <p:spPr>
          <a:xfrm>
            <a:off x="6355080" y="3749040"/>
            <a:ext cx="4754880" cy="548640"/>
          </a:xfrm>
          <a:prstGeom prst="rect">
            <a:avLst/>
          </a:prstGeom>
          <a:noFill/>
        </p:spPr>
        <p:txBody>
          <a:bodyPr wrap="square" lIns="0" rIns="0" tIns="0" bIns="0" anchor="t">
            <a:spAutoFit/>
          </a:bodyPr>
          <a:lstStyle/>
          <a:p>
            <a:pPr algn="l">
              <a:lnSpc>
                <a:spcPct val="115000"/>
              </a:lnSpc>
            </a:pPr>
            <a:r>
              <a:rPr sz="1250" b="0">
                <a:solidFill>
                  <a:srgbClr val="9AA3B2"/>
                </a:solidFill>
                <a:latin typeface="Segoe UI"/>
              </a:rPr>
              <a:t>54 días (los 28 de carga alta); 22 atípicos robustos. Lecturas: 2–5 % por franja.</a:t>
            </a:r>
          </a:p>
        </p:txBody>
      </p:sp>
      <p:sp>
        <p:nvSpPr>
          <p:cNvPr id="17" name="Rounded Rectangle 16"/>
          <p:cNvSpPr/>
          <p:nvPr/>
        </p:nvSpPr>
        <p:spPr>
          <a:xfrm>
            <a:off x="685800" y="4572000"/>
            <a:ext cx="5166360" cy="114300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709160"/>
            <a:ext cx="4754880" cy="365760"/>
          </a:xfrm>
          <a:prstGeom prst="rect">
            <a:avLst/>
          </a:prstGeom>
          <a:noFill/>
        </p:spPr>
        <p:txBody>
          <a:bodyPr wrap="square" lIns="0" rIns="0" tIns="0" bIns="0" anchor="t">
            <a:spAutoFit/>
          </a:bodyPr>
          <a:lstStyle/>
          <a:p>
            <a:pPr algn="l">
              <a:lnSpc>
                <a:spcPct val="115000"/>
              </a:lnSpc>
            </a:pPr>
            <a:r>
              <a:rPr sz="1400" b="0">
                <a:solidFill>
                  <a:srgbClr val="E6E9EF"/>
                </a:solidFill>
                <a:latin typeface="Segoe UI Semibold"/>
              </a:rPr>
              <a:t>¿Cómo cambia con eps y min_samples?</a:t>
            </a:r>
          </a:p>
        </p:txBody>
      </p:sp>
      <p:sp>
        <p:nvSpPr>
          <p:cNvPr id="19" name="TextBox 18"/>
          <p:cNvSpPr txBox="1"/>
          <p:nvPr/>
        </p:nvSpPr>
        <p:spPr>
          <a:xfrm>
            <a:off x="914400" y="5074920"/>
            <a:ext cx="4754880" cy="548640"/>
          </a:xfrm>
          <a:prstGeom prst="rect">
            <a:avLst/>
          </a:prstGeom>
          <a:noFill/>
        </p:spPr>
        <p:txBody>
          <a:bodyPr wrap="square" lIns="0" rIns="0" tIns="0" bIns="0" anchor="t">
            <a:spAutoFit/>
          </a:bodyPr>
          <a:lstStyle/>
          <a:p>
            <a:pPr algn="l">
              <a:lnSpc>
                <a:spcPct val="115000"/>
              </a:lnSpc>
            </a:pPr>
            <a:r>
              <a:rPr sz="1250" b="0">
                <a:solidFill>
                  <a:srgbClr val="9AA3B2"/>
                </a:solidFill>
                <a:latin typeface="Segoe UI"/>
              </a:rPr>
              <a:t>eps manda; min_samples desplaza el codo (208 → 381 Wh).</a:t>
            </a:r>
          </a:p>
        </p:txBody>
      </p:sp>
      <p:sp>
        <p:nvSpPr>
          <p:cNvPr id="20" name="Rounded Rectangle 19"/>
          <p:cNvSpPr/>
          <p:nvPr/>
        </p:nvSpPr>
        <p:spPr>
          <a:xfrm>
            <a:off x="6126480" y="4572000"/>
            <a:ext cx="5166360" cy="1143000"/>
          </a:xfrm>
          <a:prstGeom prst="roundRect">
            <a:avLst>
              <a:gd name="adj" fmla="val 4000"/>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4709160"/>
            <a:ext cx="4754880" cy="365760"/>
          </a:xfrm>
          <a:prstGeom prst="rect">
            <a:avLst/>
          </a:prstGeom>
          <a:noFill/>
        </p:spPr>
        <p:txBody>
          <a:bodyPr wrap="square" lIns="0" rIns="0" tIns="0" bIns="0" anchor="t">
            <a:spAutoFit/>
          </a:bodyPr>
          <a:lstStyle/>
          <a:p>
            <a:pPr algn="l">
              <a:lnSpc>
                <a:spcPct val="115000"/>
              </a:lnSpc>
            </a:pPr>
            <a:r>
              <a:rPr sz="1400" b="0">
                <a:solidFill>
                  <a:srgbClr val="E6E9EF"/>
                </a:solidFill>
                <a:latin typeface="Segoe UI Semibold"/>
              </a:rPr>
              <a:t>¿Implicaciones?</a:t>
            </a:r>
          </a:p>
        </p:txBody>
      </p:sp>
      <p:sp>
        <p:nvSpPr>
          <p:cNvPr id="22" name="TextBox 21"/>
          <p:cNvSpPr txBox="1"/>
          <p:nvPr/>
        </p:nvSpPr>
        <p:spPr>
          <a:xfrm>
            <a:off x="6355080" y="5074920"/>
            <a:ext cx="4754880" cy="548640"/>
          </a:xfrm>
          <a:prstGeom prst="rect">
            <a:avLst/>
          </a:prstGeom>
          <a:noFill/>
        </p:spPr>
        <p:txBody>
          <a:bodyPr wrap="square" lIns="0" rIns="0" tIns="0" bIns="0" anchor="t">
            <a:spAutoFit/>
          </a:bodyPr>
          <a:lstStyle/>
          <a:p>
            <a:pPr algn="l">
              <a:lnSpc>
                <a:spcPct val="115000"/>
              </a:lnSpc>
            </a:pPr>
            <a:r>
              <a:rPr sz="1250" b="0">
                <a:solidFill>
                  <a:srgbClr val="9AA3B2"/>
                </a:solidFill>
                <a:latin typeface="Segoe UI"/>
              </a:rPr>
              <a:t>Incertidumbre por tipo de día, días marcados, «día desconocido» y dos alarmas.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4 · DBSCAN</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18</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CIERRE · QUÉ CAMBIA EN SHIRO</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Lo que el gemelo y Guardian reciben de este taller</a:t>
            </a:r>
          </a:p>
        </p:txBody>
      </p:sp>
      <p:sp>
        <p:nvSpPr>
          <p:cNvPr id="6" name="TextBox 5"/>
          <p:cNvSpPr txBox="1"/>
          <p:nvPr/>
        </p:nvSpPr>
        <p:spPr>
          <a:xfrm>
            <a:off x="685800" y="187451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01</a:t>
            </a:r>
          </a:p>
        </p:txBody>
      </p:sp>
      <p:sp>
        <p:nvSpPr>
          <p:cNvPr id="7" name="TextBox 6"/>
          <p:cNvSpPr txBox="1"/>
          <p:nvPr/>
        </p:nvSpPr>
        <p:spPr>
          <a:xfrm>
            <a:off x="1280160" y="187451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Carga alta: real, pero 2,2× más dispersa.</a:t>
            </a:r>
          </a:p>
        </p:txBody>
      </p:sp>
      <p:sp>
        <p:nvSpPr>
          <p:cNvPr id="8" name="TextBox 7"/>
          <p:cNvSpPr txBox="1"/>
          <p:nvPr/>
        </p:nvSpPr>
        <p:spPr>
          <a:xfrm>
            <a:off x="1280160" y="228599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La incertidumbre del simulador depende del tipo de día.</a:t>
            </a:r>
          </a:p>
        </p:txBody>
      </p:sp>
      <p:sp>
        <p:nvSpPr>
          <p:cNvPr id="9" name="TextBox 8"/>
          <p:cNvSpPr txBox="1"/>
          <p:nvPr/>
        </p:nvSpPr>
        <p:spPr>
          <a:xfrm>
            <a:off x="6126480" y="187451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02</a:t>
            </a:r>
          </a:p>
        </p:txBody>
      </p:sp>
      <p:sp>
        <p:nvSpPr>
          <p:cNvPr id="10" name="TextBox 9"/>
          <p:cNvSpPr txBox="1"/>
          <p:nvPr/>
        </p:nvSpPr>
        <p:spPr>
          <a:xfrm>
            <a:off x="6720840" y="187451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Días atípicos: se marcan, no se borran.</a:t>
            </a:r>
          </a:p>
        </p:txBody>
      </p:sp>
      <p:sp>
        <p:nvSpPr>
          <p:cNvPr id="11" name="TextBox 10"/>
          <p:cNvSpPr txBox="1"/>
          <p:nvPr/>
        </p:nvSpPr>
        <p:spPr>
          <a:xfrm>
            <a:off x="6720840" y="228599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16 % de los días, sobre todo de enero.</a:t>
            </a:r>
          </a:p>
        </p:txBody>
      </p:sp>
      <p:sp>
        <p:nvSpPr>
          <p:cNvPr id="12" name="TextBox 11"/>
          <p:cNvSpPr txBox="1"/>
          <p:nvPr/>
        </p:nvSpPr>
        <p:spPr>
          <a:xfrm>
            <a:off x="685800" y="320039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03</a:t>
            </a:r>
          </a:p>
        </p:txBody>
      </p:sp>
      <p:sp>
        <p:nvSpPr>
          <p:cNvPr id="13" name="TextBox 12"/>
          <p:cNvSpPr txBox="1"/>
          <p:nvPr/>
        </p:nvSpPr>
        <p:spPr>
          <a:xfrm>
            <a:off x="1280160" y="320039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«Día desconocido» entra al MDP.</a:t>
            </a:r>
          </a:p>
        </p:txBody>
      </p:sp>
      <p:sp>
        <p:nvSpPr>
          <p:cNvPr id="14" name="TextBox 13"/>
          <p:cNvSpPr txBox="1"/>
          <p:nvPr/>
        </p:nvSpPr>
        <p:spPr>
          <a:xfrm>
            <a:off x="1280160" y="361187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Sin vecinos densos, política conservadora.</a:t>
            </a:r>
          </a:p>
        </p:txBody>
      </p:sp>
      <p:sp>
        <p:nvSpPr>
          <p:cNvPr id="15" name="TextBox 14"/>
          <p:cNvSpPr txBox="1"/>
          <p:nvPr/>
        </p:nvSpPr>
        <p:spPr>
          <a:xfrm>
            <a:off x="6126480" y="320039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04</a:t>
            </a:r>
          </a:p>
        </p:txBody>
      </p:sp>
      <p:sp>
        <p:nvSpPr>
          <p:cNvPr id="16" name="TextBox 15"/>
          <p:cNvSpPr txBox="1"/>
          <p:nvPr/>
        </p:nvSpPr>
        <p:spPr>
          <a:xfrm>
            <a:off x="6720840" y="320039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Guardian con dos alarmas.</a:t>
            </a:r>
          </a:p>
        </p:txBody>
      </p:sp>
      <p:sp>
        <p:nvSpPr>
          <p:cNvPr id="17" name="TextBox 16"/>
          <p:cNvSpPr txBox="1"/>
          <p:nvPr/>
        </p:nvSpPr>
        <p:spPr>
          <a:xfrm>
            <a:off x="6720840" y="361187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Umbral = magnitud; DBSCAN por franja = rareza. Solo subidas.</a:t>
            </a:r>
          </a:p>
        </p:txBody>
      </p:sp>
      <p:sp>
        <p:nvSpPr>
          <p:cNvPr id="18" name="TextBox 17"/>
          <p:cNvSpPr txBox="1"/>
          <p:nvPr/>
        </p:nvSpPr>
        <p:spPr>
          <a:xfrm>
            <a:off x="685800" y="452627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05</a:t>
            </a:r>
          </a:p>
        </p:txBody>
      </p:sp>
      <p:sp>
        <p:nvSpPr>
          <p:cNvPr id="19" name="TextBox 18"/>
          <p:cNvSpPr txBox="1"/>
          <p:nvPr/>
        </p:nvSpPr>
        <p:spPr>
          <a:xfrm>
            <a:off x="1280160" y="452627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Ninguna es inmune a la estación.</a:t>
            </a:r>
          </a:p>
        </p:txBody>
      </p:sp>
      <p:sp>
        <p:nvSpPr>
          <p:cNvPr id="20" name="TextBox 19"/>
          <p:cNvSpPr txBox="1"/>
          <p:nvPr/>
        </p:nvSpPr>
        <p:spPr>
          <a:xfrm>
            <a:off x="1280160" y="493775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Reajuste mensual de las dos definiciones.</a:t>
            </a:r>
          </a:p>
        </p:txBody>
      </p:sp>
      <p:sp>
        <p:nvSpPr>
          <p:cNvPr id="21" name="TextBox 20"/>
          <p:cNvSpPr txBox="1"/>
          <p:nvPr/>
        </p:nvSpPr>
        <p:spPr>
          <a:xfrm>
            <a:off x="6126480" y="452627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06</a:t>
            </a:r>
          </a:p>
        </p:txBody>
      </p:sp>
      <p:sp>
        <p:nvSpPr>
          <p:cNvPr id="22" name="TextBox 21"/>
          <p:cNvSpPr txBox="1"/>
          <p:nvPr/>
        </p:nvSpPr>
        <p:spPr>
          <a:xfrm>
            <a:off x="6720840" y="452627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Tres lecciones de método.</a:t>
            </a:r>
          </a:p>
        </p:txBody>
      </p:sp>
      <p:sp>
        <p:nvSpPr>
          <p:cNvPr id="23" name="TextBox 22"/>
          <p:cNvSpPr txBox="1"/>
          <p:nvPr/>
        </p:nvSpPr>
        <p:spPr>
          <a:xfrm>
            <a:off x="6720840" y="493775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Elegir columnas, corregir la cuantización y separar por grupos.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PASOS 3–4 · SENSIBILIDAD A min_samples</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Seis valores de min_samples, siempre el mismo gran grupo</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4 · DBSCAN</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04</a:t>
            </a:r>
          </a:p>
        </p:txBody>
      </p:sp>
      <p:sp>
        <p:nvSpPr>
          <p:cNvPr id="6" name="TextBox 5"/>
          <p:cNvSpPr txBox="1"/>
          <p:nvPr/>
        </p:nvSpPr>
        <p:spPr>
          <a:xfrm>
            <a:off x="685800" y="1920240"/>
            <a:ext cx="2103120" cy="274320"/>
          </a:xfrm>
          <a:prstGeom prst="rect">
            <a:avLst/>
          </a:prstGeom>
          <a:noFill/>
        </p:spPr>
        <p:txBody>
          <a:bodyPr wrap="square" lIns="0" rIns="0" tIns="0" bIns="0">
            <a:spAutoFit/>
          </a:bodyPr>
          <a:lstStyle/>
          <a:p>
            <a:pPr algn="l"/>
            <a:r>
              <a:rPr sz="950" b="0" i="0">
                <a:solidFill>
                  <a:srgbClr val="6F7787"/>
                </a:solidFill>
                <a:latin typeface="Consolas"/>
              </a:rPr>
              <a:t>MIN_SAMPLES</a:t>
            </a:r>
          </a:p>
        </p:txBody>
      </p:sp>
      <p:sp>
        <p:nvSpPr>
          <p:cNvPr id="7" name="TextBox 6"/>
          <p:cNvSpPr txBox="1"/>
          <p:nvPr/>
        </p:nvSpPr>
        <p:spPr>
          <a:xfrm>
            <a:off x="2788920" y="1920240"/>
            <a:ext cx="1920240" cy="274320"/>
          </a:xfrm>
          <a:prstGeom prst="rect">
            <a:avLst/>
          </a:prstGeom>
          <a:noFill/>
        </p:spPr>
        <p:txBody>
          <a:bodyPr wrap="square" lIns="0" rIns="0" tIns="0" bIns="0">
            <a:spAutoFit/>
          </a:bodyPr>
          <a:lstStyle/>
          <a:p>
            <a:pPr algn="r"/>
            <a:r>
              <a:rPr sz="950" b="0" i="0">
                <a:solidFill>
                  <a:srgbClr val="6F7787"/>
                </a:solidFill>
                <a:latin typeface="Consolas"/>
              </a:rPr>
              <a:t>EPS EN EL CODO (WH)</a:t>
            </a:r>
          </a:p>
        </p:txBody>
      </p:sp>
      <p:sp>
        <p:nvSpPr>
          <p:cNvPr id="8" name="TextBox 7"/>
          <p:cNvSpPr txBox="1"/>
          <p:nvPr/>
        </p:nvSpPr>
        <p:spPr>
          <a:xfrm>
            <a:off x="4709160" y="1920240"/>
            <a:ext cx="1554480" cy="274320"/>
          </a:xfrm>
          <a:prstGeom prst="rect">
            <a:avLst/>
          </a:prstGeom>
          <a:noFill/>
        </p:spPr>
        <p:txBody>
          <a:bodyPr wrap="square" lIns="0" rIns="0" tIns="0" bIns="0">
            <a:spAutoFit/>
          </a:bodyPr>
          <a:lstStyle/>
          <a:p>
            <a:pPr algn="r"/>
            <a:r>
              <a:rPr sz="950" b="0" i="0">
                <a:solidFill>
                  <a:srgbClr val="6F7787"/>
                </a:solidFill>
                <a:latin typeface="Consolas"/>
              </a:rPr>
              <a:t>≈ WH/HORA</a:t>
            </a:r>
          </a:p>
        </p:txBody>
      </p:sp>
      <p:sp>
        <p:nvSpPr>
          <p:cNvPr id="9" name="TextBox 8"/>
          <p:cNvSpPr txBox="1"/>
          <p:nvPr/>
        </p:nvSpPr>
        <p:spPr>
          <a:xfrm>
            <a:off x="6263640" y="1920240"/>
            <a:ext cx="1417320" cy="274320"/>
          </a:xfrm>
          <a:prstGeom prst="rect">
            <a:avLst/>
          </a:prstGeom>
          <a:noFill/>
        </p:spPr>
        <p:txBody>
          <a:bodyPr wrap="square" lIns="0" rIns="0" tIns="0" bIns="0">
            <a:spAutoFit/>
          </a:bodyPr>
          <a:lstStyle/>
          <a:p>
            <a:pPr algn="r"/>
            <a:r>
              <a:rPr sz="950" b="0" i="0">
                <a:solidFill>
                  <a:srgbClr val="6F7787"/>
                </a:solidFill>
                <a:latin typeface="Consolas"/>
              </a:rPr>
              <a:t>CLÚSTERS</a:t>
            </a:r>
          </a:p>
        </p:txBody>
      </p:sp>
      <p:sp>
        <p:nvSpPr>
          <p:cNvPr id="10" name="TextBox 9"/>
          <p:cNvSpPr txBox="1"/>
          <p:nvPr/>
        </p:nvSpPr>
        <p:spPr>
          <a:xfrm>
            <a:off x="7680960" y="1920240"/>
            <a:ext cx="1691640" cy="274320"/>
          </a:xfrm>
          <a:prstGeom prst="rect">
            <a:avLst/>
          </a:prstGeom>
          <a:noFill/>
        </p:spPr>
        <p:txBody>
          <a:bodyPr wrap="square" lIns="0" rIns="0" tIns="0" bIns="0">
            <a:spAutoFit/>
          </a:bodyPr>
          <a:lstStyle/>
          <a:p>
            <a:pPr algn="r"/>
            <a:r>
              <a:rPr sz="950" b="0" i="0">
                <a:solidFill>
                  <a:srgbClr val="6F7787"/>
                </a:solidFill>
                <a:latin typeface="Consolas"/>
              </a:rPr>
              <a:t>DÍAS DE RUIDO</a:t>
            </a:r>
          </a:p>
        </p:txBody>
      </p:sp>
      <p:sp>
        <p:nvSpPr>
          <p:cNvPr id="11" name="TextBox 10"/>
          <p:cNvSpPr txBox="1"/>
          <p:nvPr/>
        </p:nvSpPr>
        <p:spPr>
          <a:xfrm>
            <a:off x="9372600" y="1920240"/>
            <a:ext cx="2130552" cy="274320"/>
          </a:xfrm>
          <a:prstGeom prst="rect">
            <a:avLst/>
          </a:prstGeom>
          <a:noFill/>
        </p:spPr>
        <p:txBody>
          <a:bodyPr wrap="square" lIns="0" rIns="0" tIns="0" bIns="0">
            <a:spAutoFit/>
          </a:bodyPr>
          <a:lstStyle/>
          <a:p>
            <a:pPr algn="r"/>
            <a:r>
              <a:rPr sz="950" b="0" i="0">
                <a:solidFill>
                  <a:srgbClr val="6F7787"/>
                </a:solidFill>
                <a:latin typeface="Consolas"/>
              </a:rPr>
              <a:t>CARGA ALTA EN EL RUIDO</a:t>
            </a:r>
          </a:p>
        </p:txBody>
      </p:sp>
      <p:sp>
        <p:nvSpPr>
          <p:cNvPr id="12" name="Rectangle 11"/>
          <p:cNvSpPr/>
          <p:nvPr/>
        </p:nvSpPr>
        <p:spPr>
          <a:xfrm>
            <a:off x="685800" y="2249424"/>
            <a:ext cx="10817352" cy="9144"/>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86000"/>
            <a:ext cx="2011679" cy="420624"/>
          </a:xfrm>
          <a:prstGeom prst="rect">
            <a:avLst/>
          </a:prstGeom>
          <a:noFill/>
        </p:spPr>
        <p:txBody>
          <a:bodyPr wrap="square" lIns="0" rIns="0" tIns="0" bIns="0" anchor="ctr">
            <a:spAutoFit/>
          </a:bodyPr>
          <a:lstStyle/>
          <a:p>
            <a:pPr algn="l"/>
            <a:r>
              <a:rPr sz="1250" b="0" i="0">
                <a:solidFill>
                  <a:srgbClr val="C9D1DE"/>
                </a:solidFill>
                <a:latin typeface="Segoe UI"/>
              </a:rPr>
              <a:t>3</a:t>
            </a:r>
          </a:p>
        </p:txBody>
      </p:sp>
      <p:sp>
        <p:nvSpPr>
          <p:cNvPr id="14" name="TextBox 13"/>
          <p:cNvSpPr txBox="1"/>
          <p:nvPr/>
        </p:nvSpPr>
        <p:spPr>
          <a:xfrm>
            <a:off x="2788920" y="2286000"/>
            <a:ext cx="1920240" cy="420624"/>
          </a:xfrm>
          <a:prstGeom prst="rect">
            <a:avLst/>
          </a:prstGeom>
          <a:noFill/>
        </p:spPr>
        <p:txBody>
          <a:bodyPr wrap="square" lIns="0" rIns="0" tIns="0" bIns="0" anchor="ctr">
            <a:spAutoFit/>
          </a:bodyPr>
          <a:lstStyle/>
          <a:p>
            <a:pPr algn="r"/>
            <a:r>
              <a:rPr sz="1250" b="0" i="0">
                <a:solidFill>
                  <a:srgbClr val="C9D1DE"/>
                </a:solidFill>
                <a:latin typeface="Consolas"/>
              </a:rPr>
              <a:t>208,4</a:t>
            </a:r>
          </a:p>
        </p:txBody>
      </p:sp>
      <p:sp>
        <p:nvSpPr>
          <p:cNvPr id="15" name="TextBox 14"/>
          <p:cNvSpPr txBox="1"/>
          <p:nvPr/>
        </p:nvSpPr>
        <p:spPr>
          <a:xfrm>
            <a:off x="4709160" y="2286000"/>
            <a:ext cx="1554480" cy="420624"/>
          </a:xfrm>
          <a:prstGeom prst="rect">
            <a:avLst/>
          </a:prstGeom>
          <a:noFill/>
        </p:spPr>
        <p:txBody>
          <a:bodyPr wrap="square" lIns="0" rIns="0" tIns="0" bIns="0" anchor="ctr">
            <a:spAutoFit/>
          </a:bodyPr>
          <a:lstStyle/>
          <a:p>
            <a:pPr algn="r"/>
            <a:r>
              <a:rPr sz="1250" b="0" i="0">
                <a:solidFill>
                  <a:srgbClr val="C9D1DE"/>
                </a:solidFill>
                <a:latin typeface="Consolas"/>
              </a:rPr>
              <a:t>42,5</a:t>
            </a:r>
          </a:p>
        </p:txBody>
      </p:sp>
      <p:sp>
        <p:nvSpPr>
          <p:cNvPr id="16" name="TextBox 15"/>
          <p:cNvSpPr txBox="1"/>
          <p:nvPr/>
        </p:nvSpPr>
        <p:spPr>
          <a:xfrm>
            <a:off x="6263640" y="2286000"/>
            <a:ext cx="1417320" cy="420624"/>
          </a:xfrm>
          <a:prstGeom prst="rect">
            <a:avLst/>
          </a:prstGeom>
          <a:noFill/>
        </p:spPr>
        <p:txBody>
          <a:bodyPr wrap="square" lIns="0" rIns="0" tIns="0" bIns="0" anchor="ctr">
            <a:spAutoFit/>
          </a:bodyPr>
          <a:lstStyle/>
          <a:p>
            <a:pPr algn="r"/>
            <a:r>
              <a:rPr sz="1250" b="0" i="0">
                <a:solidFill>
                  <a:srgbClr val="C9D1DE"/>
                </a:solidFill>
                <a:latin typeface="Consolas"/>
              </a:rPr>
              <a:t>1</a:t>
            </a:r>
          </a:p>
        </p:txBody>
      </p:sp>
      <p:sp>
        <p:nvSpPr>
          <p:cNvPr id="17" name="TextBox 16"/>
          <p:cNvSpPr txBox="1"/>
          <p:nvPr/>
        </p:nvSpPr>
        <p:spPr>
          <a:xfrm>
            <a:off x="7680960" y="2286000"/>
            <a:ext cx="1691640" cy="420624"/>
          </a:xfrm>
          <a:prstGeom prst="rect">
            <a:avLst/>
          </a:prstGeom>
          <a:noFill/>
        </p:spPr>
        <p:txBody>
          <a:bodyPr wrap="square" lIns="0" rIns="0" tIns="0" bIns="0" anchor="ctr">
            <a:spAutoFit/>
          </a:bodyPr>
          <a:lstStyle/>
          <a:p>
            <a:pPr algn="r"/>
            <a:r>
              <a:rPr sz="1250" b="0" i="0">
                <a:solidFill>
                  <a:srgbClr val="C9D1DE"/>
                </a:solidFill>
                <a:latin typeface="Consolas"/>
              </a:rPr>
              <a:t>52</a:t>
            </a:r>
          </a:p>
        </p:txBody>
      </p:sp>
      <p:sp>
        <p:nvSpPr>
          <p:cNvPr id="18" name="TextBox 17"/>
          <p:cNvSpPr txBox="1"/>
          <p:nvPr/>
        </p:nvSpPr>
        <p:spPr>
          <a:xfrm>
            <a:off x="9372600" y="2286000"/>
            <a:ext cx="2130552" cy="420624"/>
          </a:xfrm>
          <a:prstGeom prst="rect">
            <a:avLst/>
          </a:prstGeom>
          <a:noFill/>
        </p:spPr>
        <p:txBody>
          <a:bodyPr wrap="square" lIns="0" rIns="0" tIns="0" bIns="0" anchor="ctr">
            <a:spAutoFit/>
          </a:bodyPr>
          <a:lstStyle/>
          <a:p>
            <a:pPr algn="r"/>
            <a:r>
              <a:rPr sz="1250" b="0" i="0">
                <a:solidFill>
                  <a:srgbClr val="C9D1DE"/>
                </a:solidFill>
                <a:latin typeface="Consolas"/>
              </a:rPr>
              <a:t>28 de 28</a:t>
            </a:r>
          </a:p>
        </p:txBody>
      </p:sp>
      <p:sp>
        <p:nvSpPr>
          <p:cNvPr id="19" name="Rectangle 18"/>
          <p:cNvSpPr/>
          <p:nvPr/>
        </p:nvSpPr>
        <p:spPr>
          <a:xfrm>
            <a:off x="685800" y="2743200"/>
            <a:ext cx="10817352" cy="420624"/>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2743200"/>
            <a:ext cx="2011679" cy="420624"/>
          </a:xfrm>
          <a:prstGeom prst="rect">
            <a:avLst/>
          </a:prstGeom>
          <a:noFill/>
        </p:spPr>
        <p:txBody>
          <a:bodyPr wrap="square" lIns="0" rIns="0" tIns="0" bIns="0" anchor="ctr">
            <a:spAutoFit/>
          </a:bodyPr>
          <a:lstStyle/>
          <a:p>
            <a:pPr algn="l"/>
            <a:r>
              <a:rPr sz="1250" b="1" i="0">
                <a:solidFill>
                  <a:srgbClr val="E6E9EF"/>
                </a:solidFill>
                <a:latin typeface="Segoe UI"/>
              </a:rPr>
              <a:t>5 (elegido)</a:t>
            </a:r>
          </a:p>
        </p:txBody>
      </p:sp>
      <p:sp>
        <p:nvSpPr>
          <p:cNvPr id="21" name="TextBox 20"/>
          <p:cNvSpPr txBox="1"/>
          <p:nvPr/>
        </p:nvSpPr>
        <p:spPr>
          <a:xfrm>
            <a:off x="2788920" y="2743200"/>
            <a:ext cx="1920240" cy="420624"/>
          </a:xfrm>
          <a:prstGeom prst="rect">
            <a:avLst/>
          </a:prstGeom>
          <a:noFill/>
        </p:spPr>
        <p:txBody>
          <a:bodyPr wrap="square" lIns="0" rIns="0" tIns="0" bIns="0" anchor="ctr">
            <a:spAutoFit/>
          </a:bodyPr>
          <a:lstStyle/>
          <a:p>
            <a:pPr algn="r"/>
            <a:r>
              <a:rPr sz="1250" b="1" i="0">
                <a:solidFill>
                  <a:srgbClr val="E6E9EF"/>
                </a:solidFill>
                <a:latin typeface="Consolas"/>
              </a:rPr>
              <a:t>208,2</a:t>
            </a:r>
          </a:p>
        </p:txBody>
      </p:sp>
      <p:sp>
        <p:nvSpPr>
          <p:cNvPr id="22" name="TextBox 21"/>
          <p:cNvSpPr txBox="1"/>
          <p:nvPr/>
        </p:nvSpPr>
        <p:spPr>
          <a:xfrm>
            <a:off x="4709160" y="2743200"/>
            <a:ext cx="1554480" cy="420624"/>
          </a:xfrm>
          <a:prstGeom prst="rect">
            <a:avLst/>
          </a:prstGeom>
          <a:noFill/>
        </p:spPr>
        <p:txBody>
          <a:bodyPr wrap="square" lIns="0" rIns="0" tIns="0" bIns="0" anchor="ctr">
            <a:spAutoFit/>
          </a:bodyPr>
          <a:lstStyle/>
          <a:p>
            <a:pPr algn="r"/>
            <a:r>
              <a:rPr sz="1250" b="1" i="0">
                <a:solidFill>
                  <a:srgbClr val="E6E9EF"/>
                </a:solidFill>
                <a:latin typeface="Consolas"/>
              </a:rPr>
              <a:t>42,5</a:t>
            </a:r>
          </a:p>
        </p:txBody>
      </p:sp>
      <p:sp>
        <p:nvSpPr>
          <p:cNvPr id="23" name="TextBox 22"/>
          <p:cNvSpPr txBox="1"/>
          <p:nvPr/>
        </p:nvSpPr>
        <p:spPr>
          <a:xfrm>
            <a:off x="6263640" y="2743200"/>
            <a:ext cx="1417320" cy="420624"/>
          </a:xfrm>
          <a:prstGeom prst="rect">
            <a:avLst/>
          </a:prstGeom>
          <a:noFill/>
        </p:spPr>
        <p:txBody>
          <a:bodyPr wrap="square" lIns="0" rIns="0" tIns="0" bIns="0" anchor="ctr">
            <a:spAutoFit/>
          </a:bodyPr>
          <a:lstStyle/>
          <a:p>
            <a:pPr algn="r"/>
            <a:r>
              <a:rPr sz="1250" b="1" i="0">
                <a:solidFill>
                  <a:srgbClr val="E6E9EF"/>
                </a:solidFill>
                <a:latin typeface="Consolas"/>
              </a:rPr>
              <a:t>1</a:t>
            </a:r>
          </a:p>
        </p:txBody>
      </p:sp>
      <p:sp>
        <p:nvSpPr>
          <p:cNvPr id="24" name="TextBox 23"/>
          <p:cNvSpPr txBox="1"/>
          <p:nvPr/>
        </p:nvSpPr>
        <p:spPr>
          <a:xfrm>
            <a:off x="7680960" y="2743200"/>
            <a:ext cx="1691640" cy="420624"/>
          </a:xfrm>
          <a:prstGeom prst="rect">
            <a:avLst/>
          </a:prstGeom>
          <a:noFill/>
        </p:spPr>
        <p:txBody>
          <a:bodyPr wrap="square" lIns="0" rIns="0" tIns="0" bIns="0" anchor="ctr">
            <a:spAutoFit/>
          </a:bodyPr>
          <a:lstStyle/>
          <a:p>
            <a:pPr algn="r"/>
            <a:r>
              <a:rPr sz="1250" b="1" i="0">
                <a:solidFill>
                  <a:srgbClr val="E6E9EF"/>
                </a:solidFill>
                <a:latin typeface="Consolas"/>
              </a:rPr>
              <a:t>54</a:t>
            </a:r>
          </a:p>
        </p:txBody>
      </p:sp>
      <p:sp>
        <p:nvSpPr>
          <p:cNvPr id="25" name="TextBox 24"/>
          <p:cNvSpPr txBox="1"/>
          <p:nvPr/>
        </p:nvSpPr>
        <p:spPr>
          <a:xfrm>
            <a:off x="9372600" y="2743200"/>
            <a:ext cx="2130552" cy="420624"/>
          </a:xfrm>
          <a:prstGeom prst="rect">
            <a:avLst/>
          </a:prstGeom>
          <a:noFill/>
        </p:spPr>
        <p:txBody>
          <a:bodyPr wrap="square" lIns="0" rIns="0" tIns="0" bIns="0" anchor="ctr">
            <a:spAutoFit/>
          </a:bodyPr>
          <a:lstStyle/>
          <a:p>
            <a:pPr algn="r"/>
            <a:r>
              <a:rPr sz="1250" b="1" i="0">
                <a:solidFill>
                  <a:srgbClr val="E6E9EF"/>
                </a:solidFill>
                <a:latin typeface="Consolas"/>
              </a:rPr>
              <a:t>28 de 28</a:t>
            </a:r>
          </a:p>
        </p:txBody>
      </p:sp>
      <p:sp>
        <p:nvSpPr>
          <p:cNvPr id="26" name="TextBox 25"/>
          <p:cNvSpPr txBox="1"/>
          <p:nvPr/>
        </p:nvSpPr>
        <p:spPr>
          <a:xfrm>
            <a:off x="777240" y="3200400"/>
            <a:ext cx="2011679" cy="420624"/>
          </a:xfrm>
          <a:prstGeom prst="rect">
            <a:avLst/>
          </a:prstGeom>
          <a:noFill/>
        </p:spPr>
        <p:txBody>
          <a:bodyPr wrap="square" lIns="0" rIns="0" tIns="0" bIns="0" anchor="ctr">
            <a:spAutoFit/>
          </a:bodyPr>
          <a:lstStyle/>
          <a:p>
            <a:pPr algn="l"/>
            <a:r>
              <a:rPr sz="1250" b="0" i="0">
                <a:solidFill>
                  <a:srgbClr val="C9D1DE"/>
                </a:solidFill>
                <a:latin typeface="Segoe UI"/>
              </a:rPr>
              <a:t>8</a:t>
            </a:r>
          </a:p>
        </p:txBody>
      </p:sp>
      <p:sp>
        <p:nvSpPr>
          <p:cNvPr id="27" name="TextBox 26"/>
          <p:cNvSpPr txBox="1"/>
          <p:nvPr/>
        </p:nvSpPr>
        <p:spPr>
          <a:xfrm>
            <a:off x="2788920" y="3200400"/>
            <a:ext cx="1920240" cy="420624"/>
          </a:xfrm>
          <a:prstGeom prst="rect">
            <a:avLst/>
          </a:prstGeom>
          <a:noFill/>
        </p:spPr>
        <p:txBody>
          <a:bodyPr wrap="square" lIns="0" rIns="0" tIns="0" bIns="0" anchor="ctr">
            <a:spAutoFit/>
          </a:bodyPr>
          <a:lstStyle/>
          <a:p>
            <a:pPr algn="r"/>
            <a:r>
              <a:rPr sz="1250" b="0" i="0">
                <a:solidFill>
                  <a:srgbClr val="C9D1DE"/>
                </a:solidFill>
                <a:latin typeface="Consolas"/>
              </a:rPr>
              <a:t>246,6</a:t>
            </a:r>
          </a:p>
        </p:txBody>
      </p:sp>
      <p:sp>
        <p:nvSpPr>
          <p:cNvPr id="28" name="TextBox 27"/>
          <p:cNvSpPr txBox="1"/>
          <p:nvPr/>
        </p:nvSpPr>
        <p:spPr>
          <a:xfrm>
            <a:off x="4709160" y="3200400"/>
            <a:ext cx="1554480" cy="420624"/>
          </a:xfrm>
          <a:prstGeom prst="rect">
            <a:avLst/>
          </a:prstGeom>
          <a:noFill/>
        </p:spPr>
        <p:txBody>
          <a:bodyPr wrap="square" lIns="0" rIns="0" tIns="0" bIns="0" anchor="ctr">
            <a:spAutoFit/>
          </a:bodyPr>
          <a:lstStyle/>
          <a:p>
            <a:pPr algn="r"/>
            <a:r>
              <a:rPr sz="1250" b="0" i="0">
                <a:solidFill>
                  <a:srgbClr val="C9D1DE"/>
                </a:solidFill>
                <a:latin typeface="Consolas"/>
              </a:rPr>
              <a:t>50,3</a:t>
            </a:r>
          </a:p>
        </p:txBody>
      </p:sp>
      <p:sp>
        <p:nvSpPr>
          <p:cNvPr id="29" name="TextBox 28"/>
          <p:cNvSpPr txBox="1"/>
          <p:nvPr/>
        </p:nvSpPr>
        <p:spPr>
          <a:xfrm>
            <a:off x="6263640" y="3200400"/>
            <a:ext cx="1417320" cy="420624"/>
          </a:xfrm>
          <a:prstGeom prst="rect">
            <a:avLst/>
          </a:prstGeom>
          <a:noFill/>
        </p:spPr>
        <p:txBody>
          <a:bodyPr wrap="square" lIns="0" rIns="0" tIns="0" bIns="0" anchor="ctr">
            <a:spAutoFit/>
          </a:bodyPr>
          <a:lstStyle/>
          <a:p>
            <a:pPr algn="r"/>
            <a:r>
              <a:rPr sz="1250" b="0" i="0">
                <a:solidFill>
                  <a:srgbClr val="C9D1DE"/>
                </a:solidFill>
                <a:latin typeface="Consolas"/>
              </a:rPr>
              <a:t>1</a:t>
            </a:r>
          </a:p>
        </p:txBody>
      </p:sp>
      <p:sp>
        <p:nvSpPr>
          <p:cNvPr id="30" name="TextBox 29"/>
          <p:cNvSpPr txBox="1"/>
          <p:nvPr/>
        </p:nvSpPr>
        <p:spPr>
          <a:xfrm>
            <a:off x="7680960" y="3200400"/>
            <a:ext cx="1691640" cy="420624"/>
          </a:xfrm>
          <a:prstGeom prst="rect">
            <a:avLst/>
          </a:prstGeom>
          <a:noFill/>
        </p:spPr>
        <p:txBody>
          <a:bodyPr wrap="square" lIns="0" rIns="0" tIns="0" bIns="0" anchor="ctr">
            <a:spAutoFit/>
          </a:bodyPr>
          <a:lstStyle/>
          <a:p>
            <a:pPr algn="r"/>
            <a:r>
              <a:rPr sz="1250" b="0" i="0">
                <a:solidFill>
                  <a:srgbClr val="C9D1DE"/>
                </a:solidFill>
                <a:latin typeface="Consolas"/>
              </a:rPr>
              <a:t>48</a:t>
            </a:r>
          </a:p>
        </p:txBody>
      </p:sp>
      <p:sp>
        <p:nvSpPr>
          <p:cNvPr id="31" name="TextBox 30"/>
          <p:cNvSpPr txBox="1"/>
          <p:nvPr/>
        </p:nvSpPr>
        <p:spPr>
          <a:xfrm>
            <a:off x="9372600" y="3200400"/>
            <a:ext cx="2130552" cy="420624"/>
          </a:xfrm>
          <a:prstGeom prst="rect">
            <a:avLst/>
          </a:prstGeom>
          <a:noFill/>
        </p:spPr>
        <p:txBody>
          <a:bodyPr wrap="square" lIns="0" rIns="0" tIns="0" bIns="0" anchor="ctr">
            <a:spAutoFit/>
          </a:bodyPr>
          <a:lstStyle/>
          <a:p>
            <a:pPr algn="r"/>
            <a:r>
              <a:rPr sz="1250" b="0" i="0">
                <a:solidFill>
                  <a:srgbClr val="C9D1DE"/>
                </a:solidFill>
                <a:latin typeface="Consolas"/>
              </a:rPr>
              <a:t>28 de 28</a:t>
            </a:r>
          </a:p>
        </p:txBody>
      </p:sp>
      <p:sp>
        <p:nvSpPr>
          <p:cNvPr id="32" name="TextBox 31"/>
          <p:cNvSpPr txBox="1"/>
          <p:nvPr/>
        </p:nvSpPr>
        <p:spPr>
          <a:xfrm>
            <a:off x="777240" y="3657600"/>
            <a:ext cx="2011679" cy="420624"/>
          </a:xfrm>
          <a:prstGeom prst="rect">
            <a:avLst/>
          </a:prstGeom>
          <a:noFill/>
        </p:spPr>
        <p:txBody>
          <a:bodyPr wrap="square" lIns="0" rIns="0" tIns="0" bIns="0" anchor="ctr">
            <a:spAutoFit/>
          </a:bodyPr>
          <a:lstStyle/>
          <a:p>
            <a:pPr algn="l"/>
            <a:r>
              <a:rPr sz="1250" b="0" i="0">
                <a:solidFill>
                  <a:srgbClr val="C9D1DE"/>
                </a:solidFill>
                <a:latin typeface="Segoe UI"/>
              </a:rPr>
              <a:t>12</a:t>
            </a:r>
          </a:p>
        </p:txBody>
      </p:sp>
      <p:sp>
        <p:nvSpPr>
          <p:cNvPr id="33" name="TextBox 32"/>
          <p:cNvSpPr txBox="1"/>
          <p:nvPr/>
        </p:nvSpPr>
        <p:spPr>
          <a:xfrm>
            <a:off x="2788920" y="3657600"/>
            <a:ext cx="1920240" cy="420624"/>
          </a:xfrm>
          <a:prstGeom prst="rect">
            <a:avLst/>
          </a:prstGeom>
          <a:noFill/>
        </p:spPr>
        <p:txBody>
          <a:bodyPr wrap="square" lIns="0" rIns="0" tIns="0" bIns="0" anchor="ctr">
            <a:spAutoFit/>
          </a:bodyPr>
          <a:lstStyle/>
          <a:p>
            <a:pPr algn="r"/>
            <a:r>
              <a:rPr sz="1250" b="0" i="0">
                <a:solidFill>
                  <a:srgbClr val="C9D1DE"/>
                </a:solidFill>
                <a:latin typeface="Consolas"/>
              </a:rPr>
              <a:t>381,4</a:t>
            </a:r>
          </a:p>
        </p:txBody>
      </p:sp>
      <p:sp>
        <p:nvSpPr>
          <p:cNvPr id="34" name="TextBox 33"/>
          <p:cNvSpPr txBox="1"/>
          <p:nvPr/>
        </p:nvSpPr>
        <p:spPr>
          <a:xfrm>
            <a:off x="4709160" y="3657600"/>
            <a:ext cx="1554480" cy="420624"/>
          </a:xfrm>
          <a:prstGeom prst="rect">
            <a:avLst/>
          </a:prstGeom>
          <a:noFill/>
        </p:spPr>
        <p:txBody>
          <a:bodyPr wrap="square" lIns="0" rIns="0" tIns="0" bIns="0" anchor="ctr">
            <a:spAutoFit/>
          </a:bodyPr>
          <a:lstStyle/>
          <a:p>
            <a:pPr algn="r"/>
            <a:r>
              <a:rPr sz="1250" b="0" i="0">
                <a:solidFill>
                  <a:srgbClr val="C9D1DE"/>
                </a:solidFill>
                <a:latin typeface="Consolas"/>
              </a:rPr>
              <a:t>77,9</a:t>
            </a:r>
          </a:p>
        </p:txBody>
      </p:sp>
      <p:sp>
        <p:nvSpPr>
          <p:cNvPr id="35" name="TextBox 34"/>
          <p:cNvSpPr txBox="1"/>
          <p:nvPr/>
        </p:nvSpPr>
        <p:spPr>
          <a:xfrm>
            <a:off x="6263640" y="3657600"/>
            <a:ext cx="1417320" cy="420624"/>
          </a:xfrm>
          <a:prstGeom prst="rect">
            <a:avLst/>
          </a:prstGeom>
          <a:noFill/>
        </p:spPr>
        <p:txBody>
          <a:bodyPr wrap="square" lIns="0" rIns="0" tIns="0" bIns="0" anchor="ctr">
            <a:spAutoFit/>
          </a:bodyPr>
          <a:lstStyle/>
          <a:p>
            <a:pPr algn="r"/>
            <a:r>
              <a:rPr sz="1250" b="0" i="0">
                <a:solidFill>
                  <a:srgbClr val="C9D1DE"/>
                </a:solidFill>
                <a:latin typeface="Consolas"/>
              </a:rPr>
              <a:t>1</a:t>
            </a:r>
          </a:p>
        </p:txBody>
      </p:sp>
      <p:sp>
        <p:nvSpPr>
          <p:cNvPr id="36" name="TextBox 35"/>
          <p:cNvSpPr txBox="1"/>
          <p:nvPr/>
        </p:nvSpPr>
        <p:spPr>
          <a:xfrm>
            <a:off x="7680960" y="3657600"/>
            <a:ext cx="1691640" cy="420624"/>
          </a:xfrm>
          <a:prstGeom prst="rect">
            <a:avLst/>
          </a:prstGeom>
          <a:noFill/>
        </p:spPr>
        <p:txBody>
          <a:bodyPr wrap="square" lIns="0" rIns="0" tIns="0" bIns="0" anchor="ctr">
            <a:spAutoFit/>
          </a:bodyPr>
          <a:lstStyle/>
          <a:p>
            <a:pPr algn="r"/>
            <a:r>
              <a:rPr sz="1250" b="0" i="0">
                <a:solidFill>
                  <a:srgbClr val="C9D1DE"/>
                </a:solidFill>
                <a:latin typeface="Consolas"/>
              </a:rPr>
              <a:t>19</a:t>
            </a:r>
          </a:p>
        </p:txBody>
      </p:sp>
      <p:sp>
        <p:nvSpPr>
          <p:cNvPr id="37" name="TextBox 36"/>
          <p:cNvSpPr txBox="1"/>
          <p:nvPr/>
        </p:nvSpPr>
        <p:spPr>
          <a:xfrm>
            <a:off x="9372600" y="3657600"/>
            <a:ext cx="2130552" cy="420624"/>
          </a:xfrm>
          <a:prstGeom prst="rect">
            <a:avLst/>
          </a:prstGeom>
          <a:noFill/>
        </p:spPr>
        <p:txBody>
          <a:bodyPr wrap="square" lIns="0" rIns="0" tIns="0" bIns="0" anchor="ctr">
            <a:spAutoFit/>
          </a:bodyPr>
          <a:lstStyle/>
          <a:p>
            <a:pPr algn="r"/>
            <a:r>
              <a:rPr sz="1250" b="0" i="0">
                <a:solidFill>
                  <a:srgbClr val="C9D1DE"/>
                </a:solidFill>
                <a:latin typeface="Consolas"/>
              </a:rPr>
              <a:t>18 de 28</a:t>
            </a:r>
          </a:p>
        </p:txBody>
      </p:sp>
      <p:sp>
        <p:nvSpPr>
          <p:cNvPr id="38" name="TextBox 37"/>
          <p:cNvSpPr txBox="1"/>
          <p:nvPr/>
        </p:nvSpPr>
        <p:spPr>
          <a:xfrm>
            <a:off x="777240" y="4114800"/>
            <a:ext cx="2011679" cy="420624"/>
          </a:xfrm>
          <a:prstGeom prst="rect">
            <a:avLst/>
          </a:prstGeom>
          <a:noFill/>
        </p:spPr>
        <p:txBody>
          <a:bodyPr wrap="square" lIns="0" rIns="0" tIns="0" bIns="0" anchor="ctr">
            <a:spAutoFit/>
          </a:bodyPr>
          <a:lstStyle/>
          <a:p>
            <a:pPr algn="l"/>
            <a:r>
              <a:rPr sz="1250" b="0" i="0">
                <a:solidFill>
                  <a:srgbClr val="C9D1DE"/>
                </a:solidFill>
                <a:latin typeface="Segoe UI"/>
              </a:rPr>
              <a:t>25 (regla D+1)</a:t>
            </a:r>
          </a:p>
        </p:txBody>
      </p:sp>
      <p:sp>
        <p:nvSpPr>
          <p:cNvPr id="39" name="TextBox 38"/>
          <p:cNvSpPr txBox="1"/>
          <p:nvPr/>
        </p:nvSpPr>
        <p:spPr>
          <a:xfrm>
            <a:off x="2788920" y="4114800"/>
            <a:ext cx="1920240" cy="420624"/>
          </a:xfrm>
          <a:prstGeom prst="rect">
            <a:avLst/>
          </a:prstGeom>
          <a:noFill/>
        </p:spPr>
        <p:txBody>
          <a:bodyPr wrap="square" lIns="0" rIns="0" tIns="0" bIns="0" anchor="ctr">
            <a:spAutoFit/>
          </a:bodyPr>
          <a:lstStyle/>
          <a:p>
            <a:pPr algn="r"/>
            <a:r>
              <a:rPr sz="1250" b="0" i="0">
                <a:solidFill>
                  <a:srgbClr val="C9D1DE"/>
                </a:solidFill>
                <a:latin typeface="Consolas"/>
              </a:rPr>
              <a:t>385,7</a:t>
            </a:r>
          </a:p>
        </p:txBody>
      </p:sp>
      <p:sp>
        <p:nvSpPr>
          <p:cNvPr id="40" name="TextBox 39"/>
          <p:cNvSpPr txBox="1"/>
          <p:nvPr/>
        </p:nvSpPr>
        <p:spPr>
          <a:xfrm>
            <a:off x="4709160" y="4114800"/>
            <a:ext cx="1554480" cy="420624"/>
          </a:xfrm>
          <a:prstGeom prst="rect">
            <a:avLst/>
          </a:prstGeom>
          <a:noFill/>
        </p:spPr>
        <p:txBody>
          <a:bodyPr wrap="square" lIns="0" rIns="0" tIns="0" bIns="0" anchor="ctr">
            <a:spAutoFit/>
          </a:bodyPr>
          <a:lstStyle/>
          <a:p>
            <a:pPr algn="r"/>
            <a:r>
              <a:rPr sz="1250" b="0" i="0">
                <a:solidFill>
                  <a:srgbClr val="C9D1DE"/>
                </a:solidFill>
                <a:latin typeface="Consolas"/>
              </a:rPr>
              <a:t>78,7</a:t>
            </a:r>
          </a:p>
        </p:txBody>
      </p:sp>
      <p:sp>
        <p:nvSpPr>
          <p:cNvPr id="41" name="TextBox 40"/>
          <p:cNvSpPr txBox="1"/>
          <p:nvPr/>
        </p:nvSpPr>
        <p:spPr>
          <a:xfrm>
            <a:off x="6263640" y="4114800"/>
            <a:ext cx="1417320" cy="420624"/>
          </a:xfrm>
          <a:prstGeom prst="rect">
            <a:avLst/>
          </a:prstGeom>
          <a:noFill/>
        </p:spPr>
        <p:txBody>
          <a:bodyPr wrap="square" lIns="0" rIns="0" tIns="0" bIns="0" anchor="ctr">
            <a:spAutoFit/>
          </a:bodyPr>
          <a:lstStyle/>
          <a:p>
            <a:pPr algn="r"/>
            <a:r>
              <a:rPr sz="1250" b="0" i="0">
                <a:solidFill>
                  <a:srgbClr val="C9D1DE"/>
                </a:solidFill>
                <a:latin typeface="Consolas"/>
              </a:rPr>
              <a:t>1</a:t>
            </a:r>
          </a:p>
        </p:txBody>
      </p:sp>
      <p:sp>
        <p:nvSpPr>
          <p:cNvPr id="42" name="TextBox 41"/>
          <p:cNvSpPr txBox="1"/>
          <p:nvPr/>
        </p:nvSpPr>
        <p:spPr>
          <a:xfrm>
            <a:off x="7680960" y="4114800"/>
            <a:ext cx="1691640" cy="420624"/>
          </a:xfrm>
          <a:prstGeom prst="rect">
            <a:avLst/>
          </a:prstGeom>
          <a:noFill/>
        </p:spPr>
        <p:txBody>
          <a:bodyPr wrap="square" lIns="0" rIns="0" tIns="0" bIns="0" anchor="ctr">
            <a:spAutoFit/>
          </a:bodyPr>
          <a:lstStyle/>
          <a:p>
            <a:pPr algn="r"/>
            <a:r>
              <a:rPr sz="1250" b="0" i="0">
                <a:solidFill>
                  <a:srgbClr val="C9D1DE"/>
                </a:solidFill>
                <a:latin typeface="Consolas"/>
              </a:rPr>
              <a:t>19</a:t>
            </a:r>
          </a:p>
        </p:txBody>
      </p:sp>
      <p:sp>
        <p:nvSpPr>
          <p:cNvPr id="43" name="TextBox 42"/>
          <p:cNvSpPr txBox="1"/>
          <p:nvPr/>
        </p:nvSpPr>
        <p:spPr>
          <a:xfrm>
            <a:off x="9372600" y="4114800"/>
            <a:ext cx="2130552" cy="420624"/>
          </a:xfrm>
          <a:prstGeom prst="rect">
            <a:avLst/>
          </a:prstGeom>
          <a:noFill/>
        </p:spPr>
        <p:txBody>
          <a:bodyPr wrap="square" lIns="0" rIns="0" tIns="0" bIns="0" anchor="ctr">
            <a:spAutoFit/>
          </a:bodyPr>
          <a:lstStyle/>
          <a:p>
            <a:pPr algn="r"/>
            <a:r>
              <a:rPr sz="1250" b="0" i="0">
                <a:solidFill>
                  <a:srgbClr val="C9D1DE"/>
                </a:solidFill>
                <a:latin typeface="Consolas"/>
              </a:rPr>
              <a:t>18 de 28</a:t>
            </a:r>
          </a:p>
        </p:txBody>
      </p:sp>
      <p:sp>
        <p:nvSpPr>
          <p:cNvPr id="44" name="Rectangle 43"/>
          <p:cNvSpPr/>
          <p:nvPr/>
        </p:nvSpPr>
        <p:spPr>
          <a:xfrm>
            <a:off x="685800" y="5212080"/>
            <a:ext cx="10817352" cy="11887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85800" y="5212080"/>
            <a:ext cx="54864" cy="1188720"/>
          </a:xfrm>
          <a:prstGeom prst="rect">
            <a:avLst/>
          </a:prstGeom>
          <a:solidFill>
            <a:srgbClr val="7BD9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41832" y="5376672"/>
            <a:ext cx="10360152" cy="914400"/>
          </a:xfrm>
          <a:prstGeom prst="rect">
            <a:avLst/>
          </a:prstGeom>
          <a:noFill/>
        </p:spPr>
        <p:txBody>
          <a:bodyPr wrap="square" lIns="0" rIns="0" tIns="0" bIns="0">
            <a:spAutoFit/>
          </a:bodyPr>
          <a:lstStyle/>
          <a:p>
            <a:pPr algn="l">
              <a:lnSpc>
                <a:spcPct val="110000"/>
              </a:lnSpc>
            </a:pPr>
            <a:r>
              <a:rPr sz="1250" b="1" i="0">
                <a:solidFill>
                  <a:srgbClr val="E6E9EF"/>
                </a:solidFill>
                <a:latin typeface="Segoe UI"/>
              </a:rPr>
              <a:t>min_samples desplaza el codo; no cambia el patrón.</a:t>
            </a:r>
            <a:r>
              <a:rPr sz="1250" b="0" i="0">
                <a:solidFill>
                  <a:srgbClr val="C9D1DE"/>
                </a:solidFill>
                <a:latin typeface="Segoe UI"/>
              </a:rPr>
              <a:t> De 3 a 8 el codo apenas se mueve (208 a 247 Wh) y siempre deja un clúster con 48–54 días de ruido, los 28 de carga alta entre ellos. Con 12 o con la regla D+1 = 25, el codo salta a ~382 Wh y el ruido baja a 19 días — pero 18 de los 28 de carga alta siguen fuera. Ningún valor razonable separa la carga alta como grupo propio con un solo eps.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SEPARAR POR GRUPOS · DOS CRITERIOS, UNA COMPARACIÓN</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El calendario no resuelve nada; el tipo de día sí, a medias</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4 · DBSCAN</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07</a:t>
            </a:r>
          </a:p>
        </p:txBody>
      </p:sp>
      <p:sp>
        <p:nvSpPr>
          <p:cNvPr id="6" name="TextBox 5"/>
          <p:cNvSpPr txBox="1"/>
          <p:nvPr/>
        </p:nvSpPr>
        <p:spPr>
          <a:xfrm>
            <a:off x="685800" y="1920240"/>
            <a:ext cx="3566160" cy="274320"/>
          </a:xfrm>
          <a:prstGeom prst="rect">
            <a:avLst/>
          </a:prstGeom>
          <a:noFill/>
        </p:spPr>
        <p:txBody>
          <a:bodyPr wrap="square" lIns="0" rIns="0" tIns="0" bIns="0">
            <a:spAutoFit/>
          </a:bodyPr>
          <a:lstStyle/>
          <a:p>
            <a:pPr algn="l"/>
            <a:r>
              <a:rPr sz="950" b="0" i="0">
                <a:solidFill>
                  <a:srgbClr val="6F7787"/>
                </a:solidFill>
                <a:latin typeface="Consolas"/>
              </a:rPr>
              <a:t>SEPARACIÓN · GRUPO</a:t>
            </a:r>
          </a:p>
        </p:txBody>
      </p:sp>
      <p:sp>
        <p:nvSpPr>
          <p:cNvPr id="7" name="TextBox 6"/>
          <p:cNvSpPr txBox="1"/>
          <p:nvPr/>
        </p:nvSpPr>
        <p:spPr>
          <a:xfrm>
            <a:off x="4251960" y="1920240"/>
            <a:ext cx="1097280" cy="274320"/>
          </a:xfrm>
          <a:prstGeom prst="rect">
            <a:avLst/>
          </a:prstGeom>
          <a:noFill/>
        </p:spPr>
        <p:txBody>
          <a:bodyPr wrap="square" lIns="0" rIns="0" tIns="0" bIns="0">
            <a:spAutoFit/>
          </a:bodyPr>
          <a:lstStyle/>
          <a:p>
            <a:pPr algn="r"/>
            <a:r>
              <a:rPr sz="950" b="0" i="0">
                <a:solidFill>
                  <a:srgbClr val="6F7787"/>
                </a:solidFill>
                <a:latin typeface="Consolas"/>
              </a:rPr>
              <a:t>DÍAS</a:t>
            </a:r>
          </a:p>
        </p:txBody>
      </p:sp>
      <p:sp>
        <p:nvSpPr>
          <p:cNvPr id="8" name="TextBox 7"/>
          <p:cNvSpPr txBox="1"/>
          <p:nvPr/>
        </p:nvSpPr>
        <p:spPr>
          <a:xfrm>
            <a:off x="5349240" y="1920240"/>
            <a:ext cx="1554480" cy="274320"/>
          </a:xfrm>
          <a:prstGeom prst="rect">
            <a:avLst/>
          </a:prstGeom>
          <a:noFill/>
        </p:spPr>
        <p:txBody>
          <a:bodyPr wrap="square" lIns="0" rIns="0" tIns="0" bIns="0">
            <a:spAutoFit/>
          </a:bodyPr>
          <a:lstStyle/>
          <a:p>
            <a:pPr algn="r"/>
            <a:r>
              <a:rPr sz="950" b="0" i="0">
                <a:solidFill>
                  <a:srgbClr val="6F7787"/>
                </a:solidFill>
                <a:latin typeface="Consolas"/>
              </a:rPr>
              <a:t>EPS DEL CODO</a:t>
            </a:r>
          </a:p>
        </p:txBody>
      </p:sp>
      <p:sp>
        <p:nvSpPr>
          <p:cNvPr id="9" name="TextBox 8"/>
          <p:cNvSpPr txBox="1"/>
          <p:nvPr/>
        </p:nvSpPr>
        <p:spPr>
          <a:xfrm>
            <a:off x="6903720" y="1920240"/>
            <a:ext cx="1463040" cy="274320"/>
          </a:xfrm>
          <a:prstGeom prst="rect">
            <a:avLst/>
          </a:prstGeom>
          <a:noFill/>
        </p:spPr>
        <p:txBody>
          <a:bodyPr wrap="square" lIns="0" rIns="0" tIns="0" bIns="0">
            <a:spAutoFit/>
          </a:bodyPr>
          <a:lstStyle/>
          <a:p>
            <a:pPr algn="r"/>
            <a:r>
              <a:rPr sz="950" b="0" i="0">
                <a:solidFill>
                  <a:srgbClr val="6F7787"/>
                </a:solidFill>
                <a:latin typeface="Consolas"/>
              </a:rPr>
              <a:t>CLÚSTER</a:t>
            </a:r>
          </a:p>
        </p:txBody>
      </p:sp>
      <p:sp>
        <p:nvSpPr>
          <p:cNvPr id="10" name="TextBox 9"/>
          <p:cNvSpPr txBox="1"/>
          <p:nvPr/>
        </p:nvSpPr>
        <p:spPr>
          <a:xfrm>
            <a:off x="8366760" y="1920240"/>
            <a:ext cx="1188720" cy="274320"/>
          </a:xfrm>
          <a:prstGeom prst="rect">
            <a:avLst/>
          </a:prstGeom>
          <a:noFill/>
        </p:spPr>
        <p:txBody>
          <a:bodyPr wrap="square" lIns="0" rIns="0" tIns="0" bIns="0">
            <a:spAutoFit/>
          </a:bodyPr>
          <a:lstStyle/>
          <a:p>
            <a:pPr algn="r"/>
            <a:r>
              <a:rPr sz="950" b="0" i="0">
                <a:solidFill>
                  <a:srgbClr val="6F7787"/>
                </a:solidFill>
                <a:latin typeface="Consolas"/>
              </a:rPr>
              <a:t>RUIDO</a:t>
            </a:r>
          </a:p>
        </p:txBody>
      </p:sp>
      <p:sp>
        <p:nvSpPr>
          <p:cNvPr id="11" name="TextBox 10"/>
          <p:cNvSpPr txBox="1"/>
          <p:nvPr/>
        </p:nvSpPr>
        <p:spPr>
          <a:xfrm>
            <a:off x="9555480" y="1920240"/>
            <a:ext cx="1947672" cy="274320"/>
          </a:xfrm>
          <a:prstGeom prst="rect">
            <a:avLst/>
          </a:prstGeom>
          <a:noFill/>
        </p:spPr>
        <p:txBody>
          <a:bodyPr wrap="square" lIns="0" rIns="0" tIns="0" bIns="0">
            <a:spAutoFit/>
          </a:bodyPr>
          <a:lstStyle/>
          <a:p>
            <a:pPr algn="r"/>
            <a:r>
              <a:rPr sz="950" b="0" i="0">
                <a:solidFill>
                  <a:srgbClr val="6F7787"/>
                </a:solidFill>
                <a:latin typeface="Consolas"/>
              </a:rPr>
              <a:t>CARGA ALTA EN EL RUIDO</a:t>
            </a:r>
          </a:p>
        </p:txBody>
      </p:sp>
      <p:sp>
        <p:nvSpPr>
          <p:cNvPr id="12" name="Rectangle 11"/>
          <p:cNvSpPr/>
          <p:nvPr/>
        </p:nvSpPr>
        <p:spPr>
          <a:xfrm>
            <a:off x="685800" y="2249424"/>
            <a:ext cx="10817351" cy="9144"/>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86000"/>
            <a:ext cx="3474720" cy="438912"/>
          </a:xfrm>
          <a:prstGeom prst="rect">
            <a:avLst/>
          </a:prstGeom>
          <a:noFill/>
        </p:spPr>
        <p:txBody>
          <a:bodyPr wrap="square" lIns="0" rIns="0" tIns="0" bIns="0" anchor="ctr">
            <a:spAutoFit/>
          </a:bodyPr>
          <a:lstStyle/>
          <a:p>
            <a:pPr algn="l"/>
            <a:r>
              <a:rPr sz="1250" b="0" i="0">
                <a:solidFill>
                  <a:srgbClr val="C9D1DE"/>
                </a:solidFill>
                <a:latin typeface="Segoe UI"/>
              </a:rPr>
              <a:t>Por tipo de día · normal</a:t>
            </a:r>
          </a:p>
        </p:txBody>
      </p:sp>
      <p:sp>
        <p:nvSpPr>
          <p:cNvPr id="14" name="TextBox 13"/>
          <p:cNvSpPr txBox="1"/>
          <p:nvPr/>
        </p:nvSpPr>
        <p:spPr>
          <a:xfrm>
            <a:off x="4251960" y="2286000"/>
            <a:ext cx="1097280" cy="438912"/>
          </a:xfrm>
          <a:prstGeom prst="rect">
            <a:avLst/>
          </a:prstGeom>
          <a:noFill/>
        </p:spPr>
        <p:txBody>
          <a:bodyPr wrap="square" lIns="0" rIns="0" tIns="0" bIns="0" anchor="ctr">
            <a:spAutoFit/>
          </a:bodyPr>
          <a:lstStyle/>
          <a:p>
            <a:pPr algn="r"/>
            <a:r>
              <a:rPr sz="1250" b="0" i="0">
                <a:solidFill>
                  <a:srgbClr val="C9D1DE"/>
                </a:solidFill>
                <a:latin typeface="Consolas"/>
              </a:rPr>
              <a:t>108</a:t>
            </a:r>
          </a:p>
        </p:txBody>
      </p:sp>
      <p:sp>
        <p:nvSpPr>
          <p:cNvPr id="15" name="TextBox 14"/>
          <p:cNvSpPr txBox="1"/>
          <p:nvPr/>
        </p:nvSpPr>
        <p:spPr>
          <a:xfrm>
            <a:off x="5349240" y="2286000"/>
            <a:ext cx="1554480" cy="438912"/>
          </a:xfrm>
          <a:prstGeom prst="rect">
            <a:avLst/>
          </a:prstGeom>
          <a:noFill/>
        </p:spPr>
        <p:txBody>
          <a:bodyPr wrap="square" lIns="0" rIns="0" tIns="0" bIns="0" anchor="ctr">
            <a:spAutoFit/>
          </a:bodyPr>
          <a:lstStyle/>
          <a:p>
            <a:pPr algn="r"/>
            <a:r>
              <a:rPr sz="1250" b="0" i="0">
                <a:solidFill>
                  <a:srgbClr val="C9D1DE"/>
                </a:solidFill>
                <a:latin typeface="Consolas"/>
              </a:rPr>
              <a:t>208 Wh</a:t>
            </a:r>
          </a:p>
        </p:txBody>
      </p:sp>
      <p:sp>
        <p:nvSpPr>
          <p:cNvPr id="16" name="TextBox 15"/>
          <p:cNvSpPr txBox="1"/>
          <p:nvPr/>
        </p:nvSpPr>
        <p:spPr>
          <a:xfrm>
            <a:off x="6903720" y="2286000"/>
            <a:ext cx="1463040" cy="438912"/>
          </a:xfrm>
          <a:prstGeom prst="rect">
            <a:avLst/>
          </a:prstGeom>
          <a:noFill/>
        </p:spPr>
        <p:txBody>
          <a:bodyPr wrap="square" lIns="0" rIns="0" tIns="0" bIns="0" anchor="ctr">
            <a:spAutoFit/>
          </a:bodyPr>
          <a:lstStyle/>
          <a:p>
            <a:pPr algn="r"/>
            <a:r>
              <a:rPr sz="1250" b="0" i="0">
                <a:solidFill>
                  <a:srgbClr val="C9D1DE"/>
                </a:solidFill>
                <a:latin typeface="Consolas"/>
              </a:rPr>
              <a:t>82 días</a:t>
            </a:r>
          </a:p>
        </p:txBody>
      </p:sp>
      <p:sp>
        <p:nvSpPr>
          <p:cNvPr id="17" name="TextBox 16"/>
          <p:cNvSpPr txBox="1"/>
          <p:nvPr/>
        </p:nvSpPr>
        <p:spPr>
          <a:xfrm>
            <a:off x="8366760" y="2286000"/>
            <a:ext cx="1188720" cy="438912"/>
          </a:xfrm>
          <a:prstGeom prst="rect">
            <a:avLst/>
          </a:prstGeom>
          <a:noFill/>
        </p:spPr>
        <p:txBody>
          <a:bodyPr wrap="square" lIns="0" rIns="0" tIns="0" bIns="0" anchor="ctr">
            <a:spAutoFit/>
          </a:bodyPr>
          <a:lstStyle/>
          <a:p>
            <a:pPr algn="r"/>
            <a:r>
              <a:rPr sz="1250" b="0" i="0">
                <a:solidFill>
                  <a:srgbClr val="C9D1DE"/>
                </a:solidFill>
                <a:latin typeface="Consolas"/>
              </a:rPr>
              <a:t>26</a:t>
            </a:r>
          </a:p>
        </p:txBody>
      </p:sp>
      <p:sp>
        <p:nvSpPr>
          <p:cNvPr id="18" name="TextBox 17"/>
          <p:cNvSpPr txBox="1"/>
          <p:nvPr/>
        </p:nvSpPr>
        <p:spPr>
          <a:xfrm>
            <a:off x="9555480" y="2286000"/>
            <a:ext cx="1947672" cy="438912"/>
          </a:xfrm>
          <a:prstGeom prst="rect">
            <a:avLst/>
          </a:prstGeom>
          <a:noFill/>
        </p:spPr>
        <p:txBody>
          <a:bodyPr wrap="square" lIns="0" rIns="0" tIns="0" bIns="0" anchor="ctr">
            <a:spAutoFit/>
          </a:bodyPr>
          <a:lstStyle/>
          <a:p>
            <a:pPr algn="r"/>
            <a:r>
              <a:rPr sz="1250" b="0" i="0">
                <a:solidFill>
                  <a:srgbClr val="C9D1DE"/>
                </a:solidFill>
                <a:latin typeface="Consolas"/>
              </a:rPr>
              <a:t>—</a:t>
            </a:r>
          </a:p>
        </p:txBody>
      </p:sp>
      <p:sp>
        <p:nvSpPr>
          <p:cNvPr id="19" name="Rectangle 18"/>
          <p:cNvSpPr/>
          <p:nvPr/>
        </p:nvSpPr>
        <p:spPr>
          <a:xfrm>
            <a:off x="685800" y="2761488"/>
            <a:ext cx="10817351" cy="438912"/>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2761488"/>
            <a:ext cx="3474720" cy="438912"/>
          </a:xfrm>
          <a:prstGeom prst="rect">
            <a:avLst/>
          </a:prstGeom>
          <a:noFill/>
        </p:spPr>
        <p:txBody>
          <a:bodyPr wrap="square" lIns="0" rIns="0" tIns="0" bIns="0" anchor="ctr">
            <a:spAutoFit/>
          </a:bodyPr>
          <a:lstStyle/>
          <a:p>
            <a:pPr algn="l"/>
            <a:r>
              <a:rPr sz="1250" b="1" i="0">
                <a:solidFill>
                  <a:srgbClr val="E6E9EF"/>
                </a:solidFill>
                <a:latin typeface="Segoe UI"/>
              </a:rPr>
              <a:t>Por tipo de día · carga alta</a:t>
            </a:r>
          </a:p>
        </p:txBody>
      </p:sp>
      <p:sp>
        <p:nvSpPr>
          <p:cNvPr id="21" name="TextBox 20"/>
          <p:cNvSpPr txBox="1"/>
          <p:nvPr/>
        </p:nvSpPr>
        <p:spPr>
          <a:xfrm>
            <a:off x="4251960" y="2761488"/>
            <a:ext cx="1097280" cy="438912"/>
          </a:xfrm>
          <a:prstGeom prst="rect">
            <a:avLst/>
          </a:prstGeom>
          <a:noFill/>
        </p:spPr>
        <p:txBody>
          <a:bodyPr wrap="square" lIns="0" rIns="0" tIns="0" bIns="0" anchor="ctr">
            <a:spAutoFit/>
          </a:bodyPr>
          <a:lstStyle/>
          <a:p>
            <a:pPr algn="r"/>
            <a:r>
              <a:rPr sz="1250" b="1" i="0">
                <a:solidFill>
                  <a:srgbClr val="E6E9EF"/>
                </a:solidFill>
                <a:latin typeface="Consolas"/>
              </a:rPr>
              <a:t>28</a:t>
            </a:r>
          </a:p>
        </p:txBody>
      </p:sp>
      <p:sp>
        <p:nvSpPr>
          <p:cNvPr id="22" name="TextBox 21"/>
          <p:cNvSpPr txBox="1"/>
          <p:nvPr/>
        </p:nvSpPr>
        <p:spPr>
          <a:xfrm>
            <a:off x="5349240" y="2761488"/>
            <a:ext cx="1554480" cy="438912"/>
          </a:xfrm>
          <a:prstGeom prst="rect">
            <a:avLst/>
          </a:prstGeom>
          <a:noFill/>
        </p:spPr>
        <p:txBody>
          <a:bodyPr wrap="square" lIns="0" rIns="0" tIns="0" bIns="0" anchor="ctr">
            <a:spAutoFit/>
          </a:bodyPr>
          <a:lstStyle/>
          <a:p>
            <a:pPr algn="r"/>
            <a:r>
              <a:rPr sz="1250" b="1" i="0">
                <a:solidFill>
                  <a:srgbClr val="E6E9EF"/>
                </a:solidFill>
                <a:latin typeface="Consolas"/>
              </a:rPr>
              <a:t>452 Wh</a:t>
            </a:r>
          </a:p>
        </p:txBody>
      </p:sp>
      <p:sp>
        <p:nvSpPr>
          <p:cNvPr id="23" name="TextBox 22"/>
          <p:cNvSpPr txBox="1"/>
          <p:nvPr/>
        </p:nvSpPr>
        <p:spPr>
          <a:xfrm>
            <a:off x="6903720" y="2761488"/>
            <a:ext cx="1463040" cy="438912"/>
          </a:xfrm>
          <a:prstGeom prst="rect">
            <a:avLst/>
          </a:prstGeom>
          <a:noFill/>
        </p:spPr>
        <p:txBody>
          <a:bodyPr wrap="square" lIns="0" rIns="0" tIns="0" bIns="0" anchor="ctr">
            <a:spAutoFit/>
          </a:bodyPr>
          <a:lstStyle/>
          <a:p>
            <a:pPr algn="r"/>
            <a:r>
              <a:rPr sz="1250" b="1" i="0">
                <a:solidFill>
                  <a:srgbClr val="E6E9EF"/>
                </a:solidFill>
                <a:latin typeface="Consolas"/>
              </a:rPr>
              <a:t>24 días</a:t>
            </a:r>
          </a:p>
        </p:txBody>
      </p:sp>
      <p:sp>
        <p:nvSpPr>
          <p:cNvPr id="24" name="TextBox 23"/>
          <p:cNvSpPr txBox="1"/>
          <p:nvPr/>
        </p:nvSpPr>
        <p:spPr>
          <a:xfrm>
            <a:off x="8366760" y="2761488"/>
            <a:ext cx="1188720" cy="438912"/>
          </a:xfrm>
          <a:prstGeom prst="rect">
            <a:avLst/>
          </a:prstGeom>
          <a:noFill/>
        </p:spPr>
        <p:txBody>
          <a:bodyPr wrap="square" lIns="0" rIns="0" tIns="0" bIns="0" anchor="ctr">
            <a:spAutoFit/>
          </a:bodyPr>
          <a:lstStyle/>
          <a:p>
            <a:pPr algn="r"/>
            <a:r>
              <a:rPr sz="1250" b="1" i="0">
                <a:solidFill>
                  <a:srgbClr val="E6E9EF"/>
                </a:solidFill>
                <a:latin typeface="Consolas"/>
              </a:rPr>
              <a:t>4</a:t>
            </a:r>
          </a:p>
        </p:txBody>
      </p:sp>
      <p:sp>
        <p:nvSpPr>
          <p:cNvPr id="25" name="TextBox 24"/>
          <p:cNvSpPr txBox="1"/>
          <p:nvPr/>
        </p:nvSpPr>
        <p:spPr>
          <a:xfrm>
            <a:off x="9555480" y="2761488"/>
            <a:ext cx="1947672" cy="438912"/>
          </a:xfrm>
          <a:prstGeom prst="rect">
            <a:avLst/>
          </a:prstGeom>
          <a:noFill/>
        </p:spPr>
        <p:txBody>
          <a:bodyPr wrap="square" lIns="0" rIns="0" tIns="0" bIns="0" anchor="ctr">
            <a:spAutoFit/>
          </a:bodyPr>
          <a:lstStyle/>
          <a:p>
            <a:pPr algn="r"/>
            <a:r>
              <a:rPr sz="1250" b="1" i="0">
                <a:solidFill>
                  <a:srgbClr val="E6E9EF"/>
                </a:solidFill>
                <a:latin typeface="Consolas"/>
              </a:rPr>
              <a:t>4 de 28</a:t>
            </a:r>
          </a:p>
        </p:txBody>
      </p:sp>
      <p:sp>
        <p:nvSpPr>
          <p:cNvPr id="26" name="TextBox 25"/>
          <p:cNvSpPr txBox="1"/>
          <p:nvPr/>
        </p:nvSpPr>
        <p:spPr>
          <a:xfrm>
            <a:off x="777240" y="3236976"/>
            <a:ext cx="3474720" cy="438912"/>
          </a:xfrm>
          <a:prstGeom prst="rect">
            <a:avLst/>
          </a:prstGeom>
          <a:noFill/>
        </p:spPr>
        <p:txBody>
          <a:bodyPr wrap="square" lIns="0" rIns="0" tIns="0" bIns="0" anchor="ctr">
            <a:spAutoFit/>
          </a:bodyPr>
          <a:lstStyle/>
          <a:p>
            <a:pPr algn="l"/>
            <a:r>
              <a:rPr sz="1250" b="0" i="0">
                <a:solidFill>
                  <a:srgbClr val="C9D1DE"/>
                </a:solidFill>
                <a:latin typeface="Segoe UI"/>
              </a:rPr>
              <a:t>Por calendario · laborable</a:t>
            </a:r>
          </a:p>
        </p:txBody>
      </p:sp>
      <p:sp>
        <p:nvSpPr>
          <p:cNvPr id="27" name="TextBox 26"/>
          <p:cNvSpPr txBox="1"/>
          <p:nvPr/>
        </p:nvSpPr>
        <p:spPr>
          <a:xfrm>
            <a:off x="4251960" y="3236976"/>
            <a:ext cx="1097280" cy="438912"/>
          </a:xfrm>
          <a:prstGeom prst="rect">
            <a:avLst/>
          </a:prstGeom>
          <a:noFill/>
        </p:spPr>
        <p:txBody>
          <a:bodyPr wrap="square" lIns="0" rIns="0" tIns="0" bIns="0" anchor="ctr">
            <a:spAutoFit/>
          </a:bodyPr>
          <a:lstStyle/>
          <a:p>
            <a:pPr algn="r"/>
            <a:r>
              <a:rPr sz="1250" b="0" i="0">
                <a:solidFill>
                  <a:srgbClr val="C9D1DE"/>
                </a:solidFill>
                <a:latin typeface="Consolas"/>
              </a:rPr>
              <a:t>98</a:t>
            </a:r>
          </a:p>
        </p:txBody>
      </p:sp>
      <p:sp>
        <p:nvSpPr>
          <p:cNvPr id="28" name="TextBox 27"/>
          <p:cNvSpPr txBox="1"/>
          <p:nvPr/>
        </p:nvSpPr>
        <p:spPr>
          <a:xfrm>
            <a:off x="5349240" y="3236976"/>
            <a:ext cx="1554480" cy="438912"/>
          </a:xfrm>
          <a:prstGeom prst="rect">
            <a:avLst/>
          </a:prstGeom>
          <a:noFill/>
        </p:spPr>
        <p:txBody>
          <a:bodyPr wrap="square" lIns="0" rIns="0" tIns="0" bIns="0" anchor="ctr">
            <a:spAutoFit/>
          </a:bodyPr>
          <a:lstStyle/>
          <a:p>
            <a:pPr algn="r"/>
            <a:r>
              <a:rPr sz="1250" b="0" i="0">
                <a:solidFill>
                  <a:srgbClr val="C9D1DE"/>
                </a:solidFill>
                <a:latin typeface="Consolas"/>
              </a:rPr>
              <a:t>190 Wh</a:t>
            </a:r>
          </a:p>
        </p:txBody>
      </p:sp>
      <p:sp>
        <p:nvSpPr>
          <p:cNvPr id="29" name="TextBox 28"/>
          <p:cNvSpPr txBox="1"/>
          <p:nvPr/>
        </p:nvSpPr>
        <p:spPr>
          <a:xfrm>
            <a:off x="6903720" y="3236976"/>
            <a:ext cx="1463040" cy="438912"/>
          </a:xfrm>
          <a:prstGeom prst="rect">
            <a:avLst/>
          </a:prstGeom>
          <a:noFill/>
        </p:spPr>
        <p:txBody>
          <a:bodyPr wrap="square" lIns="0" rIns="0" tIns="0" bIns="0" anchor="ctr">
            <a:spAutoFit/>
          </a:bodyPr>
          <a:lstStyle/>
          <a:p>
            <a:pPr algn="r"/>
            <a:r>
              <a:rPr sz="1250" b="0" i="0">
                <a:solidFill>
                  <a:srgbClr val="C9D1DE"/>
                </a:solidFill>
                <a:latin typeface="Consolas"/>
              </a:rPr>
              <a:t>54 días</a:t>
            </a:r>
          </a:p>
        </p:txBody>
      </p:sp>
      <p:sp>
        <p:nvSpPr>
          <p:cNvPr id="30" name="TextBox 29"/>
          <p:cNvSpPr txBox="1"/>
          <p:nvPr/>
        </p:nvSpPr>
        <p:spPr>
          <a:xfrm>
            <a:off x="8366760" y="3236976"/>
            <a:ext cx="1188720" cy="438912"/>
          </a:xfrm>
          <a:prstGeom prst="rect">
            <a:avLst/>
          </a:prstGeom>
          <a:noFill/>
        </p:spPr>
        <p:txBody>
          <a:bodyPr wrap="square" lIns="0" rIns="0" tIns="0" bIns="0" anchor="ctr">
            <a:spAutoFit/>
          </a:bodyPr>
          <a:lstStyle/>
          <a:p>
            <a:pPr algn="r"/>
            <a:r>
              <a:rPr sz="1250" b="0" i="0">
                <a:solidFill>
                  <a:srgbClr val="C9D1DE"/>
                </a:solidFill>
                <a:latin typeface="Consolas"/>
              </a:rPr>
              <a:t>44</a:t>
            </a:r>
          </a:p>
        </p:txBody>
      </p:sp>
      <p:sp>
        <p:nvSpPr>
          <p:cNvPr id="31" name="TextBox 30"/>
          <p:cNvSpPr txBox="1"/>
          <p:nvPr/>
        </p:nvSpPr>
        <p:spPr>
          <a:xfrm>
            <a:off x="9555480" y="3236976"/>
            <a:ext cx="1947672" cy="438912"/>
          </a:xfrm>
          <a:prstGeom prst="rect">
            <a:avLst/>
          </a:prstGeom>
          <a:noFill/>
        </p:spPr>
        <p:txBody>
          <a:bodyPr wrap="square" lIns="0" rIns="0" tIns="0" bIns="0" anchor="ctr">
            <a:spAutoFit/>
          </a:bodyPr>
          <a:lstStyle/>
          <a:p>
            <a:pPr algn="r"/>
            <a:r>
              <a:rPr sz="1250" b="0" i="0">
                <a:solidFill>
                  <a:srgbClr val="C9D1DE"/>
                </a:solidFill>
                <a:latin typeface="Consolas"/>
              </a:rPr>
              <a:t>20</a:t>
            </a:r>
          </a:p>
        </p:txBody>
      </p:sp>
      <p:sp>
        <p:nvSpPr>
          <p:cNvPr id="32" name="TextBox 31"/>
          <p:cNvSpPr txBox="1"/>
          <p:nvPr/>
        </p:nvSpPr>
        <p:spPr>
          <a:xfrm>
            <a:off x="777240" y="3712464"/>
            <a:ext cx="3474720" cy="438912"/>
          </a:xfrm>
          <a:prstGeom prst="rect">
            <a:avLst/>
          </a:prstGeom>
          <a:noFill/>
        </p:spPr>
        <p:txBody>
          <a:bodyPr wrap="square" lIns="0" rIns="0" tIns="0" bIns="0" anchor="ctr">
            <a:spAutoFit/>
          </a:bodyPr>
          <a:lstStyle/>
          <a:p>
            <a:pPr algn="l"/>
            <a:r>
              <a:rPr sz="1250" b="0" i="0">
                <a:solidFill>
                  <a:srgbClr val="C9D1DE"/>
                </a:solidFill>
                <a:latin typeface="Segoe UI"/>
              </a:rPr>
              <a:t>Por calendario · fin de semana</a:t>
            </a:r>
          </a:p>
        </p:txBody>
      </p:sp>
      <p:sp>
        <p:nvSpPr>
          <p:cNvPr id="33" name="TextBox 32"/>
          <p:cNvSpPr txBox="1"/>
          <p:nvPr/>
        </p:nvSpPr>
        <p:spPr>
          <a:xfrm>
            <a:off x="4251960" y="3712464"/>
            <a:ext cx="1097280" cy="438912"/>
          </a:xfrm>
          <a:prstGeom prst="rect">
            <a:avLst/>
          </a:prstGeom>
          <a:noFill/>
        </p:spPr>
        <p:txBody>
          <a:bodyPr wrap="square" lIns="0" rIns="0" tIns="0" bIns="0" anchor="ctr">
            <a:spAutoFit/>
          </a:bodyPr>
          <a:lstStyle/>
          <a:p>
            <a:pPr algn="r"/>
            <a:r>
              <a:rPr sz="1250" b="0" i="0">
                <a:solidFill>
                  <a:srgbClr val="C9D1DE"/>
                </a:solidFill>
                <a:latin typeface="Consolas"/>
              </a:rPr>
              <a:t>38</a:t>
            </a:r>
          </a:p>
        </p:txBody>
      </p:sp>
      <p:sp>
        <p:nvSpPr>
          <p:cNvPr id="34" name="TextBox 33"/>
          <p:cNvSpPr txBox="1"/>
          <p:nvPr/>
        </p:nvSpPr>
        <p:spPr>
          <a:xfrm>
            <a:off x="5349240" y="3712464"/>
            <a:ext cx="1554480" cy="438912"/>
          </a:xfrm>
          <a:prstGeom prst="rect">
            <a:avLst/>
          </a:prstGeom>
          <a:noFill/>
        </p:spPr>
        <p:txBody>
          <a:bodyPr wrap="square" lIns="0" rIns="0" tIns="0" bIns="0" anchor="ctr">
            <a:spAutoFit/>
          </a:bodyPr>
          <a:lstStyle/>
          <a:p>
            <a:pPr algn="r"/>
            <a:r>
              <a:rPr sz="1250" b="0" i="0">
                <a:solidFill>
                  <a:srgbClr val="C9D1DE"/>
                </a:solidFill>
                <a:latin typeface="Consolas"/>
              </a:rPr>
              <a:t>365 Wh</a:t>
            </a:r>
          </a:p>
        </p:txBody>
      </p:sp>
      <p:sp>
        <p:nvSpPr>
          <p:cNvPr id="35" name="TextBox 34"/>
          <p:cNvSpPr txBox="1"/>
          <p:nvPr/>
        </p:nvSpPr>
        <p:spPr>
          <a:xfrm>
            <a:off x="6903720" y="3712464"/>
            <a:ext cx="1463040" cy="438912"/>
          </a:xfrm>
          <a:prstGeom prst="rect">
            <a:avLst/>
          </a:prstGeom>
          <a:noFill/>
        </p:spPr>
        <p:txBody>
          <a:bodyPr wrap="square" lIns="0" rIns="0" tIns="0" bIns="0" anchor="ctr">
            <a:spAutoFit/>
          </a:bodyPr>
          <a:lstStyle/>
          <a:p>
            <a:pPr algn="r"/>
            <a:r>
              <a:rPr sz="1250" b="0" i="0">
                <a:solidFill>
                  <a:srgbClr val="C9D1DE"/>
                </a:solidFill>
                <a:latin typeface="Consolas"/>
              </a:rPr>
              <a:t>30 días</a:t>
            </a:r>
          </a:p>
        </p:txBody>
      </p:sp>
      <p:sp>
        <p:nvSpPr>
          <p:cNvPr id="36" name="TextBox 35"/>
          <p:cNvSpPr txBox="1"/>
          <p:nvPr/>
        </p:nvSpPr>
        <p:spPr>
          <a:xfrm>
            <a:off x="8366760" y="3712464"/>
            <a:ext cx="1188720" cy="438912"/>
          </a:xfrm>
          <a:prstGeom prst="rect">
            <a:avLst/>
          </a:prstGeom>
          <a:noFill/>
        </p:spPr>
        <p:txBody>
          <a:bodyPr wrap="square" lIns="0" rIns="0" tIns="0" bIns="0" anchor="ctr">
            <a:spAutoFit/>
          </a:bodyPr>
          <a:lstStyle/>
          <a:p>
            <a:pPr algn="r"/>
            <a:r>
              <a:rPr sz="1250" b="0" i="0">
                <a:solidFill>
                  <a:srgbClr val="C9D1DE"/>
                </a:solidFill>
                <a:latin typeface="Consolas"/>
              </a:rPr>
              <a:t>8</a:t>
            </a:r>
          </a:p>
        </p:txBody>
      </p:sp>
      <p:sp>
        <p:nvSpPr>
          <p:cNvPr id="37" name="TextBox 36"/>
          <p:cNvSpPr txBox="1"/>
          <p:nvPr/>
        </p:nvSpPr>
        <p:spPr>
          <a:xfrm>
            <a:off x="9555480" y="3712464"/>
            <a:ext cx="1947672" cy="438912"/>
          </a:xfrm>
          <a:prstGeom prst="rect">
            <a:avLst/>
          </a:prstGeom>
          <a:noFill/>
        </p:spPr>
        <p:txBody>
          <a:bodyPr wrap="square" lIns="0" rIns="0" tIns="0" bIns="0" anchor="ctr">
            <a:spAutoFit/>
          </a:bodyPr>
          <a:lstStyle/>
          <a:p>
            <a:pPr algn="r"/>
            <a:r>
              <a:rPr sz="1250" b="0" i="0">
                <a:solidFill>
                  <a:srgbClr val="C9D1DE"/>
                </a:solidFill>
                <a:latin typeface="Consolas"/>
              </a:rPr>
              <a:t>7</a:t>
            </a:r>
          </a:p>
        </p:txBody>
      </p:sp>
      <p:sp>
        <p:nvSpPr>
          <p:cNvPr id="38" name="Rectangle 37"/>
          <p:cNvSpPr/>
          <p:nvPr/>
        </p:nvSpPr>
        <p:spPr>
          <a:xfrm>
            <a:off x="685800" y="5212080"/>
            <a:ext cx="10817352" cy="11887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85800" y="5212080"/>
            <a:ext cx="54864" cy="1188720"/>
          </a:xfrm>
          <a:prstGeom prst="rect">
            <a:avLst/>
          </a:prstGeom>
          <a:solidFill>
            <a:srgbClr val="7BD9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1832" y="5376672"/>
            <a:ext cx="10360152" cy="914400"/>
          </a:xfrm>
          <a:prstGeom prst="rect">
            <a:avLst/>
          </a:prstGeom>
          <a:noFill/>
        </p:spPr>
        <p:txBody>
          <a:bodyPr wrap="square" lIns="0" rIns="0" tIns="0" bIns="0">
            <a:spAutoFit/>
          </a:bodyPr>
          <a:lstStyle/>
          <a:p>
            <a:pPr algn="l">
              <a:lnSpc>
                <a:spcPct val="110000"/>
              </a:lnSpc>
            </a:pPr>
            <a:r>
              <a:rPr sz="1250" b="1" i="0">
                <a:solidFill>
                  <a:srgbClr val="E6E9EF"/>
                </a:solidFill>
                <a:latin typeface="Segoe UI"/>
              </a:rPr>
              <a:t>El calendario deja casi todo en el ruido.</a:t>
            </a:r>
            <a:r>
              <a:rPr sz="1250" b="0" i="0">
                <a:solidFill>
                  <a:srgbClr val="C9D1DE"/>
                </a:solidFill>
                <a:latin typeface="Segoe UI"/>
              </a:rPr>
              <a:t> Separando por fin de semana, 27 de los 28 días de carga alta (20 + 7) siguen sin formar grupo. Separando por tipo de día, con su propio eps (452 Wh) el 86 % de la carga alta (24 de 28) sí encuentra vecinos. La variable que ya validaron K-Means y el jerárquico es también la que le sirve a DBSCAN — el calendario nunca lo fue.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¿QUÉ DÍAS SON RAROS DE VERDAD? · EL MÉTODO</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Atípico robusto: ruido en 20 de 25 configuraciones</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4 · DBSCAN</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09</a:t>
            </a:r>
          </a:p>
        </p:txBody>
      </p:sp>
      <p:sp>
        <p:nvSpPr>
          <p:cNvPr id="6" name="Rectangle 5"/>
          <p:cNvSpPr/>
          <p:nvPr/>
        </p:nvSpPr>
        <p:spPr>
          <a:xfrm>
            <a:off x="1657027" y="1810512"/>
            <a:ext cx="8874897" cy="3602736"/>
          </a:xfrm>
          <a:prstGeom prst="rect">
            <a:avLst/>
          </a:prstGeom>
          <a:solidFill>
            <a:srgbClr val="23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de_atipicos.png"/>
          <p:cNvPicPr>
            <a:picLocks noChangeAspect="1"/>
          </p:cNvPicPr>
          <p:nvPr/>
        </p:nvPicPr>
        <p:blipFill>
          <a:blip r:embed="rId2"/>
          <a:stretch>
            <a:fillRect/>
          </a:stretch>
        </p:blipFill>
        <p:spPr>
          <a:xfrm>
            <a:off x="1675315" y="1828800"/>
            <a:ext cx="8838321" cy="3566160"/>
          </a:xfrm>
          <a:prstGeom prst="rect">
            <a:avLst/>
          </a:prstGeom>
        </p:spPr>
      </p:pic>
      <p:sp>
        <p:nvSpPr>
          <p:cNvPr id="8" name="Rectangle 7"/>
          <p:cNvSpPr/>
          <p:nvPr/>
        </p:nvSpPr>
        <p:spPr>
          <a:xfrm>
            <a:off x="685800" y="5532120"/>
            <a:ext cx="10817352" cy="8686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5532120"/>
            <a:ext cx="54864" cy="868680"/>
          </a:xfrm>
          <a:prstGeom prst="rect">
            <a:avLst/>
          </a:prstGeom>
          <a:solidFill>
            <a:srgbClr val="7BD9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5696712"/>
            <a:ext cx="10360152" cy="594359"/>
          </a:xfrm>
          <a:prstGeom prst="rect">
            <a:avLst/>
          </a:prstGeom>
          <a:noFill/>
        </p:spPr>
        <p:txBody>
          <a:bodyPr wrap="square" lIns="0" rIns="0" tIns="0" bIns="0">
            <a:spAutoFit/>
          </a:bodyPr>
          <a:lstStyle/>
          <a:p>
            <a:pPr algn="l">
              <a:lnSpc>
                <a:spcPct val="110000"/>
              </a:lnSpc>
            </a:pPr>
            <a:r>
              <a:rPr sz="1250" b="1" i="0">
                <a:solidFill>
                  <a:srgbClr val="E6E9EF"/>
                </a:solidFill>
                <a:latin typeface="Segoe UI"/>
              </a:rPr>
              <a:t>Un día no es atípico por una sola elección de parámetros.</a:t>
            </a:r>
            <a:r>
              <a:rPr sz="1250" b="0" i="0">
                <a:solidFill>
                  <a:srgbClr val="C9D1DE"/>
                </a:solidFill>
                <a:latin typeface="Segoe UI"/>
              </a:rPr>
              <a:t> Cada tipo de día se evalúa con su propia densidad: 25 configuraciones (5 valores de min_samples × 5 factores de eps entre 80 % y 120 % del codo). Solo cuenta el día que es ruido en 20 de esas 25 o más — así se filtra el 39,7 % de ruido de un solo eps a los 22 días realmente raros.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CONTROL TEMPORAL · ¿MAYO TRAE DÍAS DESCONOCIDOS?</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DBSCAN declara 2 de 26 días de mayo «desconocidos»</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4 · DBSCAN</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11</a:t>
            </a:r>
          </a:p>
        </p:txBody>
      </p:sp>
      <p:sp>
        <p:nvSpPr>
          <p:cNvPr id="6" name="Rectangle 5"/>
          <p:cNvSpPr/>
          <p:nvPr/>
        </p:nvSpPr>
        <p:spPr>
          <a:xfrm>
            <a:off x="3389226" y="1536192"/>
            <a:ext cx="5410498" cy="2779776"/>
          </a:xfrm>
          <a:prstGeom prst="rect">
            <a:avLst/>
          </a:prstGeom>
          <a:solidFill>
            <a:srgbClr val="23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de_control_dias.png"/>
          <p:cNvPicPr>
            <a:picLocks noChangeAspect="1"/>
          </p:cNvPicPr>
          <p:nvPr/>
        </p:nvPicPr>
        <p:blipFill>
          <a:blip r:embed="rId2"/>
          <a:stretch>
            <a:fillRect/>
          </a:stretch>
        </p:blipFill>
        <p:spPr>
          <a:xfrm>
            <a:off x="3407514" y="1554480"/>
            <a:ext cx="5373922" cy="2743200"/>
          </a:xfrm>
          <a:prstGeom prst="rect">
            <a:avLst/>
          </a:prstGeom>
        </p:spPr>
      </p:pic>
      <p:sp>
        <p:nvSpPr>
          <p:cNvPr id="8" name="TextBox 7"/>
          <p:cNvSpPr txBox="1"/>
          <p:nvPr/>
        </p:nvSpPr>
        <p:spPr>
          <a:xfrm>
            <a:off x="685800" y="4526280"/>
            <a:ext cx="2743200" cy="274320"/>
          </a:xfrm>
          <a:prstGeom prst="rect">
            <a:avLst/>
          </a:prstGeom>
          <a:noFill/>
        </p:spPr>
        <p:txBody>
          <a:bodyPr wrap="square" lIns="0" rIns="0" tIns="0" bIns="0">
            <a:spAutoFit/>
          </a:bodyPr>
          <a:lstStyle/>
          <a:p>
            <a:pPr algn="l"/>
            <a:r>
              <a:rPr sz="950" b="0" i="0">
                <a:solidFill>
                  <a:srgbClr val="6F7787"/>
                </a:solidFill>
                <a:latin typeface="Consolas"/>
              </a:rPr>
              <a:t>TIPO</a:t>
            </a:r>
          </a:p>
        </p:txBody>
      </p:sp>
      <p:sp>
        <p:nvSpPr>
          <p:cNvPr id="9" name="TextBox 8"/>
          <p:cNvSpPr txBox="1"/>
          <p:nvPr/>
        </p:nvSpPr>
        <p:spPr>
          <a:xfrm>
            <a:off x="3429000" y="4526280"/>
            <a:ext cx="1645920" cy="274320"/>
          </a:xfrm>
          <a:prstGeom prst="rect">
            <a:avLst/>
          </a:prstGeom>
          <a:noFill/>
        </p:spPr>
        <p:txBody>
          <a:bodyPr wrap="square" lIns="0" rIns="0" tIns="0" bIns="0">
            <a:spAutoFit/>
          </a:bodyPr>
          <a:lstStyle/>
          <a:p>
            <a:pPr algn="r"/>
            <a:r>
              <a:rPr sz="950" b="0" i="0">
                <a:solidFill>
                  <a:srgbClr val="6F7787"/>
                </a:solidFill>
                <a:latin typeface="Consolas"/>
              </a:rPr>
              <a:t>EPS (WH)</a:t>
            </a:r>
          </a:p>
        </p:txBody>
      </p:sp>
      <p:sp>
        <p:nvSpPr>
          <p:cNvPr id="10" name="TextBox 9"/>
          <p:cNvSpPr txBox="1"/>
          <p:nvPr/>
        </p:nvSpPr>
        <p:spPr>
          <a:xfrm>
            <a:off x="5074920" y="4526280"/>
            <a:ext cx="2103120" cy="274320"/>
          </a:xfrm>
          <a:prstGeom prst="rect">
            <a:avLst/>
          </a:prstGeom>
          <a:noFill/>
        </p:spPr>
        <p:txBody>
          <a:bodyPr wrap="square" lIns="0" rIns="0" tIns="0" bIns="0">
            <a:spAutoFit/>
          </a:bodyPr>
          <a:lstStyle/>
          <a:p>
            <a:pPr algn="r"/>
            <a:r>
              <a:rPr sz="950" b="0" i="0">
                <a:solidFill>
                  <a:srgbClr val="6F7787"/>
                </a:solidFill>
                <a:latin typeface="Consolas"/>
              </a:rPr>
              <a:t>RUIDO ENE–ABR</a:t>
            </a:r>
          </a:p>
        </p:txBody>
      </p:sp>
      <p:sp>
        <p:nvSpPr>
          <p:cNvPr id="11" name="TextBox 10"/>
          <p:cNvSpPr txBox="1"/>
          <p:nvPr/>
        </p:nvSpPr>
        <p:spPr>
          <a:xfrm>
            <a:off x="7178040" y="4526280"/>
            <a:ext cx="1947672" cy="274320"/>
          </a:xfrm>
          <a:prstGeom prst="rect">
            <a:avLst/>
          </a:prstGeom>
          <a:noFill/>
        </p:spPr>
        <p:txBody>
          <a:bodyPr wrap="square" lIns="0" rIns="0" tIns="0" bIns="0">
            <a:spAutoFit/>
          </a:bodyPr>
          <a:lstStyle/>
          <a:p>
            <a:pPr algn="r"/>
            <a:r>
              <a:rPr sz="950" b="0" i="0">
                <a:solidFill>
                  <a:srgbClr val="6F7787"/>
                </a:solidFill>
                <a:latin typeface="Consolas"/>
              </a:rPr>
              <a:t>DÍAS DE MAYO</a:t>
            </a:r>
          </a:p>
        </p:txBody>
      </p:sp>
      <p:sp>
        <p:nvSpPr>
          <p:cNvPr id="12" name="TextBox 11"/>
          <p:cNvSpPr txBox="1"/>
          <p:nvPr/>
        </p:nvSpPr>
        <p:spPr>
          <a:xfrm>
            <a:off x="9125712" y="4526280"/>
            <a:ext cx="2377440" cy="274320"/>
          </a:xfrm>
          <a:prstGeom prst="rect">
            <a:avLst/>
          </a:prstGeom>
          <a:noFill/>
        </p:spPr>
        <p:txBody>
          <a:bodyPr wrap="square" lIns="0" rIns="0" tIns="0" bIns="0">
            <a:spAutoFit/>
          </a:bodyPr>
          <a:lstStyle/>
          <a:p>
            <a:pPr algn="r"/>
            <a:r>
              <a:rPr sz="950" b="0" i="0">
                <a:solidFill>
                  <a:srgbClr val="6F7787"/>
                </a:solidFill>
                <a:latin typeface="Consolas"/>
              </a:rPr>
              <a:t>DESCONOCIDOS</a:t>
            </a:r>
          </a:p>
        </p:txBody>
      </p:sp>
      <p:sp>
        <p:nvSpPr>
          <p:cNvPr id="13" name="Rectangle 12"/>
          <p:cNvSpPr/>
          <p:nvPr/>
        </p:nvSpPr>
        <p:spPr>
          <a:xfrm>
            <a:off x="685800" y="4800600"/>
            <a:ext cx="10817352" cy="9144"/>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837176"/>
            <a:ext cx="2651760" cy="329184"/>
          </a:xfrm>
          <a:prstGeom prst="rect">
            <a:avLst/>
          </a:prstGeom>
          <a:noFill/>
        </p:spPr>
        <p:txBody>
          <a:bodyPr wrap="square" lIns="0" rIns="0" tIns="0" bIns="0" anchor="ctr">
            <a:spAutoFit/>
          </a:bodyPr>
          <a:lstStyle/>
          <a:p>
            <a:pPr algn="l"/>
            <a:r>
              <a:rPr sz="1250" b="0" i="0">
                <a:solidFill>
                  <a:srgbClr val="C9D1DE"/>
                </a:solidFill>
                <a:latin typeface="Segoe UI"/>
              </a:rPr>
              <a:t>día normal</a:t>
            </a:r>
          </a:p>
        </p:txBody>
      </p:sp>
      <p:sp>
        <p:nvSpPr>
          <p:cNvPr id="15" name="TextBox 14"/>
          <p:cNvSpPr txBox="1"/>
          <p:nvPr/>
        </p:nvSpPr>
        <p:spPr>
          <a:xfrm>
            <a:off x="3429000" y="4837176"/>
            <a:ext cx="1645920" cy="329184"/>
          </a:xfrm>
          <a:prstGeom prst="rect">
            <a:avLst/>
          </a:prstGeom>
          <a:noFill/>
        </p:spPr>
        <p:txBody>
          <a:bodyPr wrap="square" lIns="0" rIns="0" tIns="0" bIns="0" anchor="ctr">
            <a:spAutoFit/>
          </a:bodyPr>
          <a:lstStyle/>
          <a:p>
            <a:pPr algn="r"/>
            <a:r>
              <a:rPr sz="1250" b="0" i="0">
                <a:solidFill>
                  <a:srgbClr val="C9D1DE"/>
                </a:solidFill>
                <a:latin typeface="Consolas"/>
              </a:rPr>
              <a:t>223,8</a:t>
            </a:r>
          </a:p>
        </p:txBody>
      </p:sp>
      <p:sp>
        <p:nvSpPr>
          <p:cNvPr id="16" name="TextBox 15"/>
          <p:cNvSpPr txBox="1"/>
          <p:nvPr/>
        </p:nvSpPr>
        <p:spPr>
          <a:xfrm>
            <a:off x="5074920" y="4837176"/>
            <a:ext cx="2103120" cy="329184"/>
          </a:xfrm>
          <a:prstGeom prst="rect">
            <a:avLst/>
          </a:prstGeom>
          <a:noFill/>
        </p:spPr>
        <p:txBody>
          <a:bodyPr wrap="square" lIns="0" rIns="0" tIns="0" bIns="0" anchor="ctr">
            <a:spAutoFit/>
          </a:bodyPr>
          <a:lstStyle/>
          <a:p>
            <a:pPr algn="r"/>
            <a:r>
              <a:rPr sz="1250" b="0" i="0">
                <a:solidFill>
                  <a:srgbClr val="C9D1DE"/>
                </a:solidFill>
                <a:latin typeface="Consolas"/>
              </a:rPr>
              <a:t>24,7 %</a:t>
            </a:r>
          </a:p>
        </p:txBody>
      </p:sp>
      <p:sp>
        <p:nvSpPr>
          <p:cNvPr id="17" name="TextBox 16"/>
          <p:cNvSpPr txBox="1"/>
          <p:nvPr/>
        </p:nvSpPr>
        <p:spPr>
          <a:xfrm>
            <a:off x="7178040" y="4837176"/>
            <a:ext cx="1947672" cy="329184"/>
          </a:xfrm>
          <a:prstGeom prst="rect">
            <a:avLst/>
          </a:prstGeom>
          <a:noFill/>
        </p:spPr>
        <p:txBody>
          <a:bodyPr wrap="square" lIns="0" rIns="0" tIns="0" bIns="0" anchor="ctr">
            <a:spAutoFit/>
          </a:bodyPr>
          <a:lstStyle/>
          <a:p>
            <a:pPr algn="r"/>
            <a:r>
              <a:rPr sz="1250" b="0" i="0">
                <a:solidFill>
                  <a:srgbClr val="C9D1DE"/>
                </a:solidFill>
                <a:latin typeface="Consolas"/>
              </a:rPr>
              <a:t>23</a:t>
            </a:r>
          </a:p>
        </p:txBody>
      </p:sp>
      <p:sp>
        <p:nvSpPr>
          <p:cNvPr id="18" name="TextBox 17"/>
          <p:cNvSpPr txBox="1"/>
          <p:nvPr/>
        </p:nvSpPr>
        <p:spPr>
          <a:xfrm>
            <a:off x="9125712" y="4837176"/>
            <a:ext cx="2377440" cy="329184"/>
          </a:xfrm>
          <a:prstGeom prst="rect">
            <a:avLst/>
          </a:prstGeom>
          <a:noFill/>
        </p:spPr>
        <p:txBody>
          <a:bodyPr wrap="square" lIns="0" rIns="0" tIns="0" bIns="0" anchor="ctr">
            <a:spAutoFit/>
          </a:bodyPr>
          <a:lstStyle/>
          <a:p>
            <a:pPr algn="r"/>
            <a:r>
              <a:rPr sz="1250" b="0" i="0">
                <a:solidFill>
                  <a:srgbClr val="C9D1DE"/>
                </a:solidFill>
                <a:latin typeface="Consolas"/>
              </a:rPr>
              <a:t>2</a:t>
            </a:r>
          </a:p>
        </p:txBody>
      </p:sp>
      <p:sp>
        <p:nvSpPr>
          <p:cNvPr id="19" name="TextBox 18"/>
          <p:cNvSpPr txBox="1"/>
          <p:nvPr/>
        </p:nvSpPr>
        <p:spPr>
          <a:xfrm>
            <a:off x="777240" y="5202936"/>
            <a:ext cx="2651760" cy="329184"/>
          </a:xfrm>
          <a:prstGeom prst="rect">
            <a:avLst/>
          </a:prstGeom>
          <a:noFill/>
        </p:spPr>
        <p:txBody>
          <a:bodyPr wrap="square" lIns="0" rIns="0" tIns="0" bIns="0" anchor="ctr">
            <a:spAutoFit/>
          </a:bodyPr>
          <a:lstStyle/>
          <a:p>
            <a:pPr algn="l"/>
            <a:r>
              <a:rPr sz="1250" b="0" i="0">
                <a:solidFill>
                  <a:srgbClr val="C9D1DE"/>
                </a:solidFill>
                <a:latin typeface="Segoe UI"/>
              </a:rPr>
              <a:t>día de carga alta</a:t>
            </a:r>
          </a:p>
        </p:txBody>
      </p:sp>
      <p:sp>
        <p:nvSpPr>
          <p:cNvPr id="20" name="TextBox 19"/>
          <p:cNvSpPr txBox="1"/>
          <p:nvPr/>
        </p:nvSpPr>
        <p:spPr>
          <a:xfrm>
            <a:off x="3429000" y="5202936"/>
            <a:ext cx="1645920" cy="329184"/>
          </a:xfrm>
          <a:prstGeom prst="rect">
            <a:avLst/>
          </a:prstGeom>
          <a:noFill/>
        </p:spPr>
        <p:txBody>
          <a:bodyPr wrap="square" lIns="0" rIns="0" tIns="0" bIns="0" anchor="ctr">
            <a:spAutoFit/>
          </a:bodyPr>
          <a:lstStyle/>
          <a:p>
            <a:pPr algn="r"/>
            <a:r>
              <a:rPr sz="1250" b="0" i="0">
                <a:solidFill>
                  <a:srgbClr val="C9D1DE"/>
                </a:solidFill>
                <a:latin typeface="Consolas"/>
              </a:rPr>
              <a:t>462,1</a:t>
            </a:r>
          </a:p>
        </p:txBody>
      </p:sp>
      <p:sp>
        <p:nvSpPr>
          <p:cNvPr id="21" name="TextBox 20"/>
          <p:cNvSpPr txBox="1"/>
          <p:nvPr/>
        </p:nvSpPr>
        <p:spPr>
          <a:xfrm>
            <a:off x="5074920" y="5202936"/>
            <a:ext cx="2103120" cy="329184"/>
          </a:xfrm>
          <a:prstGeom prst="rect">
            <a:avLst/>
          </a:prstGeom>
          <a:noFill/>
        </p:spPr>
        <p:txBody>
          <a:bodyPr wrap="square" lIns="0" rIns="0" tIns="0" bIns="0" anchor="ctr">
            <a:spAutoFit/>
          </a:bodyPr>
          <a:lstStyle/>
          <a:p>
            <a:pPr algn="r"/>
            <a:r>
              <a:rPr sz="1250" b="0" i="0">
                <a:solidFill>
                  <a:srgbClr val="C9D1DE"/>
                </a:solidFill>
                <a:latin typeface="Consolas"/>
              </a:rPr>
              <a:t>16,0 %</a:t>
            </a:r>
          </a:p>
        </p:txBody>
      </p:sp>
      <p:sp>
        <p:nvSpPr>
          <p:cNvPr id="22" name="TextBox 21"/>
          <p:cNvSpPr txBox="1"/>
          <p:nvPr/>
        </p:nvSpPr>
        <p:spPr>
          <a:xfrm>
            <a:off x="7178040" y="5202936"/>
            <a:ext cx="1947672" cy="329184"/>
          </a:xfrm>
          <a:prstGeom prst="rect">
            <a:avLst/>
          </a:prstGeom>
          <a:noFill/>
        </p:spPr>
        <p:txBody>
          <a:bodyPr wrap="square" lIns="0" rIns="0" tIns="0" bIns="0" anchor="ctr">
            <a:spAutoFit/>
          </a:bodyPr>
          <a:lstStyle/>
          <a:p>
            <a:pPr algn="r"/>
            <a:r>
              <a:rPr sz="1250" b="0" i="0">
                <a:solidFill>
                  <a:srgbClr val="C9D1DE"/>
                </a:solidFill>
                <a:latin typeface="Consolas"/>
              </a:rPr>
              <a:t>3</a:t>
            </a:r>
          </a:p>
        </p:txBody>
      </p:sp>
      <p:sp>
        <p:nvSpPr>
          <p:cNvPr id="23" name="TextBox 22"/>
          <p:cNvSpPr txBox="1"/>
          <p:nvPr/>
        </p:nvSpPr>
        <p:spPr>
          <a:xfrm>
            <a:off x="9125712" y="5202936"/>
            <a:ext cx="2377440" cy="329184"/>
          </a:xfrm>
          <a:prstGeom prst="rect">
            <a:avLst/>
          </a:prstGeom>
          <a:noFill/>
        </p:spPr>
        <p:txBody>
          <a:bodyPr wrap="square" lIns="0" rIns="0" tIns="0" bIns="0" anchor="ctr">
            <a:spAutoFit/>
          </a:bodyPr>
          <a:lstStyle/>
          <a:p>
            <a:pPr algn="r"/>
            <a:r>
              <a:rPr sz="1250" b="0" i="0">
                <a:solidFill>
                  <a:srgbClr val="C9D1DE"/>
                </a:solidFill>
                <a:latin typeface="Consolas"/>
              </a:rPr>
              <a:t>0</a:t>
            </a:r>
          </a:p>
        </p:txBody>
      </p:sp>
      <p:sp>
        <p:nvSpPr>
          <p:cNvPr id="24" name="Rectangle 23"/>
          <p:cNvSpPr/>
          <p:nvPr/>
        </p:nvSpPr>
        <p:spPr>
          <a:xfrm>
            <a:off x="685800" y="5623560"/>
            <a:ext cx="10817352" cy="6858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85800" y="5623560"/>
            <a:ext cx="54864" cy="685800"/>
          </a:xfrm>
          <a:prstGeom prst="rect">
            <a:avLst/>
          </a:prstGeom>
          <a:solidFill>
            <a:srgbClr val="7BD9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2" y="5788152"/>
            <a:ext cx="10360152" cy="411480"/>
          </a:xfrm>
          <a:prstGeom prst="rect">
            <a:avLst/>
          </a:prstGeom>
          <a:noFill/>
        </p:spPr>
        <p:txBody>
          <a:bodyPr wrap="square" lIns="0" rIns="0" tIns="0" bIns="0">
            <a:spAutoFit/>
          </a:bodyPr>
          <a:lstStyle/>
          <a:p>
            <a:pPr algn="l">
              <a:lnSpc>
                <a:spcPct val="110000"/>
              </a:lnSpc>
            </a:pPr>
            <a:r>
              <a:rPr sz="1150" b="1" i="0">
                <a:solidFill>
                  <a:srgbClr val="E6E9EF"/>
                </a:solidFill>
                <a:latin typeface="Segoe UI"/>
              </a:rPr>
              <a:t>Los dos días desconocidos de mayo.</a:t>
            </a:r>
            <a:r>
              <a:rPr sz="1150" b="0" i="0">
                <a:solidFill>
                  <a:srgbClr val="C9D1DE"/>
                </a:solidFill>
                <a:latin typeface="Segoe UI"/>
              </a:rPr>
              <a:t> Viernes 6 y domingo 22, ambos de tipo normal: ningún día núcleo de su tipo, ajustado solo con enero–abril, queda a menos de eps. «Día desconocido» es una señal barata para que la política se vuelva conservadora.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PARTE B · EL DITHERING, EN NÚMEROS</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Tres versiones de la misma celda: qué cambia con la corrección</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4 · DBSCAN</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13</a:t>
            </a:r>
          </a:p>
        </p:txBody>
      </p:sp>
      <p:sp>
        <p:nvSpPr>
          <p:cNvPr id="6" name="TextBox 5"/>
          <p:cNvSpPr txBox="1"/>
          <p:nvPr/>
        </p:nvSpPr>
        <p:spPr>
          <a:xfrm>
            <a:off x="685800" y="1920240"/>
            <a:ext cx="2743200" cy="274320"/>
          </a:xfrm>
          <a:prstGeom prst="rect">
            <a:avLst/>
          </a:prstGeom>
          <a:noFill/>
        </p:spPr>
        <p:txBody>
          <a:bodyPr wrap="square" lIns="0" rIns="0" tIns="0" bIns="0">
            <a:spAutoFit/>
          </a:bodyPr>
          <a:lstStyle/>
          <a:p>
            <a:pPr algn="l"/>
            <a:r>
              <a:rPr sz="950" b="0" i="0">
                <a:solidFill>
                  <a:srgbClr val="6F7787"/>
                </a:solidFill>
                <a:latin typeface="Consolas"/>
              </a:rPr>
              <a:t>VERSIÓN</a:t>
            </a:r>
          </a:p>
        </p:txBody>
      </p:sp>
      <p:sp>
        <p:nvSpPr>
          <p:cNvPr id="7" name="TextBox 6"/>
          <p:cNvSpPr txBox="1"/>
          <p:nvPr/>
        </p:nvSpPr>
        <p:spPr>
          <a:xfrm>
            <a:off x="3429000" y="1920240"/>
            <a:ext cx="1097280" cy="274320"/>
          </a:xfrm>
          <a:prstGeom prst="rect">
            <a:avLst/>
          </a:prstGeom>
          <a:noFill/>
        </p:spPr>
        <p:txBody>
          <a:bodyPr wrap="square" lIns="0" rIns="0" tIns="0" bIns="0">
            <a:spAutoFit/>
          </a:bodyPr>
          <a:lstStyle/>
          <a:p>
            <a:pPr algn="r"/>
            <a:r>
              <a:rPr sz="950" b="0" i="0">
                <a:solidFill>
                  <a:srgbClr val="6F7787"/>
                </a:solidFill>
                <a:latin typeface="Consolas"/>
              </a:rPr>
              <a:t>CLÚSTERS</a:t>
            </a:r>
          </a:p>
        </p:txBody>
      </p:sp>
      <p:sp>
        <p:nvSpPr>
          <p:cNvPr id="8" name="TextBox 7"/>
          <p:cNvSpPr txBox="1"/>
          <p:nvPr/>
        </p:nvSpPr>
        <p:spPr>
          <a:xfrm>
            <a:off x="4526280" y="1920240"/>
            <a:ext cx="2651760" cy="274320"/>
          </a:xfrm>
          <a:prstGeom prst="rect">
            <a:avLst/>
          </a:prstGeom>
          <a:noFill/>
        </p:spPr>
        <p:txBody>
          <a:bodyPr wrap="square" lIns="0" rIns="0" tIns="0" bIns="0">
            <a:spAutoFit/>
          </a:bodyPr>
          <a:lstStyle/>
          <a:p>
            <a:pPr algn="r"/>
            <a:r>
              <a:rPr sz="950" b="0" i="0">
                <a:solidFill>
                  <a:srgbClr val="6F7787"/>
                </a:solidFill>
                <a:latin typeface="Consolas"/>
              </a:rPr>
              <a:t>TAMAÑOS MAYORES</a:t>
            </a:r>
          </a:p>
        </p:txBody>
      </p:sp>
      <p:sp>
        <p:nvSpPr>
          <p:cNvPr id="9" name="TextBox 8"/>
          <p:cNvSpPr txBox="1"/>
          <p:nvPr/>
        </p:nvSpPr>
        <p:spPr>
          <a:xfrm>
            <a:off x="7178040" y="1920240"/>
            <a:ext cx="1051560" cy="274320"/>
          </a:xfrm>
          <a:prstGeom prst="rect">
            <a:avLst/>
          </a:prstGeom>
          <a:noFill/>
        </p:spPr>
        <p:txBody>
          <a:bodyPr wrap="square" lIns="0" rIns="0" tIns="0" bIns="0">
            <a:spAutoFit/>
          </a:bodyPr>
          <a:lstStyle/>
          <a:p>
            <a:pPr algn="r"/>
            <a:r>
              <a:rPr sz="950" b="0" i="0">
                <a:solidFill>
                  <a:srgbClr val="6F7787"/>
                </a:solidFill>
                <a:latin typeface="Consolas"/>
              </a:rPr>
              <a:t>RUIDO</a:t>
            </a:r>
          </a:p>
        </p:txBody>
      </p:sp>
      <p:sp>
        <p:nvSpPr>
          <p:cNvPr id="10" name="TextBox 9"/>
          <p:cNvSpPr txBox="1"/>
          <p:nvPr/>
        </p:nvSpPr>
        <p:spPr>
          <a:xfrm>
            <a:off x="8229600" y="1920240"/>
            <a:ext cx="1600200" cy="274320"/>
          </a:xfrm>
          <a:prstGeom prst="rect">
            <a:avLst/>
          </a:prstGeom>
          <a:noFill/>
        </p:spPr>
        <p:txBody>
          <a:bodyPr wrap="square" lIns="0" rIns="0" tIns="0" bIns="0">
            <a:spAutoFit/>
          </a:bodyPr>
          <a:lstStyle/>
          <a:p>
            <a:pPr algn="r"/>
            <a:r>
              <a:rPr sz="950" b="0" i="0">
                <a:solidFill>
                  <a:srgbClr val="6F7787"/>
                </a:solidFill>
                <a:latin typeface="Consolas"/>
              </a:rPr>
              <a:t>RUIDO SOBRE 200 WH</a:t>
            </a:r>
          </a:p>
        </p:txBody>
      </p:sp>
      <p:sp>
        <p:nvSpPr>
          <p:cNvPr id="11" name="TextBox 10"/>
          <p:cNvSpPr txBox="1"/>
          <p:nvPr/>
        </p:nvSpPr>
        <p:spPr>
          <a:xfrm>
            <a:off x="9829800" y="1920240"/>
            <a:ext cx="1673352" cy="274320"/>
          </a:xfrm>
          <a:prstGeom prst="rect">
            <a:avLst/>
          </a:prstGeom>
          <a:noFill/>
        </p:spPr>
        <p:txBody>
          <a:bodyPr wrap="square" lIns="0" rIns="0" tIns="0" bIns="0">
            <a:spAutoFit/>
          </a:bodyPr>
          <a:lstStyle/>
          <a:p>
            <a:pPr algn="r"/>
            <a:r>
              <a:rPr sz="950" b="0" i="0">
                <a:solidFill>
                  <a:srgbClr val="6F7787"/>
                </a:solidFill>
                <a:latin typeface="Consolas"/>
              </a:rPr>
              <a:t>LECTURAS &gt;200 WH MARCADAS</a:t>
            </a:r>
          </a:p>
        </p:txBody>
      </p:sp>
      <p:sp>
        <p:nvSpPr>
          <p:cNvPr id="12" name="Rectangle 11"/>
          <p:cNvSpPr/>
          <p:nvPr/>
        </p:nvSpPr>
        <p:spPr>
          <a:xfrm>
            <a:off x="685800" y="2249424"/>
            <a:ext cx="10817352" cy="9144"/>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86000"/>
            <a:ext cx="2651760" cy="420624"/>
          </a:xfrm>
          <a:prstGeom prst="rect">
            <a:avLst/>
          </a:prstGeom>
          <a:noFill/>
        </p:spPr>
        <p:txBody>
          <a:bodyPr wrap="square" lIns="0" rIns="0" tIns="0" bIns="0" anchor="ctr">
            <a:spAutoFit/>
          </a:bodyPr>
          <a:lstStyle/>
          <a:p>
            <a:pPr algn="l"/>
            <a:r>
              <a:rPr sz="1250" b="0" i="0">
                <a:solidFill>
                  <a:srgbClr val="C9D1DE"/>
                </a:solidFill>
                <a:latin typeface="Segoe UI"/>
              </a:rPr>
              <a:t>Sin corregir (log1p)</a:t>
            </a:r>
          </a:p>
        </p:txBody>
      </p:sp>
      <p:sp>
        <p:nvSpPr>
          <p:cNvPr id="14" name="TextBox 13"/>
          <p:cNvSpPr txBox="1"/>
          <p:nvPr/>
        </p:nvSpPr>
        <p:spPr>
          <a:xfrm>
            <a:off x="3429000" y="2286000"/>
            <a:ext cx="1097280" cy="420624"/>
          </a:xfrm>
          <a:prstGeom prst="rect">
            <a:avLst/>
          </a:prstGeom>
          <a:noFill/>
        </p:spPr>
        <p:txBody>
          <a:bodyPr wrap="square" lIns="0" rIns="0" tIns="0" bIns="0" anchor="ctr">
            <a:spAutoFit/>
          </a:bodyPr>
          <a:lstStyle/>
          <a:p>
            <a:pPr algn="r"/>
            <a:r>
              <a:rPr sz="1250" b="0" i="0">
                <a:solidFill>
                  <a:srgbClr val="C9D1DE"/>
                </a:solidFill>
                <a:latin typeface="Consolas"/>
              </a:rPr>
              <a:t>14</a:t>
            </a:r>
          </a:p>
        </p:txBody>
      </p:sp>
      <p:sp>
        <p:nvSpPr>
          <p:cNvPr id="15" name="TextBox 14"/>
          <p:cNvSpPr txBox="1"/>
          <p:nvPr/>
        </p:nvSpPr>
        <p:spPr>
          <a:xfrm>
            <a:off x="4526280" y="2286000"/>
            <a:ext cx="2651760" cy="420624"/>
          </a:xfrm>
          <a:prstGeom prst="rect">
            <a:avLst/>
          </a:prstGeom>
          <a:noFill/>
        </p:spPr>
        <p:txBody>
          <a:bodyPr wrap="square" lIns="0" rIns="0" tIns="0" bIns="0" anchor="ctr">
            <a:spAutoFit/>
          </a:bodyPr>
          <a:lstStyle/>
          <a:p>
            <a:pPr algn="r"/>
            <a:r>
              <a:rPr sz="1250" b="0" i="0">
                <a:solidFill>
                  <a:srgbClr val="C9D1DE"/>
                </a:solidFill>
                <a:latin typeface="Consolas"/>
              </a:rPr>
              <a:t>13.830 / 336 / 327</a:t>
            </a:r>
          </a:p>
        </p:txBody>
      </p:sp>
      <p:sp>
        <p:nvSpPr>
          <p:cNvPr id="16" name="TextBox 15"/>
          <p:cNvSpPr txBox="1"/>
          <p:nvPr/>
        </p:nvSpPr>
        <p:spPr>
          <a:xfrm>
            <a:off x="7178040" y="2286000"/>
            <a:ext cx="1051560" cy="420624"/>
          </a:xfrm>
          <a:prstGeom prst="rect">
            <a:avLst/>
          </a:prstGeom>
          <a:noFill/>
        </p:spPr>
        <p:txBody>
          <a:bodyPr wrap="square" lIns="0" rIns="0" tIns="0" bIns="0" anchor="ctr">
            <a:spAutoFit/>
          </a:bodyPr>
          <a:lstStyle/>
          <a:p>
            <a:pPr algn="r"/>
            <a:r>
              <a:rPr sz="1250" b="0" i="0">
                <a:solidFill>
                  <a:srgbClr val="C9D1DE"/>
                </a:solidFill>
                <a:latin typeface="Consolas"/>
              </a:rPr>
              <a:t>3,4 %</a:t>
            </a:r>
          </a:p>
        </p:txBody>
      </p:sp>
      <p:sp>
        <p:nvSpPr>
          <p:cNvPr id="17" name="TextBox 16"/>
          <p:cNvSpPr txBox="1"/>
          <p:nvPr/>
        </p:nvSpPr>
        <p:spPr>
          <a:xfrm>
            <a:off x="8229600" y="2286000"/>
            <a:ext cx="1600200" cy="420624"/>
          </a:xfrm>
          <a:prstGeom prst="rect">
            <a:avLst/>
          </a:prstGeom>
          <a:noFill/>
        </p:spPr>
        <p:txBody>
          <a:bodyPr wrap="square" lIns="0" rIns="0" tIns="0" bIns="0" anchor="ctr">
            <a:spAutoFit/>
          </a:bodyPr>
          <a:lstStyle/>
          <a:p>
            <a:pPr algn="r"/>
            <a:r>
              <a:rPr sz="1250" b="0" i="0">
                <a:solidFill>
                  <a:srgbClr val="C9D1DE"/>
                </a:solidFill>
                <a:latin typeface="Consolas"/>
              </a:rPr>
              <a:t>—</a:t>
            </a:r>
          </a:p>
        </p:txBody>
      </p:sp>
      <p:sp>
        <p:nvSpPr>
          <p:cNvPr id="18" name="TextBox 17"/>
          <p:cNvSpPr txBox="1"/>
          <p:nvPr/>
        </p:nvSpPr>
        <p:spPr>
          <a:xfrm>
            <a:off x="9829800" y="2286000"/>
            <a:ext cx="1673352" cy="420624"/>
          </a:xfrm>
          <a:prstGeom prst="rect">
            <a:avLst/>
          </a:prstGeom>
          <a:noFill/>
        </p:spPr>
        <p:txBody>
          <a:bodyPr wrap="square" lIns="0" rIns="0" tIns="0" bIns="0" anchor="ctr">
            <a:spAutoFit/>
          </a:bodyPr>
          <a:lstStyle/>
          <a:p>
            <a:pPr algn="r"/>
            <a:r>
              <a:rPr sz="1250" b="0" i="0">
                <a:solidFill>
                  <a:srgbClr val="C9D1DE"/>
                </a:solidFill>
                <a:latin typeface="Consolas"/>
              </a:rPr>
              <a:t>—</a:t>
            </a:r>
          </a:p>
        </p:txBody>
      </p:sp>
      <p:sp>
        <p:nvSpPr>
          <p:cNvPr id="19" name="Rectangle 18"/>
          <p:cNvSpPr/>
          <p:nvPr/>
        </p:nvSpPr>
        <p:spPr>
          <a:xfrm>
            <a:off x="685800" y="2743200"/>
            <a:ext cx="10817352" cy="420624"/>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2743200"/>
            <a:ext cx="2651760" cy="420624"/>
          </a:xfrm>
          <a:prstGeom prst="rect">
            <a:avLst/>
          </a:prstGeom>
          <a:noFill/>
        </p:spPr>
        <p:txBody>
          <a:bodyPr wrap="square" lIns="0" rIns="0" tIns="0" bIns="0" anchor="ctr">
            <a:spAutoFit/>
          </a:bodyPr>
          <a:lstStyle/>
          <a:p>
            <a:pPr algn="l"/>
            <a:r>
              <a:rPr sz="1250" b="1" i="0">
                <a:solidFill>
                  <a:srgbClr val="E6E9EF"/>
                </a:solidFill>
                <a:latin typeface="Segoe UI"/>
              </a:rPr>
              <a:t>Dithering + log1p (elegida)</a:t>
            </a:r>
          </a:p>
        </p:txBody>
      </p:sp>
      <p:sp>
        <p:nvSpPr>
          <p:cNvPr id="21" name="TextBox 20"/>
          <p:cNvSpPr txBox="1"/>
          <p:nvPr/>
        </p:nvSpPr>
        <p:spPr>
          <a:xfrm>
            <a:off x="3429000" y="2743200"/>
            <a:ext cx="1097280" cy="420624"/>
          </a:xfrm>
          <a:prstGeom prst="rect">
            <a:avLst/>
          </a:prstGeom>
          <a:noFill/>
        </p:spPr>
        <p:txBody>
          <a:bodyPr wrap="square" lIns="0" rIns="0" tIns="0" bIns="0" anchor="ctr">
            <a:spAutoFit/>
          </a:bodyPr>
          <a:lstStyle/>
          <a:p>
            <a:pPr algn="r"/>
            <a:r>
              <a:rPr sz="1250" b="1" i="0">
                <a:solidFill>
                  <a:srgbClr val="E6E9EF"/>
                </a:solidFill>
                <a:latin typeface="Consolas"/>
              </a:rPr>
              <a:t>7</a:t>
            </a:r>
          </a:p>
        </p:txBody>
      </p:sp>
      <p:sp>
        <p:nvSpPr>
          <p:cNvPr id="22" name="TextBox 21"/>
          <p:cNvSpPr txBox="1"/>
          <p:nvPr/>
        </p:nvSpPr>
        <p:spPr>
          <a:xfrm>
            <a:off x="4526280" y="2743200"/>
            <a:ext cx="2651760" cy="420624"/>
          </a:xfrm>
          <a:prstGeom prst="rect">
            <a:avLst/>
          </a:prstGeom>
          <a:noFill/>
        </p:spPr>
        <p:txBody>
          <a:bodyPr wrap="square" lIns="0" rIns="0" tIns="0" bIns="0" anchor="ctr">
            <a:spAutoFit/>
          </a:bodyPr>
          <a:lstStyle/>
          <a:p>
            <a:pPr algn="r"/>
            <a:r>
              <a:rPr sz="1250" b="1" i="0">
                <a:solidFill>
                  <a:srgbClr val="E6E9EF"/>
                </a:solidFill>
                <a:latin typeface="Consolas"/>
              </a:rPr>
              <a:t>15.114 / 40 / 17</a:t>
            </a:r>
          </a:p>
        </p:txBody>
      </p:sp>
      <p:sp>
        <p:nvSpPr>
          <p:cNvPr id="23" name="TextBox 22"/>
          <p:cNvSpPr txBox="1"/>
          <p:nvPr/>
        </p:nvSpPr>
        <p:spPr>
          <a:xfrm>
            <a:off x="7178040" y="2743200"/>
            <a:ext cx="1051560" cy="420624"/>
          </a:xfrm>
          <a:prstGeom prst="rect">
            <a:avLst/>
          </a:prstGeom>
          <a:noFill/>
        </p:spPr>
        <p:txBody>
          <a:bodyPr wrap="square" lIns="0" rIns="0" tIns="0" bIns="0" anchor="ctr">
            <a:spAutoFit/>
          </a:bodyPr>
          <a:lstStyle/>
          <a:p>
            <a:pPr algn="r"/>
            <a:r>
              <a:rPr sz="1250" b="1" i="0">
                <a:solidFill>
                  <a:srgbClr val="E6E9EF"/>
                </a:solidFill>
                <a:latin typeface="Consolas"/>
              </a:rPr>
              <a:t>4,2 %</a:t>
            </a:r>
          </a:p>
        </p:txBody>
      </p:sp>
      <p:sp>
        <p:nvSpPr>
          <p:cNvPr id="24" name="TextBox 23"/>
          <p:cNvSpPr txBox="1"/>
          <p:nvPr/>
        </p:nvSpPr>
        <p:spPr>
          <a:xfrm>
            <a:off x="8229600" y="2743200"/>
            <a:ext cx="1600200" cy="420624"/>
          </a:xfrm>
          <a:prstGeom prst="rect">
            <a:avLst/>
          </a:prstGeom>
          <a:noFill/>
        </p:spPr>
        <p:txBody>
          <a:bodyPr wrap="square" lIns="0" rIns="0" tIns="0" bIns="0" anchor="ctr">
            <a:spAutoFit/>
          </a:bodyPr>
          <a:lstStyle/>
          <a:p>
            <a:pPr algn="r"/>
            <a:r>
              <a:rPr sz="1250" b="1" i="0">
                <a:solidFill>
                  <a:srgbClr val="E6E9EF"/>
                </a:solidFill>
                <a:latin typeface="Consolas"/>
              </a:rPr>
              <a:t>47 %</a:t>
            </a:r>
          </a:p>
        </p:txBody>
      </p:sp>
      <p:sp>
        <p:nvSpPr>
          <p:cNvPr id="25" name="TextBox 24"/>
          <p:cNvSpPr txBox="1"/>
          <p:nvPr/>
        </p:nvSpPr>
        <p:spPr>
          <a:xfrm>
            <a:off x="9829800" y="2743200"/>
            <a:ext cx="1673352" cy="420624"/>
          </a:xfrm>
          <a:prstGeom prst="rect">
            <a:avLst/>
          </a:prstGeom>
          <a:noFill/>
        </p:spPr>
        <p:txBody>
          <a:bodyPr wrap="square" lIns="0" rIns="0" tIns="0" bIns="0" anchor="ctr">
            <a:spAutoFit/>
          </a:bodyPr>
          <a:lstStyle/>
          <a:p>
            <a:pPr algn="r"/>
            <a:r>
              <a:rPr sz="1250" b="1" i="0">
                <a:solidFill>
                  <a:srgbClr val="E6E9EF"/>
                </a:solidFill>
                <a:latin typeface="Consolas"/>
              </a:rPr>
              <a:t>19 %</a:t>
            </a:r>
          </a:p>
        </p:txBody>
      </p:sp>
      <p:sp>
        <p:nvSpPr>
          <p:cNvPr id="26" name="TextBox 25"/>
          <p:cNvSpPr txBox="1"/>
          <p:nvPr/>
        </p:nvSpPr>
        <p:spPr>
          <a:xfrm>
            <a:off x="777240" y="3200400"/>
            <a:ext cx="2651760" cy="420624"/>
          </a:xfrm>
          <a:prstGeom prst="rect">
            <a:avLst/>
          </a:prstGeom>
          <a:noFill/>
        </p:spPr>
        <p:txBody>
          <a:bodyPr wrap="square" lIns="0" rIns="0" tIns="0" bIns="0" anchor="ctr">
            <a:spAutoFit/>
          </a:bodyPr>
          <a:lstStyle/>
          <a:p>
            <a:pPr algn="l"/>
            <a:r>
              <a:rPr sz="1250" b="0" i="0">
                <a:solidFill>
                  <a:srgbClr val="C9D1DE"/>
                </a:solidFill>
                <a:latin typeface="Segoe UI"/>
              </a:rPr>
              <a:t>Dithering sin logaritmo</a:t>
            </a:r>
          </a:p>
        </p:txBody>
      </p:sp>
      <p:sp>
        <p:nvSpPr>
          <p:cNvPr id="27" name="TextBox 26"/>
          <p:cNvSpPr txBox="1"/>
          <p:nvPr/>
        </p:nvSpPr>
        <p:spPr>
          <a:xfrm>
            <a:off x="3429000" y="3200400"/>
            <a:ext cx="1097280" cy="420624"/>
          </a:xfrm>
          <a:prstGeom prst="rect">
            <a:avLst/>
          </a:prstGeom>
          <a:noFill/>
        </p:spPr>
        <p:txBody>
          <a:bodyPr wrap="square" lIns="0" rIns="0" tIns="0" bIns="0" anchor="ctr">
            <a:spAutoFit/>
          </a:bodyPr>
          <a:lstStyle/>
          <a:p>
            <a:pPr algn="r"/>
            <a:r>
              <a:rPr sz="1250" b="0" i="0">
                <a:solidFill>
                  <a:srgbClr val="C9D1DE"/>
                </a:solidFill>
                <a:latin typeface="Consolas"/>
              </a:rPr>
              <a:t>8</a:t>
            </a:r>
          </a:p>
        </p:txBody>
      </p:sp>
      <p:sp>
        <p:nvSpPr>
          <p:cNvPr id="28" name="TextBox 27"/>
          <p:cNvSpPr txBox="1"/>
          <p:nvPr/>
        </p:nvSpPr>
        <p:spPr>
          <a:xfrm>
            <a:off x="4526280" y="3200400"/>
            <a:ext cx="2651760" cy="420624"/>
          </a:xfrm>
          <a:prstGeom prst="rect">
            <a:avLst/>
          </a:prstGeom>
          <a:noFill/>
        </p:spPr>
        <p:txBody>
          <a:bodyPr wrap="square" lIns="0" rIns="0" tIns="0" bIns="0" anchor="ctr">
            <a:spAutoFit/>
          </a:bodyPr>
          <a:lstStyle/>
          <a:p>
            <a:pPr algn="r"/>
            <a:r>
              <a:rPr sz="1250" b="0" i="0">
                <a:solidFill>
                  <a:srgbClr val="C9D1DE"/>
                </a:solidFill>
                <a:latin typeface="Consolas"/>
              </a:rPr>
              <a:t>15.009 / 29 / 13</a:t>
            </a:r>
          </a:p>
        </p:txBody>
      </p:sp>
      <p:sp>
        <p:nvSpPr>
          <p:cNvPr id="29" name="TextBox 28"/>
          <p:cNvSpPr txBox="1"/>
          <p:nvPr/>
        </p:nvSpPr>
        <p:spPr>
          <a:xfrm>
            <a:off x="7178040" y="3200400"/>
            <a:ext cx="1051560" cy="420624"/>
          </a:xfrm>
          <a:prstGeom prst="rect">
            <a:avLst/>
          </a:prstGeom>
          <a:noFill/>
        </p:spPr>
        <p:txBody>
          <a:bodyPr wrap="square" lIns="0" rIns="0" tIns="0" bIns="0" anchor="ctr">
            <a:spAutoFit/>
          </a:bodyPr>
          <a:lstStyle/>
          <a:p>
            <a:pPr algn="r"/>
            <a:r>
              <a:rPr sz="1250" b="0" i="0">
                <a:solidFill>
                  <a:srgbClr val="C9D1DE"/>
                </a:solidFill>
                <a:latin typeface="Consolas"/>
              </a:rPr>
              <a:t>4,9 %</a:t>
            </a:r>
          </a:p>
        </p:txBody>
      </p:sp>
      <p:sp>
        <p:nvSpPr>
          <p:cNvPr id="30" name="TextBox 29"/>
          <p:cNvSpPr txBox="1"/>
          <p:nvPr/>
        </p:nvSpPr>
        <p:spPr>
          <a:xfrm>
            <a:off x="8229600" y="3200400"/>
            <a:ext cx="1600200" cy="420624"/>
          </a:xfrm>
          <a:prstGeom prst="rect">
            <a:avLst/>
          </a:prstGeom>
          <a:noFill/>
        </p:spPr>
        <p:txBody>
          <a:bodyPr wrap="square" lIns="0" rIns="0" tIns="0" bIns="0" anchor="ctr">
            <a:spAutoFit/>
          </a:bodyPr>
          <a:lstStyle/>
          <a:p>
            <a:pPr algn="r"/>
            <a:r>
              <a:rPr sz="1250" b="0" i="0">
                <a:solidFill>
                  <a:srgbClr val="C9D1DE"/>
                </a:solidFill>
                <a:latin typeface="Consolas"/>
              </a:rPr>
              <a:t>80 %</a:t>
            </a:r>
          </a:p>
        </p:txBody>
      </p:sp>
      <p:sp>
        <p:nvSpPr>
          <p:cNvPr id="31" name="TextBox 30"/>
          <p:cNvSpPr txBox="1"/>
          <p:nvPr/>
        </p:nvSpPr>
        <p:spPr>
          <a:xfrm>
            <a:off x="9829800" y="3200400"/>
            <a:ext cx="1673352" cy="420624"/>
          </a:xfrm>
          <a:prstGeom prst="rect">
            <a:avLst/>
          </a:prstGeom>
          <a:noFill/>
        </p:spPr>
        <p:txBody>
          <a:bodyPr wrap="square" lIns="0" rIns="0" tIns="0" bIns="0" anchor="ctr">
            <a:spAutoFit/>
          </a:bodyPr>
          <a:lstStyle/>
          <a:p>
            <a:pPr algn="r"/>
            <a:r>
              <a:rPr sz="1250" b="0" i="0">
                <a:solidFill>
                  <a:srgbClr val="C9D1DE"/>
                </a:solidFill>
                <a:latin typeface="Consolas"/>
              </a:rPr>
              <a:t>38 %</a:t>
            </a:r>
          </a:p>
        </p:txBody>
      </p:sp>
      <p:sp>
        <p:nvSpPr>
          <p:cNvPr id="32" name="Rectangle 31"/>
          <p:cNvSpPr/>
          <p:nvPr/>
        </p:nvSpPr>
        <p:spPr>
          <a:xfrm>
            <a:off x="685800" y="5212080"/>
            <a:ext cx="10817352" cy="11887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85800" y="5212080"/>
            <a:ext cx="54864" cy="1188720"/>
          </a:xfrm>
          <a:prstGeom prst="rect">
            <a:avLst/>
          </a:prstGeom>
          <a:solidFill>
            <a:srgbClr val="7BD9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1832" y="5376672"/>
            <a:ext cx="10360152" cy="914400"/>
          </a:xfrm>
          <a:prstGeom prst="rect">
            <a:avLst/>
          </a:prstGeom>
          <a:noFill/>
        </p:spPr>
        <p:txBody>
          <a:bodyPr wrap="square" lIns="0" rIns="0" tIns="0" bIns="0">
            <a:spAutoFit/>
          </a:bodyPr>
          <a:lstStyle/>
          <a:p>
            <a:pPr algn="l">
              <a:lnSpc>
                <a:spcPct val="110000"/>
              </a:lnSpc>
            </a:pPr>
            <a:r>
              <a:rPr sz="1250" b="1" i="0">
                <a:solidFill>
                  <a:srgbClr val="E6E9EF"/>
                </a:solidFill>
                <a:latin typeface="Segoe UI"/>
              </a:rPr>
              <a:t>La transformación decide qué es raro, no solo la densidad.</a:t>
            </a:r>
            <a:r>
              <a:rPr sz="1250" b="0" i="0">
                <a:solidFill>
                  <a:srgbClr val="C9D1DE"/>
                </a:solidFill>
                <a:latin typeface="Segoe UI"/>
              </a:rPr>
              <a:t> Sin corregir, el redondeo del medidor a 10 Wh crea capas de densidad artificial: 14 clústers, 6 de un solo valor exacto. Con dithering (±5 Wh, la incertidumbre real del medidor) aparece el gran grupo del enunciado. Sin logaritmo, «raro» vuelve a ser «grande»: el 80 % del ruido ya superaba el umbral fijo, y DBSCAN solo lo repite. Con log1p, menos de la mitad lo supera — ahí la densidad aporta algo que el umbral no ve.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SEPARAR POR FRANJA · LA TABLA COMPLETA</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Cada franja tiene su propio ruido, y no todo es una subida</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4 · DBSCAN</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15</a:t>
            </a:r>
          </a:p>
        </p:txBody>
      </p:sp>
      <p:sp>
        <p:nvSpPr>
          <p:cNvPr id="6" name="TextBox 5"/>
          <p:cNvSpPr txBox="1"/>
          <p:nvPr/>
        </p:nvSpPr>
        <p:spPr>
          <a:xfrm>
            <a:off x="685800" y="1920240"/>
            <a:ext cx="1828800" cy="274320"/>
          </a:xfrm>
          <a:prstGeom prst="rect">
            <a:avLst/>
          </a:prstGeom>
          <a:noFill/>
        </p:spPr>
        <p:txBody>
          <a:bodyPr wrap="square" lIns="0" rIns="0" tIns="0" bIns="0">
            <a:spAutoFit/>
          </a:bodyPr>
          <a:lstStyle/>
          <a:p>
            <a:pPr algn="l"/>
            <a:r>
              <a:rPr sz="950" b="0" i="0">
                <a:solidFill>
                  <a:srgbClr val="6F7787"/>
                </a:solidFill>
                <a:latin typeface="Consolas"/>
              </a:rPr>
              <a:t>FRANJA</a:t>
            </a:r>
          </a:p>
        </p:txBody>
      </p:sp>
      <p:sp>
        <p:nvSpPr>
          <p:cNvPr id="7" name="TextBox 6"/>
          <p:cNvSpPr txBox="1"/>
          <p:nvPr/>
        </p:nvSpPr>
        <p:spPr>
          <a:xfrm>
            <a:off x="2514600" y="1920240"/>
            <a:ext cx="2103120" cy="274320"/>
          </a:xfrm>
          <a:prstGeom prst="rect">
            <a:avLst/>
          </a:prstGeom>
          <a:noFill/>
        </p:spPr>
        <p:txBody>
          <a:bodyPr wrap="square" lIns="0" rIns="0" tIns="0" bIns="0">
            <a:spAutoFit/>
          </a:bodyPr>
          <a:lstStyle/>
          <a:p>
            <a:pPr algn="r"/>
            <a:r>
              <a:rPr sz="950" b="0" i="0">
                <a:solidFill>
                  <a:srgbClr val="6F7787"/>
                </a:solidFill>
                <a:latin typeface="Consolas"/>
              </a:rPr>
              <a:t>CONSUMO MEDIANO</a:t>
            </a:r>
          </a:p>
        </p:txBody>
      </p:sp>
      <p:sp>
        <p:nvSpPr>
          <p:cNvPr id="8" name="TextBox 7"/>
          <p:cNvSpPr txBox="1"/>
          <p:nvPr/>
        </p:nvSpPr>
        <p:spPr>
          <a:xfrm>
            <a:off x="4617720" y="1920240"/>
            <a:ext cx="1371600" cy="274320"/>
          </a:xfrm>
          <a:prstGeom prst="rect">
            <a:avLst/>
          </a:prstGeom>
          <a:noFill/>
        </p:spPr>
        <p:txBody>
          <a:bodyPr wrap="square" lIns="0" rIns="0" tIns="0" bIns="0">
            <a:spAutoFit/>
          </a:bodyPr>
          <a:lstStyle/>
          <a:p>
            <a:pPr algn="r"/>
            <a:r>
              <a:rPr sz="950" b="0" i="0">
                <a:solidFill>
                  <a:srgbClr val="6F7787"/>
                </a:solidFill>
                <a:latin typeface="Consolas"/>
              </a:rPr>
              <a:t>CLÚSTERS</a:t>
            </a:r>
          </a:p>
        </p:txBody>
      </p:sp>
      <p:sp>
        <p:nvSpPr>
          <p:cNvPr id="9" name="TextBox 8"/>
          <p:cNvSpPr txBox="1"/>
          <p:nvPr/>
        </p:nvSpPr>
        <p:spPr>
          <a:xfrm>
            <a:off x="5989320" y="1920240"/>
            <a:ext cx="1188720" cy="274320"/>
          </a:xfrm>
          <a:prstGeom prst="rect">
            <a:avLst/>
          </a:prstGeom>
          <a:noFill/>
        </p:spPr>
        <p:txBody>
          <a:bodyPr wrap="square" lIns="0" rIns="0" tIns="0" bIns="0">
            <a:spAutoFit/>
          </a:bodyPr>
          <a:lstStyle/>
          <a:p>
            <a:pPr algn="r"/>
            <a:r>
              <a:rPr sz="950" b="0" i="0">
                <a:solidFill>
                  <a:srgbClr val="6F7787"/>
                </a:solidFill>
                <a:latin typeface="Consolas"/>
              </a:rPr>
              <a:t>RUIDO</a:t>
            </a:r>
          </a:p>
        </p:txBody>
      </p:sp>
      <p:sp>
        <p:nvSpPr>
          <p:cNvPr id="10" name="TextBox 9"/>
          <p:cNvSpPr txBox="1"/>
          <p:nvPr/>
        </p:nvSpPr>
        <p:spPr>
          <a:xfrm>
            <a:off x="7178040" y="1920240"/>
            <a:ext cx="2286000" cy="274320"/>
          </a:xfrm>
          <a:prstGeom prst="rect">
            <a:avLst/>
          </a:prstGeom>
          <a:noFill/>
        </p:spPr>
        <p:txBody>
          <a:bodyPr wrap="square" lIns="0" rIns="0" tIns="0" bIns="0">
            <a:spAutoFit/>
          </a:bodyPr>
          <a:lstStyle/>
          <a:p>
            <a:pPr algn="r"/>
            <a:r>
              <a:rPr sz="950" b="0" i="0">
                <a:solidFill>
                  <a:srgbClr val="6F7787"/>
                </a:solidFill>
                <a:latin typeface="Consolas"/>
              </a:rPr>
              <a:t>DEL RUIDO, BAJO 200 WH</a:t>
            </a:r>
          </a:p>
        </p:txBody>
      </p:sp>
      <p:sp>
        <p:nvSpPr>
          <p:cNvPr id="11" name="TextBox 10"/>
          <p:cNvSpPr txBox="1"/>
          <p:nvPr/>
        </p:nvSpPr>
        <p:spPr>
          <a:xfrm>
            <a:off x="9464040" y="1920240"/>
            <a:ext cx="2039112" cy="274320"/>
          </a:xfrm>
          <a:prstGeom prst="rect">
            <a:avLst/>
          </a:prstGeom>
          <a:noFill/>
        </p:spPr>
        <p:txBody>
          <a:bodyPr wrap="square" lIns="0" rIns="0" tIns="0" bIns="0">
            <a:spAutoFit/>
          </a:bodyPr>
          <a:lstStyle/>
          <a:p>
            <a:pPr algn="r"/>
            <a:r>
              <a:rPr sz="950" b="0" i="0">
                <a:solidFill>
                  <a:srgbClr val="6F7787"/>
                </a:solidFill>
                <a:latin typeface="Consolas"/>
              </a:rPr>
              <a:t>RUIDO QUE ES SUBIDA</a:t>
            </a:r>
          </a:p>
        </p:txBody>
      </p:sp>
      <p:sp>
        <p:nvSpPr>
          <p:cNvPr id="12" name="Rectangle 11"/>
          <p:cNvSpPr/>
          <p:nvPr/>
        </p:nvSpPr>
        <p:spPr>
          <a:xfrm>
            <a:off x="685800" y="2249424"/>
            <a:ext cx="10817352" cy="9144"/>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86000"/>
            <a:ext cx="1737360" cy="420624"/>
          </a:xfrm>
          <a:prstGeom prst="rect">
            <a:avLst/>
          </a:prstGeom>
          <a:noFill/>
        </p:spPr>
        <p:txBody>
          <a:bodyPr wrap="square" lIns="0" rIns="0" tIns="0" bIns="0" anchor="ctr">
            <a:spAutoFit/>
          </a:bodyPr>
          <a:lstStyle/>
          <a:p>
            <a:pPr algn="l"/>
            <a:r>
              <a:rPr sz="1250" b="0" i="0">
                <a:solidFill>
                  <a:srgbClr val="C9D1DE"/>
                </a:solidFill>
                <a:latin typeface="Segoe UI"/>
              </a:rPr>
              <a:t>Madrugada</a:t>
            </a:r>
          </a:p>
        </p:txBody>
      </p:sp>
      <p:sp>
        <p:nvSpPr>
          <p:cNvPr id="14" name="TextBox 13"/>
          <p:cNvSpPr txBox="1"/>
          <p:nvPr/>
        </p:nvSpPr>
        <p:spPr>
          <a:xfrm>
            <a:off x="2514600" y="2286000"/>
            <a:ext cx="2103120" cy="420624"/>
          </a:xfrm>
          <a:prstGeom prst="rect">
            <a:avLst/>
          </a:prstGeom>
          <a:noFill/>
        </p:spPr>
        <p:txBody>
          <a:bodyPr wrap="square" lIns="0" rIns="0" tIns="0" bIns="0" anchor="ctr">
            <a:spAutoFit/>
          </a:bodyPr>
          <a:lstStyle/>
          <a:p>
            <a:pPr algn="r"/>
            <a:r>
              <a:rPr sz="1250" b="0" i="0">
                <a:solidFill>
                  <a:srgbClr val="C9D1DE"/>
                </a:solidFill>
                <a:latin typeface="Consolas"/>
              </a:rPr>
              <a:t>50 Wh</a:t>
            </a:r>
          </a:p>
        </p:txBody>
      </p:sp>
      <p:sp>
        <p:nvSpPr>
          <p:cNvPr id="15" name="TextBox 14"/>
          <p:cNvSpPr txBox="1"/>
          <p:nvPr/>
        </p:nvSpPr>
        <p:spPr>
          <a:xfrm>
            <a:off x="4617720" y="2286000"/>
            <a:ext cx="1371600" cy="420624"/>
          </a:xfrm>
          <a:prstGeom prst="rect">
            <a:avLst/>
          </a:prstGeom>
          <a:noFill/>
        </p:spPr>
        <p:txBody>
          <a:bodyPr wrap="square" lIns="0" rIns="0" tIns="0" bIns="0" anchor="ctr">
            <a:spAutoFit/>
          </a:bodyPr>
          <a:lstStyle/>
          <a:p>
            <a:pPr algn="r"/>
            <a:r>
              <a:rPr sz="1250" b="0" i="0">
                <a:solidFill>
                  <a:srgbClr val="C9D1DE"/>
                </a:solidFill>
                <a:latin typeface="Consolas"/>
              </a:rPr>
              <a:t>1</a:t>
            </a:r>
          </a:p>
        </p:txBody>
      </p:sp>
      <p:sp>
        <p:nvSpPr>
          <p:cNvPr id="16" name="TextBox 15"/>
          <p:cNvSpPr txBox="1"/>
          <p:nvPr/>
        </p:nvSpPr>
        <p:spPr>
          <a:xfrm>
            <a:off x="5989320" y="2286000"/>
            <a:ext cx="1188720" cy="420624"/>
          </a:xfrm>
          <a:prstGeom prst="rect">
            <a:avLst/>
          </a:prstGeom>
          <a:noFill/>
        </p:spPr>
        <p:txBody>
          <a:bodyPr wrap="square" lIns="0" rIns="0" tIns="0" bIns="0" anchor="ctr">
            <a:spAutoFit/>
          </a:bodyPr>
          <a:lstStyle/>
          <a:p>
            <a:pPr algn="r"/>
            <a:r>
              <a:rPr sz="1250" b="0" i="0">
                <a:solidFill>
                  <a:srgbClr val="C9D1DE"/>
                </a:solidFill>
                <a:latin typeface="Consolas"/>
              </a:rPr>
              <a:t>2,0 %</a:t>
            </a:r>
          </a:p>
        </p:txBody>
      </p:sp>
      <p:sp>
        <p:nvSpPr>
          <p:cNvPr id="17" name="TextBox 16"/>
          <p:cNvSpPr txBox="1"/>
          <p:nvPr/>
        </p:nvSpPr>
        <p:spPr>
          <a:xfrm>
            <a:off x="7178040" y="2286000"/>
            <a:ext cx="2286000" cy="420624"/>
          </a:xfrm>
          <a:prstGeom prst="rect">
            <a:avLst/>
          </a:prstGeom>
          <a:noFill/>
        </p:spPr>
        <p:txBody>
          <a:bodyPr wrap="square" lIns="0" rIns="0" tIns="0" bIns="0" anchor="ctr">
            <a:spAutoFit/>
          </a:bodyPr>
          <a:lstStyle/>
          <a:p>
            <a:pPr algn="r"/>
            <a:r>
              <a:rPr sz="1250" b="0" i="0">
                <a:solidFill>
                  <a:srgbClr val="C9D1DE"/>
                </a:solidFill>
                <a:latin typeface="Consolas"/>
              </a:rPr>
              <a:t>86 %</a:t>
            </a:r>
          </a:p>
        </p:txBody>
      </p:sp>
      <p:sp>
        <p:nvSpPr>
          <p:cNvPr id="18" name="TextBox 17"/>
          <p:cNvSpPr txBox="1"/>
          <p:nvPr/>
        </p:nvSpPr>
        <p:spPr>
          <a:xfrm>
            <a:off x="9464040" y="2286000"/>
            <a:ext cx="2039112" cy="420624"/>
          </a:xfrm>
          <a:prstGeom prst="rect">
            <a:avLst/>
          </a:prstGeom>
          <a:noFill/>
        </p:spPr>
        <p:txBody>
          <a:bodyPr wrap="square" lIns="0" rIns="0" tIns="0" bIns="0" anchor="ctr">
            <a:spAutoFit/>
          </a:bodyPr>
          <a:lstStyle/>
          <a:p>
            <a:pPr algn="r"/>
            <a:r>
              <a:rPr sz="1250" b="0" i="0">
                <a:solidFill>
                  <a:srgbClr val="C9D1DE"/>
                </a:solidFill>
                <a:latin typeface="Consolas"/>
              </a:rPr>
              <a:t>40 %</a:t>
            </a:r>
          </a:p>
        </p:txBody>
      </p:sp>
      <p:sp>
        <p:nvSpPr>
          <p:cNvPr id="19" name="TextBox 18"/>
          <p:cNvSpPr txBox="1"/>
          <p:nvPr/>
        </p:nvSpPr>
        <p:spPr>
          <a:xfrm>
            <a:off x="777240" y="2743200"/>
            <a:ext cx="1737360" cy="420624"/>
          </a:xfrm>
          <a:prstGeom prst="rect">
            <a:avLst/>
          </a:prstGeom>
          <a:noFill/>
        </p:spPr>
        <p:txBody>
          <a:bodyPr wrap="square" lIns="0" rIns="0" tIns="0" bIns="0" anchor="ctr">
            <a:spAutoFit/>
          </a:bodyPr>
          <a:lstStyle/>
          <a:p>
            <a:pPr algn="l"/>
            <a:r>
              <a:rPr sz="1250" b="0" i="0">
                <a:solidFill>
                  <a:srgbClr val="C9D1DE"/>
                </a:solidFill>
                <a:latin typeface="Segoe UI"/>
              </a:rPr>
              <a:t>Mañana</a:t>
            </a:r>
          </a:p>
        </p:txBody>
      </p:sp>
      <p:sp>
        <p:nvSpPr>
          <p:cNvPr id="20" name="TextBox 19"/>
          <p:cNvSpPr txBox="1"/>
          <p:nvPr/>
        </p:nvSpPr>
        <p:spPr>
          <a:xfrm>
            <a:off x="2514600" y="2743200"/>
            <a:ext cx="2103120" cy="420624"/>
          </a:xfrm>
          <a:prstGeom prst="rect">
            <a:avLst/>
          </a:prstGeom>
          <a:noFill/>
        </p:spPr>
        <p:txBody>
          <a:bodyPr wrap="square" lIns="0" rIns="0" tIns="0" bIns="0" anchor="ctr">
            <a:spAutoFit/>
          </a:bodyPr>
          <a:lstStyle/>
          <a:p>
            <a:pPr algn="r"/>
            <a:r>
              <a:rPr sz="1250" b="0" i="0">
                <a:solidFill>
                  <a:srgbClr val="C9D1DE"/>
                </a:solidFill>
                <a:latin typeface="Consolas"/>
              </a:rPr>
              <a:t>60 Wh</a:t>
            </a:r>
          </a:p>
        </p:txBody>
      </p:sp>
      <p:sp>
        <p:nvSpPr>
          <p:cNvPr id="21" name="TextBox 20"/>
          <p:cNvSpPr txBox="1"/>
          <p:nvPr/>
        </p:nvSpPr>
        <p:spPr>
          <a:xfrm>
            <a:off x="4617720" y="2743200"/>
            <a:ext cx="1371600" cy="420624"/>
          </a:xfrm>
          <a:prstGeom prst="rect">
            <a:avLst/>
          </a:prstGeom>
          <a:noFill/>
        </p:spPr>
        <p:txBody>
          <a:bodyPr wrap="square" lIns="0" rIns="0" tIns="0" bIns="0" anchor="ctr">
            <a:spAutoFit/>
          </a:bodyPr>
          <a:lstStyle/>
          <a:p>
            <a:pPr algn="r"/>
            <a:r>
              <a:rPr sz="1250" b="0" i="0">
                <a:solidFill>
                  <a:srgbClr val="C9D1DE"/>
                </a:solidFill>
                <a:latin typeface="Consolas"/>
              </a:rPr>
              <a:t>4</a:t>
            </a:r>
          </a:p>
        </p:txBody>
      </p:sp>
      <p:sp>
        <p:nvSpPr>
          <p:cNvPr id="22" name="TextBox 21"/>
          <p:cNvSpPr txBox="1"/>
          <p:nvPr/>
        </p:nvSpPr>
        <p:spPr>
          <a:xfrm>
            <a:off x="5989320" y="2743200"/>
            <a:ext cx="1188720" cy="420624"/>
          </a:xfrm>
          <a:prstGeom prst="rect">
            <a:avLst/>
          </a:prstGeom>
          <a:noFill/>
        </p:spPr>
        <p:txBody>
          <a:bodyPr wrap="square" lIns="0" rIns="0" tIns="0" bIns="0" anchor="ctr">
            <a:spAutoFit/>
          </a:bodyPr>
          <a:lstStyle/>
          <a:p>
            <a:pPr algn="r"/>
            <a:r>
              <a:rPr sz="1250" b="0" i="0">
                <a:solidFill>
                  <a:srgbClr val="C9D1DE"/>
                </a:solidFill>
                <a:latin typeface="Consolas"/>
              </a:rPr>
              <a:t>3,6 %</a:t>
            </a:r>
          </a:p>
        </p:txBody>
      </p:sp>
      <p:sp>
        <p:nvSpPr>
          <p:cNvPr id="23" name="TextBox 22"/>
          <p:cNvSpPr txBox="1"/>
          <p:nvPr/>
        </p:nvSpPr>
        <p:spPr>
          <a:xfrm>
            <a:off x="7178040" y="2743200"/>
            <a:ext cx="2286000" cy="420624"/>
          </a:xfrm>
          <a:prstGeom prst="rect">
            <a:avLst/>
          </a:prstGeom>
          <a:noFill/>
        </p:spPr>
        <p:txBody>
          <a:bodyPr wrap="square" lIns="0" rIns="0" tIns="0" bIns="0" anchor="ctr">
            <a:spAutoFit/>
          </a:bodyPr>
          <a:lstStyle/>
          <a:p>
            <a:pPr algn="r"/>
            <a:r>
              <a:rPr sz="1250" b="0" i="0">
                <a:solidFill>
                  <a:srgbClr val="C9D1DE"/>
                </a:solidFill>
                <a:latin typeface="Consolas"/>
              </a:rPr>
              <a:t>51 %</a:t>
            </a:r>
          </a:p>
        </p:txBody>
      </p:sp>
      <p:sp>
        <p:nvSpPr>
          <p:cNvPr id="24" name="TextBox 23"/>
          <p:cNvSpPr txBox="1"/>
          <p:nvPr/>
        </p:nvSpPr>
        <p:spPr>
          <a:xfrm>
            <a:off x="9464040" y="2743200"/>
            <a:ext cx="2039112" cy="420624"/>
          </a:xfrm>
          <a:prstGeom prst="rect">
            <a:avLst/>
          </a:prstGeom>
          <a:noFill/>
        </p:spPr>
        <p:txBody>
          <a:bodyPr wrap="square" lIns="0" rIns="0" tIns="0" bIns="0" anchor="ctr">
            <a:spAutoFit/>
          </a:bodyPr>
          <a:lstStyle/>
          <a:p>
            <a:pPr algn="r"/>
            <a:r>
              <a:rPr sz="1250" b="0" i="0">
                <a:solidFill>
                  <a:srgbClr val="C9D1DE"/>
                </a:solidFill>
                <a:latin typeface="Consolas"/>
              </a:rPr>
              <a:t>57 %</a:t>
            </a:r>
          </a:p>
        </p:txBody>
      </p:sp>
      <p:sp>
        <p:nvSpPr>
          <p:cNvPr id="25" name="TextBox 24"/>
          <p:cNvSpPr txBox="1"/>
          <p:nvPr/>
        </p:nvSpPr>
        <p:spPr>
          <a:xfrm>
            <a:off x="777240" y="3200400"/>
            <a:ext cx="1737360" cy="420624"/>
          </a:xfrm>
          <a:prstGeom prst="rect">
            <a:avLst/>
          </a:prstGeom>
          <a:noFill/>
        </p:spPr>
        <p:txBody>
          <a:bodyPr wrap="square" lIns="0" rIns="0" tIns="0" bIns="0" anchor="ctr">
            <a:spAutoFit/>
          </a:bodyPr>
          <a:lstStyle/>
          <a:p>
            <a:pPr algn="l"/>
            <a:r>
              <a:rPr sz="1250" b="0" i="0">
                <a:solidFill>
                  <a:srgbClr val="C9D1DE"/>
                </a:solidFill>
                <a:latin typeface="Segoe UI"/>
              </a:rPr>
              <a:t>Tarde</a:t>
            </a:r>
          </a:p>
        </p:txBody>
      </p:sp>
      <p:sp>
        <p:nvSpPr>
          <p:cNvPr id="26" name="TextBox 25"/>
          <p:cNvSpPr txBox="1"/>
          <p:nvPr/>
        </p:nvSpPr>
        <p:spPr>
          <a:xfrm>
            <a:off x="2514600" y="3200400"/>
            <a:ext cx="2103120" cy="420624"/>
          </a:xfrm>
          <a:prstGeom prst="rect">
            <a:avLst/>
          </a:prstGeom>
          <a:noFill/>
        </p:spPr>
        <p:txBody>
          <a:bodyPr wrap="square" lIns="0" rIns="0" tIns="0" bIns="0" anchor="ctr">
            <a:spAutoFit/>
          </a:bodyPr>
          <a:lstStyle/>
          <a:p>
            <a:pPr algn="r"/>
            <a:r>
              <a:rPr sz="1250" b="0" i="0">
                <a:solidFill>
                  <a:srgbClr val="C9D1DE"/>
                </a:solidFill>
                <a:latin typeface="Consolas"/>
              </a:rPr>
              <a:t>80 Wh</a:t>
            </a:r>
          </a:p>
        </p:txBody>
      </p:sp>
      <p:sp>
        <p:nvSpPr>
          <p:cNvPr id="27" name="TextBox 26"/>
          <p:cNvSpPr txBox="1"/>
          <p:nvPr/>
        </p:nvSpPr>
        <p:spPr>
          <a:xfrm>
            <a:off x="4617720" y="3200400"/>
            <a:ext cx="1371600" cy="420624"/>
          </a:xfrm>
          <a:prstGeom prst="rect">
            <a:avLst/>
          </a:prstGeom>
          <a:noFill/>
        </p:spPr>
        <p:txBody>
          <a:bodyPr wrap="square" lIns="0" rIns="0" tIns="0" bIns="0" anchor="ctr">
            <a:spAutoFit/>
          </a:bodyPr>
          <a:lstStyle/>
          <a:p>
            <a:pPr algn="r"/>
            <a:r>
              <a:rPr sz="1250" b="0" i="0">
                <a:solidFill>
                  <a:srgbClr val="C9D1DE"/>
                </a:solidFill>
                <a:latin typeface="Consolas"/>
              </a:rPr>
              <a:t>3</a:t>
            </a:r>
          </a:p>
        </p:txBody>
      </p:sp>
      <p:sp>
        <p:nvSpPr>
          <p:cNvPr id="28" name="TextBox 27"/>
          <p:cNvSpPr txBox="1"/>
          <p:nvPr/>
        </p:nvSpPr>
        <p:spPr>
          <a:xfrm>
            <a:off x="5989320" y="3200400"/>
            <a:ext cx="1188720" cy="420624"/>
          </a:xfrm>
          <a:prstGeom prst="rect">
            <a:avLst/>
          </a:prstGeom>
          <a:noFill/>
        </p:spPr>
        <p:txBody>
          <a:bodyPr wrap="square" lIns="0" rIns="0" tIns="0" bIns="0" anchor="ctr">
            <a:spAutoFit/>
          </a:bodyPr>
          <a:lstStyle/>
          <a:p>
            <a:pPr algn="r"/>
            <a:r>
              <a:rPr sz="1250" b="0" i="0">
                <a:solidFill>
                  <a:srgbClr val="C9D1DE"/>
                </a:solidFill>
                <a:latin typeface="Consolas"/>
              </a:rPr>
              <a:t>2,0 %</a:t>
            </a:r>
          </a:p>
        </p:txBody>
      </p:sp>
      <p:sp>
        <p:nvSpPr>
          <p:cNvPr id="29" name="TextBox 28"/>
          <p:cNvSpPr txBox="1"/>
          <p:nvPr/>
        </p:nvSpPr>
        <p:spPr>
          <a:xfrm>
            <a:off x="7178040" y="3200400"/>
            <a:ext cx="2286000" cy="420624"/>
          </a:xfrm>
          <a:prstGeom prst="rect">
            <a:avLst/>
          </a:prstGeom>
          <a:noFill/>
        </p:spPr>
        <p:txBody>
          <a:bodyPr wrap="square" lIns="0" rIns="0" tIns="0" bIns="0" anchor="ctr">
            <a:spAutoFit/>
          </a:bodyPr>
          <a:lstStyle/>
          <a:p>
            <a:pPr algn="r"/>
            <a:r>
              <a:rPr sz="1250" b="0" i="0">
                <a:solidFill>
                  <a:srgbClr val="C9D1DE"/>
                </a:solidFill>
                <a:latin typeface="Consolas"/>
              </a:rPr>
              <a:t>53 %</a:t>
            </a:r>
          </a:p>
        </p:txBody>
      </p:sp>
      <p:sp>
        <p:nvSpPr>
          <p:cNvPr id="30" name="TextBox 29"/>
          <p:cNvSpPr txBox="1"/>
          <p:nvPr/>
        </p:nvSpPr>
        <p:spPr>
          <a:xfrm>
            <a:off x="9464040" y="3200400"/>
            <a:ext cx="2039112" cy="420624"/>
          </a:xfrm>
          <a:prstGeom prst="rect">
            <a:avLst/>
          </a:prstGeom>
          <a:noFill/>
        </p:spPr>
        <p:txBody>
          <a:bodyPr wrap="square" lIns="0" rIns="0" tIns="0" bIns="0" anchor="ctr">
            <a:spAutoFit/>
          </a:bodyPr>
          <a:lstStyle/>
          <a:p>
            <a:pPr algn="r"/>
            <a:r>
              <a:rPr sz="1250" b="0" i="0">
                <a:solidFill>
                  <a:srgbClr val="C9D1DE"/>
                </a:solidFill>
                <a:latin typeface="Consolas"/>
              </a:rPr>
              <a:t>65 %</a:t>
            </a:r>
          </a:p>
        </p:txBody>
      </p:sp>
      <p:sp>
        <p:nvSpPr>
          <p:cNvPr id="31" name="TextBox 30"/>
          <p:cNvSpPr txBox="1"/>
          <p:nvPr/>
        </p:nvSpPr>
        <p:spPr>
          <a:xfrm>
            <a:off x="777240" y="3657600"/>
            <a:ext cx="1737360" cy="420624"/>
          </a:xfrm>
          <a:prstGeom prst="rect">
            <a:avLst/>
          </a:prstGeom>
          <a:noFill/>
        </p:spPr>
        <p:txBody>
          <a:bodyPr wrap="square" lIns="0" rIns="0" tIns="0" bIns="0" anchor="ctr">
            <a:spAutoFit/>
          </a:bodyPr>
          <a:lstStyle/>
          <a:p>
            <a:pPr algn="l"/>
            <a:r>
              <a:rPr sz="1250" b="0" i="0">
                <a:solidFill>
                  <a:srgbClr val="C9D1DE"/>
                </a:solidFill>
                <a:latin typeface="Segoe UI"/>
              </a:rPr>
              <a:t>Noche</a:t>
            </a:r>
          </a:p>
        </p:txBody>
      </p:sp>
      <p:sp>
        <p:nvSpPr>
          <p:cNvPr id="32" name="TextBox 31"/>
          <p:cNvSpPr txBox="1"/>
          <p:nvPr/>
        </p:nvSpPr>
        <p:spPr>
          <a:xfrm>
            <a:off x="2514600" y="3657600"/>
            <a:ext cx="2103120" cy="420624"/>
          </a:xfrm>
          <a:prstGeom prst="rect">
            <a:avLst/>
          </a:prstGeom>
          <a:noFill/>
        </p:spPr>
        <p:txBody>
          <a:bodyPr wrap="square" lIns="0" rIns="0" tIns="0" bIns="0" anchor="ctr">
            <a:spAutoFit/>
          </a:bodyPr>
          <a:lstStyle/>
          <a:p>
            <a:pPr algn="r"/>
            <a:r>
              <a:rPr sz="1250" b="0" i="0">
                <a:solidFill>
                  <a:srgbClr val="C9D1DE"/>
                </a:solidFill>
                <a:latin typeface="Consolas"/>
              </a:rPr>
              <a:t>90 Wh</a:t>
            </a:r>
          </a:p>
        </p:txBody>
      </p:sp>
      <p:sp>
        <p:nvSpPr>
          <p:cNvPr id="33" name="TextBox 32"/>
          <p:cNvSpPr txBox="1"/>
          <p:nvPr/>
        </p:nvSpPr>
        <p:spPr>
          <a:xfrm>
            <a:off x="4617720" y="3657600"/>
            <a:ext cx="1371600" cy="420624"/>
          </a:xfrm>
          <a:prstGeom prst="rect">
            <a:avLst/>
          </a:prstGeom>
          <a:noFill/>
        </p:spPr>
        <p:txBody>
          <a:bodyPr wrap="square" lIns="0" rIns="0" tIns="0" bIns="0" anchor="ctr">
            <a:spAutoFit/>
          </a:bodyPr>
          <a:lstStyle/>
          <a:p>
            <a:pPr algn="r"/>
            <a:r>
              <a:rPr sz="1250" b="0" i="0">
                <a:solidFill>
                  <a:srgbClr val="C9D1DE"/>
                </a:solidFill>
                <a:latin typeface="Consolas"/>
              </a:rPr>
              <a:t>1</a:t>
            </a:r>
          </a:p>
        </p:txBody>
      </p:sp>
      <p:sp>
        <p:nvSpPr>
          <p:cNvPr id="34" name="TextBox 33"/>
          <p:cNvSpPr txBox="1"/>
          <p:nvPr/>
        </p:nvSpPr>
        <p:spPr>
          <a:xfrm>
            <a:off x="5989320" y="3657600"/>
            <a:ext cx="1188720" cy="420624"/>
          </a:xfrm>
          <a:prstGeom prst="rect">
            <a:avLst/>
          </a:prstGeom>
          <a:noFill/>
        </p:spPr>
        <p:txBody>
          <a:bodyPr wrap="square" lIns="0" rIns="0" tIns="0" bIns="0" anchor="ctr">
            <a:spAutoFit/>
          </a:bodyPr>
          <a:lstStyle/>
          <a:p>
            <a:pPr algn="r"/>
            <a:r>
              <a:rPr sz="1250" b="0" i="0">
                <a:solidFill>
                  <a:srgbClr val="C9D1DE"/>
                </a:solidFill>
                <a:latin typeface="Consolas"/>
              </a:rPr>
              <a:t>4,7 %</a:t>
            </a:r>
          </a:p>
        </p:txBody>
      </p:sp>
      <p:sp>
        <p:nvSpPr>
          <p:cNvPr id="35" name="TextBox 34"/>
          <p:cNvSpPr txBox="1"/>
          <p:nvPr/>
        </p:nvSpPr>
        <p:spPr>
          <a:xfrm>
            <a:off x="7178040" y="3657600"/>
            <a:ext cx="2286000" cy="420624"/>
          </a:xfrm>
          <a:prstGeom prst="rect">
            <a:avLst/>
          </a:prstGeom>
          <a:noFill/>
        </p:spPr>
        <p:txBody>
          <a:bodyPr wrap="square" lIns="0" rIns="0" tIns="0" bIns="0" anchor="ctr">
            <a:spAutoFit/>
          </a:bodyPr>
          <a:lstStyle/>
          <a:p>
            <a:pPr algn="r"/>
            <a:r>
              <a:rPr sz="1250" b="0" i="0">
                <a:solidFill>
                  <a:srgbClr val="C9D1DE"/>
                </a:solidFill>
                <a:latin typeface="Consolas"/>
              </a:rPr>
              <a:t>44 %</a:t>
            </a:r>
          </a:p>
        </p:txBody>
      </p:sp>
      <p:sp>
        <p:nvSpPr>
          <p:cNvPr id="36" name="TextBox 35"/>
          <p:cNvSpPr txBox="1"/>
          <p:nvPr/>
        </p:nvSpPr>
        <p:spPr>
          <a:xfrm>
            <a:off x="9464040" y="3657600"/>
            <a:ext cx="2039112" cy="420624"/>
          </a:xfrm>
          <a:prstGeom prst="rect">
            <a:avLst/>
          </a:prstGeom>
          <a:noFill/>
        </p:spPr>
        <p:txBody>
          <a:bodyPr wrap="square" lIns="0" rIns="0" tIns="0" bIns="0" anchor="ctr">
            <a:spAutoFit/>
          </a:bodyPr>
          <a:lstStyle/>
          <a:p>
            <a:pPr algn="r"/>
            <a:r>
              <a:rPr sz="1250" b="0" i="0">
                <a:solidFill>
                  <a:srgbClr val="C9D1DE"/>
                </a:solidFill>
                <a:latin typeface="Consolas"/>
              </a:rPr>
              <a:t>51 %</a:t>
            </a:r>
          </a:p>
        </p:txBody>
      </p:sp>
      <p:sp>
        <p:nvSpPr>
          <p:cNvPr id="37" name="Rectangle 36"/>
          <p:cNvSpPr/>
          <p:nvPr/>
        </p:nvSpPr>
        <p:spPr>
          <a:xfrm>
            <a:off x="685800" y="5212080"/>
            <a:ext cx="10817352" cy="11887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85800" y="5212080"/>
            <a:ext cx="54864" cy="1188720"/>
          </a:xfrm>
          <a:prstGeom prst="rect">
            <a:avLst/>
          </a:prstGeom>
          <a:solidFill>
            <a:srgbClr val="7BD9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41832" y="5376672"/>
            <a:ext cx="10360152" cy="914400"/>
          </a:xfrm>
          <a:prstGeom prst="rect">
            <a:avLst/>
          </a:prstGeom>
          <a:noFill/>
        </p:spPr>
        <p:txBody>
          <a:bodyPr wrap="square" lIns="0" rIns="0" tIns="0" bIns="0">
            <a:spAutoFit/>
          </a:bodyPr>
          <a:lstStyle/>
          <a:p>
            <a:pPr algn="l">
              <a:lnSpc>
                <a:spcPct val="110000"/>
              </a:lnSpc>
            </a:pPr>
            <a:r>
              <a:rPr sz="1250" b="1" i="0">
                <a:solidFill>
                  <a:srgbClr val="E6E9EF"/>
                </a:solidFill>
                <a:latin typeface="Segoe UI"/>
              </a:rPr>
              <a:t>Una alarma solo tiene sentido en las subidas.</a:t>
            </a:r>
            <a:r>
              <a:rPr sz="1250" b="0" i="0">
                <a:solidFill>
                  <a:srgbClr val="C9D1DE"/>
                </a:solidFill>
                <a:latin typeface="Segoe UI"/>
              </a:rPr>
              <a:t> Entre el 35 % y el 60 % de lo que cada franja marca como ruido no es un pico sino una bajada o una lectura sin cambio — el final de un evento, no su inicio. De madrugada, el 86 % del ruido está por debajo de los 200 Wh del umbral fijo: arranques tempranos que el umbral nunca ve. En la tarde pasa lo contrario: DBSCAN deja pasar 632 lecturas altas porque consumir mucho ahí es la rutina de esta casa.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CONTROL TEMPORAL · LA TABLA POR FRANJA</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Las dos definiciones se apagan distinto en mayo</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4 · DBSCAN</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17</a:t>
            </a:r>
          </a:p>
        </p:txBody>
      </p:sp>
      <p:sp>
        <p:nvSpPr>
          <p:cNvPr id="6" name="TextBox 5"/>
          <p:cNvSpPr txBox="1"/>
          <p:nvPr/>
        </p:nvSpPr>
        <p:spPr>
          <a:xfrm>
            <a:off x="685800" y="1920240"/>
            <a:ext cx="1645920" cy="274320"/>
          </a:xfrm>
          <a:prstGeom prst="rect">
            <a:avLst/>
          </a:prstGeom>
          <a:noFill/>
        </p:spPr>
        <p:txBody>
          <a:bodyPr wrap="square" lIns="0" rIns="0" tIns="0" bIns="0">
            <a:spAutoFit/>
          </a:bodyPr>
          <a:lstStyle/>
          <a:p>
            <a:pPr algn="l"/>
            <a:r>
              <a:rPr sz="950" b="0" i="0">
                <a:solidFill>
                  <a:srgbClr val="6F7787"/>
                </a:solidFill>
                <a:latin typeface="Consolas"/>
              </a:rPr>
              <a:t>FRANJA</a:t>
            </a:r>
          </a:p>
        </p:txBody>
      </p:sp>
      <p:sp>
        <p:nvSpPr>
          <p:cNvPr id="7" name="TextBox 6"/>
          <p:cNvSpPr txBox="1"/>
          <p:nvPr/>
        </p:nvSpPr>
        <p:spPr>
          <a:xfrm>
            <a:off x="2331720" y="1920240"/>
            <a:ext cx="1920240" cy="274320"/>
          </a:xfrm>
          <a:prstGeom prst="rect">
            <a:avLst/>
          </a:prstGeom>
          <a:noFill/>
        </p:spPr>
        <p:txBody>
          <a:bodyPr wrap="square" lIns="0" rIns="0" tIns="0" bIns="0">
            <a:spAutoFit/>
          </a:bodyPr>
          <a:lstStyle/>
          <a:p>
            <a:pPr algn="r"/>
            <a:r>
              <a:rPr sz="950" b="0" i="0">
                <a:solidFill>
                  <a:srgbClr val="6F7787"/>
                </a:solidFill>
                <a:latin typeface="Consolas"/>
              </a:rPr>
              <a:t>DBSCAN ENE–ABR</a:t>
            </a:r>
          </a:p>
        </p:txBody>
      </p:sp>
      <p:sp>
        <p:nvSpPr>
          <p:cNvPr id="8" name="TextBox 7"/>
          <p:cNvSpPr txBox="1"/>
          <p:nvPr/>
        </p:nvSpPr>
        <p:spPr>
          <a:xfrm>
            <a:off x="4251960" y="1920240"/>
            <a:ext cx="1920240" cy="274320"/>
          </a:xfrm>
          <a:prstGeom prst="rect">
            <a:avLst/>
          </a:prstGeom>
          <a:noFill/>
        </p:spPr>
        <p:txBody>
          <a:bodyPr wrap="square" lIns="0" rIns="0" tIns="0" bIns="0">
            <a:spAutoFit/>
          </a:bodyPr>
          <a:lstStyle/>
          <a:p>
            <a:pPr algn="r"/>
            <a:r>
              <a:rPr sz="950" b="0" i="0">
                <a:solidFill>
                  <a:srgbClr val="6F7787"/>
                </a:solidFill>
                <a:latin typeface="Consolas"/>
              </a:rPr>
              <a:t>DBSCAN MAYO</a:t>
            </a:r>
          </a:p>
        </p:txBody>
      </p:sp>
      <p:sp>
        <p:nvSpPr>
          <p:cNvPr id="9" name="TextBox 8"/>
          <p:cNvSpPr txBox="1"/>
          <p:nvPr/>
        </p:nvSpPr>
        <p:spPr>
          <a:xfrm>
            <a:off x="6172200" y="1920240"/>
            <a:ext cx="1920240" cy="274320"/>
          </a:xfrm>
          <a:prstGeom prst="rect">
            <a:avLst/>
          </a:prstGeom>
          <a:noFill/>
        </p:spPr>
        <p:txBody>
          <a:bodyPr wrap="square" lIns="0" rIns="0" tIns="0" bIns="0">
            <a:spAutoFit/>
          </a:bodyPr>
          <a:lstStyle/>
          <a:p>
            <a:pPr algn="r"/>
            <a:r>
              <a:rPr sz="950" b="0" i="0">
                <a:solidFill>
                  <a:srgbClr val="6F7787"/>
                </a:solidFill>
                <a:latin typeface="Consolas"/>
              </a:rPr>
              <a:t>UMBRAL ENE–ABR</a:t>
            </a:r>
          </a:p>
        </p:txBody>
      </p:sp>
      <p:sp>
        <p:nvSpPr>
          <p:cNvPr id="10" name="TextBox 9"/>
          <p:cNvSpPr txBox="1"/>
          <p:nvPr/>
        </p:nvSpPr>
        <p:spPr>
          <a:xfrm>
            <a:off x="8092440" y="1920240"/>
            <a:ext cx="1737360" cy="274320"/>
          </a:xfrm>
          <a:prstGeom prst="rect">
            <a:avLst/>
          </a:prstGeom>
          <a:noFill/>
        </p:spPr>
        <p:txBody>
          <a:bodyPr wrap="square" lIns="0" rIns="0" tIns="0" bIns="0">
            <a:spAutoFit/>
          </a:bodyPr>
          <a:lstStyle/>
          <a:p>
            <a:pPr algn="r"/>
            <a:r>
              <a:rPr sz="950" b="0" i="0">
                <a:solidFill>
                  <a:srgbClr val="6F7787"/>
                </a:solidFill>
                <a:latin typeface="Consolas"/>
              </a:rPr>
              <a:t>UMBRAL MAYO</a:t>
            </a:r>
          </a:p>
        </p:txBody>
      </p:sp>
      <p:sp>
        <p:nvSpPr>
          <p:cNvPr id="11" name="TextBox 10"/>
          <p:cNvSpPr txBox="1"/>
          <p:nvPr/>
        </p:nvSpPr>
        <p:spPr>
          <a:xfrm>
            <a:off x="9829800" y="1920240"/>
            <a:ext cx="1673352" cy="274320"/>
          </a:xfrm>
          <a:prstGeom prst="rect">
            <a:avLst/>
          </a:prstGeom>
          <a:noFill/>
        </p:spPr>
        <p:txBody>
          <a:bodyPr wrap="square" lIns="0" rIns="0" tIns="0" bIns="0">
            <a:spAutoFit/>
          </a:bodyPr>
          <a:lstStyle/>
          <a:p>
            <a:pPr algn="r"/>
            <a:r>
              <a:rPr sz="950" b="0" i="0">
                <a:solidFill>
                  <a:srgbClr val="6F7787"/>
                </a:solidFill>
                <a:latin typeface="Consolas"/>
              </a:rPr>
              <a:t>P90 DE MAYO</a:t>
            </a:r>
          </a:p>
        </p:txBody>
      </p:sp>
      <p:sp>
        <p:nvSpPr>
          <p:cNvPr id="12" name="Rectangle 11"/>
          <p:cNvSpPr/>
          <p:nvPr/>
        </p:nvSpPr>
        <p:spPr>
          <a:xfrm>
            <a:off x="685800" y="2249424"/>
            <a:ext cx="10817352" cy="9144"/>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86000"/>
            <a:ext cx="1554480" cy="420624"/>
          </a:xfrm>
          <a:prstGeom prst="rect">
            <a:avLst/>
          </a:prstGeom>
          <a:noFill/>
        </p:spPr>
        <p:txBody>
          <a:bodyPr wrap="square" lIns="0" rIns="0" tIns="0" bIns="0" anchor="ctr">
            <a:spAutoFit/>
          </a:bodyPr>
          <a:lstStyle/>
          <a:p>
            <a:pPr algn="l"/>
            <a:r>
              <a:rPr sz="1250" b="0" i="0">
                <a:solidFill>
                  <a:srgbClr val="C9D1DE"/>
                </a:solidFill>
                <a:latin typeface="Segoe UI"/>
              </a:rPr>
              <a:t>Madrugada</a:t>
            </a:r>
          </a:p>
        </p:txBody>
      </p:sp>
      <p:sp>
        <p:nvSpPr>
          <p:cNvPr id="14" name="TextBox 13"/>
          <p:cNvSpPr txBox="1"/>
          <p:nvPr/>
        </p:nvSpPr>
        <p:spPr>
          <a:xfrm>
            <a:off x="2331720" y="2286000"/>
            <a:ext cx="1920240" cy="420624"/>
          </a:xfrm>
          <a:prstGeom prst="rect">
            <a:avLst/>
          </a:prstGeom>
          <a:noFill/>
        </p:spPr>
        <p:txBody>
          <a:bodyPr wrap="square" lIns="0" rIns="0" tIns="0" bIns="0" anchor="ctr">
            <a:spAutoFit/>
          </a:bodyPr>
          <a:lstStyle/>
          <a:p>
            <a:pPr algn="r"/>
            <a:r>
              <a:rPr sz="1250" b="0" i="0">
                <a:solidFill>
                  <a:srgbClr val="C9D1DE"/>
                </a:solidFill>
                <a:latin typeface="Consolas"/>
              </a:rPr>
              <a:t>2,0 %</a:t>
            </a:r>
          </a:p>
        </p:txBody>
      </p:sp>
      <p:sp>
        <p:nvSpPr>
          <p:cNvPr id="15" name="TextBox 14"/>
          <p:cNvSpPr txBox="1"/>
          <p:nvPr/>
        </p:nvSpPr>
        <p:spPr>
          <a:xfrm>
            <a:off x="4251960" y="2286000"/>
            <a:ext cx="1920240" cy="420624"/>
          </a:xfrm>
          <a:prstGeom prst="rect">
            <a:avLst/>
          </a:prstGeom>
          <a:noFill/>
        </p:spPr>
        <p:txBody>
          <a:bodyPr wrap="square" lIns="0" rIns="0" tIns="0" bIns="0" anchor="ctr">
            <a:spAutoFit/>
          </a:bodyPr>
          <a:lstStyle/>
          <a:p>
            <a:pPr algn="r"/>
            <a:r>
              <a:rPr sz="1250" b="0" i="0">
                <a:solidFill>
                  <a:srgbClr val="C9D1DE"/>
                </a:solidFill>
                <a:latin typeface="Consolas"/>
              </a:rPr>
              <a:t>2,1 %</a:t>
            </a:r>
          </a:p>
        </p:txBody>
      </p:sp>
      <p:sp>
        <p:nvSpPr>
          <p:cNvPr id="16" name="TextBox 15"/>
          <p:cNvSpPr txBox="1"/>
          <p:nvPr/>
        </p:nvSpPr>
        <p:spPr>
          <a:xfrm>
            <a:off x="6172200" y="2286000"/>
            <a:ext cx="1920240" cy="420624"/>
          </a:xfrm>
          <a:prstGeom prst="rect">
            <a:avLst/>
          </a:prstGeom>
          <a:noFill/>
        </p:spPr>
        <p:txBody>
          <a:bodyPr wrap="square" lIns="0" rIns="0" tIns="0" bIns="0" anchor="ctr">
            <a:spAutoFit/>
          </a:bodyPr>
          <a:lstStyle/>
          <a:p>
            <a:pPr algn="r"/>
            <a:r>
              <a:rPr sz="1250" b="0" i="0">
                <a:solidFill>
                  <a:srgbClr val="C9D1DE"/>
                </a:solidFill>
                <a:latin typeface="Consolas"/>
              </a:rPr>
              <a:t>0,3 %</a:t>
            </a:r>
          </a:p>
        </p:txBody>
      </p:sp>
      <p:sp>
        <p:nvSpPr>
          <p:cNvPr id="17" name="TextBox 16"/>
          <p:cNvSpPr txBox="1"/>
          <p:nvPr/>
        </p:nvSpPr>
        <p:spPr>
          <a:xfrm>
            <a:off x="8092440" y="2286000"/>
            <a:ext cx="1737360" cy="420624"/>
          </a:xfrm>
          <a:prstGeom prst="rect">
            <a:avLst/>
          </a:prstGeom>
          <a:noFill/>
        </p:spPr>
        <p:txBody>
          <a:bodyPr wrap="square" lIns="0" rIns="0" tIns="0" bIns="0" anchor="ctr">
            <a:spAutoFit/>
          </a:bodyPr>
          <a:lstStyle/>
          <a:p>
            <a:pPr algn="r"/>
            <a:r>
              <a:rPr sz="1250" b="0" i="0">
                <a:solidFill>
                  <a:srgbClr val="C9D1DE"/>
                </a:solidFill>
                <a:latin typeface="Consolas"/>
              </a:rPr>
              <a:t>0,2 %</a:t>
            </a:r>
          </a:p>
        </p:txBody>
      </p:sp>
      <p:sp>
        <p:nvSpPr>
          <p:cNvPr id="18" name="TextBox 17"/>
          <p:cNvSpPr txBox="1"/>
          <p:nvPr/>
        </p:nvSpPr>
        <p:spPr>
          <a:xfrm>
            <a:off x="9829800" y="2286000"/>
            <a:ext cx="1673352" cy="420624"/>
          </a:xfrm>
          <a:prstGeom prst="rect">
            <a:avLst/>
          </a:prstGeom>
          <a:noFill/>
        </p:spPr>
        <p:txBody>
          <a:bodyPr wrap="square" lIns="0" rIns="0" tIns="0" bIns="0" anchor="ctr">
            <a:spAutoFit/>
          </a:bodyPr>
          <a:lstStyle/>
          <a:p>
            <a:pPr algn="r"/>
            <a:r>
              <a:rPr sz="1250" b="0" i="0">
                <a:solidFill>
                  <a:srgbClr val="C9D1DE"/>
                </a:solidFill>
                <a:latin typeface="Consolas"/>
              </a:rPr>
              <a:t>60 Wh</a:t>
            </a:r>
          </a:p>
        </p:txBody>
      </p:sp>
      <p:sp>
        <p:nvSpPr>
          <p:cNvPr id="19" name="TextBox 18"/>
          <p:cNvSpPr txBox="1"/>
          <p:nvPr/>
        </p:nvSpPr>
        <p:spPr>
          <a:xfrm>
            <a:off x="777240" y="2743200"/>
            <a:ext cx="1554480" cy="420624"/>
          </a:xfrm>
          <a:prstGeom prst="rect">
            <a:avLst/>
          </a:prstGeom>
          <a:noFill/>
        </p:spPr>
        <p:txBody>
          <a:bodyPr wrap="square" lIns="0" rIns="0" tIns="0" bIns="0" anchor="ctr">
            <a:spAutoFit/>
          </a:bodyPr>
          <a:lstStyle/>
          <a:p>
            <a:pPr algn="l"/>
            <a:r>
              <a:rPr sz="1250" b="0" i="0">
                <a:solidFill>
                  <a:srgbClr val="C9D1DE"/>
                </a:solidFill>
                <a:latin typeface="Segoe UI"/>
              </a:rPr>
              <a:t>Mañana</a:t>
            </a:r>
          </a:p>
        </p:txBody>
      </p:sp>
      <p:sp>
        <p:nvSpPr>
          <p:cNvPr id="20" name="TextBox 19"/>
          <p:cNvSpPr txBox="1"/>
          <p:nvPr/>
        </p:nvSpPr>
        <p:spPr>
          <a:xfrm>
            <a:off x="2331720" y="2743200"/>
            <a:ext cx="1920240" cy="420624"/>
          </a:xfrm>
          <a:prstGeom prst="rect">
            <a:avLst/>
          </a:prstGeom>
          <a:noFill/>
        </p:spPr>
        <p:txBody>
          <a:bodyPr wrap="square" lIns="0" rIns="0" tIns="0" bIns="0" anchor="ctr">
            <a:spAutoFit/>
          </a:bodyPr>
          <a:lstStyle/>
          <a:p>
            <a:pPr algn="r"/>
            <a:r>
              <a:rPr sz="1250" b="0" i="0">
                <a:solidFill>
                  <a:srgbClr val="C9D1DE"/>
                </a:solidFill>
                <a:latin typeface="Consolas"/>
              </a:rPr>
              <a:t>3,6 %</a:t>
            </a:r>
          </a:p>
        </p:txBody>
      </p:sp>
      <p:sp>
        <p:nvSpPr>
          <p:cNvPr id="21" name="TextBox 20"/>
          <p:cNvSpPr txBox="1"/>
          <p:nvPr/>
        </p:nvSpPr>
        <p:spPr>
          <a:xfrm>
            <a:off x="4251960" y="2743200"/>
            <a:ext cx="1920240" cy="420624"/>
          </a:xfrm>
          <a:prstGeom prst="rect">
            <a:avLst/>
          </a:prstGeom>
          <a:noFill/>
        </p:spPr>
        <p:txBody>
          <a:bodyPr wrap="square" lIns="0" rIns="0" tIns="0" bIns="0" anchor="ctr">
            <a:spAutoFit/>
          </a:bodyPr>
          <a:lstStyle/>
          <a:p>
            <a:pPr algn="r"/>
            <a:r>
              <a:rPr sz="1250" b="0" i="0">
                <a:solidFill>
                  <a:srgbClr val="C9D1DE"/>
                </a:solidFill>
                <a:latin typeface="Consolas"/>
              </a:rPr>
              <a:t>3,4 %</a:t>
            </a:r>
          </a:p>
        </p:txBody>
      </p:sp>
      <p:sp>
        <p:nvSpPr>
          <p:cNvPr id="22" name="TextBox 21"/>
          <p:cNvSpPr txBox="1"/>
          <p:nvPr/>
        </p:nvSpPr>
        <p:spPr>
          <a:xfrm>
            <a:off x="6172200" y="2743200"/>
            <a:ext cx="1920240" cy="420624"/>
          </a:xfrm>
          <a:prstGeom prst="rect">
            <a:avLst/>
          </a:prstGeom>
          <a:noFill/>
        </p:spPr>
        <p:txBody>
          <a:bodyPr wrap="square" lIns="0" rIns="0" tIns="0" bIns="0" anchor="ctr">
            <a:spAutoFit/>
          </a:bodyPr>
          <a:lstStyle/>
          <a:p>
            <a:pPr algn="r"/>
            <a:r>
              <a:rPr sz="1250" b="0" i="0">
                <a:solidFill>
                  <a:srgbClr val="C9D1DE"/>
                </a:solidFill>
                <a:latin typeface="Consolas"/>
              </a:rPr>
              <a:t>12,4 %</a:t>
            </a:r>
          </a:p>
        </p:txBody>
      </p:sp>
      <p:sp>
        <p:nvSpPr>
          <p:cNvPr id="23" name="TextBox 22"/>
          <p:cNvSpPr txBox="1"/>
          <p:nvPr/>
        </p:nvSpPr>
        <p:spPr>
          <a:xfrm>
            <a:off x="8092440" y="2743200"/>
            <a:ext cx="1737360" cy="420624"/>
          </a:xfrm>
          <a:prstGeom prst="rect">
            <a:avLst/>
          </a:prstGeom>
          <a:noFill/>
        </p:spPr>
        <p:txBody>
          <a:bodyPr wrap="square" lIns="0" rIns="0" tIns="0" bIns="0" anchor="ctr">
            <a:spAutoFit/>
          </a:bodyPr>
          <a:lstStyle/>
          <a:p>
            <a:pPr algn="r"/>
            <a:r>
              <a:rPr sz="1250" b="0" i="0">
                <a:solidFill>
                  <a:srgbClr val="C9D1DE"/>
                </a:solidFill>
                <a:latin typeface="Consolas"/>
              </a:rPr>
              <a:t>10,5 %</a:t>
            </a:r>
          </a:p>
        </p:txBody>
      </p:sp>
      <p:sp>
        <p:nvSpPr>
          <p:cNvPr id="24" name="TextBox 23"/>
          <p:cNvSpPr txBox="1"/>
          <p:nvPr/>
        </p:nvSpPr>
        <p:spPr>
          <a:xfrm>
            <a:off x="9829800" y="2743200"/>
            <a:ext cx="1673352" cy="420624"/>
          </a:xfrm>
          <a:prstGeom prst="rect">
            <a:avLst/>
          </a:prstGeom>
          <a:noFill/>
        </p:spPr>
        <p:txBody>
          <a:bodyPr wrap="square" lIns="0" rIns="0" tIns="0" bIns="0" anchor="ctr">
            <a:spAutoFit/>
          </a:bodyPr>
          <a:lstStyle/>
          <a:p>
            <a:pPr algn="r"/>
            <a:r>
              <a:rPr sz="1250" b="0" i="0">
                <a:solidFill>
                  <a:srgbClr val="C9D1DE"/>
                </a:solidFill>
                <a:latin typeface="Consolas"/>
              </a:rPr>
              <a:t>220 Wh</a:t>
            </a:r>
          </a:p>
        </p:txBody>
      </p:sp>
      <p:sp>
        <p:nvSpPr>
          <p:cNvPr id="25" name="TextBox 24"/>
          <p:cNvSpPr txBox="1"/>
          <p:nvPr/>
        </p:nvSpPr>
        <p:spPr>
          <a:xfrm>
            <a:off x="777240" y="3200400"/>
            <a:ext cx="1554480" cy="420624"/>
          </a:xfrm>
          <a:prstGeom prst="rect">
            <a:avLst/>
          </a:prstGeom>
          <a:noFill/>
        </p:spPr>
        <p:txBody>
          <a:bodyPr wrap="square" lIns="0" rIns="0" tIns="0" bIns="0" anchor="ctr">
            <a:spAutoFit/>
          </a:bodyPr>
          <a:lstStyle/>
          <a:p>
            <a:pPr algn="l"/>
            <a:r>
              <a:rPr sz="1250" b="0" i="0">
                <a:solidFill>
                  <a:srgbClr val="C9D1DE"/>
                </a:solidFill>
                <a:latin typeface="Segoe UI"/>
              </a:rPr>
              <a:t>Tarde</a:t>
            </a:r>
          </a:p>
        </p:txBody>
      </p:sp>
      <p:sp>
        <p:nvSpPr>
          <p:cNvPr id="26" name="TextBox 25"/>
          <p:cNvSpPr txBox="1"/>
          <p:nvPr/>
        </p:nvSpPr>
        <p:spPr>
          <a:xfrm>
            <a:off x="2331720" y="3200400"/>
            <a:ext cx="1920240" cy="420624"/>
          </a:xfrm>
          <a:prstGeom prst="rect">
            <a:avLst/>
          </a:prstGeom>
          <a:noFill/>
        </p:spPr>
        <p:txBody>
          <a:bodyPr wrap="square" lIns="0" rIns="0" tIns="0" bIns="0" anchor="ctr">
            <a:spAutoFit/>
          </a:bodyPr>
          <a:lstStyle/>
          <a:p>
            <a:pPr algn="r"/>
            <a:r>
              <a:rPr sz="1250" b="0" i="0">
                <a:solidFill>
                  <a:srgbClr val="C9D1DE"/>
                </a:solidFill>
                <a:latin typeface="Consolas"/>
              </a:rPr>
              <a:t>2,0 %</a:t>
            </a:r>
          </a:p>
        </p:txBody>
      </p:sp>
      <p:sp>
        <p:nvSpPr>
          <p:cNvPr id="27" name="TextBox 26"/>
          <p:cNvSpPr txBox="1"/>
          <p:nvPr/>
        </p:nvSpPr>
        <p:spPr>
          <a:xfrm>
            <a:off x="4251960" y="3200400"/>
            <a:ext cx="1920240" cy="420624"/>
          </a:xfrm>
          <a:prstGeom prst="rect">
            <a:avLst/>
          </a:prstGeom>
          <a:noFill/>
        </p:spPr>
        <p:txBody>
          <a:bodyPr wrap="square" lIns="0" rIns="0" tIns="0" bIns="0" anchor="ctr">
            <a:spAutoFit/>
          </a:bodyPr>
          <a:lstStyle/>
          <a:p>
            <a:pPr algn="r"/>
            <a:r>
              <a:rPr sz="1250" b="0" i="0">
                <a:solidFill>
                  <a:srgbClr val="C9D1DE"/>
                </a:solidFill>
                <a:latin typeface="Consolas"/>
              </a:rPr>
              <a:t>1,1 %</a:t>
            </a:r>
          </a:p>
        </p:txBody>
      </p:sp>
      <p:sp>
        <p:nvSpPr>
          <p:cNvPr id="28" name="TextBox 27"/>
          <p:cNvSpPr txBox="1"/>
          <p:nvPr/>
        </p:nvSpPr>
        <p:spPr>
          <a:xfrm>
            <a:off x="6172200" y="3200400"/>
            <a:ext cx="1920240" cy="420624"/>
          </a:xfrm>
          <a:prstGeom prst="rect">
            <a:avLst/>
          </a:prstGeom>
          <a:noFill/>
        </p:spPr>
        <p:txBody>
          <a:bodyPr wrap="square" lIns="0" rIns="0" tIns="0" bIns="0" anchor="ctr">
            <a:spAutoFit/>
          </a:bodyPr>
          <a:lstStyle/>
          <a:p>
            <a:pPr algn="r"/>
            <a:r>
              <a:rPr sz="1250" b="0" i="0">
                <a:solidFill>
                  <a:srgbClr val="C9D1DE"/>
                </a:solidFill>
                <a:latin typeface="Consolas"/>
              </a:rPr>
              <a:t>16,9 %</a:t>
            </a:r>
          </a:p>
        </p:txBody>
      </p:sp>
      <p:sp>
        <p:nvSpPr>
          <p:cNvPr id="29" name="TextBox 28"/>
          <p:cNvSpPr txBox="1"/>
          <p:nvPr/>
        </p:nvSpPr>
        <p:spPr>
          <a:xfrm>
            <a:off x="8092440" y="3200400"/>
            <a:ext cx="1737360" cy="420624"/>
          </a:xfrm>
          <a:prstGeom prst="rect">
            <a:avLst/>
          </a:prstGeom>
          <a:noFill/>
        </p:spPr>
        <p:txBody>
          <a:bodyPr wrap="square" lIns="0" rIns="0" tIns="0" bIns="0" anchor="ctr">
            <a:spAutoFit/>
          </a:bodyPr>
          <a:lstStyle/>
          <a:p>
            <a:pPr algn="r"/>
            <a:r>
              <a:rPr sz="1250" b="0" i="0">
                <a:solidFill>
                  <a:srgbClr val="C9D1DE"/>
                </a:solidFill>
                <a:latin typeface="Consolas"/>
              </a:rPr>
              <a:t>14,8 %</a:t>
            </a:r>
          </a:p>
        </p:txBody>
      </p:sp>
      <p:sp>
        <p:nvSpPr>
          <p:cNvPr id="30" name="TextBox 29"/>
          <p:cNvSpPr txBox="1"/>
          <p:nvPr/>
        </p:nvSpPr>
        <p:spPr>
          <a:xfrm>
            <a:off x="9829800" y="3200400"/>
            <a:ext cx="1673352" cy="420624"/>
          </a:xfrm>
          <a:prstGeom prst="rect">
            <a:avLst/>
          </a:prstGeom>
          <a:noFill/>
        </p:spPr>
        <p:txBody>
          <a:bodyPr wrap="square" lIns="0" rIns="0" tIns="0" bIns="0" anchor="ctr">
            <a:spAutoFit/>
          </a:bodyPr>
          <a:lstStyle/>
          <a:p>
            <a:pPr algn="r"/>
            <a:r>
              <a:rPr sz="1250" b="0" i="0">
                <a:solidFill>
                  <a:srgbClr val="C9D1DE"/>
                </a:solidFill>
                <a:latin typeface="Consolas"/>
              </a:rPr>
              <a:t>260 Wh</a:t>
            </a:r>
          </a:p>
        </p:txBody>
      </p:sp>
      <p:sp>
        <p:nvSpPr>
          <p:cNvPr id="31" name="TextBox 30"/>
          <p:cNvSpPr txBox="1"/>
          <p:nvPr/>
        </p:nvSpPr>
        <p:spPr>
          <a:xfrm>
            <a:off x="777240" y="3657600"/>
            <a:ext cx="1554480" cy="420624"/>
          </a:xfrm>
          <a:prstGeom prst="rect">
            <a:avLst/>
          </a:prstGeom>
          <a:noFill/>
        </p:spPr>
        <p:txBody>
          <a:bodyPr wrap="square" lIns="0" rIns="0" tIns="0" bIns="0" anchor="ctr">
            <a:spAutoFit/>
          </a:bodyPr>
          <a:lstStyle/>
          <a:p>
            <a:pPr algn="l"/>
            <a:r>
              <a:rPr sz="1250" b="0" i="0">
                <a:solidFill>
                  <a:srgbClr val="C9D1DE"/>
                </a:solidFill>
                <a:latin typeface="Segoe UI"/>
              </a:rPr>
              <a:t>Noche</a:t>
            </a:r>
          </a:p>
        </p:txBody>
      </p:sp>
      <p:sp>
        <p:nvSpPr>
          <p:cNvPr id="32" name="TextBox 31"/>
          <p:cNvSpPr txBox="1"/>
          <p:nvPr/>
        </p:nvSpPr>
        <p:spPr>
          <a:xfrm>
            <a:off x="2331720" y="3657600"/>
            <a:ext cx="1920240" cy="420624"/>
          </a:xfrm>
          <a:prstGeom prst="rect">
            <a:avLst/>
          </a:prstGeom>
          <a:noFill/>
        </p:spPr>
        <p:txBody>
          <a:bodyPr wrap="square" lIns="0" rIns="0" tIns="0" bIns="0" anchor="ctr">
            <a:spAutoFit/>
          </a:bodyPr>
          <a:lstStyle/>
          <a:p>
            <a:pPr algn="r"/>
            <a:r>
              <a:rPr sz="1250" b="0" i="0">
                <a:solidFill>
                  <a:srgbClr val="C9D1DE"/>
                </a:solidFill>
                <a:latin typeface="Consolas"/>
              </a:rPr>
              <a:t>4,7 %</a:t>
            </a:r>
          </a:p>
        </p:txBody>
      </p:sp>
      <p:sp>
        <p:nvSpPr>
          <p:cNvPr id="33" name="TextBox 32"/>
          <p:cNvSpPr txBox="1"/>
          <p:nvPr/>
        </p:nvSpPr>
        <p:spPr>
          <a:xfrm>
            <a:off x="4251960" y="3657600"/>
            <a:ext cx="1920240" cy="420624"/>
          </a:xfrm>
          <a:prstGeom prst="rect">
            <a:avLst/>
          </a:prstGeom>
          <a:noFill/>
        </p:spPr>
        <p:txBody>
          <a:bodyPr wrap="square" lIns="0" rIns="0" tIns="0" bIns="0" anchor="ctr">
            <a:spAutoFit/>
          </a:bodyPr>
          <a:lstStyle/>
          <a:p>
            <a:pPr algn="r"/>
            <a:r>
              <a:rPr sz="1250" b="0" i="0">
                <a:solidFill>
                  <a:srgbClr val="C9D1DE"/>
                </a:solidFill>
                <a:latin typeface="Consolas"/>
              </a:rPr>
              <a:t>1,7 %</a:t>
            </a:r>
          </a:p>
        </p:txBody>
      </p:sp>
      <p:sp>
        <p:nvSpPr>
          <p:cNvPr id="34" name="TextBox 33"/>
          <p:cNvSpPr txBox="1"/>
          <p:nvPr/>
        </p:nvSpPr>
        <p:spPr>
          <a:xfrm>
            <a:off x="6172200" y="3657600"/>
            <a:ext cx="1920240" cy="420624"/>
          </a:xfrm>
          <a:prstGeom prst="rect">
            <a:avLst/>
          </a:prstGeom>
          <a:noFill/>
        </p:spPr>
        <p:txBody>
          <a:bodyPr wrap="square" lIns="0" rIns="0" tIns="0" bIns="0" anchor="ctr">
            <a:spAutoFit/>
          </a:bodyPr>
          <a:lstStyle/>
          <a:p>
            <a:pPr algn="r"/>
            <a:r>
              <a:rPr sz="1250" b="0" i="0">
                <a:solidFill>
                  <a:srgbClr val="C9D1DE"/>
                </a:solidFill>
                <a:latin typeface="Consolas"/>
              </a:rPr>
              <a:t>11,2 %</a:t>
            </a:r>
          </a:p>
        </p:txBody>
      </p:sp>
      <p:sp>
        <p:nvSpPr>
          <p:cNvPr id="35" name="TextBox 34"/>
          <p:cNvSpPr txBox="1"/>
          <p:nvPr/>
        </p:nvSpPr>
        <p:spPr>
          <a:xfrm>
            <a:off x="8092440" y="3657600"/>
            <a:ext cx="1737360" cy="420624"/>
          </a:xfrm>
          <a:prstGeom prst="rect">
            <a:avLst/>
          </a:prstGeom>
          <a:noFill/>
        </p:spPr>
        <p:txBody>
          <a:bodyPr wrap="square" lIns="0" rIns="0" tIns="0" bIns="0" anchor="ctr">
            <a:spAutoFit/>
          </a:bodyPr>
          <a:lstStyle/>
          <a:p>
            <a:pPr algn="r"/>
            <a:r>
              <a:rPr sz="1250" b="0" i="0">
                <a:solidFill>
                  <a:srgbClr val="C9D1DE"/>
                </a:solidFill>
                <a:latin typeface="Consolas"/>
              </a:rPr>
              <a:t>4,9 %</a:t>
            </a:r>
          </a:p>
        </p:txBody>
      </p:sp>
      <p:sp>
        <p:nvSpPr>
          <p:cNvPr id="36" name="TextBox 35"/>
          <p:cNvSpPr txBox="1"/>
          <p:nvPr/>
        </p:nvSpPr>
        <p:spPr>
          <a:xfrm>
            <a:off x="9829800" y="3657600"/>
            <a:ext cx="1673352" cy="420624"/>
          </a:xfrm>
          <a:prstGeom prst="rect">
            <a:avLst/>
          </a:prstGeom>
          <a:noFill/>
        </p:spPr>
        <p:txBody>
          <a:bodyPr wrap="square" lIns="0" rIns="0" tIns="0" bIns="0" anchor="ctr">
            <a:spAutoFit/>
          </a:bodyPr>
          <a:lstStyle/>
          <a:p>
            <a:pPr algn="r"/>
            <a:r>
              <a:rPr sz="1250" b="0" i="0">
                <a:solidFill>
                  <a:srgbClr val="C9D1DE"/>
                </a:solidFill>
                <a:latin typeface="Consolas"/>
              </a:rPr>
              <a:t>140 Wh</a:t>
            </a:r>
          </a:p>
        </p:txBody>
      </p:sp>
      <p:sp>
        <p:nvSpPr>
          <p:cNvPr id="37" name="Rectangle 36"/>
          <p:cNvSpPr/>
          <p:nvPr/>
        </p:nvSpPr>
        <p:spPr>
          <a:xfrm>
            <a:off x="685800" y="4114800"/>
            <a:ext cx="10817352" cy="420624"/>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4114800"/>
            <a:ext cx="1554480" cy="420624"/>
          </a:xfrm>
          <a:prstGeom prst="rect">
            <a:avLst/>
          </a:prstGeom>
          <a:noFill/>
        </p:spPr>
        <p:txBody>
          <a:bodyPr wrap="square" lIns="0" rIns="0" tIns="0" bIns="0" anchor="ctr">
            <a:spAutoFit/>
          </a:bodyPr>
          <a:lstStyle/>
          <a:p>
            <a:pPr algn="l"/>
            <a:r>
              <a:rPr sz="1250" b="1" i="0">
                <a:solidFill>
                  <a:srgbClr val="E6E9EF"/>
                </a:solidFill>
                <a:latin typeface="Segoe UI"/>
              </a:rPr>
              <a:t>Total</a:t>
            </a:r>
          </a:p>
        </p:txBody>
      </p:sp>
      <p:sp>
        <p:nvSpPr>
          <p:cNvPr id="39" name="TextBox 38"/>
          <p:cNvSpPr txBox="1"/>
          <p:nvPr/>
        </p:nvSpPr>
        <p:spPr>
          <a:xfrm>
            <a:off x="2331720" y="4114800"/>
            <a:ext cx="1920240" cy="420624"/>
          </a:xfrm>
          <a:prstGeom prst="rect">
            <a:avLst/>
          </a:prstGeom>
          <a:noFill/>
        </p:spPr>
        <p:txBody>
          <a:bodyPr wrap="square" lIns="0" rIns="0" tIns="0" bIns="0" anchor="ctr">
            <a:spAutoFit/>
          </a:bodyPr>
          <a:lstStyle/>
          <a:p>
            <a:pPr algn="r"/>
            <a:r>
              <a:rPr sz="1250" b="1" i="0">
                <a:solidFill>
                  <a:srgbClr val="E6E9EF"/>
                </a:solidFill>
                <a:latin typeface="Consolas"/>
              </a:rPr>
              <a:t>3,1 %</a:t>
            </a:r>
          </a:p>
        </p:txBody>
      </p:sp>
      <p:sp>
        <p:nvSpPr>
          <p:cNvPr id="40" name="TextBox 39"/>
          <p:cNvSpPr txBox="1"/>
          <p:nvPr/>
        </p:nvSpPr>
        <p:spPr>
          <a:xfrm>
            <a:off x="4251960" y="4114800"/>
            <a:ext cx="1920240" cy="420624"/>
          </a:xfrm>
          <a:prstGeom prst="rect">
            <a:avLst/>
          </a:prstGeom>
          <a:noFill/>
        </p:spPr>
        <p:txBody>
          <a:bodyPr wrap="square" lIns="0" rIns="0" tIns="0" bIns="0" anchor="ctr">
            <a:spAutoFit/>
          </a:bodyPr>
          <a:lstStyle/>
          <a:p>
            <a:pPr algn="r"/>
            <a:r>
              <a:rPr sz="1250" b="1" i="0">
                <a:solidFill>
                  <a:srgbClr val="E6E9EF"/>
                </a:solidFill>
                <a:latin typeface="Consolas"/>
              </a:rPr>
              <a:t>2,1 % (−33 %)</a:t>
            </a:r>
          </a:p>
        </p:txBody>
      </p:sp>
      <p:sp>
        <p:nvSpPr>
          <p:cNvPr id="41" name="TextBox 40"/>
          <p:cNvSpPr txBox="1"/>
          <p:nvPr/>
        </p:nvSpPr>
        <p:spPr>
          <a:xfrm>
            <a:off x="6172200" y="4114800"/>
            <a:ext cx="1920240" cy="420624"/>
          </a:xfrm>
          <a:prstGeom prst="rect">
            <a:avLst/>
          </a:prstGeom>
          <a:noFill/>
        </p:spPr>
        <p:txBody>
          <a:bodyPr wrap="square" lIns="0" rIns="0" tIns="0" bIns="0" anchor="ctr">
            <a:spAutoFit/>
          </a:bodyPr>
          <a:lstStyle/>
          <a:p>
            <a:pPr algn="r"/>
            <a:r>
              <a:rPr sz="1250" b="1" i="0">
                <a:solidFill>
                  <a:srgbClr val="E6E9EF"/>
                </a:solidFill>
                <a:latin typeface="Consolas"/>
              </a:rPr>
              <a:t>10,2 %</a:t>
            </a:r>
          </a:p>
        </p:txBody>
      </p:sp>
      <p:sp>
        <p:nvSpPr>
          <p:cNvPr id="42" name="TextBox 41"/>
          <p:cNvSpPr txBox="1"/>
          <p:nvPr/>
        </p:nvSpPr>
        <p:spPr>
          <a:xfrm>
            <a:off x="8092440" y="4114800"/>
            <a:ext cx="1737360" cy="420624"/>
          </a:xfrm>
          <a:prstGeom prst="rect">
            <a:avLst/>
          </a:prstGeom>
          <a:noFill/>
        </p:spPr>
        <p:txBody>
          <a:bodyPr wrap="square" lIns="0" rIns="0" tIns="0" bIns="0" anchor="ctr">
            <a:spAutoFit/>
          </a:bodyPr>
          <a:lstStyle/>
          <a:p>
            <a:pPr algn="r"/>
            <a:r>
              <a:rPr sz="1250" b="1" i="0">
                <a:solidFill>
                  <a:srgbClr val="E6E9EF"/>
                </a:solidFill>
                <a:latin typeface="Consolas"/>
              </a:rPr>
              <a:t>7,6 % (−25 %)</a:t>
            </a:r>
          </a:p>
        </p:txBody>
      </p:sp>
      <p:sp>
        <p:nvSpPr>
          <p:cNvPr id="43" name="TextBox 42"/>
          <p:cNvSpPr txBox="1"/>
          <p:nvPr/>
        </p:nvSpPr>
        <p:spPr>
          <a:xfrm>
            <a:off x="9829800" y="4114800"/>
            <a:ext cx="1673352" cy="420624"/>
          </a:xfrm>
          <a:prstGeom prst="rect">
            <a:avLst/>
          </a:prstGeom>
          <a:noFill/>
        </p:spPr>
        <p:txBody>
          <a:bodyPr wrap="square" lIns="0" rIns="0" tIns="0" bIns="0" anchor="ctr">
            <a:spAutoFit/>
          </a:bodyPr>
          <a:lstStyle/>
          <a:p>
            <a:pPr algn="r"/>
            <a:r>
              <a:rPr sz="1250" b="1" i="0">
                <a:solidFill>
                  <a:srgbClr val="E6E9EF"/>
                </a:solidFill>
                <a:latin typeface="Consolas"/>
              </a:rPr>
              <a:t>—</a:t>
            </a:r>
          </a:p>
        </p:txBody>
      </p:sp>
      <p:sp>
        <p:nvSpPr>
          <p:cNvPr id="44" name="Rectangle 43"/>
          <p:cNvSpPr/>
          <p:nvPr/>
        </p:nvSpPr>
        <p:spPr>
          <a:xfrm>
            <a:off x="685800" y="5394960"/>
            <a:ext cx="10817352" cy="10058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85800" y="5394960"/>
            <a:ext cx="54864" cy="1005840"/>
          </a:xfrm>
          <a:prstGeom prst="rect">
            <a:avLst/>
          </a:prstGeom>
          <a:solidFill>
            <a:srgbClr val="7BD9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41832" y="5559552"/>
            <a:ext cx="10360152" cy="731520"/>
          </a:xfrm>
          <a:prstGeom prst="rect">
            <a:avLst/>
          </a:prstGeom>
          <a:noFill/>
        </p:spPr>
        <p:txBody>
          <a:bodyPr wrap="square" lIns="0" rIns="0" tIns="0" bIns="0">
            <a:spAutoFit/>
          </a:bodyPr>
          <a:lstStyle/>
          <a:p>
            <a:pPr algn="l">
              <a:lnSpc>
                <a:spcPct val="110000"/>
              </a:lnSpc>
            </a:pPr>
            <a:r>
              <a:rPr sz="1250" b="1" i="0">
                <a:solidFill>
                  <a:srgbClr val="E6E9EF"/>
                </a:solidFill>
                <a:latin typeface="Segoe UI"/>
              </a:rPr>
              <a:t>La densidad envejece menos, pero envejece.</a:t>
            </a:r>
            <a:r>
              <a:rPr sz="1250" b="0" i="0">
                <a:solidFill>
                  <a:srgbClr val="C9D1DE"/>
                </a:solidFill>
                <a:latin typeface="Segoe UI"/>
              </a:rPr>
              <a:t> Madrugada casi no cambia en ninguna definición: ahí no hay estación que corregir. Mañana, tarde y noche sí bajan con las dos — el p90 de mayo cae a 220, 260 y 140 Wh. En total, DBSCAN baja 33 % y el umbral 25 %: ninguna definición es inmune a la estación, y las dos necesitan el mismo remedio, reajustarse cada mes.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