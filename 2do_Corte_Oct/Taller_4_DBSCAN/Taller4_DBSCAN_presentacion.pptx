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Shiro Twin · C2 Taller 4 · DBSCAN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01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548640"/>
            <a:ext cx="310896" cy="310896"/>
          </a:xfrm>
          <a:prstGeom prst="roundRect">
            <a:avLst>
              <a:gd name="adj" fmla="val 4000"/>
            </a:avLst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4864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Consolas"/>
              </a:rP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" y="5669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6E9EF"/>
                </a:solidFill>
                <a:latin typeface="Segoe UI Semibold"/>
              </a:rPr>
              <a:t>Shiro Twin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60350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F7787"/>
                </a:solidFill>
                <a:latin typeface="Consolas"/>
              </a:rPr>
              <a:t>Aprendizaje de Máquina · Corte 2 · Taller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19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710A"/>
                </a:solidFill>
                <a:latin typeface="Consolas"/>
              </a:rPr>
              <a:t>EL HALLAZGO DE ESTE TALLER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40280"/>
            <a:ext cx="107899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0">
                <a:solidFill>
                  <a:srgbClr val="E6E9EF"/>
                </a:solidFill>
                <a:latin typeface="Segoe UI Semibold"/>
              </a:rPr>
              <a:t>La carga alta no es un grupo denso.</a:t>
            </a:r>
          </a:p>
          <a:p>
            <a:pPr algn="l">
              <a:lnSpc>
                <a:spcPct val="100000"/>
              </a:lnSpc>
            </a:pPr>
            <a:r>
              <a:rPr sz="4200" b="0">
                <a:solidFill>
                  <a:srgbClr val="E6E9EF"/>
                </a:solidFill>
                <a:latin typeface="Segoe UI Semibold"/>
              </a:rPr>
              <a:t>Y lo raro depende de la hora.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069080"/>
            <a:ext cx="9326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9AA3B2"/>
                </a:solidFill>
                <a:latin typeface="Segoe UI"/>
              </a:rPr>
              <a:t>DBSCAN sobre 136 días y 19.729 lecturas para encontrar lo que no pertenece a ningún patrón: los días que el gemelo no debe aprender como rutina y una definición de anomalía que no dependa de un umbral fijo.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5257800"/>
            <a:ext cx="10820095" cy="9525"/>
          </a:xfrm>
          <a:prstGeom prst="rect">
            <a:avLst/>
          </a:prstGeom>
          <a:solidFill>
            <a:srgbClr val="23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44068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C9D1DE"/>
                </a:solidFill>
                <a:latin typeface="Segoe UI Semibold"/>
              </a:rPr>
              <a:t>Jose Leonardo Diazgranados · Sofía Londoño · Andrés Felipe Céspedes Rondón · Alex Duran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742432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F7787"/>
                </a:solidFill>
                <a:latin typeface="Consolas"/>
              </a:rPr>
              <a:t>Universidad Sergio Arboleda · Semestre 26-2 · Docente: Hernán Darío Cruz Bueno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8295" y="544068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F7787"/>
                </a:solidFill>
                <a:latin typeface="Consolas"/>
              </a:rPr>
              <a:t>Appliances Energy Prediction · UCI #374</a:t>
            </a:r>
          </a:p>
          <a:p>
            <a:pPr algn="r">
              <a:lnSpc>
                <a:spcPct val="115000"/>
              </a:lnSpc>
            </a:pPr>
            <a:r>
              <a:rPr sz="1000" b="0">
                <a:solidFill>
                  <a:srgbClr val="6F7787"/>
                </a:solidFill>
                <a:latin typeface="Consolas"/>
              </a:rPr>
              <a:t>random_state = 42 · 28 sep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Shiro Twin · C2 Taller 4 · DBSCAN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7BD992"/>
                </a:solidFill>
                <a:latin typeface="Consolas"/>
              </a:rPr>
              <a:t>ENCUADRE · QUÉ DECIDE ESTE TALLER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E6E9EF"/>
                </a:solidFill>
                <a:latin typeface="Segoe UI Semibold"/>
              </a:rPr>
              <a:t>¿Qué no pertenece a ningún patrón?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AA3B2"/>
                </a:solidFill>
                <a:latin typeface="Segoe UI"/>
              </a:rPr>
              <a:t>K-Means encontró los tipos de día y el jerárquico los auditó. DBSCAN no obliga a cada punto a entrar en un grupo: lo que está en zona de baja densidad queda como ruido.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743200"/>
            <a:ext cx="5166360" cy="1920240"/>
          </a:xfrm>
          <a:prstGeom prst="roundRect">
            <a:avLst>
              <a:gd name="adj" fmla="val 4000"/>
            </a:avLst>
          </a:prstGeom>
          <a:solidFill>
            <a:srgbClr val="151920"/>
          </a:solidFill>
          <a:ln w="9525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97180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E6E9EF"/>
                </a:solidFill>
                <a:latin typeface="Segoe UI Semibold"/>
              </a:rPr>
              <a:t>A · Días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474720"/>
            <a:ext cx="4663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A3B2"/>
                </a:solidFill>
                <a:latin typeface="Segoe UI"/>
              </a:rPr>
              <a:t>¿Los tipos de día son grupos densos? ¿Qué días no debe aprender el gemelo como rutina?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25196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BD992"/>
                </a:solidFill>
                <a:latin typeface="Consolas"/>
              </a:rPr>
              <a:t>GEMELO DIGITAL · VARIABLE TIPO DE DÍA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743200"/>
            <a:ext cx="5166360" cy="1920240"/>
          </a:xfrm>
          <a:prstGeom prst="roundRect">
            <a:avLst>
              <a:gd name="adj" fmla="val 4000"/>
            </a:avLst>
          </a:prstGeom>
          <a:solidFill>
            <a:srgbClr val="151920"/>
          </a:solidFill>
          <a:ln w="9525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97180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E6E9EF"/>
                </a:solidFill>
                <a:latin typeface="Segoe UI Semibold"/>
              </a:rPr>
              <a:t>B · Lecturas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474720"/>
            <a:ext cx="4663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A3B2"/>
                </a:solidFill>
                <a:latin typeface="Segoe UI"/>
              </a:rPr>
              <a:t>El umbral fijo de 200 Wh envejece y no ve la hora. ¿Puede la densidad definir «raro para este momento»?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25196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BD992"/>
                </a:solidFill>
                <a:latin typeface="Consolas"/>
              </a:rPr>
              <a:t>CAPA GUARDIAN · DETECTOR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5029200"/>
            <a:ext cx="10607040" cy="685800"/>
          </a:xfrm>
          <a:prstGeom prst="rect">
            <a:avLst/>
          </a:prstGeom>
          <a:solidFill>
            <a:srgbClr val="151920"/>
          </a:solidFill>
          <a:ln w="9525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5029200"/>
            <a:ext cx="54864" cy="685800"/>
          </a:xfrm>
          <a:prstGeom prst="rect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5212080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6E9EF"/>
                </a:solidFill>
                <a:latin typeface="Segoe UI"/>
              </a:rPr>
              <a:t>Control temporal.</a:t>
            </a:r>
            <a:r>
              <a:rPr sz="1300" b="0">
                <a:solidFill>
                  <a:srgbClr val="C9D1DE"/>
                </a:solidFill>
                <a:latin typeface="Segoe UI"/>
              </a:rPr>
              <a:t> Todo se ajusta con enero–abril; mayo se usa como control, igual que en todo el proyecto.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Shiro Twin · C2 Taller 4 · DBSCAN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7BD992"/>
                </a:solidFill>
                <a:latin typeface="Consolas"/>
              </a:rPr>
              <a:t>PARTE A · PASOS 1–4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E6E9EF"/>
                </a:solidFill>
                <a:latin typeface="Segoe UI Semibold"/>
              </a:rPr>
              <a:t>Gráfico de k-distancias: el codo está en 208 Wh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787348"/>
            <a:ext cx="6748272" cy="291754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1_kdistanc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69644"/>
            <a:ext cx="6583680" cy="275295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18120" y="178308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7BD992"/>
                </a:solidFill>
                <a:latin typeface="Consolas"/>
              </a:rPr>
              <a:t>208 Wh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2441448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eps en el codo con min_samples = 5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(una semana laboral de días parecidos)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301752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6E9EF"/>
                </a:solidFill>
                <a:latin typeface="Consolas"/>
              </a:rPr>
              <a:t>≈ 42 Wh/h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3675888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en 24 dimensiones: dos días son vecinos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si difieren unos 42 Wh por hora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983480"/>
            <a:ext cx="10607040" cy="868680"/>
          </a:xfrm>
          <a:prstGeom prst="rect">
            <a:avLst/>
          </a:prstGeom>
          <a:solidFill>
            <a:srgbClr val="151920"/>
          </a:solidFill>
          <a:ln w="9525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4983480"/>
            <a:ext cx="54864" cy="868680"/>
          </a:xfrm>
          <a:prstGeom prst="rect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5166360"/>
            <a:ext cx="10149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6E9EF"/>
                </a:solidFill>
                <a:latin typeface="Segoe UI"/>
              </a:rPr>
              <a:t>Columnas y escalado.</a:t>
            </a:r>
            <a:r>
              <a:rPr sz="1300" b="0">
                <a:solidFill>
                  <a:srgbClr val="C9D1DE"/>
                </a:solidFill>
                <a:latin typeface="Segoe UI"/>
              </a:rPr>
              <a:t> 24 medias horarias en Wh, sin estandarizar: misma unidad y eps legible. Ni con la regla D + 1 = 25 vecinos aparece un segundo clúster.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Shiro Twin · C2 Taller 4 · DBSCAN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7BD992"/>
                </a:solidFill>
                <a:latin typeface="Consolas"/>
              </a:rPr>
              <a:t>PARTE A · PASOS 5–6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E6E9EF"/>
                </a:solidFill>
                <a:latin typeface="Segoe UI Semibold"/>
              </a:rPr>
              <a:t>Todo un gran grupo, y los 28 días de carga alta son ruido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662854"/>
            <a:ext cx="10588752" cy="321225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2_glob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45150"/>
            <a:ext cx="10424160" cy="304765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02920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7BD992"/>
                </a:solidFill>
                <a:latin typeface="Consolas"/>
              </a:rPr>
              <a:t>1 clúster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687568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de 82 días: la rutina densa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502920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28B82"/>
                </a:solidFill>
                <a:latin typeface="Consolas"/>
              </a:rPr>
              <a:t>54 días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5687568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de ruido (39,7 %): los 28 de carga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alta y 26 normales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5029200"/>
            <a:ext cx="33832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AA3B2"/>
                </a:solidFill>
                <a:latin typeface="Segoe UI"/>
              </a:rPr>
              <a:t>Para DBSCAN, la carga alta no es un grupo: es la periferia dispersa de una única rutina. K-Means lo agrupaba porque está obligado a asignar cada día.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Shiro Twin · C2 Taller 4 · DBSCAN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7BD992"/>
                </a:solidFill>
                <a:latin typeface="Consolas"/>
              </a:rPr>
              <a:t>SEPARAR POR GRUPOS · LA DECISIÓN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E6E9EF"/>
                </a:solidFill>
                <a:latin typeface="Segoe UI Semibold"/>
              </a:rPr>
              <a:t>Cada tipo de día tiene su propia densidad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2095970"/>
            <a:ext cx="6931151" cy="23917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3_por_grup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178266"/>
            <a:ext cx="6766559" cy="22271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01000" y="178308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FB877"/>
                </a:solidFill>
                <a:latin typeface="Consolas"/>
              </a:rPr>
              <a:t>2,2×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2441448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más disperso el día de carga alta: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eps de 452 Wh frente a 208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306324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7BD992"/>
                </a:solidFill>
                <a:latin typeface="Consolas"/>
              </a:rPr>
              <a:t>24 de 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3721608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días de carga alta forman grupo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con su propio eps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5074920"/>
            <a:ext cx="10607040" cy="868680"/>
          </a:xfrm>
          <a:prstGeom prst="rect">
            <a:avLst/>
          </a:prstGeom>
          <a:solidFill>
            <a:srgbClr val="151920"/>
          </a:solidFill>
          <a:ln w="9525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5074920"/>
            <a:ext cx="54864" cy="868680"/>
          </a:xfrm>
          <a:prstGeom prst="rect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5257800"/>
            <a:ext cx="10149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6E9EF"/>
                </a:solidFill>
                <a:latin typeface="Segoe UI"/>
              </a:rPr>
              <a:t>El calendario no sirve para separar.</a:t>
            </a:r>
            <a:r>
              <a:rPr sz="1300" b="0">
                <a:solidFill>
                  <a:srgbClr val="C9D1DE"/>
                </a:solidFill>
                <a:latin typeface="Segoe UI"/>
              </a:rPr>
              <a:t> Separando por fin de semana, 27 de los 28 días de carga alta siguen en el ruido. </a:t>
            </a:r>
            <a:r>
              <a:rPr sz="1300" b="1">
                <a:solidFill>
                  <a:srgbClr val="E6E9EF"/>
                </a:solidFill>
                <a:latin typeface="Segoe UI"/>
              </a:rPr>
              <a:t>Para Shiro:</a:t>
            </a:r>
            <a:r>
              <a:rPr sz="1300" b="0">
                <a:solidFill>
                  <a:srgbClr val="C9D1DE"/>
                </a:solidFill>
                <a:latin typeface="Segoe UI"/>
              </a:rPr>
              <a:t> la incertidumbre del simulador debe depender del tipo de día, no solo de la franja.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Shiro Twin · C2 Taller 4 · DBSCAN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7BD992"/>
                </a:solidFill>
                <a:latin typeface="Consolas"/>
              </a:rPr>
              <a:t>PASO 7 · EPS Y MIN_SAMPLES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E6E9EF"/>
                </a:solidFill>
                <a:latin typeface="Segoe UI Semibold"/>
              </a:rPr>
              <a:t>eps manda; min_samples solo desplaza el codo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705687"/>
            <a:ext cx="10588752" cy="280654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4_sensibilid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87983"/>
            <a:ext cx="10424160" cy="264195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48006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7BD992"/>
                </a:solidFill>
                <a:latin typeface="Consolas"/>
              </a:rPr>
              <a:t>&lt; 175 Wh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48006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9D1DE"/>
                </a:solidFill>
                <a:latin typeface="Segoe UI"/>
              </a:rPr>
              <a:t>fragmenta: hasta 4 clústers de 3–16 días y 62–116 días de ruido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184648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7BD992"/>
                </a:solidFill>
                <a:latin typeface="Consolas"/>
              </a:rPr>
              <a:t>200–250 Wh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5184648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9D1DE"/>
                </a:solidFill>
                <a:latin typeface="Segoe UI"/>
              </a:rPr>
              <a:t>el codo: un gran grupo, los 28 días de carga alta en el ruido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568696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7BD992"/>
                </a:solidFill>
                <a:latin typeface="Consolas"/>
              </a:rPr>
              <a:t>≥ 450 Wh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5568696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9D1DE"/>
                </a:solidFill>
                <a:latin typeface="Segoe UI"/>
              </a:rPr>
              <a:t>absorbe casi todo: 2 % de ruido o menos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9560" y="4754880"/>
            <a:ext cx="3383280" cy="1188720"/>
          </a:xfrm>
          <a:prstGeom prst="rect">
            <a:avLst/>
          </a:prstGeom>
          <a:solidFill>
            <a:srgbClr val="151920"/>
          </a:solidFill>
          <a:ln w="9525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09560" y="4754880"/>
            <a:ext cx="54864" cy="1188720"/>
          </a:xfrm>
          <a:prstGeom prst="rect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65592" y="4937760"/>
            <a:ext cx="29260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E6E9EF"/>
                </a:solidFill>
                <a:latin typeface="Segoe UI"/>
              </a:rPr>
              <a:t>147 configuraciones.</a:t>
            </a:r>
            <a:r>
              <a:rPr sz="1250" b="0">
                <a:solidFill>
                  <a:srgbClr val="C9D1DE"/>
                </a:solidFill>
                <a:latin typeface="Segoe UI"/>
              </a:rPr>
              <a:t> Ninguna separa los dos tipos como dos grupos: solo 6 dan más de un clúster, y el segundo tiene de 3 a 6 días.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Shiro Twin · C2 Taller 4 · DBSCAN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7BD992"/>
                </a:solidFill>
                <a:latin typeface="Consolas"/>
              </a:rPr>
              <a:t>¿QUÉ DÍAS SON RAROS DE VERDAD?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E6E9EF"/>
                </a:solidFill>
                <a:latin typeface="Segoe UI Semibold"/>
              </a:rPr>
              <a:t>22 atípicos robustos: 4 de cada 10 días de enero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802067"/>
            <a:ext cx="7114032" cy="224802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5_atipic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84363"/>
            <a:ext cx="6949440" cy="20834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44348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F7787"/>
                </a:solidFill>
                <a:latin typeface="Consolas"/>
              </a:rPr>
              <a:t>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44348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F7787"/>
                </a:solidFill>
                <a:latin typeface="Consolas"/>
              </a:rPr>
              <a:t>ENE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44348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F7787"/>
                </a:solidFill>
                <a:latin typeface="Consolas"/>
              </a:rPr>
              <a:t>FEB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44348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F7787"/>
                </a:solidFill>
                <a:latin typeface="Consolas"/>
              </a:rPr>
              <a:t>MAR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44348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F7787"/>
                </a:solidFill>
                <a:latin typeface="Consolas"/>
              </a:rPr>
              <a:t>ABR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44348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F7787"/>
                </a:solidFill>
                <a:latin typeface="Consolas"/>
              </a:rPr>
              <a:t>MAY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4727448"/>
            <a:ext cx="6766560" cy="9525"/>
          </a:xfrm>
          <a:prstGeom prst="rect">
            <a:avLst/>
          </a:prstGeom>
          <a:solidFill>
            <a:srgbClr val="2C3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764024"/>
            <a:ext cx="117043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9D1DE"/>
                </a:solidFill>
                <a:latin typeface="Segoe UI"/>
              </a:rPr>
              <a:t>Atípicos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4764024"/>
            <a:ext cx="9875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>
                <a:solidFill>
                  <a:srgbClr val="FFB877"/>
                </a:solidFill>
                <a:latin typeface="Consolas"/>
              </a:rPr>
              <a:t>8 / 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4764024"/>
            <a:ext cx="9875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>
                <a:solidFill>
                  <a:srgbClr val="C9D1DE"/>
                </a:solidFill>
                <a:latin typeface="Consolas"/>
              </a:rPr>
              <a:t>4 / 29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4764024"/>
            <a:ext cx="9875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>
                <a:solidFill>
                  <a:srgbClr val="C9D1DE"/>
                </a:solidFill>
                <a:latin typeface="Consolas"/>
              </a:rPr>
              <a:t>4 / 31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4764024"/>
            <a:ext cx="9875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>
                <a:solidFill>
                  <a:srgbClr val="C9D1DE"/>
                </a:solidFill>
                <a:latin typeface="Consolas"/>
              </a:rPr>
              <a:t>5 / 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764024"/>
            <a:ext cx="9875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>
                <a:solidFill>
                  <a:srgbClr val="C9D1DE"/>
                </a:solidFill>
                <a:latin typeface="Consolas"/>
              </a:rPr>
              <a:t>1 / 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129784"/>
            <a:ext cx="117043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9D1DE"/>
                </a:solidFill>
                <a:latin typeface="Segoe UI"/>
              </a:rPr>
              <a:t>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60" y="5129784"/>
            <a:ext cx="9875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>
                <a:solidFill>
                  <a:srgbClr val="FFB877"/>
                </a:solidFill>
                <a:latin typeface="Consolas"/>
              </a:rPr>
              <a:t>40 %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40" y="5129784"/>
            <a:ext cx="9875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>
                <a:solidFill>
                  <a:srgbClr val="C9D1DE"/>
                </a:solidFill>
                <a:latin typeface="Consolas"/>
              </a:rPr>
              <a:t>14 %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5129784"/>
            <a:ext cx="9875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>
                <a:solidFill>
                  <a:srgbClr val="C9D1DE"/>
                </a:solidFill>
                <a:latin typeface="Consolas"/>
              </a:rPr>
              <a:t>13 %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5129784"/>
            <a:ext cx="9875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>
                <a:solidFill>
                  <a:srgbClr val="C9D1DE"/>
                </a:solidFill>
                <a:latin typeface="Consolas"/>
              </a:rPr>
              <a:t>17 %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5129784"/>
            <a:ext cx="9875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>
                <a:solidFill>
                  <a:srgbClr val="C9D1DE"/>
                </a:solidFill>
                <a:latin typeface="Consolas"/>
              </a:rPr>
              <a:t>4 %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83879" y="1783080"/>
            <a:ext cx="3108960" cy="1920240"/>
          </a:xfrm>
          <a:prstGeom prst="rect">
            <a:avLst/>
          </a:prstGeom>
          <a:solidFill>
            <a:srgbClr val="151920"/>
          </a:solidFill>
          <a:ln w="9525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83879" y="1783080"/>
            <a:ext cx="54864" cy="1920240"/>
          </a:xfrm>
          <a:prstGeom prst="rect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39911" y="1965960"/>
            <a:ext cx="265176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E6E9EF"/>
                </a:solidFill>
                <a:latin typeface="Segoe UI"/>
              </a:rPr>
              <a:t>Qué tienen en común.</a:t>
            </a:r>
            <a:r>
              <a:rPr sz="1250" b="0">
                <a:solidFill>
                  <a:srgbClr val="C9D1DE"/>
                </a:solidFill>
                <a:latin typeface="Segoe UI"/>
              </a:rPr>
              <a:t> Unas 4 horas con más de 100 Wh sobre la mediana de su tipo, frente a 1 hora en el resto. Incluyen los tres días que el jerárquico aislaba (24-ene, 16-mar, 15-abr).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83879" y="3886200"/>
            <a:ext cx="3108960" cy="1920240"/>
          </a:xfrm>
          <a:prstGeom prst="rect">
            <a:avLst/>
          </a:prstGeom>
          <a:solidFill>
            <a:srgbClr val="151920"/>
          </a:solidFill>
          <a:ln w="9525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83879" y="3886200"/>
            <a:ext cx="54864" cy="1920240"/>
          </a:xfrm>
          <a:prstGeom prst="rect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39911" y="4069080"/>
            <a:ext cx="265176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E6E9EF"/>
                </a:solidFill>
                <a:latin typeface="Segoe UI"/>
              </a:rPr>
              <a:t>Se marcan, no se borran.</a:t>
            </a:r>
            <a:r>
              <a:rPr sz="1250" b="0">
                <a:solidFill>
                  <a:srgbClr val="C9D1DE"/>
                </a:solidFill>
                <a:latin typeface="Segoe UI"/>
              </a:rPr>
              <a:t> Borrarlos le quitaría al gemelo el invierno. El agente no confía en su estimación del tipo esos días. En mayo, solo 2 de 26 días son «desconocidos».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Shiro Twin · C2 Taller 4 · DBSCAN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7BD992"/>
                </a:solidFill>
                <a:latin typeface="Consolas"/>
              </a:rPr>
              <a:t>PARTE B · QUÉ COLUMNAS USAR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E6E9EF"/>
                </a:solidFill>
                <a:latin typeface="Segoe UI Semibold"/>
              </a:rPr>
              <a:t>Con todas las columnas, DBSCAN encuentra el calendario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683675"/>
            <a:ext cx="10588752" cy="289629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6_todas_seman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65971"/>
            <a:ext cx="10424160" cy="273169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85800" y="4754880"/>
            <a:ext cx="5166360" cy="1325880"/>
          </a:xfrm>
          <a:prstGeom prst="rect">
            <a:avLst/>
          </a:prstGeom>
          <a:solidFill>
            <a:srgbClr val="151920"/>
          </a:solidFill>
          <a:ln w="9525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4754880"/>
            <a:ext cx="54864" cy="1325880"/>
          </a:xfrm>
          <a:prstGeom prst="rect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4937760"/>
            <a:ext cx="4709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E6E9EF"/>
                </a:solidFill>
                <a:latin typeface="Segoe UI"/>
              </a:rPr>
              <a:t>30 columnas → semanas.</a:t>
            </a:r>
            <a:r>
              <a:rPr sz="1250" b="0">
                <a:solidFill>
                  <a:srgbClr val="C9D1DE"/>
                </a:solidFill>
                <a:latin typeface="Segoe UI"/>
              </a:rPr>
              <a:t> Con la mitad del eps, 26 de 30 clústers caben en 7 días: autocorrelación y sensores que derivan con la estación. Se eligen consumo + retardos del parcial, con log1p.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4754880"/>
            <a:ext cx="5166360" cy="1325880"/>
          </a:xfrm>
          <a:prstGeom prst="rect">
            <a:avLst/>
          </a:prstGeom>
          <a:solidFill>
            <a:srgbClr val="151920"/>
          </a:solidFill>
          <a:ln w="9525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4754880"/>
            <a:ext cx="54864" cy="1325880"/>
          </a:xfrm>
          <a:prstGeom prst="rect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4937760"/>
            <a:ext cx="4709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E6E9EF"/>
                </a:solidFill>
                <a:latin typeface="Segoe UI"/>
              </a:rPr>
              <a:t>El medidor redondea a 10 Wh.</a:t>
            </a:r>
            <a:r>
              <a:rPr sz="1250" b="0">
                <a:solidFill>
                  <a:srgbClr val="C9D1DE"/>
                </a:solidFill>
                <a:latin typeface="Segoe UI"/>
              </a:rPr>
              <a:t> Eso crea capas de densidad falsa: 14 clústers, 6 con un único valor. Con dithering de ±5 Wh (la resolución del medidor) queda un gran grupo con el 95 % de las lecturas.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Shiro Twin · C2 Taller 4 · DBSCAN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7BD992"/>
                </a:solidFill>
                <a:latin typeface="Consolas"/>
              </a:rPr>
              <a:t>SEPARAR POR FRANJA · ANOMALÍA CONTEXTUAL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E6E9EF"/>
                </a:solidFill>
                <a:latin typeface="Segoe UI Semibold"/>
              </a:rPr>
              <a:t>El umbral mide magnitud; DBSCAN, rareza para la hora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5632" y="1655064"/>
            <a:ext cx="9047376" cy="28620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7_contex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928" y="1737360"/>
            <a:ext cx="8882784" cy="2697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457200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F7787"/>
                </a:solidFill>
                <a:latin typeface="Consolas"/>
              </a:rPr>
              <a:t>FRANJA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45720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F7787"/>
                </a:solidFill>
                <a:latin typeface="Consolas"/>
              </a:rPr>
              <a:t>RUIDO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457200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F7787"/>
                </a:solidFill>
                <a:latin typeface="Consolas"/>
              </a:rPr>
              <a:t>BAJO 200 WH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45720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F7787"/>
                </a:solidFill>
                <a:latin typeface="Consolas"/>
              </a:rPr>
              <a:t>&gt; 200 WH MARCADAS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864608"/>
            <a:ext cx="6400800" cy="9525"/>
          </a:xfrm>
          <a:prstGeom prst="rect">
            <a:avLst/>
          </a:prstGeom>
          <a:solidFill>
            <a:srgbClr val="2C3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901184"/>
            <a:ext cx="144475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C9D1DE"/>
                </a:solidFill>
                <a:latin typeface="Segoe UI"/>
              </a:rPr>
              <a:t>Madrugada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4901184"/>
            <a:ext cx="107899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0">
                <a:solidFill>
                  <a:srgbClr val="C9D1DE"/>
                </a:solidFill>
                <a:latin typeface="Consolas"/>
              </a:rPr>
              <a:t>2,0 %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4901184"/>
            <a:ext cx="144475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0">
                <a:solidFill>
                  <a:srgbClr val="7BD992"/>
                </a:solidFill>
                <a:latin typeface="Consolas"/>
              </a:rPr>
              <a:t>86 %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4901184"/>
            <a:ext cx="199339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0">
                <a:solidFill>
                  <a:srgbClr val="7BD992"/>
                </a:solidFill>
                <a:latin typeface="Consolas"/>
              </a:rPr>
              <a:t>100 %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202936"/>
            <a:ext cx="144475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C9D1DE"/>
                </a:solidFill>
                <a:latin typeface="Segoe UI"/>
              </a:rPr>
              <a:t>Mañana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5202936"/>
            <a:ext cx="107899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0">
                <a:solidFill>
                  <a:srgbClr val="C9D1DE"/>
                </a:solidFill>
                <a:latin typeface="Consolas"/>
              </a:rPr>
              <a:t>3,6 %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5202936"/>
            <a:ext cx="144475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0">
                <a:solidFill>
                  <a:srgbClr val="C9D1DE"/>
                </a:solidFill>
                <a:latin typeface="Consolas"/>
              </a:rPr>
              <a:t>51 %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5202936"/>
            <a:ext cx="199339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0">
                <a:solidFill>
                  <a:srgbClr val="C9D1DE"/>
                </a:solidFill>
                <a:latin typeface="Consolas"/>
              </a:rPr>
              <a:t>14 %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504688"/>
            <a:ext cx="144475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C9D1DE"/>
                </a:solidFill>
                <a:latin typeface="Segoe UI"/>
              </a:rPr>
              <a:t>Tarde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5504688"/>
            <a:ext cx="107899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0">
                <a:solidFill>
                  <a:srgbClr val="C9D1DE"/>
                </a:solidFill>
                <a:latin typeface="Consolas"/>
              </a:rPr>
              <a:t>2,0 %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5504688"/>
            <a:ext cx="144475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0">
                <a:solidFill>
                  <a:srgbClr val="C9D1DE"/>
                </a:solidFill>
                <a:latin typeface="Consolas"/>
              </a:rPr>
              <a:t>53 %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5504688"/>
            <a:ext cx="199339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0">
                <a:solidFill>
                  <a:srgbClr val="F28B82"/>
                </a:solidFill>
                <a:latin typeface="Consolas"/>
              </a:rPr>
              <a:t>6 %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06440"/>
            <a:ext cx="144475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C9D1DE"/>
                </a:solidFill>
                <a:latin typeface="Segoe UI"/>
              </a:rPr>
              <a:t>Noche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5806440"/>
            <a:ext cx="107899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0">
                <a:solidFill>
                  <a:srgbClr val="C9D1DE"/>
                </a:solidFill>
                <a:latin typeface="Consolas"/>
              </a:rPr>
              <a:t>4,7 %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5806440"/>
            <a:ext cx="144475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0">
                <a:solidFill>
                  <a:srgbClr val="C9D1DE"/>
                </a:solidFill>
                <a:latin typeface="Consolas"/>
              </a:rPr>
              <a:t>44 %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3480" y="5806440"/>
            <a:ext cx="199339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0">
                <a:solidFill>
                  <a:srgbClr val="C9D1DE"/>
                </a:solidFill>
                <a:latin typeface="Consolas"/>
              </a:rPr>
              <a:t>24 %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60920" y="4572000"/>
            <a:ext cx="3931920" cy="1600200"/>
          </a:xfrm>
          <a:prstGeom prst="rect">
            <a:avLst/>
          </a:prstGeom>
          <a:solidFill>
            <a:srgbClr val="151920"/>
          </a:solidFill>
          <a:ln w="9525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60920" y="4572000"/>
            <a:ext cx="54864" cy="1600200"/>
          </a:xfrm>
          <a:prstGeom prst="rect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16952" y="4754880"/>
            <a:ext cx="3474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6E9EF"/>
                </a:solidFill>
                <a:latin typeface="Segoe UI"/>
              </a:rPr>
              <a:t>De madrugada</a:t>
            </a:r>
            <a:r>
              <a:rPr sz="1200" b="0">
                <a:solidFill>
                  <a:srgbClr val="C9D1DE"/>
                </a:solidFill>
                <a:latin typeface="Segoe UI"/>
              </a:rPr>
              <a:t> ve lo que el umbral no ve: consumos modestos a horas raras. </a:t>
            </a:r>
            <a:r>
              <a:rPr sz="1200" b="1">
                <a:solidFill>
                  <a:srgbClr val="E6E9EF"/>
                </a:solidFill>
                <a:latin typeface="Segoe UI"/>
              </a:rPr>
              <a:t>En la tarde</a:t>
            </a:r>
            <a:r>
              <a:rPr sz="1200" b="0">
                <a:solidFill>
                  <a:srgbClr val="C9D1DE"/>
                </a:solidFill>
                <a:latin typeface="Segoe UI"/>
              </a:rPr>
              <a:t> trata como normales 632 lecturas altas: es la rutina. Entre el 35 y el 60 % del ruido son bajadas: solo se alerta en las subidas.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Shiro Twin · C2 Taller 4 · DBSCAN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7BD992"/>
                </a:solidFill>
                <a:latin typeface="Consolas"/>
              </a:rPr>
              <a:t>CONTROL TEMPORAL Y RESPUESTAS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E6E9EF"/>
                </a:solidFill>
                <a:latin typeface="Segoe UI Semibold"/>
              </a:rPr>
              <a:t>La densidad también envejece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28B82"/>
                </a:solidFill>
                <a:latin typeface="Consolas"/>
              </a:rPr>
              <a:t>−33 %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41448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lecturas que marca DBSCAN en mayo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(3,1 % → 2,1 %)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78308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28B82"/>
                </a:solidFill>
                <a:latin typeface="Consolas"/>
              </a:rPr>
              <a:t>−25 %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441448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lecturas sobre el umbral fijo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(10,2 % → 7,6 %)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1783080"/>
            <a:ext cx="33832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AA3B2"/>
                </a:solidFill>
                <a:latin typeface="Segoe UI"/>
              </a:rPr>
              <a:t>Los núcleos son de invierno y mayo es más tranquilo. Las dos definiciones se reajustan cada mes.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246120"/>
            <a:ext cx="5166360" cy="1143000"/>
          </a:xfrm>
          <a:prstGeom prst="roundRect">
            <a:avLst>
              <a:gd name="adj" fmla="val 4000"/>
            </a:avLst>
          </a:prstGeom>
          <a:solidFill>
            <a:srgbClr val="151920"/>
          </a:solidFill>
          <a:ln w="9525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832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6E9EF"/>
                </a:solidFill>
                <a:latin typeface="Segoe UI Semibold"/>
              </a:rPr>
              <a:t>¿Cuántos clústers?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4904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AA3B2"/>
                </a:solidFill>
                <a:latin typeface="Segoe UI"/>
              </a:rPr>
              <a:t>Días: 1 (82), o 1 por tipo. Lecturas: 1 gran grupo (95 %); por franja, 1 a 4.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246120"/>
            <a:ext cx="5166360" cy="1143000"/>
          </a:xfrm>
          <a:prstGeom prst="roundRect">
            <a:avLst>
              <a:gd name="adj" fmla="val 4000"/>
            </a:avLst>
          </a:prstGeom>
          <a:solidFill>
            <a:srgbClr val="151920"/>
          </a:solidFill>
          <a:ln w="9525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3832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6E9EF"/>
                </a:solidFill>
                <a:latin typeface="Segoe UI Semibold"/>
              </a:rPr>
              <a:t>¿Qué fue ruido?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74904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AA3B2"/>
                </a:solidFill>
                <a:latin typeface="Segoe UI"/>
              </a:rPr>
              <a:t>54 días (los 28 de carga alta); 22 atípicos robustos. Lecturas: 2–5 % por franja.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572000"/>
            <a:ext cx="5166360" cy="1143000"/>
          </a:xfrm>
          <a:prstGeom prst="roundRect">
            <a:avLst>
              <a:gd name="adj" fmla="val 4000"/>
            </a:avLst>
          </a:prstGeom>
          <a:solidFill>
            <a:srgbClr val="151920"/>
          </a:solidFill>
          <a:ln w="9525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7091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6E9EF"/>
                </a:solidFill>
                <a:latin typeface="Segoe UI Semibold"/>
              </a:rPr>
              <a:t>¿Cómo cambia con eps y min_samples?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07492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AA3B2"/>
                </a:solidFill>
                <a:latin typeface="Segoe UI"/>
              </a:rPr>
              <a:t>eps manda; min_samples desplaza el codo (208 → 381 Wh).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4572000"/>
            <a:ext cx="5166360" cy="1143000"/>
          </a:xfrm>
          <a:prstGeom prst="roundRect">
            <a:avLst>
              <a:gd name="adj" fmla="val 4000"/>
            </a:avLst>
          </a:prstGeom>
          <a:solidFill>
            <a:srgbClr val="151920"/>
          </a:solidFill>
          <a:ln w="9525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47091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6E9EF"/>
                </a:solidFill>
                <a:latin typeface="Segoe UI Semibold"/>
              </a:rPr>
              <a:t>¿Implicaciones?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507492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AA3B2"/>
                </a:solidFill>
                <a:latin typeface="Segoe UI"/>
              </a:rPr>
              <a:t>Incertidumbre por tipo de día, días marcados, «día desconocido» y dos alarmas.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Shiro Twin · C2 Taller 4 · DBSCAN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7BD992"/>
                </a:solidFill>
                <a:latin typeface="Consolas"/>
              </a:rPr>
              <a:t>CIERRE · QUÉ CAMBIA EN SHIRO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E6E9EF"/>
                </a:solidFill>
                <a:latin typeface="Segoe UI Semibold"/>
              </a:rPr>
              <a:t>Lo que el gemelo y Guardian reciben de este taller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7BD992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874519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6E9EF"/>
                </a:solidFill>
                <a:latin typeface="Segoe UI Semibold"/>
              </a:rPr>
              <a:t>Carga alta: real, pero 2,2× más dispersa.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285999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3B2"/>
                </a:solidFill>
                <a:latin typeface="Segoe UI"/>
              </a:rPr>
              <a:t>La incertidumbre del simulador depende del tipo de día.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874519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7BD992"/>
                </a:solidFill>
                <a:latin typeface="Consola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874519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6E9EF"/>
                </a:solidFill>
                <a:latin typeface="Segoe UI Semibold"/>
              </a:rPr>
              <a:t>Días atípicos: se marcan, no se borran.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285999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3B2"/>
                </a:solidFill>
                <a:latin typeface="Segoe UI"/>
              </a:rPr>
              <a:t>16 % de los días, sobre todo de enero.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00399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7BD992"/>
                </a:solidFill>
                <a:latin typeface="Consola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200399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6E9EF"/>
                </a:solidFill>
                <a:latin typeface="Segoe UI Semibold"/>
              </a:rPr>
              <a:t>«Día desconocido» entra al MDP.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611879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3B2"/>
                </a:solidFill>
                <a:latin typeface="Segoe UI"/>
              </a:rPr>
              <a:t>Sin vecinos densos, política conservadora.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3200399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7BD992"/>
                </a:solidFill>
                <a:latin typeface="Consola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3200399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6E9EF"/>
                </a:solidFill>
                <a:latin typeface="Segoe UI Semibold"/>
              </a:rPr>
              <a:t>Guardian con dos alarmas.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3611879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3B2"/>
                </a:solidFill>
                <a:latin typeface="Segoe UI"/>
              </a:rPr>
              <a:t>Umbral = magnitud; DBSCAN por franja = rareza. Solo subidas.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526279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7BD992"/>
                </a:solidFill>
                <a:latin typeface="Consolas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526279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6E9EF"/>
                </a:solidFill>
                <a:latin typeface="Segoe UI Semibold"/>
              </a:rPr>
              <a:t>Ninguna es inmune a la estación.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937759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3B2"/>
                </a:solidFill>
                <a:latin typeface="Segoe UI"/>
              </a:rPr>
              <a:t>Reajuste mensual de las dos definiciones.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4526279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7BD992"/>
                </a:solidFill>
                <a:latin typeface="Consolas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526279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6E9EF"/>
                </a:solidFill>
                <a:latin typeface="Segoe UI Semibold"/>
              </a:rPr>
              <a:t>Tres lecciones de método.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4937759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3B2"/>
                </a:solidFill>
                <a:latin typeface="Segoe UI"/>
              </a:rPr>
              <a:t>Elegir columnas, corregir la cuantización y separar por grupos.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