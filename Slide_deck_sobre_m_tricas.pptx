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Taller 3. Continúa el Taller 2 con las mismas variables, particiones y umbral, para comparar los cuatro modelos en igualdad de condiciones.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mantienen exactamente las mismas variables, las dos particiones y el umbral del percentil 90 del Taller 2. Eso es lo que hace comparables los cuatro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barridos secuenciales, un hiperparámetro a la vez. Lo relevante es que en Random Forest quitar el límite de profundidad MEJORA la prueba, al contrario del árbol individual del Taller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gana en regresión frente a los otros tres, y reduce casi la mitad del error del baseline. La regresión lineal confirma por qué el curso enseña árboles: no puede representar la función escalón de la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 de los 20 peores errores son subestimaciones de picos reales. No son datos atípicos: es una variable faltante, la decisión humana de encender un electrodoméstico.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Hallazgo central del barrido: con C bajo, seis de nueve combinaciones no detectan ni una sola anomalía. El modelo colapsa al clasificador trivial todo-es-normal, que ya da 90,4 % de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corrección estándar por desbalance más que duplica el recall y sube el F1 por encima del árbol. La brecha del SVM no era del algoritmo, era falta de ajuste.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por F1: Random Forest ≈ KNN, luego Árbol, luego SVM. Por AUC Random Forest es claramente el mejor: su ranking de probabilidad es el más confiable, lo que lo hace el candidato natural para mover el umbral.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la clase crítica es anómalo, la métrica que manda es recall, y el riesgo real no es la elección de algoritmo sino la caída bajo partición temporal, que afecta a los cuatro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64508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C8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APRENDIZAJE DE MÁQUINA · CORTE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678894" y="1047750"/>
            <a:ext cx="16127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C8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3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143000" y="3525292"/>
            <a:ext cx="1143000" cy="47625"/>
          </a:xfrm>
          <a:prstGeom prst="rect">
            <a:avLst/>
          </a:prstGeom>
          <a:solidFill>
            <a:srgbClr val="3E9C7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96767"/>
            <a:ext cx="14668500" cy="1008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47"/>
              </a:lnSpc>
              <a:buNone/>
            </a:pPr>
            <a:r>
              <a:rPr lang="en-US" sz="7800" b="1" spc="-234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y SVM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143000" y="5191274"/>
            <a:ext cx="11576685" cy="1062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150" dirty="0">
                <a:solidFill>
                  <a:srgbClr val="C9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Shiro Twin · Energía y Medio Ambiente / IoT · Dataset Appliances Energy Prediction (UCI 374)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143000" y="8368903"/>
            <a:ext cx="16002000" cy="9525"/>
          </a:xfrm>
          <a:prstGeom prst="rect">
            <a:avLst/>
          </a:prstGeom>
          <a:solidFill>
            <a:srgbClr val="35302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8702278"/>
            <a:ext cx="981075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A69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 Leonardo Diazgranados · Sofía Londoño · Andrés Felipe Céspedes Rondón · Alex Duran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184261" y="9096375"/>
            <a:ext cx="545681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19.735 registros · 29 variables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spc="-99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experimental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43000" y="2686050"/>
            <a:ext cx="14716125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70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Mismas variables, mismas particiones y mismo umbral de anomalía del Taller 2 — los cuatro modelos se comparan en igualdad de condiciones.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4145161"/>
            <a:ext cx="16002000" cy="19050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6" name="Shape 4"/>
          <p:cNvSpPr/>
          <p:nvPr/>
        </p:nvSpPr>
        <p:spPr>
          <a:xfrm>
            <a:off x="5021461" y="4164211"/>
            <a:ext cx="9525" cy="2278112"/>
          </a:xfrm>
          <a:prstGeom prst="rect">
            <a:avLst/>
          </a:prstGeom>
          <a:solidFill>
            <a:srgbClr val="DCD6C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526161"/>
            <a:ext cx="3910072" cy="781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143000" y="5402461"/>
            <a:ext cx="3661249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C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temporales, sensores interiores, clima exterior, iluminación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59205" y="4164211"/>
            <a:ext cx="9525" cy="2278112"/>
          </a:xfrm>
          <a:prstGeom prst="rect">
            <a:avLst/>
          </a:prstGeom>
          <a:solidFill>
            <a:srgbClr val="DCD6C9"/>
          </a:solidFill>
          <a:ln/>
        </p:spPr>
      </p:sp>
      <p:sp>
        <p:nvSpPr>
          <p:cNvPr id="10" name="Text 8"/>
          <p:cNvSpPr/>
          <p:nvPr/>
        </p:nvSpPr>
        <p:spPr>
          <a:xfrm>
            <a:off x="5354836" y="4526161"/>
            <a:ext cx="3790935" cy="781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15.788 / 3.947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5354836" y="5402461"/>
            <a:ext cx="3790935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C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partición aleatoria 80/20 (random_state=42), la principal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247340" y="4164211"/>
            <a:ext cx="9525" cy="2278112"/>
          </a:xfrm>
          <a:prstGeom prst="rect">
            <a:avLst/>
          </a:prstGeom>
          <a:solidFill>
            <a:srgbClr val="DCD6C9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580" y="4526161"/>
            <a:ext cx="3554001" cy="781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Wh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9692580" y="5402461"/>
            <a:ext cx="3327837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C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 de anomalía = percentil 90 del entrenamiento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80715" y="4526161"/>
            <a:ext cx="3920550" cy="781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9,6 %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13580715" y="5402461"/>
            <a:ext cx="3671060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C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anomalías en prueba — clases fuertemente desbalanceadas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43000" y="6975723"/>
            <a:ext cx="14716125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7C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control de robustez se conserva además una segunda partición temporal: primeros días para entrenar, último mes para probar.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RANDOM FOREST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spc="-99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Barrido de hiperparámetros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43000" y="2571750"/>
            <a:ext cx="54761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076575"/>
            <a:ext cx="4978301" cy="2190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543877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2230338" y="543877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3317825" y="5438775"/>
            <a:ext cx="4534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530923" y="5438775"/>
            <a:ext cx="4534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744021" y="5438775"/>
            <a:ext cx="4534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143000" y="5886450"/>
            <a:ext cx="5127650" cy="1079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se estabiliza cerca de 100 árboles; el tiempo de entrenamiento sigue creciendo lineal.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6654701" y="2571750"/>
            <a:ext cx="54762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22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4701" y="3076575"/>
            <a:ext cx="4978450" cy="2190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54701" y="5438775"/>
            <a:ext cx="2019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549753" y="5438775"/>
            <a:ext cx="2019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8444657" y="543877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9465469" y="543877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10486132" y="543877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11506944" y="5438775"/>
            <a:ext cx="2024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∞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6654701" y="5886450"/>
            <a:ext cx="5127803" cy="73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límite gana: el bagging absorbe el sobreajuste que hundía al árbol individual.</a:t>
            </a:r>
            <a:endParaRPr lang="en-US" sz="2025" dirty="0"/>
          </a:p>
        </p:txBody>
      </p:sp>
      <p:sp>
        <p:nvSpPr>
          <p:cNvPr id="21" name="Text 17"/>
          <p:cNvSpPr/>
          <p:nvPr/>
        </p:nvSpPr>
        <p:spPr>
          <a:xfrm>
            <a:off x="12166550" y="2571750"/>
            <a:ext cx="54762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</a:t>
            </a:r>
            <a:endParaRPr lang="en-US" sz="22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66550" y="3076575"/>
            <a:ext cx="4978450" cy="21907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166550" y="5438775"/>
            <a:ext cx="2019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13316843" y="5438775"/>
            <a:ext cx="2019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14467136" y="5438775"/>
            <a:ext cx="2019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15617428" y="543877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50" dirty="0"/>
          </a:p>
        </p:txBody>
      </p:sp>
      <p:sp>
        <p:nvSpPr>
          <p:cNvPr id="27" name="Text 22"/>
          <p:cNvSpPr/>
          <p:nvPr/>
        </p:nvSpPr>
        <p:spPr>
          <a:xfrm>
            <a:off x="16893480" y="543877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650" dirty="0"/>
          </a:p>
        </p:txBody>
      </p:sp>
      <p:sp>
        <p:nvSpPr>
          <p:cNvPr id="28" name="Text 23"/>
          <p:cNvSpPr/>
          <p:nvPr/>
        </p:nvSpPr>
        <p:spPr>
          <a:xfrm>
            <a:off x="12166550" y="5886450"/>
            <a:ext cx="5127803" cy="73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Regularizar la hoja solo quita capacidad: el bosque ya regulariza de forma estructural.</a:t>
            </a:r>
            <a:endParaRPr lang="en-US" sz="2025" dirty="0"/>
          </a:p>
        </p:txBody>
      </p:sp>
      <p:sp>
        <p:nvSpPr>
          <p:cNvPr id="29" name="Shape 24"/>
          <p:cNvSpPr/>
          <p:nvPr/>
        </p:nvSpPr>
        <p:spPr>
          <a:xfrm>
            <a:off x="1143000" y="7346752"/>
            <a:ext cx="16002000" cy="9525"/>
          </a:xfrm>
          <a:prstGeom prst="rect">
            <a:avLst/>
          </a:prstGeom>
          <a:solidFill>
            <a:srgbClr val="DCD6C9"/>
          </a:solidFill>
          <a:ln/>
        </p:spPr>
      </p:sp>
      <p:sp>
        <p:nvSpPr>
          <p:cNvPr id="30" name="Text 25"/>
          <p:cNvSpPr/>
          <p:nvPr/>
        </p:nvSpPr>
        <p:spPr>
          <a:xfrm>
            <a:off x="1143000" y="7603927"/>
            <a:ext cx="164820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Combinación final: n_estimators=200 · max_depth=None · min_samples_leaf=1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REGRESIÓN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spc="-99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Desempeño en regresión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539627" y="4566493"/>
            <a:ext cx="9937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0,171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5080843"/>
            <a:ext cx="1710779" cy="819150"/>
          </a:xfrm>
          <a:prstGeom prst="rect">
            <a:avLst/>
          </a:prstGeom>
          <a:solidFill>
            <a:srgbClr val="CFC8B8"/>
          </a:solidFill>
          <a:ln/>
        </p:spPr>
      </p:sp>
      <p:sp>
        <p:nvSpPr>
          <p:cNvPr id="6" name="Text 4"/>
          <p:cNvSpPr/>
          <p:nvPr/>
        </p:nvSpPr>
        <p:spPr>
          <a:xfrm>
            <a:off x="1405682" y="6052393"/>
            <a:ext cx="118526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5C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Lineal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669506" y="3833068"/>
            <a:ext cx="9937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0,325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72879" y="4347418"/>
            <a:ext cx="1710928" cy="1552575"/>
          </a:xfrm>
          <a:prstGeom prst="rect">
            <a:avLst/>
          </a:prstGeom>
          <a:solidFill>
            <a:srgbClr val="CFC8B8"/>
          </a:solidFill>
          <a:ln/>
        </p:spPr>
      </p:sp>
      <p:sp>
        <p:nvSpPr>
          <p:cNvPr id="9" name="Text 7"/>
          <p:cNvSpPr/>
          <p:nvPr/>
        </p:nvSpPr>
        <p:spPr>
          <a:xfrm>
            <a:off x="3614886" y="6052393"/>
            <a:ext cx="102676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5C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de Decisión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799534" y="2823418"/>
            <a:ext cx="9937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0,539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02907" y="3337768"/>
            <a:ext cx="1710779" cy="2562225"/>
          </a:xfrm>
          <a:prstGeom prst="rect">
            <a:avLst/>
          </a:prstGeom>
          <a:solidFill>
            <a:srgbClr val="CFC8B8"/>
          </a:solidFill>
          <a:ln/>
        </p:spPr>
      </p:sp>
      <p:sp>
        <p:nvSpPr>
          <p:cNvPr id="12" name="Text 10"/>
          <p:cNvSpPr/>
          <p:nvPr/>
        </p:nvSpPr>
        <p:spPr>
          <a:xfrm>
            <a:off x="5966520" y="6052393"/>
            <a:ext cx="58340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839"/>
              </a:lnSpc>
              <a:buNone/>
            </a:pPr>
            <a:r>
              <a:rPr lang="en-US" sz="1950" dirty="0">
                <a:solidFill>
                  <a:srgbClr val="5C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K=5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29414" y="2680543"/>
            <a:ext cx="9937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0,567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532787" y="3194893"/>
            <a:ext cx="1710779" cy="2705100"/>
          </a:xfrm>
          <a:prstGeom prst="rect">
            <a:avLst/>
          </a:prstGeom>
          <a:solidFill>
            <a:srgbClr val="1E5B47"/>
          </a:solidFill>
          <a:ln/>
        </p:spPr>
      </p:sp>
      <p:sp>
        <p:nvSpPr>
          <p:cNvPr id="15" name="Text 13"/>
          <p:cNvSpPr/>
          <p:nvPr/>
        </p:nvSpPr>
        <p:spPr>
          <a:xfrm>
            <a:off x="7854702" y="6052393"/>
            <a:ext cx="10668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100816" y="2609850"/>
            <a:ext cx="77484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EN PRUEBA · MAYOR ES MEJOR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100816" y="3238500"/>
            <a:ext cx="7044035" cy="9525"/>
          </a:xfrm>
          <a:prstGeom prst="rect">
            <a:avLst/>
          </a:prstGeom>
          <a:solidFill>
            <a:srgbClr val="DCD6C9"/>
          </a:solidFill>
          <a:ln/>
        </p:spPr>
      </p:sp>
      <p:sp>
        <p:nvSpPr>
          <p:cNvPr id="18" name="Text 16"/>
          <p:cNvSpPr/>
          <p:nvPr/>
        </p:nvSpPr>
        <p:spPr>
          <a:xfrm>
            <a:off x="10100816" y="3533775"/>
            <a:ext cx="304747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C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Random Forest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676811" y="3533775"/>
            <a:ext cx="16148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30,73 Wh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100816" y="4124325"/>
            <a:ext cx="327012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C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baseline (media)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5676811" y="4124325"/>
            <a:ext cx="16148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59,87 Wh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100816" y="4714875"/>
            <a:ext cx="29431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C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del error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043821" y="4714875"/>
            <a:ext cx="11772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48,7 %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100816" y="5438775"/>
            <a:ext cx="7255356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regresión lineal queda última porque la regla dominante del dataset es un escalón (hora ≤ 7,5), no una pendiente.</a:t>
            </a:r>
            <a:endParaRPr lang="en-US" sz="21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DIAGNÓSTICO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spc="-99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errores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43000" y="2609850"/>
            <a:ext cx="760931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30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de los 20 errores más grandes son picos reales que el modelo subestima.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3962400"/>
            <a:ext cx="7387679" cy="19050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286250"/>
            <a:ext cx="2899648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653</a:t>
            </a:r>
            <a:endParaRPr lang="en-US" sz="4950" dirty="0"/>
          </a:p>
        </p:txBody>
      </p:sp>
      <p:sp>
        <p:nvSpPr>
          <p:cNvPr id="7" name="Text 5"/>
          <p:cNvSpPr/>
          <p:nvPr/>
        </p:nvSpPr>
        <p:spPr>
          <a:xfrm>
            <a:off x="1143000" y="5200650"/>
            <a:ext cx="2715125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5C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 reales, promedio de los 20 peores casos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4388644" y="4286250"/>
            <a:ext cx="4058394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dirty="0">
                <a:solidFill>
                  <a:srgbClr val="A63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243</a:t>
            </a:r>
            <a:endParaRPr lang="en-US" sz="4950" dirty="0"/>
          </a:p>
        </p:txBody>
      </p:sp>
      <p:sp>
        <p:nvSpPr>
          <p:cNvPr id="9" name="Text 7"/>
          <p:cNvSpPr/>
          <p:nvPr/>
        </p:nvSpPr>
        <p:spPr>
          <a:xfrm>
            <a:off x="4388644" y="5200650"/>
            <a:ext cx="3800133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2025" dirty="0">
                <a:solidFill>
                  <a:srgbClr val="5C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 predichos: el modelo se queda por debajo de la mitad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143000" y="6231136"/>
            <a:ext cx="7609310" cy="1220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65"/>
              </a:lnSpc>
              <a:buNone/>
            </a:pPr>
            <a:r>
              <a:rPr lang="en-US" sz="22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son datos atípicos ni error de medición: la decisión de encender un electrodoméstico de alta potencia no está en ninguna de las 29 columnas.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87929" y="2609850"/>
            <a:ext cx="85327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DISTRIBUCIÓN POR FRANJA HORARIA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87929" y="3243263"/>
            <a:ext cx="3457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Mañana (06–12)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778829" y="3162300"/>
            <a:ext cx="3714750" cy="533400"/>
          </a:xfrm>
          <a:prstGeom prst="rect">
            <a:avLst/>
          </a:prstGeom>
          <a:solidFill>
            <a:srgbClr val="1E5B47"/>
          </a:solidFill>
          <a:ln/>
        </p:spPr>
      </p:sp>
      <p:sp>
        <p:nvSpPr>
          <p:cNvPr id="14" name="Text 12"/>
          <p:cNvSpPr/>
          <p:nvPr/>
        </p:nvSpPr>
        <p:spPr>
          <a:xfrm>
            <a:off x="16741229" y="3262313"/>
            <a:ext cx="42029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387929" y="4005262"/>
            <a:ext cx="3457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 (12–18)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2778829" y="3924300"/>
            <a:ext cx="1857375" cy="533400"/>
          </a:xfrm>
          <a:prstGeom prst="rect">
            <a:avLst/>
          </a:prstGeom>
          <a:solidFill>
            <a:srgbClr val="CFC8B8"/>
          </a:solidFill>
          <a:ln/>
        </p:spPr>
      </p:sp>
      <p:sp>
        <p:nvSpPr>
          <p:cNvPr id="17" name="Text 15"/>
          <p:cNvSpPr/>
          <p:nvPr/>
        </p:nvSpPr>
        <p:spPr>
          <a:xfrm>
            <a:off x="14883854" y="4024313"/>
            <a:ext cx="2482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387929" y="4767263"/>
            <a:ext cx="3457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Noche (18–24)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2778829" y="4686300"/>
            <a:ext cx="1857375" cy="533400"/>
          </a:xfrm>
          <a:prstGeom prst="rect">
            <a:avLst/>
          </a:prstGeom>
          <a:solidFill>
            <a:srgbClr val="CFC8B8"/>
          </a:solidFill>
          <a:ln/>
        </p:spPr>
      </p:sp>
      <p:sp>
        <p:nvSpPr>
          <p:cNvPr id="20" name="Text 18"/>
          <p:cNvSpPr/>
          <p:nvPr/>
        </p:nvSpPr>
        <p:spPr>
          <a:xfrm>
            <a:off x="14883854" y="4786313"/>
            <a:ext cx="2482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387929" y="5529263"/>
            <a:ext cx="3457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Madrugada (00–06)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2778829" y="5448300"/>
            <a:ext cx="38100" cy="533400"/>
          </a:xfrm>
          <a:prstGeom prst="rect">
            <a:avLst/>
          </a:prstGeom>
          <a:solidFill>
            <a:srgbClr val="DCD6C9"/>
          </a:solidFill>
          <a:ln/>
        </p:spPr>
      </p:sp>
      <p:sp>
        <p:nvSpPr>
          <p:cNvPr id="23" name="Text 21"/>
          <p:cNvSpPr/>
          <p:nvPr/>
        </p:nvSpPr>
        <p:spPr>
          <a:xfrm>
            <a:off x="13064579" y="5548313"/>
            <a:ext cx="2482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387929" y="6229350"/>
            <a:ext cx="7757071" cy="9525"/>
          </a:xfrm>
          <a:prstGeom prst="rect">
            <a:avLst/>
          </a:prstGeom>
          <a:solidFill>
            <a:srgbClr val="DCD6C9"/>
          </a:solidFill>
          <a:ln/>
        </p:spPr>
      </p:sp>
      <p:sp>
        <p:nvSpPr>
          <p:cNvPr id="25" name="Text 23"/>
          <p:cNvSpPr/>
          <p:nvPr/>
        </p:nvSpPr>
        <p:spPr>
          <a:xfrm>
            <a:off x="9387929" y="6448425"/>
            <a:ext cx="7989783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7C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mitad de los fallos cae en el tramo con más variabilidad de rutina doméstica.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SVM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spc="-99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Barrido de C y kernel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43000" y="2571750"/>
            <a:ext cx="8726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DE LA CLASE ANÓMALA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3257550"/>
            <a:ext cx="1790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 \ C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838450" y="3257550"/>
            <a:ext cx="21298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911179" y="3257550"/>
            <a:ext cx="21298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983909" y="3257550"/>
            <a:ext cx="21298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4067175"/>
            <a:ext cx="1790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876550" y="3819525"/>
            <a:ext cx="2053679" cy="866775"/>
          </a:xfrm>
          <a:prstGeom prst="rect">
            <a:avLst/>
          </a:prstGeom>
          <a:solidFill>
            <a:srgbClr val="E8E3D8"/>
          </a:solidFill>
          <a:ln/>
        </p:spPr>
      </p:sp>
      <p:sp>
        <p:nvSpPr>
          <p:cNvPr id="11" name="Text 9"/>
          <p:cNvSpPr/>
          <p:nvPr/>
        </p:nvSpPr>
        <p:spPr>
          <a:xfrm>
            <a:off x="2838450" y="4067175"/>
            <a:ext cx="21298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0,000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949279" y="3819525"/>
            <a:ext cx="2053679" cy="866775"/>
          </a:xfrm>
          <a:prstGeom prst="rect">
            <a:avLst/>
          </a:prstGeom>
          <a:solidFill>
            <a:srgbClr val="E8E3D8"/>
          </a:solidFill>
          <a:ln/>
        </p:spPr>
      </p:sp>
      <p:sp>
        <p:nvSpPr>
          <p:cNvPr id="13" name="Text 11"/>
          <p:cNvSpPr/>
          <p:nvPr/>
        </p:nvSpPr>
        <p:spPr>
          <a:xfrm>
            <a:off x="4911179" y="4067175"/>
            <a:ext cx="21298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0,000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022009" y="3819525"/>
            <a:ext cx="2053679" cy="866775"/>
          </a:xfrm>
          <a:prstGeom prst="rect">
            <a:avLst/>
          </a:prstGeom>
          <a:solidFill>
            <a:srgbClr val="E8E3D8"/>
          </a:solidFill>
          <a:ln/>
        </p:spPr>
      </p:sp>
      <p:sp>
        <p:nvSpPr>
          <p:cNvPr id="15" name="Text 13"/>
          <p:cNvSpPr/>
          <p:nvPr/>
        </p:nvSpPr>
        <p:spPr>
          <a:xfrm>
            <a:off x="6983909" y="4067175"/>
            <a:ext cx="21298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0,000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43000" y="4953000"/>
            <a:ext cx="1790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rbf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2876550" y="4705350"/>
            <a:ext cx="2053679" cy="866775"/>
          </a:xfrm>
          <a:prstGeom prst="rect">
            <a:avLst/>
          </a:prstGeom>
          <a:solidFill>
            <a:srgbClr val="E8E3D8"/>
          </a:solidFill>
          <a:ln/>
        </p:spPr>
      </p:sp>
      <p:sp>
        <p:nvSpPr>
          <p:cNvPr id="18" name="Text 16"/>
          <p:cNvSpPr/>
          <p:nvPr/>
        </p:nvSpPr>
        <p:spPr>
          <a:xfrm>
            <a:off x="2838450" y="4953000"/>
            <a:ext cx="21298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0,000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4949279" y="4705350"/>
            <a:ext cx="2053679" cy="866775"/>
          </a:xfrm>
          <a:prstGeom prst="rect">
            <a:avLst/>
          </a:prstGeom>
          <a:solidFill>
            <a:srgbClr val="E1DBCD"/>
          </a:solidFill>
          <a:ln/>
        </p:spPr>
      </p:sp>
      <p:sp>
        <p:nvSpPr>
          <p:cNvPr id="20" name="Text 18"/>
          <p:cNvSpPr/>
          <p:nvPr/>
        </p:nvSpPr>
        <p:spPr>
          <a:xfrm>
            <a:off x="4911179" y="4953000"/>
            <a:ext cx="21298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C5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0,061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7022009" y="4705350"/>
            <a:ext cx="2053679" cy="866775"/>
          </a:xfrm>
          <a:prstGeom prst="rect">
            <a:avLst/>
          </a:prstGeom>
          <a:solidFill>
            <a:srgbClr val="1E5B47"/>
          </a:solidFill>
          <a:ln/>
        </p:spPr>
      </p:sp>
      <p:sp>
        <p:nvSpPr>
          <p:cNvPr id="22" name="Text 20"/>
          <p:cNvSpPr/>
          <p:nvPr/>
        </p:nvSpPr>
        <p:spPr>
          <a:xfrm>
            <a:off x="6983909" y="4953000"/>
            <a:ext cx="21298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0,390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43000" y="5838825"/>
            <a:ext cx="1790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2876550" y="5591175"/>
            <a:ext cx="2053679" cy="866775"/>
          </a:xfrm>
          <a:prstGeom prst="rect">
            <a:avLst/>
          </a:prstGeom>
          <a:solidFill>
            <a:srgbClr val="E8E3D8"/>
          </a:solidFill>
          <a:ln/>
        </p:spPr>
      </p:sp>
      <p:sp>
        <p:nvSpPr>
          <p:cNvPr id="25" name="Text 23"/>
          <p:cNvSpPr/>
          <p:nvPr/>
        </p:nvSpPr>
        <p:spPr>
          <a:xfrm>
            <a:off x="2838450" y="5838825"/>
            <a:ext cx="21298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0,000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4949279" y="5591175"/>
            <a:ext cx="2053679" cy="866775"/>
          </a:xfrm>
          <a:prstGeom prst="rect">
            <a:avLst/>
          </a:prstGeom>
          <a:solidFill>
            <a:srgbClr val="E1DBCD"/>
          </a:solidFill>
          <a:ln/>
        </p:spPr>
      </p:sp>
      <p:sp>
        <p:nvSpPr>
          <p:cNvPr id="27" name="Text 25"/>
          <p:cNvSpPr/>
          <p:nvPr/>
        </p:nvSpPr>
        <p:spPr>
          <a:xfrm>
            <a:off x="4911179" y="5838825"/>
            <a:ext cx="21298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C5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0,159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7022009" y="5591175"/>
            <a:ext cx="2053679" cy="866775"/>
          </a:xfrm>
          <a:prstGeom prst="rect">
            <a:avLst/>
          </a:prstGeom>
          <a:solidFill>
            <a:srgbClr val="B9CFC5"/>
          </a:solidFill>
          <a:ln/>
        </p:spPr>
      </p:sp>
      <p:sp>
        <p:nvSpPr>
          <p:cNvPr id="29" name="Text 27"/>
          <p:cNvSpPr/>
          <p:nvPr/>
        </p:nvSpPr>
        <p:spPr>
          <a:xfrm>
            <a:off x="6983909" y="5838825"/>
            <a:ext cx="21298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0,343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143000" y="6648450"/>
            <a:ext cx="7932837" cy="9525"/>
          </a:xfrm>
          <a:prstGeom prst="rect">
            <a:avLst/>
          </a:prstGeom>
          <a:solidFill>
            <a:srgbClr val="DCD6C9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6867525"/>
            <a:ext cx="8170822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7C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 sobre submuestra estratificada de 4.000 filas (SVM no escala en este entorno); evaluación siempre sobre las 3.947 filas de prueba completas.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933087" y="2571750"/>
            <a:ext cx="7428271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30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de nueve combinaciones no detectan ni una sola anomalía.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933087" y="3886200"/>
            <a:ext cx="7428271" cy="1220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65"/>
              </a:lnSpc>
              <a:buNone/>
            </a:pPr>
            <a:r>
              <a:rPr lang="en-US" sz="22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 bajo el modelo colapsa al clasificador trivial «todo es normal» — que ya alcanza 90,4 % de accuracy sin haber aprendido nada.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9933087" y="5392787"/>
            <a:ext cx="7428271" cy="1220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65"/>
              </a:lnSpc>
              <a:buNone/>
            </a:pPr>
            <a:r>
              <a:rPr lang="en-US" sz="22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clases desbalanceadas, un hiperparámetro conservador no significa «generaliza mejor»: significa «no aprende la clase que importa».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933087" y="6899374"/>
            <a:ext cx="7211913" cy="19050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36" name="Text 34"/>
          <p:cNvSpPr/>
          <p:nvPr/>
        </p:nvSpPr>
        <p:spPr>
          <a:xfrm>
            <a:off x="9933087" y="7185124"/>
            <a:ext cx="742827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7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Elegido por F1: kernel=rbf · C=10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E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CORRECCIÓN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spc="-99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por desbalance de clases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3200400"/>
            <a:ext cx="7524750" cy="9525"/>
          </a:xfrm>
          <a:prstGeom prst="rect">
            <a:avLst/>
          </a:prstGeom>
          <a:solidFill>
            <a:srgbClr val="4A443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686050"/>
            <a:ext cx="36671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67200" y="2686050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DEFECTO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62700" y="2686050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4143375"/>
            <a:ext cx="7524750" cy="9525"/>
          </a:xfrm>
          <a:prstGeom prst="rect">
            <a:avLst/>
          </a:prstGeom>
          <a:solidFill>
            <a:srgbClr val="2A251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476625"/>
            <a:ext cx="3667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9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67200" y="3476625"/>
            <a:ext cx="2305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0,285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62700" y="3505200"/>
            <a:ext cx="23050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FD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0,662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43000" y="5086350"/>
            <a:ext cx="7524750" cy="9525"/>
          </a:xfrm>
          <a:prstGeom prst="rect">
            <a:avLst/>
          </a:prstGeom>
          <a:solidFill>
            <a:srgbClr val="2A251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419600"/>
            <a:ext cx="3667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9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67200" y="4419600"/>
            <a:ext cx="2305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0,617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62700" y="4448175"/>
            <a:ext cx="23050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3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0,367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43000" y="6029325"/>
            <a:ext cx="7524750" cy="9525"/>
          </a:xfrm>
          <a:prstGeom prst="rect">
            <a:avLst/>
          </a:prstGeom>
          <a:solidFill>
            <a:srgbClr val="2A251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5362575"/>
            <a:ext cx="3667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9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267200" y="5362575"/>
            <a:ext cx="2305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0,390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62700" y="5391150"/>
            <a:ext cx="23050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FD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0,472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43000" y="6305550"/>
            <a:ext cx="3667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9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267200" y="6305550"/>
            <a:ext cx="2305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0,832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62700" y="6334125"/>
            <a:ext cx="23050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FD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0,855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20250" y="2686050"/>
            <a:ext cx="827722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250" dirty="0">
                <a:solidFill>
                  <a:srgbClr val="6FD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×2,3</a:t>
            </a:r>
            <a:endParaRPr lang="en-US" sz="8250" dirty="0"/>
          </a:p>
        </p:txBody>
      </p:sp>
      <p:sp>
        <p:nvSpPr>
          <p:cNvPr id="24" name="Text 22"/>
          <p:cNvSpPr/>
          <p:nvPr/>
        </p:nvSpPr>
        <p:spPr>
          <a:xfrm>
            <a:off x="9620250" y="3867150"/>
            <a:ext cx="775049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dirty="0">
                <a:solidFill>
                  <a:srgbClr val="C9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anomalías detectadas con la misma arquitectura (rbf, C=10)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620250" y="4972050"/>
            <a:ext cx="7750492" cy="1299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351"/>
              </a:lnSpc>
              <a:buNone/>
            </a:pPr>
            <a:r>
              <a:rPr lang="en-US" sz="2400" dirty="0">
                <a:solidFill>
                  <a:srgbClr val="E4D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de recall no era una limitación del algoritmo sobre este problema: era falta de ajuste por desbalance.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620250" y="6595765"/>
            <a:ext cx="7524750" cy="9525"/>
          </a:xfrm>
          <a:prstGeom prst="rect">
            <a:avLst/>
          </a:prstGeom>
          <a:solidFill>
            <a:srgbClr val="4A443B"/>
          </a:solidFill>
          <a:ln/>
        </p:spPr>
      </p:sp>
      <p:sp>
        <p:nvSpPr>
          <p:cNvPr id="27" name="Text 25"/>
          <p:cNvSpPr/>
          <p:nvPr/>
        </p:nvSpPr>
        <p:spPr>
          <a:xfrm>
            <a:off x="9620250" y="6871990"/>
            <a:ext cx="7750492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2"/>
              </a:lnSpc>
              <a:buNone/>
            </a:pPr>
            <a:r>
              <a:rPr lang="en-US" sz="2100" dirty="0">
                <a:solidFill>
                  <a:srgbClr val="A69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recomendado: SVC(C=10, kernel='rbf', class_weight='balanced')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spc="-99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clasificadores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3048000"/>
            <a:ext cx="8413700" cy="19050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571750"/>
            <a:ext cx="25240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38" kern="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3284666" y="2571750"/>
            <a:ext cx="16826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spc="138" kern="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PRECISIÓN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4814307" y="2571750"/>
            <a:ext cx="16827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spc="138" kern="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6344111" y="2571750"/>
            <a:ext cx="16827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spc="138" kern="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873916" y="2571750"/>
            <a:ext cx="16827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spc="138" kern="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143000" y="3933825"/>
            <a:ext cx="8413700" cy="9525"/>
          </a:xfrm>
          <a:prstGeom prst="rect">
            <a:avLst/>
          </a:prstGeom>
          <a:solidFill>
            <a:srgbClr val="DCD6C9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314700"/>
            <a:ext cx="25240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284666" y="3314700"/>
            <a:ext cx="16826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C5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0,580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814307" y="3314700"/>
            <a:ext cx="1682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C5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0,383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344111" y="3314700"/>
            <a:ext cx="1682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C5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0,461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873916" y="3314700"/>
            <a:ext cx="1682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C5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0,861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43000" y="4810125"/>
            <a:ext cx="8413700" cy="9525"/>
          </a:xfrm>
          <a:prstGeom prst="rect">
            <a:avLst/>
          </a:prstGeom>
          <a:solidFill>
            <a:srgbClr val="DCD6C9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191000"/>
            <a:ext cx="25240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3284666" y="4191000"/>
            <a:ext cx="16826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C5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0,727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4814307" y="4191000"/>
            <a:ext cx="1682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A63D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0,562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344111" y="4191000"/>
            <a:ext cx="1682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C5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0,634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7873916" y="4191000"/>
            <a:ext cx="1682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C5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0,903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143000" y="4819650"/>
            <a:ext cx="8413700" cy="876300"/>
          </a:xfrm>
          <a:prstGeom prst="rect">
            <a:avLst/>
          </a:prstGeom>
          <a:solidFill>
            <a:srgbClr val="E6EDE9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" y="5686425"/>
            <a:ext cx="8413700" cy="9525"/>
          </a:xfrm>
          <a:prstGeom prst="rect">
            <a:avLst/>
          </a:prstGeom>
          <a:solidFill>
            <a:srgbClr val="DCD6C9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5067300"/>
            <a:ext cx="25240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3284666" y="5067300"/>
            <a:ext cx="16826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0,832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4814307" y="5067300"/>
            <a:ext cx="1682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3B3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0,522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6344111" y="5067300"/>
            <a:ext cx="1682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0,642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7873916" y="5067300"/>
            <a:ext cx="1682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1E5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0,951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143000" y="5943600"/>
            <a:ext cx="25240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3284666" y="5943600"/>
            <a:ext cx="16826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C5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0,617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4814307" y="5943600"/>
            <a:ext cx="1682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C5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0,285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6344111" y="5943600"/>
            <a:ext cx="1682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C5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0,390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7873916" y="5943600"/>
            <a:ext cx="1682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5C5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0,832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143000" y="6886575"/>
            <a:ext cx="8666111" cy="1220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65"/>
              </a:lnSpc>
              <a:buNone/>
            </a:pPr>
            <a:r>
              <a:rPr lang="en-US" sz="22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gana en precisión, F1 y AUC; KNN conserva el mejor recall base. Para un detector de anomalías esa diferencia importa.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0413950" y="2571750"/>
            <a:ext cx="74041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C7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CURVA ROC</a:t>
            </a:r>
            <a:endParaRPr lang="en-US" sz="18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3950" y="3067050"/>
            <a:ext cx="6731050" cy="419100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10413950" y="7586663"/>
            <a:ext cx="419100" cy="47625"/>
          </a:xfrm>
          <a:prstGeom prst="rect">
            <a:avLst/>
          </a:prstGeom>
          <a:solidFill>
            <a:srgbClr val="1E5B47"/>
          </a:solidFill>
          <a:ln/>
        </p:spPr>
      </p:sp>
      <p:sp>
        <p:nvSpPr>
          <p:cNvPr id="38" name="Text 35"/>
          <p:cNvSpPr/>
          <p:nvPr/>
        </p:nvSpPr>
        <p:spPr>
          <a:xfrm>
            <a:off x="10985450" y="7448550"/>
            <a:ext cx="28024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· 0,951</a:t>
            </a:r>
            <a:endParaRPr lang="en-US" sz="1950" dirty="0"/>
          </a:p>
        </p:txBody>
      </p:sp>
      <p:sp>
        <p:nvSpPr>
          <p:cNvPr id="39" name="Shape 36"/>
          <p:cNvSpPr/>
          <p:nvPr/>
        </p:nvSpPr>
        <p:spPr>
          <a:xfrm>
            <a:off x="10413950" y="8024812"/>
            <a:ext cx="419100" cy="47625"/>
          </a:xfrm>
          <a:prstGeom prst="rect">
            <a:avLst/>
          </a:prstGeom>
          <a:solidFill>
            <a:srgbClr val="4A7F6B"/>
          </a:solidFill>
          <a:ln/>
        </p:spPr>
      </p:sp>
      <p:sp>
        <p:nvSpPr>
          <p:cNvPr id="40" name="Text 37"/>
          <p:cNvSpPr/>
          <p:nvPr/>
        </p:nvSpPr>
        <p:spPr>
          <a:xfrm>
            <a:off x="10985450" y="7886700"/>
            <a:ext cx="15031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· 0,903</a:t>
            </a:r>
            <a:endParaRPr lang="en-US" sz="1950" dirty="0"/>
          </a:p>
        </p:txBody>
      </p:sp>
      <p:sp>
        <p:nvSpPr>
          <p:cNvPr id="41" name="Shape 38"/>
          <p:cNvSpPr/>
          <p:nvPr/>
        </p:nvSpPr>
        <p:spPr>
          <a:xfrm>
            <a:off x="10413950" y="8462963"/>
            <a:ext cx="419100" cy="47625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42" name="Text 39"/>
          <p:cNvSpPr/>
          <p:nvPr/>
        </p:nvSpPr>
        <p:spPr>
          <a:xfrm>
            <a:off x="10985450" y="8324850"/>
            <a:ext cx="16045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· 0,861</a:t>
            </a:r>
            <a:endParaRPr lang="en-US" sz="1950" dirty="0"/>
          </a:p>
        </p:txBody>
      </p:sp>
      <p:sp>
        <p:nvSpPr>
          <p:cNvPr id="43" name="Shape 40"/>
          <p:cNvSpPr/>
          <p:nvPr/>
        </p:nvSpPr>
        <p:spPr>
          <a:xfrm>
            <a:off x="10413950" y="8901113"/>
            <a:ext cx="419100" cy="47625"/>
          </a:xfrm>
          <a:prstGeom prst="rect">
            <a:avLst/>
          </a:prstGeom>
          <a:solidFill>
            <a:srgbClr val="B9A38F"/>
          </a:solidFill>
          <a:ln/>
        </p:spPr>
      </p:sp>
      <p:sp>
        <p:nvSpPr>
          <p:cNvPr id="44" name="Text 41"/>
          <p:cNvSpPr/>
          <p:nvPr/>
        </p:nvSpPr>
        <p:spPr>
          <a:xfrm>
            <a:off x="10985450" y="8763000"/>
            <a:ext cx="14907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B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· 0,832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E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spc="-99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para el sector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2647950"/>
            <a:ext cx="16002000" cy="9525"/>
          </a:xfrm>
          <a:prstGeom prst="rect">
            <a:avLst/>
          </a:prstGeom>
          <a:solidFill>
            <a:srgbClr val="4A443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076575"/>
            <a:ext cx="537839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E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3571875"/>
            <a:ext cx="5036134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47"/>
              </a:lnSpc>
              <a:buNone/>
            </a:pPr>
            <a:r>
              <a:rPr lang="en-US" sz="28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crítica es «anómalo»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143000" y="4611886"/>
            <a:ext cx="5036134" cy="1971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C9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falsa alarma cuesta una notificación ignorada; una anomalía perdida es el evento para el que existe el sistema. La métrica que decide es recall, no accuracy.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699200" y="3076575"/>
            <a:ext cx="537839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E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699200" y="3571875"/>
            <a:ext cx="5036134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47"/>
              </a:lnSpc>
              <a:buNone/>
            </a:pPr>
            <a:r>
              <a:rPr lang="en-US" sz="28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como modelo base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699200" y="4611886"/>
            <a:ext cx="5036134" cy="1971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C9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AUC de 0,951 lo hace el mejor candidato para mover el umbral hacia el recall. Y siempre con aprobación humana: el sistema propone, la persona decide.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255401" y="3076575"/>
            <a:ext cx="537839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3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255401" y="3571875"/>
            <a:ext cx="537839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47"/>
              </a:lnSpc>
              <a:buNone/>
            </a:pPr>
            <a:r>
              <a:rPr lang="en-US" sz="28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riesgo está en el dataset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2255401" y="4177605"/>
            <a:ext cx="5036134" cy="1971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C9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partición temporal los cuatro modelos se degradan: R² de 0,567 a −4,46 en regresión, F1 de 0,64 a 0,21 en clasificación. No es un límite de algoritmo.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143000" y="7040463"/>
            <a:ext cx="16002000" cy="9525"/>
          </a:xfrm>
          <a:prstGeom prst="rect">
            <a:avLst/>
          </a:prstGeom>
          <a:solidFill>
            <a:srgbClr val="4A443B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7459563"/>
            <a:ext cx="1674763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C8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2.º CORTE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98912" y="7392888"/>
            <a:ext cx="14364471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C9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sobre las mismas 29 variables · formalización del MDP con Random Forest como función de transición del gemelo digital · validación contra un periodo temporalmente reservado antes de entrenar el agente.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2026-09-03T13:28:10Z</dcterms:created>
  <dcterms:modified xsi:type="dcterms:W3CDTF">2026-09-03T13:28:10Z</dcterms:modified>
</cp:coreProperties>
</file>