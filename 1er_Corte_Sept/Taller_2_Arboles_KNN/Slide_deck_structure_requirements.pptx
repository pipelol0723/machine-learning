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6" autoAdjust="0"/>
  </p:normalViewPr>
  <p:slideViewPr>
    <p:cSldViewPr snapToGrid="0" snapToObjects="1">
      <p:cViewPr varScale="1">
        <p:scale>
          <a:sx n="70" d="100"/>
          <a:sy n="70" d="100"/>
        </p:scale>
        <p:origin x="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s cespedes" userId="047e52afa30f2590" providerId="LiveId" clId="{661678AE-A397-4124-A4E5-4500663D1FFA}"/>
    <pc:docChg chg="undo custSel modSld">
      <pc:chgData name="andres cespedes" userId="047e52afa30f2590" providerId="LiveId" clId="{661678AE-A397-4124-A4E5-4500663D1FFA}" dt="2026-08-19T18:29:10.329" v="37" actId="20577"/>
      <pc:docMkLst>
        <pc:docMk/>
      </pc:docMkLst>
      <pc:sldChg chg="modSp mod">
        <pc:chgData name="andres cespedes" userId="047e52afa30f2590" providerId="LiveId" clId="{661678AE-A397-4124-A4E5-4500663D1FFA}" dt="2026-08-19T18:29:10.329" v="37" actId="20577"/>
        <pc:sldMkLst>
          <pc:docMk/>
          <pc:sldMk cId="0" sldId="256"/>
        </pc:sldMkLst>
        <pc:spChg chg="mod">
          <ac:chgData name="andres cespedes" userId="047e52afa30f2590" providerId="LiveId" clId="{661678AE-A397-4124-A4E5-4500663D1FFA}" dt="2026-08-19T18:29:04.942" v="3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andres cespedes" userId="047e52afa30f2590" providerId="LiveId" clId="{661678AE-A397-4124-A4E5-4500663D1FFA}" dt="2026-08-19T18:29:10.329" v="37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6:38.399" v="1" actId="27636"/>
        <pc:sldMkLst>
          <pc:docMk/>
          <pc:sldMk cId="0" sldId="259"/>
        </pc:sldMkLst>
        <pc:spChg chg="mod">
          <ac:chgData name="andres cespedes" userId="047e52afa30f2590" providerId="LiveId" clId="{661678AE-A397-4124-A4E5-4500663D1FFA}" dt="2026-08-19T18:26:38.399" v="1" actId="27636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7:44.258" v="5" actId="27636"/>
        <pc:sldMkLst>
          <pc:docMk/>
          <pc:sldMk cId="0" sldId="266"/>
        </pc:sldMkLst>
        <pc:spChg chg="mod">
          <ac:chgData name="andres cespedes" userId="047e52afa30f2590" providerId="LiveId" clId="{661678AE-A397-4124-A4E5-4500663D1FFA}" dt="2026-08-19T18:27:44.258" v="5" actId="27636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8:18.130" v="24" actId="27636"/>
        <pc:sldMkLst>
          <pc:docMk/>
          <pc:sldMk cId="0" sldId="269"/>
        </pc:sldMkLst>
        <pc:spChg chg="mod">
          <ac:chgData name="andres cespedes" userId="047e52afa30f2590" providerId="LiveId" clId="{661678AE-A397-4124-A4E5-4500663D1FFA}" dt="2026-08-19T18:28:18.130" v="24" actId="27636"/>
          <ac:spMkLst>
            <pc:docMk/>
            <pc:sldMk cId="0" sldId="269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7:56.108" v="9" actId="1036"/>
        <pc:sldMkLst>
          <pc:docMk/>
          <pc:sldMk cId="0" sldId="270"/>
        </pc:sldMkLst>
        <pc:spChg chg="mod">
          <ac:chgData name="andres cespedes" userId="047e52afa30f2590" providerId="LiveId" clId="{661678AE-A397-4124-A4E5-4500663D1FFA}" dt="2026-08-19T18:27:56.108" v="9" actId="1036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8:14.819" v="17" actId="27636"/>
        <pc:sldMkLst>
          <pc:docMk/>
          <pc:sldMk cId="0" sldId="271"/>
        </pc:sldMkLst>
        <pc:spChg chg="mod">
          <ac:chgData name="andres cespedes" userId="047e52afa30f2590" providerId="LiveId" clId="{661678AE-A397-4124-A4E5-4500663D1FFA}" dt="2026-08-19T18:28:14.819" v="17" actId="27636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8:22.417" v="26" actId="27636"/>
        <pc:sldMkLst>
          <pc:docMk/>
          <pc:sldMk cId="0" sldId="272"/>
        </pc:sldMkLst>
        <pc:spChg chg="mod">
          <ac:chgData name="andres cespedes" userId="047e52afa30f2590" providerId="LiveId" clId="{661678AE-A397-4124-A4E5-4500663D1FFA}" dt="2026-08-19T18:28:22.417" v="26" actId="27636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8:25.862" v="28" actId="27636"/>
        <pc:sldMkLst>
          <pc:docMk/>
          <pc:sldMk cId="0" sldId="273"/>
        </pc:sldMkLst>
        <pc:spChg chg="mod">
          <ac:chgData name="andres cespedes" userId="047e52afa30f2590" providerId="LiveId" clId="{661678AE-A397-4124-A4E5-4500663D1FFA}" dt="2026-08-19T18:28:25.862" v="28" actId="27636"/>
          <ac:spMkLst>
            <pc:docMk/>
            <pc:sldMk cId="0" sldId="273"/>
            <ac:spMk id="4" creationId="{00000000-0000-0000-0000-000000000000}"/>
          </ac:spMkLst>
        </pc:spChg>
      </pc:sldChg>
      <pc:sldChg chg="modSp mod">
        <pc:chgData name="andres cespedes" userId="047e52afa30f2590" providerId="LiveId" clId="{661678AE-A397-4124-A4E5-4500663D1FFA}" dt="2026-08-19T18:28:48.358" v="32" actId="20577"/>
        <pc:sldMkLst>
          <pc:docMk/>
          <pc:sldMk cId="0" sldId="274"/>
        </pc:sldMkLst>
        <pc:spChg chg="mod">
          <ac:chgData name="andres cespedes" userId="047e52afa30f2590" providerId="LiveId" clId="{661678AE-A397-4124-A4E5-4500663D1FFA}" dt="2026-08-19T18:28:48.358" v="32" actId="20577"/>
          <ac:spMkLst>
            <pc:docMk/>
            <pc:sldMk cId="0" sldId="274"/>
            <ac:spMk id="1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1904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Taller 2 del corte 1. Aplicamos arbol de decision y KNN al dataset que fijamos en el Taller 1. Presenta el grupo Shiro.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19.735 lecturas cada 10 minutos, 137 dias, cero nulos. La cola larga a la derecha y el salto de las 7 de la manana son los dos hechos que despues explican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diferencia nuestro trabajo. Evaluamos el mismo pipeline con dos particiones porque responden a dos preguntas distintas. La aleatoria es la del curso; la temporal es control de robustez.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a la Parte A: arbol de decision de regresion sobre el consumo en 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Seguimos las dos columnas de R2 a la vez: entrenamiento sube monotono hasta 1,0 y prueba se estanca en 0,25. La brecha ES el sobreajuste. Ojo a la ultima columna: con particion temporal el R2 se vuelve negativo desde profundidad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area sombreada de la izquierda es el sobreajuste. A la derecha, el matiz honesto: el MAE de prueba sigue bajando mientras el R2 se estanca, porque memorizar mejora las predicciones tipicas y empeora los 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parametro que de verdad controla el sobreajuste no es la profundidad sino el minimo de muestras por hoja. Subir min_samples_leaf de 1 a 10 baja el R2 de entrenamiento y sube el de prueba: menos ajuste a lo visto, mejor generalizacion.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primera division es hora menor o igual a 7,5. Nadie le dijo al arbol que este hogar despierta a las 7:30: la encontro minimizando el MSE. Separa la casa dormida de la casa activa, factor 2,2. Las variables fisicas solo entran en el nivel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hora domina con 24,7 por ciento, pero leer solo el top engana: los 18 sensores interiores se reparten la importancia entre ellos y en bloque suman 54,3. Eso respalda la decision de dataset del Taller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de la tarde es mas de seis veces el de la madrugada, porque de madrugada el consumo es linea base y de dia depende de decisiones humanas que ninguna variable observa. Y por cuartiles: el modelo aplana la distribucion, subestima los picos 53,8 Wh.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B: KNN. Entrenamos las dos variantes, clasificador de anomalias y regresor, para poder comparar contra el arbol con las mismas metricas.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 se elige por validacion cruzada de 5 particiones sobre el entrenamiento, nunca mirando el test. Al crecer K la precision sube y el recall se desploma: el modelo se vuelve timido. Por eso elegimos por F1 y no por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esta la parte incomoda y es la que mas valor tiene: las dos curvas decrecen de forma monotona, el mejor K es siempre el mas pequeno. Eso no es normal. La causa es autocorrelacion temporal, y la prueba esta en la particion temporal.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accuracy de 0,938 no hay que celebrarlo: clasificar todo como normal ya da 0,904 sin aprender nada. Lo que demuestra que el modelo aprendio es el F1 de 0,634 sobre la clase minoritaria. Los falsos negativos superan a los falsos positivos 2,1 a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Ultima parte: los dos modelos cara a cara, sobre exactamente los mismos datos y la misma particion.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Gano KNN en las dos tareas. Reduce el MAE un 22,9 por ciento y sube el R2 en 0,215. La razon: el consumo depende de combinaciones de condiciones, y KNN las captura buscando momentos parecidos; el arbol tiene que reconstruir el estado partiendo una variable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nube del KNN se ajusta mas a la diagonal. Pero fijense en la zona alta: los dos modelos se aplanan por debajo de la linea ideal. Ninguno de los dos predice bien los picos.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limites, medidos y no supuestos. Con particion temporal ninguno de los dos modelos funciona. Y eso dice mas sobre el dataset que sobre los algoritmos: 137 dias, una sola vivienda, sin verano.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el criterio de la Fase 1 pedia al menos un modelo de regresion y uno de clasificacion entrenados y evaluados sobre datos reales. Entregamos cuatro. KNN predice dentro del gemelo digital, el arbol explica de cara al usuario.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4897685"/>
            <a:ext cx="977479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APRENDIZAJE DE MÁQUINA · CORTE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5538163"/>
            <a:ext cx="9774793" cy="15811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9078"/>
              </a:lnSpc>
              <a:buNone/>
            </a:pPr>
            <a:r>
              <a:rPr lang="en-US" sz="13500" b="1" kern="0" spc="-405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Taller 2</a:t>
            </a:r>
            <a:endParaRPr lang="en-US" sz="13500" dirty="0"/>
          </a:p>
        </p:txBody>
      </p:sp>
      <p:sp>
        <p:nvSpPr>
          <p:cNvPr id="4" name="Text 2"/>
          <p:cNvSpPr/>
          <p:nvPr/>
        </p:nvSpPr>
        <p:spPr>
          <a:xfrm>
            <a:off x="952500" y="7424043"/>
            <a:ext cx="9774793" cy="666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6980"/>
              </a:lnSpc>
              <a:buNone/>
            </a:pPr>
            <a:r>
              <a:rPr lang="en-US" sz="4500" dirty="0">
                <a:solidFill>
                  <a:srgbClr val="1B4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Árboles de Decisión y KNN</a:t>
            </a:r>
            <a:endParaRPr lang="en-US" sz="4500" dirty="0"/>
          </a:p>
        </p:txBody>
      </p:sp>
      <p:sp>
        <p:nvSpPr>
          <p:cNvPr id="5" name="Shape 3"/>
          <p:cNvSpPr/>
          <p:nvPr/>
        </p:nvSpPr>
        <p:spPr>
          <a:xfrm>
            <a:off x="952500" y="8395560"/>
            <a:ext cx="888617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52500" y="8747889"/>
            <a:ext cx="6027714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67"/>
              </a:lnSpc>
              <a:buNone/>
            </a:pP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Energía y Medio Ambiente / IoT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753038" y="4603543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kern="0" spc="252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IoT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53038" y="5034008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Jose Leonardo Diazgranados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753038" y="5464472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Sofía Londoño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753038" y="5894937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Andrés Felipe Céspedes Rondón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53038" y="6325402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Alex Duran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53038" y="6984379"/>
            <a:ext cx="658244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10753038" y="7298573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kern="0" spc="252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753038" y="7729037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Appliances Energy Prediction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753038" y="8159501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UCI #374 · energydata_complete.csv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53038" y="8818480"/>
            <a:ext cx="658244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753038" y="9132672"/>
            <a:ext cx="7240684" cy="3923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7354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de agosto de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31382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PUNTO DE PARTIDA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3138248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428172"/>
            <a:ext cx="4128130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143"/>
              </a:lnSpc>
              <a:buNone/>
            </a:pPr>
            <a:r>
              <a:rPr lang="en-US" sz="39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19.735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952500" y="3018627"/>
            <a:ext cx="4128130" cy="34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31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lecturas cada 10 minutos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62476" y="2428172"/>
            <a:ext cx="4128244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143"/>
              </a:lnSpc>
              <a:buNone/>
            </a:pPr>
            <a:r>
              <a:rPr lang="en-US" sz="39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5162476" y="3018627"/>
            <a:ext cx="4128244" cy="34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31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días · ene–may 2016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72554" y="2428172"/>
            <a:ext cx="4128130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143"/>
              </a:lnSpc>
              <a:buNone/>
            </a:pPr>
            <a:r>
              <a:rPr lang="en-US" sz="39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9372554" y="3018627"/>
            <a:ext cx="4128130" cy="34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31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predictoras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582529" y="2428172"/>
            <a:ext cx="4128244" cy="533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9143"/>
              </a:lnSpc>
              <a:buNone/>
            </a:pPr>
            <a:r>
              <a:rPr lang="en-US" sz="390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3900" dirty="0"/>
          </a:p>
        </p:txBody>
      </p:sp>
      <p:sp>
        <p:nvSpPr>
          <p:cNvPr id="13" name="Text 11"/>
          <p:cNvSpPr/>
          <p:nvPr/>
        </p:nvSpPr>
        <p:spPr>
          <a:xfrm>
            <a:off x="13582529" y="3018627"/>
            <a:ext cx="4128244" cy="3467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631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faltantes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52500" y="3746334"/>
            <a:ext cx="16382979" cy="5363496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7759" r="-7759"/>
          <a:stretch/>
        </p:blipFill>
        <p:spPr>
          <a:xfrm>
            <a:off x="1149594" y="3943428"/>
            <a:ext cx="15988790" cy="496930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9281190"/>
            <a:ext cx="180212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Objetivo: Appliances (Wh) · mediana 60 · media 97,7 · máximo 1.080. El 90 % de las lecturas está por debajo de 196 Wh.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998329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METODOLÓGICA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9983297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experimental: dos particiones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428172"/>
            <a:ext cx="7810479" cy="33073"/>
          </a:xfrm>
          <a:prstGeom prst="rect">
            <a:avLst/>
          </a:prstGeom>
          <a:solidFill>
            <a:srgbClr val="1B4F7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52500" y="2766033"/>
            <a:ext cx="859152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3311322"/>
            <a:ext cx="8591527" cy="476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3000" b="1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Aleatoria 80 / 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52500" y="3996965"/>
            <a:ext cx="8591527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random_state=42 · 15.788 / 3.947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52500" y="4562099"/>
            <a:ext cx="4897497" cy="22676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33"/>
              </a:lnSpc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la del material del curso y la del artículo de referencia del dataset. Responde: </a:t>
            </a:r>
            <a:r>
              <a:rPr lang="en-US" sz="2400" i="1" dirty="0">
                <a:solidFill>
                  <a:srgbClr val="1B4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dadas las condiciones observadas del hogar, ¿cuál es el consumo?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524897" y="2428172"/>
            <a:ext cx="7810583" cy="33073"/>
          </a:xfrm>
          <a:prstGeom prst="rect">
            <a:avLst/>
          </a:prstGeom>
          <a:solidFill>
            <a:srgbClr val="C966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524897" y="2766033"/>
            <a:ext cx="85916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 DE ROBUSTEZ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524897" y="3311322"/>
            <a:ext cx="8591641" cy="47610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364"/>
              </a:lnSpc>
              <a:buNone/>
            </a:pPr>
            <a:r>
              <a:rPr lang="en-US" sz="3000" b="1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80 / 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9524897" y="3996965"/>
            <a:ext cx="8591641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entrena hasta abril · prueba el último mes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524897" y="4562099"/>
            <a:ext cx="4897497" cy="22610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3733"/>
              </a:lnSpc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otra pregunta: </a:t>
            </a:r>
            <a:r>
              <a:rPr lang="en-US" sz="2400" i="1" dirty="0">
                <a:solidFill>
                  <a:srgbClr val="C96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¿generaliza a un mes que el modelo nunca vio? </a:t>
            </a: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contraste entre ambas es uno de los hallazgos del taller.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533822"/>
            <a:ext cx="1802127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C98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6212437"/>
            <a:ext cx="1586518" cy="1912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10"/>
              </a:lnSpc>
              <a:buNone/>
            </a:pPr>
            <a:r>
              <a:rPr lang="en-US" sz="18000" b="1" kern="0" spc="-720" dirty="0">
                <a:solidFill>
                  <a:srgbClr val="3A40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888914" y="5869578"/>
            <a:ext cx="785858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7500" b="1" kern="0" spc="-15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de Decisión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52500" y="8467803"/>
            <a:ext cx="16382979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52500" y="8858270"/>
            <a:ext cx="9794994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4"/>
              </a:lnSpc>
              <a:buNone/>
            </a:pPr>
            <a:r>
              <a:rPr lang="en-US" sz="195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DecisionTreeRegressor sobre Appliances (Wh) · criterio squared_error · 29 variables predictoras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74895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 · ANÁLISIS DE SOBREAJUSTE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7489548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Profundidad vs. desempeño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871556"/>
            <a:ext cx="2852746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52500" y="2428172"/>
            <a:ext cx="2785928" cy="32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MAX_DEPTH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805246" y="2871556"/>
            <a:ext cx="2952171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3869081" y="2428172"/>
            <a:ext cx="2735936" cy="32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ENTREN.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757417" y="2871556"/>
            <a:ext cx="2706501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828622" y="2428172"/>
            <a:ext cx="2482896" cy="32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PRUEBA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463918" y="2871556"/>
            <a:ext cx="2952171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9527753" y="2428172"/>
            <a:ext cx="2735936" cy="32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PRUEBA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416089" y="2871556"/>
            <a:ext cx="1969595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12492289" y="2428172"/>
            <a:ext cx="1740995" cy="32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385685" y="2871556"/>
            <a:ext cx="2949794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4449591" y="2428172"/>
            <a:ext cx="2885888" cy="329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108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TEMPORAL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52500" y="3567534"/>
            <a:ext cx="285274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952500" y="3065760"/>
            <a:ext cx="2785928" cy="35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3805246" y="3567534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3869081" y="3065760"/>
            <a:ext cx="2735936" cy="35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0,121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6757417" y="3567534"/>
            <a:ext cx="270650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6828622" y="3065760"/>
            <a:ext cx="2482896" cy="35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0,108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463918" y="3567534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9527753" y="3065760"/>
            <a:ext cx="2735936" cy="35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53,9 Wh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12416089" y="3567534"/>
            <a:ext cx="196959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12492289" y="3065760"/>
            <a:ext cx="1740995" cy="35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0,013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4385685" y="3567534"/>
            <a:ext cx="294979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14449591" y="3065760"/>
            <a:ext cx="2885888" cy="358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0,105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952500" y="4253590"/>
            <a:ext cx="285274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9"/>
          <p:cNvSpPr/>
          <p:nvPr/>
        </p:nvSpPr>
        <p:spPr>
          <a:xfrm>
            <a:off x="952500" y="3755124"/>
            <a:ext cx="278592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3805246" y="4253590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3869081" y="3755124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0,178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6757417" y="4253590"/>
            <a:ext cx="270650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6828622" y="3755124"/>
            <a:ext cx="248289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0,154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9463918" y="4253590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9527753" y="3755124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51,4 Wh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12416089" y="4253590"/>
            <a:ext cx="196959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7"/>
          <p:cNvSpPr/>
          <p:nvPr/>
        </p:nvSpPr>
        <p:spPr>
          <a:xfrm>
            <a:off x="12492289" y="3755124"/>
            <a:ext cx="1740995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0,024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4385685" y="4253590"/>
            <a:ext cx="294979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4449591" y="3755124"/>
            <a:ext cx="288588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−0,881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952500" y="4939647"/>
            <a:ext cx="285274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952500" y="4441180"/>
            <a:ext cx="278592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3805246" y="4939647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3869081" y="4441180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0,261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6757417" y="4939647"/>
            <a:ext cx="270650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6828622" y="4441180"/>
            <a:ext cx="248289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0,197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9463918" y="4939647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9527753" y="4441180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47,9 Wh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2416089" y="4939647"/>
            <a:ext cx="196959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12492289" y="4441180"/>
            <a:ext cx="1740995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0,064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4385685" y="4939647"/>
            <a:ext cx="294979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4449591" y="4441180"/>
            <a:ext cx="288588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−3,696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952500" y="5625703"/>
            <a:ext cx="285274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952500" y="5127236"/>
            <a:ext cx="278592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3805246" y="5625703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3869081" y="5127236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0,387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6757417" y="5625703"/>
            <a:ext cx="270650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6828622" y="5127236"/>
            <a:ext cx="248289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0,212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9463918" y="5625703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9527753" y="5127236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46,1 Wh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12416089" y="5625703"/>
            <a:ext cx="196959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12492289" y="5127236"/>
            <a:ext cx="1740995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0,176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14385685" y="5625703"/>
            <a:ext cx="294979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14449591" y="5127236"/>
            <a:ext cx="288588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−3,220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952500" y="6311759"/>
            <a:ext cx="285274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952500" y="5813292"/>
            <a:ext cx="278592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3805246" y="6311759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3869081" y="5813292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0,520</a:t>
            </a:r>
            <a:endParaRPr lang="en-US" sz="1950" dirty="0"/>
          </a:p>
        </p:txBody>
      </p:sp>
      <p:sp>
        <p:nvSpPr>
          <p:cNvPr id="70" name="Shape 68"/>
          <p:cNvSpPr/>
          <p:nvPr/>
        </p:nvSpPr>
        <p:spPr>
          <a:xfrm>
            <a:off x="6757417" y="6311759"/>
            <a:ext cx="270650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6828622" y="5813292"/>
            <a:ext cx="248289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0,237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9463918" y="6311759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9527753" y="5813292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43,9 Wh</a:t>
            </a:r>
            <a:endParaRPr lang="en-US" sz="1950" dirty="0"/>
          </a:p>
        </p:txBody>
      </p:sp>
      <p:sp>
        <p:nvSpPr>
          <p:cNvPr id="74" name="Shape 72"/>
          <p:cNvSpPr/>
          <p:nvPr/>
        </p:nvSpPr>
        <p:spPr>
          <a:xfrm>
            <a:off x="12416089" y="6311759"/>
            <a:ext cx="196959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5" name="Text 73"/>
          <p:cNvSpPr/>
          <p:nvPr/>
        </p:nvSpPr>
        <p:spPr>
          <a:xfrm>
            <a:off x="12492289" y="5813292"/>
            <a:ext cx="1740995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0,283</a:t>
            </a:r>
            <a:endParaRPr lang="en-US" sz="1950" dirty="0"/>
          </a:p>
        </p:txBody>
      </p:sp>
      <p:sp>
        <p:nvSpPr>
          <p:cNvPr id="76" name="Shape 74"/>
          <p:cNvSpPr/>
          <p:nvPr/>
        </p:nvSpPr>
        <p:spPr>
          <a:xfrm>
            <a:off x="14385685" y="6311759"/>
            <a:ext cx="294979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7" name="Text 75"/>
          <p:cNvSpPr/>
          <p:nvPr/>
        </p:nvSpPr>
        <p:spPr>
          <a:xfrm>
            <a:off x="14449591" y="5813292"/>
            <a:ext cx="288588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−6,377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952500" y="6318374"/>
            <a:ext cx="16382979" cy="686056"/>
          </a:xfrm>
          <a:prstGeom prst="rect">
            <a:avLst/>
          </a:prstGeom>
          <a:solidFill>
            <a:srgbClr val="C9662A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9" name="Shape 77"/>
          <p:cNvSpPr/>
          <p:nvPr/>
        </p:nvSpPr>
        <p:spPr>
          <a:xfrm>
            <a:off x="952500" y="6997815"/>
            <a:ext cx="285274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0" name="Text 78"/>
          <p:cNvSpPr/>
          <p:nvPr/>
        </p:nvSpPr>
        <p:spPr>
          <a:xfrm>
            <a:off x="1066800" y="6499349"/>
            <a:ext cx="267162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límite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3805246" y="6997815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2" name="Text 80"/>
          <p:cNvSpPr/>
          <p:nvPr/>
        </p:nvSpPr>
        <p:spPr>
          <a:xfrm>
            <a:off x="3869081" y="6499349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1,000</a:t>
            </a:r>
            <a:endParaRPr lang="en-US" sz="1950" dirty="0"/>
          </a:p>
        </p:txBody>
      </p:sp>
      <p:sp>
        <p:nvSpPr>
          <p:cNvPr id="83" name="Shape 81"/>
          <p:cNvSpPr/>
          <p:nvPr/>
        </p:nvSpPr>
        <p:spPr>
          <a:xfrm>
            <a:off x="6757417" y="6997815"/>
            <a:ext cx="270650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4" name="Text 82"/>
          <p:cNvSpPr/>
          <p:nvPr/>
        </p:nvSpPr>
        <p:spPr>
          <a:xfrm>
            <a:off x="6828622" y="6499349"/>
            <a:ext cx="248289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0,253</a:t>
            </a:r>
            <a:endParaRPr lang="en-US" sz="1950" dirty="0"/>
          </a:p>
        </p:txBody>
      </p:sp>
      <p:sp>
        <p:nvSpPr>
          <p:cNvPr id="85" name="Shape 83"/>
          <p:cNvSpPr/>
          <p:nvPr/>
        </p:nvSpPr>
        <p:spPr>
          <a:xfrm>
            <a:off x="9463918" y="6997815"/>
            <a:ext cx="2952171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6" name="Text 84"/>
          <p:cNvSpPr/>
          <p:nvPr/>
        </p:nvSpPr>
        <p:spPr>
          <a:xfrm>
            <a:off x="9527753" y="6499349"/>
            <a:ext cx="2735936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35,9 Wh</a:t>
            </a:r>
            <a:endParaRPr lang="en-US" sz="1950" dirty="0"/>
          </a:p>
        </p:txBody>
      </p:sp>
      <p:sp>
        <p:nvSpPr>
          <p:cNvPr id="87" name="Shape 85"/>
          <p:cNvSpPr/>
          <p:nvPr/>
        </p:nvSpPr>
        <p:spPr>
          <a:xfrm>
            <a:off x="12416089" y="6997815"/>
            <a:ext cx="196959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8" name="Text 86"/>
          <p:cNvSpPr/>
          <p:nvPr/>
        </p:nvSpPr>
        <p:spPr>
          <a:xfrm>
            <a:off x="12492289" y="6499349"/>
            <a:ext cx="1740995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0,747</a:t>
            </a:r>
            <a:endParaRPr lang="en-US" sz="1950" dirty="0"/>
          </a:p>
        </p:txBody>
      </p:sp>
      <p:sp>
        <p:nvSpPr>
          <p:cNvPr id="89" name="Shape 87"/>
          <p:cNvSpPr/>
          <p:nvPr/>
        </p:nvSpPr>
        <p:spPr>
          <a:xfrm>
            <a:off x="14385685" y="6997815"/>
            <a:ext cx="294979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0" name="Text 88"/>
          <p:cNvSpPr/>
          <p:nvPr/>
        </p:nvSpPr>
        <p:spPr>
          <a:xfrm>
            <a:off x="14449591" y="6499349"/>
            <a:ext cx="2771588" cy="355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−6,046</a:t>
            </a:r>
            <a:endParaRPr lang="en-US" sz="1950" dirty="0"/>
          </a:p>
        </p:txBody>
      </p:sp>
      <p:sp>
        <p:nvSpPr>
          <p:cNvPr id="91" name="Text 89"/>
          <p:cNvSpPr/>
          <p:nvPr/>
        </p:nvSpPr>
        <p:spPr>
          <a:xfrm>
            <a:off x="952500" y="7426833"/>
            <a:ext cx="16874468" cy="701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49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 límite → profundidad real 43 y 8.909 hojas: más de una hoja por cada dos muestras de entrenamiento. Todo lo que el árbol aprende más allá de la profundidad 8 es ruido.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720112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A.1 · FIGURA 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7201121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 sobreajuste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428172"/>
            <a:ext cx="16382979" cy="6361679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448" r="-1448"/>
          <a:stretch/>
        </p:blipFill>
        <p:spPr>
          <a:xfrm>
            <a:off x="1187628" y="2663300"/>
            <a:ext cx="15912723" cy="58914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8961210"/>
            <a:ext cx="168744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Izquierda: el área sombreada entre las dos curvas es el sobreajuste. Derecha: con partición temporal el error de prueba se dispara a partir de profundidad 4.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796476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A.2 · MODELO ADOPTADO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7964764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Regularización y modelo final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2428172"/>
            <a:ext cx="1802127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MIN_SAMPLES_LEAF CON MAX_DEPTH=15 → R² DE PRUEBA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3011496"/>
            <a:ext cx="309376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952500" y="3208590"/>
            <a:ext cx="34031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52500" y="3620451"/>
            <a:ext cx="3403141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0,272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274778" y="3011496"/>
            <a:ext cx="309376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4274778" y="3208590"/>
            <a:ext cx="34031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= 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74778" y="3620451"/>
            <a:ext cx="3403141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0,317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597055" y="3011496"/>
            <a:ext cx="3093765" cy="33073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597055" y="3206419"/>
            <a:ext cx="34031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= 10 ← elegido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597055" y="3618280"/>
            <a:ext cx="3403141" cy="46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0,325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0919333" y="3011496"/>
            <a:ext cx="309376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919333" y="3208590"/>
            <a:ext cx="34031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= 20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919333" y="3620451"/>
            <a:ext cx="3403141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0,311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14241611" y="3011496"/>
            <a:ext cx="3093765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14241611" y="3208590"/>
            <a:ext cx="34031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leaf = 50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241611" y="3620451"/>
            <a:ext cx="3403141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0,280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952500" y="4535640"/>
            <a:ext cx="16382979" cy="5065530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1409630" y="5852666"/>
            <a:ext cx="15932781" cy="731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800"/>
              </a:lnSpc>
              <a:buNone/>
            </a:pPr>
            <a:r>
              <a:rPr lang="en-US" sz="195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DecisionTreeRegressor(max_depth=15, min_samples_leaf=10, min_samples_split=2, random_state=42) → 829 hojas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09630" y="6869761"/>
            <a:ext cx="3939522" cy="761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58"/>
              </a:lnSpc>
              <a:buNone/>
            </a:pPr>
            <a:r>
              <a:rPr lang="en-US" sz="5700" dirty="0">
                <a:solidFill>
                  <a:srgbClr val="F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0,325</a:t>
            </a:r>
            <a:endParaRPr lang="en-US" sz="5700" dirty="0"/>
          </a:p>
        </p:txBody>
      </p:sp>
      <p:sp>
        <p:nvSpPr>
          <p:cNvPr id="25" name="Text 23"/>
          <p:cNvSpPr/>
          <p:nvPr/>
        </p:nvSpPr>
        <p:spPr>
          <a:xfrm>
            <a:off x="1409630" y="7688832"/>
            <a:ext cx="393952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de prueba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371972" y="6869761"/>
            <a:ext cx="3939635" cy="761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58"/>
              </a:lnSpc>
              <a:buNone/>
            </a:pPr>
            <a:r>
              <a:rPr lang="en-US" sz="5700" dirty="0">
                <a:solidFill>
                  <a:srgbClr val="F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40,1</a:t>
            </a:r>
            <a:endParaRPr lang="en-US" sz="5700" dirty="0"/>
          </a:p>
        </p:txBody>
      </p:sp>
      <p:sp>
        <p:nvSpPr>
          <p:cNvPr id="27" name="Text 25"/>
          <p:cNvSpPr/>
          <p:nvPr/>
        </p:nvSpPr>
        <p:spPr>
          <a:xfrm>
            <a:off x="5371972" y="7688832"/>
            <a:ext cx="393963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en Wh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34417" y="6869761"/>
            <a:ext cx="3939635" cy="761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58"/>
              </a:lnSpc>
              <a:buNone/>
            </a:pPr>
            <a:r>
              <a:rPr lang="en-US" sz="5700" dirty="0">
                <a:solidFill>
                  <a:srgbClr val="F7F5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82,2</a:t>
            </a:r>
            <a:endParaRPr lang="en-US" sz="5700" dirty="0"/>
          </a:p>
        </p:txBody>
      </p:sp>
      <p:sp>
        <p:nvSpPr>
          <p:cNvPr id="29" name="Text 27"/>
          <p:cNvSpPr/>
          <p:nvPr/>
        </p:nvSpPr>
        <p:spPr>
          <a:xfrm>
            <a:off x="9334417" y="7688832"/>
            <a:ext cx="393963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en Wh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3296863" y="6869761"/>
            <a:ext cx="3939635" cy="761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258"/>
              </a:lnSpc>
              <a:buNone/>
            </a:pPr>
            <a:r>
              <a:rPr lang="en-US" sz="5700" dirty="0">
                <a:solidFill>
                  <a:srgbClr val="E8A8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−33,1 %</a:t>
            </a:r>
            <a:endParaRPr lang="en-US" sz="5700" dirty="0"/>
          </a:p>
        </p:txBody>
      </p:sp>
      <p:sp>
        <p:nvSpPr>
          <p:cNvPr id="31" name="Text 29"/>
          <p:cNvSpPr/>
          <p:nvPr/>
        </p:nvSpPr>
        <p:spPr>
          <a:xfrm>
            <a:off x="13296863" y="7688832"/>
            <a:ext cx="3688931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vs. predecir la media (59,9 Wh)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5826404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A.3 · INTERPRETACIÓN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5826404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reglas aprendidas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313864"/>
            <a:ext cx="2705365" cy="658358"/>
          </a:xfrm>
          <a:prstGeom prst="rect">
            <a:avLst/>
          </a:prstGeom>
          <a:solidFill>
            <a:srgbClr val="C9662A">
              <a:alpha val="1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162050" y="2428164"/>
            <a:ext cx="2367425" cy="46785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hora ≤ 7,5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91165" y="2429722"/>
            <a:ext cx="11306513" cy="464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67"/>
              </a:lnSpc>
              <a:buNone/>
            </a:pP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dormida </a:t>
            </a:r>
            <a:r>
              <a:rPr lang="en-US" sz="24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54,9 Wh </a:t>
            </a: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frente a casa activa </a:t>
            </a:r>
            <a:r>
              <a:rPr lang="en-US" sz="24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119,6 Wh </a:t>
            </a: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un factor de 2,2×.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3277009"/>
            <a:ext cx="16382979" cy="5531858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21451" r="-21451"/>
          <a:stretch/>
        </p:blipFill>
        <p:spPr>
          <a:xfrm>
            <a:off x="1149594" y="3474103"/>
            <a:ext cx="15988790" cy="513767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2500" y="8961210"/>
            <a:ext cx="168744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Niveles 1–2: solo el reloj. Nivel 3: T9 en la madrugada, RH_6 al despertar, lights en el día activo — la variable de ocupación que el dataset no trae etiquetada.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668270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A.4 · FEATURE_IMPORTANCES_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6682703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Importancia de variables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428172"/>
            <a:ext cx="8436901" cy="6700676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2081" b="-12081"/>
          <a:stretch/>
        </p:blipFill>
        <p:spPr>
          <a:xfrm>
            <a:off x="1130474" y="2606146"/>
            <a:ext cx="8080953" cy="6344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9281190"/>
            <a:ext cx="928059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primeras de 29 variables.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998976" y="3327549"/>
            <a:ext cx="807003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PESO AGREGADO POR BLOQUE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998976" y="3971230"/>
            <a:ext cx="2906210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interiores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5963676" y="3891855"/>
            <a:ext cx="1508869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54,3 %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9998976" y="4483137"/>
            <a:ext cx="7336399" cy="95188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9998976" y="4483137"/>
            <a:ext cx="3983633" cy="95188"/>
          </a:xfrm>
          <a:prstGeom prst="rect">
            <a:avLst/>
          </a:prstGeom>
          <a:solidFill>
            <a:srgbClr val="1B4F7C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9998976" y="4848179"/>
            <a:ext cx="3185883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temporales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5963676" y="4768804"/>
            <a:ext cx="1508869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29,2 %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9998976" y="5360086"/>
            <a:ext cx="7336399" cy="95188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9998976" y="5360086"/>
            <a:ext cx="2142195" cy="95188"/>
          </a:xfrm>
          <a:prstGeom prst="rect">
            <a:avLst/>
          </a:prstGeom>
          <a:solidFill>
            <a:srgbClr val="C9662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9998976" y="5725128"/>
            <a:ext cx="2102208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 exterior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5963676" y="5645754"/>
            <a:ext cx="1508869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12,4 %</a:t>
            </a:r>
            <a:endParaRPr lang="en-US" sz="3000" dirty="0"/>
          </a:p>
        </p:txBody>
      </p:sp>
      <p:sp>
        <p:nvSpPr>
          <p:cNvPr id="20" name="Shape 17"/>
          <p:cNvSpPr/>
          <p:nvPr/>
        </p:nvSpPr>
        <p:spPr>
          <a:xfrm>
            <a:off x="9998976" y="6237035"/>
            <a:ext cx="7336399" cy="95188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9998976" y="6237035"/>
            <a:ext cx="909712" cy="95188"/>
          </a:xfrm>
          <a:prstGeom prst="rect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9"/>
          <p:cNvSpPr/>
          <p:nvPr/>
        </p:nvSpPr>
        <p:spPr>
          <a:xfrm>
            <a:off x="9998976" y="6602077"/>
            <a:ext cx="1792407" cy="434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Iluminación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6192293" y="6522702"/>
            <a:ext cx="1219283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4,0 %</a:t>
            </a:r>
            <a:endParaRPr lang="en-US" sz="3000" dirty="0"/>
          </a:p>
        </p:txBody>
      </p:sp>
      <p:sp>
        <p:nvSpPr>
          <p:cNvPr id="24" name="Shape 21"/>
          <p:cNvSpPr/>
          <p:nvPr/>
        </p:nvSpPr>
        <p:spPr>
          <a:xfrm>
            <a:off x="9998976" y="7113984"/>
            <a:ext cx="7336399" cy="95188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2"/>
          <p:cNvSpPr/>
          <p:nvPr/>
        </p:nvSpPr>
        <p:spPr>
          <a:xfrm>
            <a:off x="9998976" y="7113984"/>
            <a:ext cx="293419" cy="95188"/>
          </a:xfrm>
          <a:prstGeom prst="rect">
            <a:avLst/>
          </a:prstGeom>
          <a:solidFill>
            <a:srgbClr val="5A5F73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9998976" y="7475823"/>
            <a:ext cx="733639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4"/>
          <p:cNvSpPr/>
          <p:nvPr/>
        </p:nvSpPr>
        <p:spPr>
          <a:xfrm>
            <a:off x="9998976" y="7672937"/>
            <a:ext cx="7556491" cy="1066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923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ranking interno de los sensores no es interpretable: T1–T9 están muy correlacionados entre sí y sklearn reparte el crédito de forma arbitraria. El peso por bloque sí lo es.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468383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A.5 · ¿DÓNDE FALLA?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4683838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Patrones de error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313864"/>
            <a:ext cx="16382979" cy="4970859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6975" r="-16975"/>
          <a:stretch/>
        </p:blipFill>
        <p:spPr>
          <a:xfrm>
            <a:off x="1149594" y="2510958"/>
            <a:ext cx="15988790" cy="45766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7437065"/>
            <a:ext cx="168744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Madrugada 8,6 Wh · mañana 53,5 · tarde 53,3 · noche 44,1. Por tipo de día no hay diferencia: 40,0 laboral contra 40,2 en fin de semana.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52500" y="8381813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52500" y="8636062"/>
            <a:ext cx="1802127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SESGO POR CUARTIL DE CONSUMO REAL — EL ÁRBOL APLANA LA DISTRIBUCIÓN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2500" y="9105077"/>
            <a:ext cx="1219283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+14,7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228908" y="9263827"/>
            <a:ext cx="193156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sobreestima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124441" y="9105077"/>
            <a:ext cx="1219283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+10,1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6400849" y="9263827"/>
            <a:ext cx="193156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sobreestima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296383" y="9105077"/>
            <a:ext cx="1219283" cy="534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+24,2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10572791" y="9263827"/>
            <a:ext cx="193156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sobreestima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468324" y="9105077"/>
            <a:ext cx="1219386" cy="468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−53,8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14744836" y="9191066"/>
            <a:ext cx="275182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· subestima los picos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162372"/>
            <a:ext cx="1802127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C98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B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5840987"/>
            <a:ext cx="1543544" cy="1912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10"/>
              </a:lnSpc>
              <a:buNone/>
            </a:pPr>
            <a:r>
              <a:rPr lang="en-US" sz="18000" b="1" kern="0" spc="-720" dirty="0">
                <a:solidFill>
                  <a:srgbClr val="3A40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974367" y="5600935"/>
            <a:ext cx="888845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7500" b="1" kern="0" spc="-15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52500" y="8096353"/>
            <a:ext cx="16382979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52500" y="8486820"/>
            <a:ext cx="9794994" cy="11524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4"/>
              </a:lnSpc>
              <a:buNone/>
            </a:pPr>
            <a:r>
              <a:rPr lang="en-US" sz="195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Clasificador normal / anómalo (umbral 200 Wh = p90 del entrenamiento) y regresor sobre el mismo objetivo · StandardScaler ajustado solo con el entrenamiento</a:t>
            </a:r>
            <a:endParaRPr lang="en-US" sz="1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608038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B.1 · VALIDACIÓN CRUZADA 5-FOLD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6080383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Elección de 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852539"/>
            <a:ext cx="686366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52500" y="2428172"/>
            <a:ext cx="648266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638866" y="2852539"/>
            <a:ext cx="1620780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676966" y="2428172"/>
            <a:ext cx="1468380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CV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259646" y="2852539"/>
            <a:ext cx="2577827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296611" y="2428172"/>
            <a:ext cx="2426562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 PRUEBA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37473" y="2852539"/>
            <a:ext cx="2577827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5874438" y="2428172"/>
            <a:ext cx="2426562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PRECISIÓN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415300" y="2852539"/>
            <a:ext cx="1845572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8453400" y="2428172"/>
            <a:ext cx="1693172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RECALL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260873" y="2852539"/>
            <a:ext cx="1620780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0298973" y="2428172"/>
            <a:ext cx="1468380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CV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881652" y="2852539"/>
            <a:ext cx="2577827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1918617" y="2428172"/>
            <a:ext cx="2426562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PRUEBA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4459479" y="2852539"/>
            <a:ext cx="2876000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4487499" y="2428172"/>
            <a:ext cx="2847980" cy="3291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800" kern="0" spc="72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TEMPORAL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2500" y="2865768"/>
            <a:ext cx="16382979" cy="632106"/>
          </a:xfrm>
          <a:prstGeom prst="rect">
            <a:avLst/>
          </a:prstGeom>
          <a:solidFill>
            <a:srgbClr val="1B4F7C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952500" y="3491260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66800" y="3018168"/>
            <a:ext cx="533966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1638866" y="3491260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676966" y="3018168"/>
            <a:ext cx="1468380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0,612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3259646" y="3491260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3296611" y="3018168"/>
            <a:ext cx="2426562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0,634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5837473" y="3491260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5874438" y="3018168"/>
            <a:ext cx="2426562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0,727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8415300" y="3491260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8453400" y="3018168"/>
            <a:ext cx="1693172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0,562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0260873" y="3491260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2"/>
          <p:cNvSpPr/>
          <p:nvPr/>
        </p:nvSpPr>
        <p:spPr>
          <a:xfrm>
            <a:off x="10298973" y="3018168"/>
            <a:ext cx="1468380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0,472</a:t>
            </a:r>
            <a:endParaRPr lang="en-US" sz="1950" dirty="0"/>
          </a:p>
        </p:txBody>
      </p:sp>
      <p:sp>
        <p:nvSpPr>
          <p:cNvPr id="35" name="Shape 33"/>
          <p:cNvSpPr/>
          <p:nvPr/>
        </p:nvSpPr>
        <p:spPr>
          <a:xfrm>
            <a:off x="11881652" y="3491260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11918617" y="3018168"/>
            <a:ext cx="2426562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0,553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4459479" y="3491260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6"/>
          <p:cNvSpPr/>
          <p:nvPr/>
        </p:nvSpPr>
        <p:spPr>
          <a:xfrm>
            <a:off x="14487499" y="3018168"/>
            <a:ext cx="2733680" cy="358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−0,878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952500" y="3497874"/>
            <a:ext cx="16382979" cy="628799"/>
          </a:xfrm>
          <a:prstGeom prst="rect">
            <a:avLst/>
          </a:prstGeom>
          <a:solidFill>
            <a:srgbClr val="2E7D5B">
              <a:alpha val="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8"/>
          <p:cNvSpPr/>
          <p:nvPr/>
        </p:nvSpPr>
        <p:spPr>
          <a:xfrm>
            <a:off x="952500" y="4120059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9"/>
          <p:cNvSpPr/>
          <p:nvPr/>
        </p:nvSpPr>
        <p:spPr>
          <a:xfrm>
            <a:off x="1066800" y="3650274"/>
            <a:ext cx="533966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1638866" y="4120059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41"/>
          <p:cNvSpPr/>
          <p:nvPr/>
        </p:nvSpPr>
        <p:spPr>
          <a:xfrm>
            <a:off x="1676966" y="3650274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0,603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3259646" y="4120059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3"/>
          <p:cNvSpPr/>
          <p:nvPr/>
        </p:nvSpPr>
        <p:spPr>
          <a:xfrm>
            <a:off x="3296611" y="3650274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0,617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5837473" y="4120059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5874438" y="3650274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0,743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8415300" y="4120059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9" name="Text 47"/>
          <p:cNvSpPr/>
          <p:nvPr/>
        </p:nvSpPr>
        <p:spPr>
          <a:xfrm>
            <a:off x="8453400" y="3650274"/>
            <a:ext cx="169317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0,528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10260873" y="4120059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1" name="Text 49"/>
          <p:cNvSpPr/>
          <p:nvPr/>
        </p:nvSpPr>
        <p:spPr>
          <a:xfrm>
            <a:off x="10298973" y="3650274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0,479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1881652" y="4120059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51"/>
          <p:cNvSpPr/>
          <p:nvPr/>
        </p:nvSpPr>
        <p:spPr>
          <a:xfrm>
            <a:off x="11918617" y="3650274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0,539</a:t>
            </a:r>
            <a:endParaRPr lang="en-US" sz="1950" dirty="0"/>
          </a:p>
        </p:txBody>
      </p:sp>
      <p:sp>
        <p:nvSpPr>
          <p:cNvPr id="54" name="Shape 52"/>
          <p:cNvSpPr/>
          <p:nvPr/>
        </p:nvSpPr>
        <p:spPr>
          <a:xfrm>
            <a:off x="14459479" y="4120059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53"/>
          <p:cNvSpPr/>
          <p:nvPr/>
        </p:nvSpPr>
        <p:spPr>
          <a:xfrm>
            <a:off x="14487499" y="3650274"/>
            <a:ext cx="27336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−0,602</a:t>
            </a:r>
            <a:endParaRPr lang="en-US" sz="1950" dirty="0"/>
          </a:p>
        </p:txBody>
      </p:sp>
      <p:sp>
        <p:nvSpPr>
          <p:cNvPr id="56" name="Shape 54"/>
          <p:cNvSpPr/>
          <p:nvPr/>
        </p:nvSpPr>
        <p:spPr>
          <a:xfrm>
            <a:off x="952500" y="4748857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5"/>
          <p:cNvSpPr/>
          <p:nvPr/>
        </p:nvSpPr>
        <p:spPr>
          <a:xfrm>
            <a:off x="952500" y="4279073"/>
            <a:ext cx="648266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638866" y="4748857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7"/>
          <p:cNvSpPr/>
          <p:nvPr/>
        </p:nvSpPr>
        <p:spPr>
          <a:xfrm>
            <a:off x="1676966" y="4279073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0,579</a:t>
            </a:r>
            <a:endParaRPr lang="en-US" sz="1950" dirty="0"/>
          </a:p>
        </p:txBody>
      </p:sp>
      <p:sp>
        <p:nvSpPr>
          <p:cNvPr id="60" name="Shape 58"/>
          <p:cNvSpPr/>
          <p:nvPr/>
        </p:nvSpPr>
        <p:spPr>
          <a:xfrm>
            <a:off x="3259646" y="4748857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59"/>
          <p:cNvSpPr/>
          <p:nvPr/>
        </p:nvSpPr>
        <p:spPr>
          <a:xfrm>
            <a:off x="3296611" y="4279073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0,615</a:t>
            </a:r>
            <a:endParaRPr lang="en-US" sz="1950" dirty="0"/>
          </a:p>
        </p:txBody>
      </p:sp>
      <p:sp>
        <p:nvSpPr>
          <p:cNvPr id="62" name="Shape 60"/>
          <p:cNvSpPr/>
          <p:nvPr/>
        </p:nvSpPr>
        <p:spPr>
          <a:xfrm>
            <a:off x="5837473" y="4748857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61"/>
          <p:cNvSpPr/>
          <p:nvPr/>
        </p:nvSpPr>
        <p:spPr>
          <a:xfrm>
            <a:off x="5874438" y="4279073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0,752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8415300" y="4748857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5" name="Text 63"/>
          <p:cNvSpPr/>
          <p:nvPr/>
        </p:nvSpPr>
        <p:spPr>
          <a:xfrm>
            <a:off x="8453400" y="4279073"/>
            <a:ext cx="169317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0,520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10260873" y="4748857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7" name="Text 65"/>
          <p:cNvSpPr/>
          <p:nvPr/>
        </p:nvSpPr>
        <p:spPr>
          <a:xfrm>
            <a:off x="10298973" y="4279073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0,473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11881652" y="4748857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9" name="Text 67"/>
          <p:cNvSpPr/>
          <p:nvPr/>
        </p:nvSpPr>
        <p:spPr>
          <a:xfrm>
            <a:off x="11918617" y="4279073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0,515</a:t>
            </a:r>
            <a:endParaRPr lang="en-US" sz="1950" dirty="0"/>
          </a:p>
        </p:txBody>
      </p:sp>
      <p:sp>
        <p:nvSpPr>
          <p:cNvPr id="70" name="Shape 68"/>
          <p:cNvSpPr/>
          <p:nvPr/>
        </p:nvSpPr>
        <p:spPr>
          <a:xfrm>
            <a:off x="14459479" y="4748857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1" name="Text 69"/>
          <p:cNvSpPr/>
          <p:nvPr/>
        </p:nvSpPr>
        <p:spPr>
          <a:xfrm>
            <a:off x="14487499" y="4279073"/>
            <a:ext cx="28479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−0,458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952500" y="5377656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3" name="Text 71"/>
          <p:cNvSpPr/>
          <p:nvPr/>
        </p:nvSpPr>
        <p:spPr>
          <a:xfrm>
            <a:off x="952500" y="4907872"/>
            <a:ext cx="648266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950" dirty="0"/>
          </a:p>
        </p:txBody>
      </p:sp>
      <p:sp>
        <p:nvSpPr>
          <p:cNvPr id="74" name="Shape 72"/>
          <p:cNvSpPr/>
          <p:nvPr/>
        </p:nvSpPr>
        <p:spPr>
          <a:xfrm>
            <a:off x="1638866" y="5377656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5" name="Text 73"/>
          <p:cNvSpPr/>
          <p:nvPr/>
        </p:nvSpPr>
        <p:spPr>
          <a:xfrm>
            <a:off x="1676966" y="4907872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0,569</a:t>
            </a:r>
            <a:endParaRPr lang="en-US" sz="1950" dirty="0"/>
          </a:p>
        </p:txBody>
      </p:sp>
      <p:sp>
        <p:nvSpPr>
          <p:cNvPr id="76" name="Shape 74"/>
          <p:cNvSpPr/>
          <p:nvPr/>
        </p:nvSpPr>
        <p:spPr>
          <a:xfrm>
            <a:off x="3259646" y="5377656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7" name="Text 75"/>
          <p:cNvSpPr/>
          <p:nvPr/>
        </p:nvSpPr>
        <p:spPr>
          <a:xfrm>
            <a:off x="3296611" y="4907872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0,592</a:t>
            </a:r>
            <a:endParaRPr lang="en-US" sz="1950" dirty="0"/>
          </a:p>
        </p:txBody>
      </p:sp>
      <p:sp>
        <p:nvSpPr>
          <p:cNvPr id="78" name="Shape 76"/>
          <p:cNvSpPr/>
          <p:nvPr/>
        </p:nvSpPr>
        <p:spPr>
          <a:xfrm>
            <a:off x="5837473" y="5377656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9" name="Text 77"/>
          <p:cNvSpPr/>
          <p:nvPr/>
        </p:nvSpPr>
        <p:spPr>
          <a:xfrm>
            <a:off x="5874438" y="4907872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0,747</a:t>
            </a:r>
            <a:endParaRPr lang="en-US" sz="1950" dirty="0"/>
          </a:p>
        </p:txBody>
      </p:sp>
      <p:sp>
        <p:nvSpPr>
          <p:cNvPr id="80" name="Shape 78"/>
          <p:cNvSpPr/>
          <p:nvPr/>
        </p:nvSpPr>
        <p:spPr>
          <a:xfrm>
            <a:off x="8415300" y="5377656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1" name="Text 79"/>
          <p:cNvSpPr/>
          <p:nvPr/>
        </p:nvSpPr>
        <p:spPr>
          <a:xfrm>
            <a:off x="8453400" y="4907872"/>
            <a:ext cx="169317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0,491</a:t>
            </a:r>
            <a:endParaRPr lang="en-US" sz="1950" dirty="0"/>
          </a:p>
        </p:txBody>
      </p:sp>
      <p:sp>
        <p:nvSpPr>
          <p:cNvPr id="82" name="Shape 80"/>
          <p:cNvSpPr/>
          <p:nvPr/>
        </p:nvSpPr>
        <p:spPr>
          <a:xfrm>
            <a:off x="10260873" y="5377656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3" name="Text 81"/>
          <p:cNvSpPr/>
          <p:nvPr/>
        </p:nvSpPr>
        <p:spPr>
          <a:xfrm>
            <a:off x="10298973" y="4907872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0,467</a:t>
            </a:r>
            <a:endParaRPr lang="en-US" sz="1950" dirty="0"/>
          </a:p>
        </p:txBody>
      </p:sp>
      <p:sp>
        <p:nvSpPr>
          <p:cNvPr id="84" name="Shape 82"/>
          <p:cNvSpPr/>
          <p:nvPr/>
        </p:nvSpPr>
        <p:spPr>
          <a:xfrm>
            <a:off x="11881652" y="5377656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5" name="Text 83"/>
          <p:cNvSpPr/>
          <p:nvPr/>
        </p:nvSpPr>
        <p:spPr>
          <a:xfrm>
            <a:off x="11918617" y="4907872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0,497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14459479" y="5377656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7" name="Text 85"/>
          <p:cNvSpPr/>
          <p:nvPr/>
        </p:nvSpPr>
        <p:spPr>
          <a:xfrm>
            <a:off x="14487499" y="4907872"/>
            <a:ext cx="28479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−0,364</a:t>
            </a:r>
            <a:endParaRPr lang="en-US" sz="1950" dirty="0"/>
          </a:p>
        </p:txBody>
      </p:sp>
      <p:sp>
        <p:nvSpPr>
          <p:cNvPr id="88" name="Shape 86"/>
          <p:cNvSpPr/>
          <p:nvPr/>
        </p:nvSpPr>
        <p:spPr>
          <a:xfrm>
            <a:off x="952500" y="6006455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9" name="Text 87"/>
          <p:cNvSpPr/>
          <p:nvPr/>
        </p:nvSpPr>
        <p:spPr>
          <a:xfrm>
            <a:off x="952500" y="5536671"/>
            <a:ext cx="648266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950" dirty="0"/>
          </a:p>
        </p:txBody>
      </p:sp>
      <p:sp>
        <p:nvSpPr>
          <p:cNvPr id="90" name="Shape 88"/>
          <p:cNvSpPr/>
          <p:nvPr/>
        </p:nvSpPr>
        <p:spPr>
          <a:xfrm>
            <a:off x="1638866" y="6006455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1" name="Text 89"/>
          <p:cNvSpPr/>
          <p:nvPr/>
        </p:nvSpPr>
        <p:spPr>
          <a:xfrm>
            <a:off x="1676966" y="5536671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0,559</a:t>
            </a:r>
            <a:endParaRPr lang="en-US" sz="1950" dirty="0"/>
          </a:p>
        </p:txBody>
      </p:sp>
      <p:sp>
        <p:nvSpPr>
          <p:cNvPr id="92" name="Shape 90"/>
          <p:cNvSpPr/>
          <p:nvPr/>
        </p:nvSpPr>
        <p:spPr>
          <a:xfrm>
            <a:off x="3259646" y="6006455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3" name="Text 91"/>
          <p:cNvSpPr/>
          <p:nvPr/>
        </p:nvSpPr>
        <p:spPr>
          <a:xfrm>
            <a:off x="3296611" y="5536671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0,574</a:t>
            </a:r>
            <a:endParaRPr lang="en-US" sz="1950" dirty="0"/>
          </a:p>
        </p:txBody>
      </p:sp>
      <p:sp>
        <p:nvSpPr>
          <p:cNvPr id="94" name="Shape 92"/>
          <p:cNvSpPr/>
          <p:nvPr/>
        </p:nvSpPr>
        <p:spPr>
          <a:xfrm>
            <a:off x="5837473" y="6006455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5" name="Text 93"/>
          <p:cNvSpPr/>
          <p:nvPr/>
        </p:nvSpPr>
        <p:spPr>
          <a:xfrm>
            <a:off x="5874438" y="5536671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0,752</a:t>
            </a:r>
            <a:endParaRPr lang="en-US" sz="1950" dirty="0"/>
          </a:p>
        </p:txBody>
      </p:sp>
      <p:sp>
        <p:nvSpPr>
          <p:cNvPr id="96" name="Shape 94"/>
          <p:cNvSpPr/>
          <p:nvPr/>
        </p:nvSpPr>
        <p:spPr>
          <a:xfrm>
            <a:off x="8415300" y="6006455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7" name="Text 95"/>
          <p:cNvSpPr/>
          <p:nvPr/>
        </p:nvSpPr>
        <p:spPr>
          <a:xfrm>
            <a:off x="8453400" y="5536671"/>
            <a:ext cx="169317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0,464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260873" y="6006455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9" name="Text 97"/>
          <p:cNvSpPr/>
          <p:nvPr/>
        </p:nvSpPr>
        <p:spPr>
          <a:xfrm>
            <a:off x="10298973" y="5536671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0,459</a:t>
            </a:r>
            <a:endParaRPr lang="en-US" sz="1950" dirty="0"/>
          </a:p>
        </p:txBody>
      </p:sp>
      <p:sp>
        <p:nvSpPr>
          <p:cNvPr id="100" name="Shape 98"/>
          <p:cNvSpPr/>
          <p:nvPr/>
        </p:nvSpPr>
        <p:spPr>
          <a:xfrm>
            <a:off x="11881652" y="6006455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1" name="Text 99"/>
          <p:cNvSpPr/>
          <p:nvPr/>
        </p:nvSpPr>
        <p:spPr>
          <a:xfrm>
            <a:off x="11918617" y="5536671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0,489</a:t>
            </a:r>
            <a:endParaRPr lang="en-US" sz="1950" dirty="0"/>
          </a:p>
        </p:txBody>
      </p:sp>
      <p:sp>
        <p:nvSpPr>
          <p:cNvPr id="102" name="Shape 100"/>
          <p:cNvSpPr/>
          <p:nvPr/>
        </p:nvSpPr>
        <p:spPr>
          <a:xfrm>
            <a:off x="14459479" y="6006455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3" name="Text 101"/>
          <p:cNvSpPr/>
          <p:nvPr/>
        </p:nvSpPr>
        <p:spPr>
          <a:xfrm>
            <a:off x="14487499" y="5536671"/>
            <a:ext cx="28479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−0,344</a:t>
            </a:r>
            <a:endParaRPr lang="en-US" sz="1950" dirty="0"/>
          </a:p>
        </p:txBody>
      </p:sp>
      <p:sp>
        <p:nvSpPr>
          <p:cNvPr id="104" name="Shape 102"/>
          <p:cNvSpPr/>
          <p:nvPr/>
        </p:nvSpPr>
        <p:spPr>
          <a:xfrm>
            <a:off x="952500" y="6635254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5" name="Text 103"/>
          <p:cNvSpPr/>
          <p:nvPr/>
        </p:nvSpPr>
        <p:spPr>
          <a:xfrm>
            <a:off x="952500" y="6165470"/>
            <a:ext cx="648266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950" dirty="0"/>
          </a:p>
        </p:txBody>
      </p:sp>
      <p:sp>
        <p:nvSpPr>
          <p:cNvPr id="106" name="Shape 104"/>
          <p:cNvSpPr/>
          <p:nvPr/>
        </p:nvSpPr>
        <p:spPr>
          <a:xfrm>
            <a:off x="1638866" y="6635254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7" name="Text 105"/>
          <p:cNvSpPr/>
          <p:nvPr/>
        </p:nvSpPr>
        <p:spPr>
          <a:xfrm>
            <a:off x="1676966" y="6165470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0,528</a:t>
            </a:r>
            <a:endParaRPr lang="en-US" sz="1950" dirty="0"/>
          </a:p>
        </p:txBody>
      </p:sp>
      <p:sp>
        <p:nvSpPr>
          <p:cNvPr id="108" name="Shape 106"/>
          <p:cNvSpPr/>
          <p:nvPr/>
        </p:nvSpPr>
        <p:spPr>
          <a:xfrm>
            <a:off x="3259646" y="6635254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9" name="Text 107"/>
          <p:cNvSpPr/>
          <p:nvPr/>
        </p:nvSpPr>
        <p:spPr>
          <a:xfrm>
            <a:off x="3296611" y="6165470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0,539</a:t>
            </a:r>
            <a:endParaRPr lang="en-US" sz="1950" dirty="0"/>
          </a:p>
        </p:txBody>
      </p:sp>
      <p:sp>
        <p:nvSpPr>
          <p:cNvPr id="110" name="Shape 108"/>
          <p:cNvSpPr/>
          <p:nvPr/>
        </p:nvSpPr>
        <p:spPr>
          <a:xfrm>
            <a:off x="5837473" y="6635254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1" name="Text 109"/>
          <p:cNvSpPr/>
          <p:nvPr/>
        </p:nvSpPr>
        <p:spPr>
          <a:xfrm>
            <a:off x="5874438" y="6165470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0,770</a:t>
            </a:r>
            <a:endParaRPr lang="en-US" sz="1950" dirty="0"/>
          </a:p>
        </p:txBody>
      </p:sp>
      <p:sp>
        <p:nvSpPr>
          <p:cNvPr id="112" name="Shape 110"/>
          <p:cNvSpPr/>
          <p:nvPr/>
        </p:nvSpPr>
        <p:spPr>
          <a:xfrm>
            <a:off x="8415300" y="6635254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3" name="Text 111"/>
          <p:cNvSpPr/>
          <p:nvPr/>
        </p:nvSpPr>
        <p:spPr>
          <a:xfrm>
            <a:off x="8453400" y="6165470"/>
            <a:ext cx="169317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0,414</a:t>
            </a:r>
            <a:endParaRPr lang="en-US" sz="1950" dirty="0"/>
          </a:p>
        </p:txBody>
      </p:sp>
      <p:sp>
        <p:nvSpPr>
          <p:cNvPr id="114" name="Shape 112"/>
          <p:cNvSpPr/>
          <p:nvPr/>
        </p:nvSpPr>
        <p:spPr>
          <a:xfrm>
            <a:off x="10260873" y="6635254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5" name="Text 113"/>
          <p:cNvSpPr/>
          <p:nvPr/>
        </p:nvSpPr>
        <p:spPr>
          <a:xfrm>
            <a:off x="10298973" y="6165470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0,448</a:t>
            </a:r>
            <a:endParaRPr lang="en-US" sz="1950" dirty="0"/>
          </a:p>
        </p:txBody>
      </p:sp>
      <p:sp>
        <p:nvSpPr>
          <p:cNvPr id="116" name="Shape 114"/>
          <p:cNvSpPr/>
          <p:nvPr/>
        </p:nvSpPr>
        <p:spPr>
          <a:xfrm>
            <a:off x="11881652" y="6635254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7" name="Text 115"/>
          <p:cNvSpPr/>
          <p:nvPr/>
        </p:nvSpPr>
        <p:spPr>
          <a:xfrm>
            <a:off x="11918617" y="6165470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0,474</a:t>
            </a:r>
            <a:endParaRPr lang="en-US" sz="1950" dirty="0"/>
          </a:p>
        </p:txBody>
      </p:sp>
      <p:sp>
        <p:nvSpPr>
          <p:cNvPr id="118" name="Shape 116"/>
          <p:cNvSpPr/>
          <p:nvPr/>
        </p:nvSpPr>
        <p:spPr>
          <a:xfrm>
            <a:off x="14459479" y="6635254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9" name="Text 117"/>
          <p:cNvSpPr/>
          <p:nvPr/>
        </p:nvSpPr>
        <p:spPr>
          <a:xfrm>
            <a:off x="14487499" y="6165470"/>
            <a:ext cx="28479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−0,295</a:t>
            </a:r>
            <a:endParaRPr lang="en-US" sz="1950" dirty="0"/>
          </a:p>
        </p:txBody>
      </p:sp>
      <p:sp>
        <p:nvSpPr>
          <p:cNvPr id="120" name="Shape 118"/>
          <p:cNvSpPr/>
          <p:nvPr/>
        </p:nvSpPr>
        <p:spPr>
          <a:xfrm>
            <a:off x="952500" y="7264053"/>
            <a:ext cx="68636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1" name="Text 119"/>
          <p:cNvSpPr/>
          <p:nvPr/>
        </p:nvSpPr>
        <p:spPr>
          <a:xfrm>
            <a:off x="952500" y="6794268"/>
            <a:ext cx="648266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1950" dirty="0"/>
          </a:p>
        </p:txBody>
      </p:sp>
      <p:sp>
        <p:nvSpPr>
          <p:cNvPr id="122" name="Shape 120"/>
          <p:cNvSpPr/>
          <p:nvPr/>
        </p:nvSpPr>
        <p:spPr>
          <a:xfrm>
            <a:off x="1638866" y="7264053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3" name="Text 121"/>
          <p:cNvSpPr/>
          <p:nvPr/>
        </p:nvSpPr>
        <p:spPr>
          <a:xfrm>
            <a:off x="1676966" y="6794268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0,474</a:t>
            </a:r>
            <a:endParaRPr lang="en-US" sz="1950" dirty="0"/>
          </a:p>
        </p:txBody>
      </p:sp>
      <p:sp>
        <p:nvSpPr>
          <p:cNvPr id="124" name="Shape 122"/>
          <p:cNvSpPr/>
          <p:nvPr/>
        </p:nvSpPr>
        <p:spPr>
          <a:xfrm>
            <a:off x="3259646" y="7264053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5" name="Text 123"/>
          <p:cNvSpPr/>
          <p:nvPr/>
        </p:nvSpPr>
        <p:spPr>
          <a:xfrm>
            <a:off x="3296611" y="6794268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0,506</a:t>
            </a:r>
            <a:endParaRPr lang="en-US" sz="1950" dirty="0"/>
          </a:p>
        </p:txBody>
      </p:sp>
      <p:sp>
        <p:nvSpPr>
          <p:cNvPr id="126" name="Shape 124"/>
          <p:cNvSpPr/>
          <p:nvPr/>
        </p:nvSpPr>
        <p:spPr>
          <a:xfrm>
            <a:off x="5837473" y="7264053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7" name="Text 125"/>
          <p:cNvSpPr/>
          <p:nvPr/>
        </p:nvSpPr>
        <p:spPr>
          <a:xfrm>
            <a:off x="5874438" y="6794268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0,780</a:t>
            </a:r>
            <a:endParaRPr lang="en-US" sz="1950" dirty="0"/>
          </a:p>
        </p:txBody>
      </p:sp>
      <p:sp>
        <p:nvSpPr>
          <p:cNvPr id="128" name="Shape 126"/>
          <p:cNvSpPr/>
          <p:nvPr/>
        </p:nvSpPr>
        <p:spPr>
          <a:xfrm>
            <a:off x="8415300" y="7264053"/>
            <a:ext cx="1845572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9" name="Text 127"/>
          <p:cNvSpPr/>
          <p:nvPr/>
        </p:nvSpPr>
        <p:spPr>
          <a:xfrm>
            <a:off x="8453400" y="6794268"/>
            <a:ext cx="169317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b="1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0,375</a:t>
            </a:r>
            <a:endParaRPr lang="en-US" sz="1950" dirty="0"/>
          </a:p>
        </p:txBody>
      </p:sp>
      <p:sp>
        <p:nvSpPr>
          <p:cNvPr id="130" name="Shape 128"/>
          <p:cNvSpPr/>
          <p:nvPr/>
        </p:nvSpPr>
        <p:spPr>
          <a:xfrm>
            <a:off x="10260873" y="7264053"/>
            <a:ext cx="162078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1" name="Text 129"/>
          <p:cNvSpPr/>
          <p:nvPr/>
        </p:nvSpPr>
        <p:spPr>
          <a:xfrm>
            <a:off x="10298973" y="6794268"/>
            <a:ext cx="14683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0,434</a:t>
            </a:r>
            <a:endParaRPr lang="en-US" sz="1950" dirty="0"/>
          </a:p>
        </p:txBody>
      </p:sp>
      <p:sp>
        <p:nvSpPr>
          <p:cNvPr id="132" name="Shape 130"/>
          <p:cNvSpPr/>
          <p:nvPr/>
        </p:nvSpPr>
        <p:spPr>
          <a:xfrm>
            <a:off x="11881652" y="7264053"/>
            <a:ext cx="2577827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3" name="Text 131"/>
          <p:cNvSpPr/>
          <p:nvPr/>
        </p:nvSpPr>
        <p:spPr>
          <a:xfrm>
            <a:off x="11918617" y="6794268"/>
            <a:ext cx="2426562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0,452</a:t>
            </a:r>
            <a:endParaRPr lang="en-US" sz="1950" dirty="0"/>
          </a:p>
        </p:txBody>
      </p:sp>
      <p:sp>
        <p:nvSpPr>
          <p:cNvPr id="134" name="Shape 132"/>
          <p:cNvSpPr/>
          <p:nvPr/>
        </p:nvSpPr>
        <p:spPr>
          <a:xfrm>
            <a:off x="14459479" y="7264053"/>
            <a:ext cx="2876000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5" name="Text 133"/>
          <p:cNvSpPr/>
          <p:nvPr/>
        </p:nvSpPr>
        <p:spPr>
          <a:xfrm>
            <a:off x="14487499" y="6794268"/>
            <a:ext cx="2847980" cy="355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−0,234</a:t>
            </a:r>
            <a:endParaRPr lang="en-US" sz="1950" dirty="0"/>
          </a:p>
        </p:txBody>
      </p:sp>
      <p:sp>
        <p:nvSpPr>
          <p:cNvPr id="136" name="Text 134"/>
          <p:cNvSpPr/>
          <p:nvPr/>
        </p:nvSpPr>
        <p:spPr>
          <a:xfrm>
            <a:off x="952500" y="7739372"/>
            <a:ext cx="2504475" cy="554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3 → clasificador</a:t>
            </a:r>
            <a:endParaRPr lang="en-US" sz="1800" dirty="0"/>
          </a:p>
        </p:txBody>
      </p:sp>
      <p:sp>
        <p:nvSpPr>
          <p:cNvPr id="137" name="Text 135"/>
          <p:cNvSpPr/>
          <p:nvPr/>
        </p:nvSpPr>
        <p:spPr>
          <a:xfrm>
            <a:off x="3837905" y="7739372"/>
            <a:ext cx="2018924" cy="554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7D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5 → regresor</a:t>
            </a:r>
            <a:endParaRPr lang="en-US" sz="1800" dirty="0"/>
          </a:p>
        </p:txBody>
      </p:sp>
      <p:sp>
        <p:nvSpPr>
          <p:cNvPr id="138" name="Text 136"/>
          <p:cNvSpPr/>
          <p:nvPr/>
        </p:nvSpPr>
        <p:spPr>
          <a:xfrm>
            <a:off x="6237759" y="7693070"/>
            <a:ext cx="11430652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K=3 a K=21 la precisión sube 0,053 y el recall cae 0,187: para un detector de anomalías es el peor intercambio posible.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828138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B.1 · FIGURA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8281386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Diagnóstico de la elección de 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313864"/>
            <a:ext cx="16382979" cy="4766944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9889" r="-19889"/>
          <a:stretch/>
        </p:blipFill>
        <p:spPr>
          <a:xfrm>
            <a:off x="1168611" y="2529975"/>
            <a:ext cx="15950757" cy="43347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7233150"/>
            <a:ext cx="1802127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Ambas curvas decrecen de forma monótona: el mejor K es el más pequeño probado.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52500" y="7857918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52500" y="8112166"/>
            <a:ext cx="867531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CAUSA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2500" y="8524027"/>
            <a:ext cx="8123250" cy="11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Autocorrelación temporal: las lecturas son cada 10 minutos y dos consecutivas son casi idénticas. Al partir al azar, muchas filas de prueba tienen su vecina inmediata en el entrenamiento.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725" y="8112166"/>
            <a:ext cx="867542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PRUEBA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448725" y="8524027"/>
            <a:ext cx="8123356" cy="11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K = 1 el F1 sube a 0,690, mejor que cualquier K de la tabla. Y con partición temporal, donde esa vecindad es imposible, el F1 cae de 0,634 a 0,169.</a:t>
            </a:r>
            <a:endParaRPr lang="en-US" sz="1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7100052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B.2 · CLASIFICADOR K =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7100052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de anomalías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428172"/>
            <a:ext cx="7657104" cy="6700676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1144" r="-1144"/>
          <a:stretch/>
        </p:blipFill>
        <p:spPr>
          <a:xfrm>
            <a:off x="1130474" y="2606146"/>
            <a:ext cx="7301156" cy="63447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9281190"/>
            <a:ext cx="842281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3.947 lecturas de prueba · 9,6 % anómalas.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295349" y="3852788"/>
            <a:ext cx="4170536" cy="590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916"/>
              </a:lnSpc>
              <a:buNone/>
            </a:pPr>
            <a:r>
              <a:rPr lang="en-US" sz="4350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0,634</a:t>
            </a:r>
            <a:endParaRPr lang="en-US" sz="4350" dirty="0"/>
          </a:p>
        </p:txBody>
      </p:sp>
      <p:sp>
        <p:nvSpPr>
          <p:cNvPr id="10" name="Text 7"/>
          <p:cNvSpPr/>
          <p:nvPr/>
        </p:nvSpPr>
        <p:spPr>
          <a:xfrm>
            <a:off x="9295349" y="4481380"/>
            <a:ext cx="417053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· clase anómalo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543876" y="3852788"/>
            <a:ext cx="4170650" cy="590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916"/>
              </a:lnSpc>
              <a:buNone/>
            </a:pPr>
            <a:r>
              <a:rPr lang="en-US" sz="43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0,727</a:t>
            </a:r>
            <a:endParaRPr lang="en-US" sz="4350" dirty="0"/>
          </a:p>
        </p:txBody>
      </p:sp>
      <p:sp>
        <p:nvSpPr>
          <p:cNvPr id="12" name="Text 9"/>
          <p:cNvSpPr/>
          <p:nvPr/>
        </p:nvSpPr>
        <p:spPr>
          <a:xfrm>
            <a:off x="13543876" y="4481380"/>
            <a:ext cx="417065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Precisión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295349" y="5102841"/>
            <a:ext cx="4170536" cy="590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916"/>
              </a:lnSpc>
              <a:buNone/>
            </a:pPr>
            <a:r>
              <a:rPr lang="en-US" sz="43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0,562</a:t>
            </a:r>
            <a:endParaRPr lang="en-US" sz="4350" dirty="0"/>
          </a:p>
        </p:txBody>
      </p:sp>
      <p:sp>
        <p:nvSpPr>
          <p:cNvPr id="14" name="Text 11"/>
          <p:cNvSpPr/>
          <p:nvPr/>
        </p:nvSpPr>
        <p:spPr>
          <a:xfrm>
            <a:off x="9295349" y="5731433"/>
            <a:ext cx="4170536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· 213 de 379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3543876" y="5102841"/>
            <a:ext cx="4170650" cy="5905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7916"/>
              </a:lnSpc>
              <a:buNone/>
            </a:pPr>
            <a:r>
              <a:rPr lang="en-US" sz="435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0,938</a:t>
            </a:r>
            <a:endParaRPr lang="en-US" sz="4350" dirty="0"/>
          </a:p>
        </p:txBody>
      </p:sp>
      <p:sp>
        <p:nvSpPr>
          <p:cNvPr id="16" name="Text 13"/>
          <p:cNvSpPr/>
          <p:nvPr/>
        </p:nvSpPr>
        <p:spPr>
          <a:xfrm>
            <a:off x="13543876" y="5731433"/>
            <a:ext cx="4170650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295349" y="6352894"/>
            <a:ext cx="804002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9295349" y="6588021"/>
            <a:ext cx="8281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Clasificar todo como «normal» ya da accuracy </a:t>
            </a: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0,904 </a:t>
            </a:r>
            <a:r>
              <a:rPr lang="en-US" sz="19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F1 </a:t>
            </a:r>
            <a:r>
              <a:rPr lang="en-US" sz="195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0,000 </a:t>
            </a:r>
            <a:r>
              <a:rPr lang="en-US" sz="19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Por eso la métrica principal es F1, no accuracy.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9295349" y="7458459"/>
            <a:ext cx="8281226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166 anomalías perdidas contra 80 falsas alarmas: el modelo se inclina hacia «normal» en proporción 2,1 a 1.</a:t>
            </a:r>
            <a:endParaRPr lang="en-US" sz="1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533822"/>
            <a:ext cx="1802127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60" dirty="0">
                <a:solidFill>
                  <a:srgbClr val="C98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COMPARACIÓN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52500" y="6212437"/>
            <a:ext cx="1514099" cy="19125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2110"/>
              </a:lnSpc>
              <a:buNone/>
            </a:pPr>
            <a:r>
              <a:rPr lang="en-US" sz="18000" b="1" kern="0" spc="-720" dirty="0">
                <a:solidFill>
                  <a:srgbClr val="3A40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2862254" y="6202474"/>
            <a:ext cx="6407009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87805"/>
              </a:lnSpc>
              <a:buNone/>
            </a:pPr>
            <a:r>
              <a:rPr lang="en-US" sz="7500" b="1" kern="0" spc="-15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vs. KNN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952500" y="8467803"/>
            <a:ext cx="16382979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52500" y="8858270"/>
            <a:ext cx="9794994" cy="7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3714"/>
              </a:lnSpc>
              <a:buNone/>
            </a:pPr>
            <a:r>
              <a:rPr lang="en-US" sz="195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Mismas 29 variables · misma partición aleatoria · mismo umbral de anomalía · cuatro modelos entrenados</a:t>
            </a:r>
            <a:endParaRPr lang="en-US" sz="1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7649507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B.3 · MISMA PARTICIÓN, MISMAS VARIABLES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7649507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Desempeño cabeza a cabeza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3029479"/>
            <a:ext cx="6118696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52500" y="2428172"/>
            <a:ext cx="6073657" cy="467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800" kern="0" spc="108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MÉTRICA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071196" y="3029479"/>
            <a:ext cx="6918854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168431" y="2428172"/>
            <a:ext cx="6516819" cy="467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Árbol de decisión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13990050" y="2428172"/>
            <a:ext cx="3345429" cy="614536"/>
          </a:xfrm>
          <a:prstGeom prst="rect">
            <a:avLst/>
          </a:prstGeom>
          <a:solidFill>
            <a:srgbClr val="1B4F7C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13990050" y="3029479"/>
            <a:ext cx="3345429" cy="13229"/>
          </a:xfrm>
          <a:prstGeom prst="rect">
            <a:avLst/>
          </a:prstGeom>
          <a:solidFill>
            <a:srgbClr val="16192B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4194487" y="2428172"/>
            <a:ext cx="2836192" cy="4679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B4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52500" y="4123262"/>
            <a:ext cx="611869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52500" y="3233208"/>
            <a:ext cx="6073657" cy="73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 (Wh)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071196" y="4123262"/>
            <a:ext cx="691885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7168431" y="3233208"/>
            <a:ext cx="6516819" cy="73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40,07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990050" y="3042708"/>
            <a:ext cx="3345429" cy="1087169"/>
          </a:xfrm>
          <a:prstGeom prst="rect">
            <a:avLst/>
          </a:prstGeom>
          <a:solidFill>
            <a:srgbClr val="1B4F7C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13990050" y="4123262"/>
            <a:ext cx="334542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7"/>
          <p:cNvSpPr/>
          <p:nvPr/>
        </p:nvSpPr>
        <p:spPr>
          <a:xfrm>
            <a:off x="14194487" y="3233208"/>
            <a:ext cx="2836192" cy="7376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30,90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52500" y="5205884"/>
            <a:ext cx="611869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52500" y="4320377"/>
            <a:ext cx="6073657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 (Wh)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7071196" y="5205884"/>
            <a:ext cx="691885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21"/>
          <p:cNvSpPr/>
          <p:nvPr/>
        </p:nvSpPr>
        <p:spPr>
          <a:xfrm>
            <a:off x="7168431" y="4320377"/>
            <a:ext cx="6516819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82,20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3990050" y="4129877"/>
            <a:ext cx="3345429" cy="1082621"/>
          </a:xfrm>
          <a:prstGeom prst="rect">
            <a:avLst/>
          </a:prstGeom>
          <a:solidFill>
            <a:srgbClr val="1B4F7C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13990050" y="5205884"/>
            <a:ext cx="334542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14194487" y="4320377"/>
            <a:ext cx="2836192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67,89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952500" y="6288505"/>
            <a:ext cx="611869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952500" y="5402998"/>
            <a:ext cx="6073657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(regresión)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071196" y="6288505"/>
            <a:ext cx="691885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8"/>
          <p:cNvSpPr/>
          <p:nvPr/>
        </p:nvSpPr>
        <p:spPr>
          <a:xfrm>
            <a:off x="7168431" y="5402998"/>
            <a:ext cx="6516819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0,325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13990050" y="5212498"/>
            <a:ext cx="3345429" cy="1082621"/>
          </a:xfrm>
          <a:prstGeom prst="rect">
            <a:avLst/>
          </a:prstGeom>
          <a:solidFill>
            <a:srgbClr val="1B4F7C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30"/>
          <p:cNvSpPr/>
          <p:nvPr/>
        </p:nvSpPr>
        <p:spPr>
          <a:xfrm>
            <a:off x="13990050" y="6288505"/>
            <a:ext cx="334542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31"/>
          <p:cNvSpPr/>
          <p:nvPr/>
        </p:nvSpPr>
        <p:spPr>
          <a:xfrm>
            <a:off x="14194487" y="5402998"/>
            <a:ext cx="2836192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0,539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52500" y="7371126"/>
            <a:ext cx="611869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3"/>
          <p:cNvSpPr/>
          <p:nvPr/>
        </p:nvSpPr>
        <p:spPr>
          <a:xfrm>
            <a:off x="952500" y="6485619"/>
            <a:ext cx="6073657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(clase anómalo)</a:t>
            </a:r>
            <a:endParaRPr lang="en-US" sz="2400" dirty="0"/>
          </a:p>
        </p:txBody>
      </p:sp>
      <p:sp>
        <p:nvSpPr>
          <p:cNvPr id="36" name="Shape 34"/>
          <p:cNvSpPr/>
          <p:nvPr/>
        </p:nvSpPr>
        <p:spPr>
          <a:xfrm>
            <a:off x="7071196" y="7371126"/>
            <a:ext cx="691885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5"/>
          <p:cNvSpPr/>
          <p:nvPr/>
        </p:nvSpPr>
        <p:spPr>
          <a:xfrm>
            <a:off x="7168431" y="6485619"/>
            <a:ext cx="6516819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0,461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13990050" y="6295119"/>
            <a:ext cx="3345429" cy="1082621"/>
          </a:xfrm>
          <a:prstGeom prst="rect">
            <a:avLst/>
          </a:prstGeom>
          <a:solidFill>
            <a:srgbClr val="1B4F7C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Shape 37"/>
          <p:cNvSpPr/>
          <p:nvPr/>
        </p:nvSpPr>
        <p:spPr>
          <a:xfrm>
            <a:off x="13990050" y="7371126"/>
            <a:ext cx="334542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8"/>
          <p:cNvSpPr/>
          <p:nvPr/>
        </p:nvSpPr>
        <p:spPr>
          <a:xfrm>
            <a:off x="14194487" y="6485619"/>
            <a:ext cx="2836192" cy="7331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0,634</a:t>
            </a:r>
            <a:endParaRPr lang="en-US" sz="2400" dirty="0"/>
          </a:p>
        </p:txBody>
      </p:sp>
      <p:sp>
        <p:nvSpPr>
          <p:cNvPr id="41" name="Shape 39"/>
          <p:cNvSpPr/>
          <p:nvPr/>
        </p:nvSpPr>
        <p:spPr>
          <a:xfrm>
            <a:off x="952500" y="8454057"/>
            <a:ext cx="6118696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2" name="Text 40"/>
          <p:cNvSpPr/>
          <p:nvPr/>
        </p:nvSpPr>
        <p:spPr>
          <a:xfrm>
            <a:off x="952500" y="7568240"/>
            <a:ext cx="6073657" cy="733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C966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partición temporal</a:t>
            </a:r>
            <a:endParaRPr lang="en-US" sz="2400" dirty="0"/>
          </a:p>
        </p:txBody>
      </p:sp>
      <p:sp>
        <p:nvSpPr>
          <p:cNvPr id="43" name="Shape 41"/>
          <p:cNvSpPr/>
          <p:nvPr/>
        </p:nvSpPr>
        <p:spPr>
          <a:xfrm>
            <a:off x="7071196" y="8454057"/>
            <a:ext cx="6918854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42"/>
          <p:cNvSpPr/>
          <p:nvPr/>
        </p:nvSpPr>
        <p:spPr>
          <a:xfrm>
            <a:off x="7168431" y="7568240"/>
            <a:ext cx="6516819" cy="733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−2,891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13990050" y="7377740"/>
            <a:ext cx="3345429" cy="1082931"/>
          </a:xfrm>
          <a:prstGeom prst="rect">
            <a:avLst/>
          </a:prstGeom>
          <a:solidFill>
            <a:srgbClr val="1B4F7C">
              <a:alpha val="7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Shape 44"/>
          <p:cNvSpPr/>
          <p:nvPr/>
        </p:nvSpPr>
        <p:spPr>
          <a:xfrm>
            <a:off x="13990050" y="8454057"/>
            <a:ext cx="334542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7" name="Text 45"/>
          <p:cNvSpPr/>
          <p:nvPr/>
        </p:nvSpPr>
        <p:spPr>
          <a:xfrm>
            <a:off x="14194487" y="7568240"/>
            <a:ext cx="2836192" cy="73341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r">
              <a:buNone/>
            </a:pPr>
            <a:r>
              <a:rPr lang="en-US" sz="24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−0,602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952500" y="8883075"/>
            <a:ext cx="14692492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reduce el MAE un 22,9 % y sube el R² en 0,215. El árbol conserva lo que no miden las métricas: es explicable, cuesta 15 comparaciones por consulta frente a 15.788 distancias, y entrega </a:t>
            </a:r>
            <a:r>
              <a:rPr lang="en-US" sz="1950" dirty="0">
                <a:solidFill>
                  <a:srgbClr val="161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feature_importances_ </a:t>
            </a:r>
            <a:r>
              <a:rPr lang="en-US" sz="19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directamente.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5920083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B.3 · FIGURA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6594348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frente a predicho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2313864"/>
            <a:ext cx="16382979" cy="4446963"/>
          </a:xfrm>
          <a:prstGeom prst="rect">
            <a:avLst/>
          </a:prstGeom>
          <a:solidFill>
            <a:srgbClr val="FFFFFF"/>
          </a:solidFill>
          <a:ln w="6615">
            <a:solidFill>
              <a:srgbClr val="D9D4C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35030" r="-35030"/>
          <a:stretch/>
        </p:blipFill>
        <p:spPr>
          <a:xfrm>
            <a:off x="1168611" y="2529975"/>
            <a:ext cx="15950757" cy="40147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2500" y="6913169"/>
            <a:ext cx="16874468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4062"/>
              </a:lnSpc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diagonal es la predicción perfecta. Ambos modelos aplanan la nube por debajo de la línea en la zona alta: subestiman los picos.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952500" y="7857918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52500" y="8112166"/>
            <a:ext cx="8675315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1B4F7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QUÉ GANA KNN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952500" y="8524027"/>
            <a:ext cx="8123250" cy="11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consumo depende de combinaciones de condiciones —«tarde + cocina caliente + humedad alta» es un estado— y KNN lo captura buscando momentos parecidos en la historia del hogar.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448725" y="8112166"/>
            <a:ext cx="8675429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DÓNDE GANA EL ÁRBOL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448725" y="8524027"/>
            <a:ext cx="8123356" cy="11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5A5F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le puede mostrar la regla «hora ≤ 7,5 → 54,9 Wh» a alguien que no sabe de ML. KNN, para justificar una predicción, tiene que exhibir sus vecinos.</a:t>
            </a:r>
            <a:endParaRPr lang="en-US" sz="1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447863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NO SE LOGRÓ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5058156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161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Límites medidos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A5F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19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2500" y="5257560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952500" y="4240361"/>
            <a:ext cx="2095500" cy="57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15"/>
              </a:lnSpc>
              <a:buNone/>
            </a:pPr>
            <a:r>
              <a:rPr lang="en-US" sz="42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−2,891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390801" y="4080474"/>
            <a:ext cx="1436301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67"/>
              </a:lnSpc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partición temporal el árbol es peor que predecir una constante, y el KNN cae a −0,602. Ninguno de los dos sirve todavía para pronosticar hacia adelante.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52500" y="6765065"/>
            <a:ext cx="16382979" cy="9525"/>
          </a:xfrm>
          <a:prstGeom prst="rect">
            <a:avLst/>
          </a:prstGeom>
          <a:solidFill>
            <a:srgbClr val="D9D4C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952500" y="5747866"/>
            <a:ext cx="2095500" cy="57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15"/>
              </a:lnSpc>
              <a:buNone/>
            </a:pPr>
            <a:r>
              <a:rPr lang="en-US" sz="42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3390801" y="5587979"/>
            <a:ext cx="1436301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67"/>
              </a:lnSpc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Rinde mejor que cualquier K mayor (F1 0,690). Los resultados de la partición aleatoria están en parte inflados por la autocorrelación entre lecturas de 10 minutos.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" y="7255371"/>
            <a:ext cx="2095500" cy="571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88615"/>
              </a:lnSpc>
              <a:buNone/>
            </a:pPr>
            <a:r>
              <a:rPr lang="en-US" sz="4200" dirty="0">
                <a:solidFill>
                  <a:srgbClr val="C966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137 d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3390801" y="7095484"/>
            <a:ext cx="14363018" cy="891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9467"/>
              </a:lnSpc>
              <a:buNone/>
            </a:pPr>
            <a:r>
              <a:rPr lang="en-US" sz="2400" dirty="0">
                <a:solidFill>
                  <a:srgbClr val="161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sola vivienda, invierno y primavera, sin verano. El límite está en el dataset, no en los algoritmos: el artículo de referencia reporta R² del mismo orden con modelos de ensamble.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2002462"/>
            <a:ext cx="16382979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Text 1"/>
          <p:cNvSpPr/>
          <p:nvPr/>
        </p:nvSpPr>
        <p:spPr>
          <a:xfrm>
            <a:off x="952500" y="761917"/>
            <a:ext cx="483868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324" dirty="0">
                <a:solidFill>
                  <a:srgbClr val="C98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CONCLUSIÓN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52500" y="1192899"/>
            <a:ext cx="4838681" cy="6381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92571"/>
              </a:lnSpc>
              <a:buNone/>
            </a:pPr>
            <a:r>
              <a:rPr lang="en-US" sz="4500" b="1" kern="0" spc="-67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Cierre de la Fase 1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6375331" y="1495309"/>
            <a:ext cx="1036348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19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52500" y="3928856"/>
            <a:ext cx="8591527" cy="1657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4862"/>
              </a:lnSpc>
              <a:buNone/>
            </a:pPr>
            <a:r>
              <a:rPr lang="en-US" sz="15000" b="1" kern="0" spc="-450" dirty="0">
                <a:solidFill>
                  <a:srgbClr val="F7F5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952500" y="5833752"/>
            <a:ext cx="8044793" cy="990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9091"/>
              </a:lnSpc>
              <a:buNone/>
            </a:pPr>
            <a:r>
              <a:rPr lang="en-US" sz="30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entrenados y evaluados sobre 19.735 lecturas reales.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52500" y="7071713"/>
            <a:ext cx="13229" cy="1028774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1175279" y="7071713"/>
            <a:ext cx="7822014" cy="10668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2923"/>
              </a:lnSpc>
              <a:buNone/>
            </a:pPr>
            <a:r>
              <a:rPr lang="en-US" sz="180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 de cierre de la Fase 1: «al menos un modelo de regresión y uno de clasificación entrenados y evaluados sobre datos reales».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4897" y="4070036"/>
            <a:ext cx="7810583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9524897" y="4286147"/>
            <a:ext cx="85916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8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DE ARQUITECTURA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524897" y="4698008"/>
            <a:ext cx="8044900" cy="8609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5200"/>
              </a:lnSpc>
              <a:buNone/>
            </a:pPr>
            <a:r>
              <a:rPr lang="en-US" sz="2400" dirty="0">
                <a:solidFill>
                  <a:srgbClr val="F7F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predice dentro del gemelo digital; el árbol explica de cara al usuario. No compiten.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524897" y="5787554"/>
            <a:ext cx="7810583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524897" y="6003664"/>
            <a:ext cx="8591641" cy="3357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kern="0" spc="252" dirty="0">
                <a:solidFill>
                  <a:srgbClr val="C986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SEGUNDO CORTE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524897" y="6415525"/>
            <a:ext cx="804490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6251"/>
              </a:lnSpc>
              <a:buNone/>
            </a:pPr>
            <a:r>
              <a:rPr lang="en-US" sz="1950" dirty="0">
                <a:solidFill>
                  <a:srgbClr val="C5C9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de retardo · UCI Household Power Consumption como segunda vivienda · clustering de rutinas de uso.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524897" y="7400272"/>
            <a:ext cx="7810583" cy="9525"/>
          </a:xfrm>
          <a:prstGeom prst="rect">
            <a:avLst/>
          </a:prstGeom>
          <a:solidFill>
            <a:srgbClr val="3A4059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9524897" y="7616436"/>
            <a:ext cx="8044900" cy="380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923"/>
              </a:lnSpc>
              <a:buNone/>
            </a:pPr>
            <a:r>
              <a:rPr lang="en-US" sz="1800" dirty="0">
                <a:solidFill>
                  <a:srgbClr val="9AA0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Grupo IoT · Diazgranados · Londoño · Céspedes · Duran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2281</Words>
  <Application>Microsoft Office PowerPoint</Application>
  <PresentationFormat>Personalizado</PresentationFormat>
  <Paragraphs>334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3" baseType="lpstr">
      <vt:lpstr>Arial</vt:lpstr>
      <vt:lpstr>Courier New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andres cespedes</cp:lastModifiedBy>
  <cp:revision>1</cp:revision>
  <dcterms:created xsi:type="dcterms:W3CDTF">2026-08-19T18:25:07Z</dcterms:created>
  <dcterms:modified xsi:type="dcterms:W3CDTF">2026-08-19T18:29:14Z</dcterms:modified>
</cp:coreProperties>
</file>