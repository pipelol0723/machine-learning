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tensión: la tabla de métricas coronó a Random Forest y ese es justamente el modelo que no sirve para simular.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gana la partición aleatoria y se hunde en la temporal. La lineal hace lo contrario. Esa inversión es el eje de toda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puntos no son cuatro ejercicios: son las cuatro piezas que le faltaban al gemelo. Presentar el reparto.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 Leonardo toma la palabra.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cambios de preprocesamiento en todo el proyecto, cada uno con una razón. El escalado y el submuestreo no son mejoras: son concesiones al modelo que las exige.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Partición aleatoria. Ojo con accuracy: decir siempre normal da 0,904. Por eso reportamos recall y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1 del cuaderno. La línea discontinua es el SVM balanceado.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que ordena todo lo demás. Tres de cuatro regresores predicen peor que la media sobre el último mes. El único que sobrevive era el peor.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Sofía toma la palabra. 5 minutos: es el punto más largo.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de 20 son subestimaciones. El embudo de residuos se abre hacia arriba: cuanto más alto el consumo, más corto se queda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veces más fiable de madrugada que en la mañana. Por eso la incertidumbre del entorno tiene que ser función de la 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son los tres peores: son tres que fallan por razones distintas. Aquí se responden las cuatro preguntas del enunciado por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pide sugerir una técnica de mejora. En vez de proponerla, la medimos. El clasificador se rescata; el regresor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mecanismo es la extrapolación: el bosque promedia valores que vio; no puede devolver un nivel de consumo que no exista en invierno. La lineal predice un cambio, no un nivel.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preguntas literales del enunciado. Insistir en la última: no hay un modelo final, hay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Felipe toma la palabra.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particularidad del sector: el error no se detecta de inmediato. La factura llega 20-50 días después y no dice qué la causó.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solo envejece el modelo: envejece la definición de anomalía. Y el dataset ni siquiera llega al verano.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alarma de equidad era razonable, pero al medirla resulta más matizada. Y la explicabilidad se resuelve manteniendo el árbol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toma la palabra. 4 minutos, cierra con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reglas. La tercera sale directamente de la deriva medida en 3.2: no es un adorno.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no tiene nada de especial. Lo que la persona experimenta son episodios, no lecturas. Con 0,40 la frecuencia del aviso coincide con la del fenómeno.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métrica que el curso optimiza elige el modelo equivocado para este producto. Punto fuerte para la sustentación.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abre la consola en vivo. Recorrido: panel → alerta explicada → acción propuesta → mover el umbral → baja confianza → modo degradado.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lo que cambia y con el estado del 2.º corte: el entorno de simulación pasa de bloqueado a viable. El punto 5, el póster, es trabajo del corte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3"/>
        </a:solidFill>
      </p:bgPr>
    </p:bg>
    <p:spTree>
      <p:nvGrpSpPr>
        <p:cNvPr id="1" name=""/>
        <p:cNvGrpSpPr/>
        <p:nvPr/>
      </p:nvGrpSpPr>
      <p:grpSpPr>
        <a:xfrm>
          <a:off x="0" y="0"/>
          <a:ext cx="0" cy="0"/>
          <a:chOff x="0" y="0"/>
          <a:chExt cx="0" cy="0"/>
        </a:xfrm>
      </p:grpSpPr>
      <p:sp>
        <p:nvSpPr>
          <p:cNvPr id="2" name="Shape 0"/>
          <p:cNvSpPr/>
          <p:nvPr/>
        </p:nvSpPr>
        <p:spPr>
          <a:xfrm>
            <a:off x="1047714" y="838148"/>
            <a:ext cx="323802" cy="323802"/>
          </a:xfrm>
          <a:prstGeom prst="roundRect">
            <a:avLst>
              <a:gd name="adj" fmla="val 20591"/>
            </a:avLst>
          </a:prstGeom>
          <a:solidFill>
            <a:srgbClr val="188038"/>
          </a:solidFill>
          <a:ln/>
        </p:spPr>
      </p:sp>
      <p:sp>
        <p:nvSpPr>
          <p:cNvPr id="3" name="Text 1"/>
          <p:cNvSpPr/>
          <p:nvPr/>
        </p:nvSpPr>
        <p:spPr>
          <a:xfrm>
            <a:off x="1009614" y="838148"/>
            <a:ext cx="400002" cy="361902"/>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Courier New" pitchFamily="34" charset="0"/>
                <a:ea typeface="Courier New" pitchFamily="34" charset="-122"/>
                <a:cs typeface="Courier New" pitchFamily="34" charset="-120"/>
              </a:rPr>
              <a:t>S</a:t>
            </a:r>
            <a:endParaRPr lang="en-US" sz="1275" dirty="0"/>
          </a:p>
        </p:txBody>
      </p:sp>
      <p:sp>
        <p:nvSpPr>
          <p:cNvPr id="4" name="Text 2"/>
          <p:cNvSpPr/>
          <p:nvPr/>
        </p:nvSpPr>
        <p:spPr>
          <a:xfrm>
            <a:off x="1504772" y="880492"/>
            <a:ext cx="1031415" cy="277215"/>
          </a:xfrm>
          <a:prstGeom prst="rect">
            <a:avLst/>
          </a:prstGeom>
          <a:noFill/>
          <a:ln/>
        </p:spPr>
        <p:txBody>
          <a:bodyPr wrap="square" lIns="25400" tIns="25400" rIns="25400" bIns="25400" rtlCol="0" anchor="t">
            <a:normAutofit/>
          </a:bodyPr>
          <a:lstStyle/>
          <a:p>
            <a:pPr algn="l" indent="0" marL="0">
              <a:buNone/>
            </a:pPr>
            <a:r>
              <a:rPr lang="en-US" sz="1650" b="1" spc="-15" kern="0" dirty="0">
                <a:solidFill>
                  <a:srgbClr val="E6E9EF"/>
                </a:solidFill>
                <a:latin typeface="Arial" pitchFamily="34" charset="0"/>
                <a:ea typeface="Arial" pitchFamily="34" charset="-122"/>
                <a:cs typeface="Arial" pitchFamily="34" charset="-120"/>
              </a:rPr>
              <a:t>Shiro Twin</a:t>
            </a:r>
            <a:endParaRPr lang="en-US" sz="1650" dirty="0"/>
          </a:p>
        </p:txBody>
      </p:sp>
      <p:sp>
        <p:nvSpPr>
          <p:cNvPr id="5" name="Shape 3"/>
          <p:cNvSpPr/>
          <p:nvPr/>
        </p:nvSpPr>
        <p:spPr>
          <a:xfrm>
            <a:off x="2593244" y="895323"/>
            <a:ext cx="9525" cy="209452"/>
          </a:xfrm>
          <a:prstGeom prst="rect">
            <a:avLst/>
          </a:prstGeom>
          <a:solidFill>
            <a:srgbClr val="2C323E"/>
          </a:solidFill>
          <a:ln/>
        </p:spPr>
      </p:sp>
      <p:sp>
        <p:nvSpPr>
          <p:cNvPr id="6" name="Text 4"/>
          <p:cNvSpPr/>
          <p:nvPr/>
        </p:nvSpPr>
        <p:spPr>
          <a:xfrm>
            <a:off x="2736011" y="880492"/>
            <a:ext cx="5015440" cy="277215"/>
          </a:xfrm>
          <a:prstGeom prst="rect">
            <a:avLst/>
          </a:prstGeom>
          <a:noFill/>
          <a:ln/>
        </p:spPr>
        <p:txBody>
          <a:bodyPr wrap="square" lIns="25400" tIns="25400" rIns="25400" bIns="25400" rtlCol="0" anchor="t">
            <a:normAutofit/>
          </a:bodyPr>
          <a:lstStyle/>
          <a:p>
            <a:pPr algn="l" indent="0" marL="0">
              <a:buNone/>
            </a:pPr>
            <a:r>
              <a:rPr lang="en-US" sz="1425" dirty="0">
                <a:solidFill>
                  <a:srgbClr val="6F7787"/>
                </a:solidFill>
                <a:latin typeface="Courier New" pitchFamily="34" charset="0"/>
                <a:ea typeface="Courier New" pitchFamily="34" charset="-122"/>
                <a:cs typeface="Courier New" pitchFamily="34" charset="-120"/>
              </a:rPr>
              <a:t>Aprendizaje de Máquina · Corte 1 · Parcial</a:t>
            </a:r>
            <a:endParaRPr lang="en-US" sz="1425" dirty="0"/>
          </a:p>
        </p:txBody>
      </p:sp>
      <p:sp>
        <p:nvSpPr>
          <p:cNvPr id="7" name="Text 5"/>
          <p:cNvSpPr/>
          <p:nvPr/>
        </p:nvSpPr>
        <p:spPr>
          <a:xfrm>
            <a:off x="1047714" y="2797828"/>
            <a:ext cx="14877941" cy="284461"/>
          </a:xfrm>
          <a:prstGeom prst="rect">
            <a:avLst/>
          </a:prstGeom>
          <a:noFill/>
          <a:ln/>
        </p:spPr>
        <p:txBody>
          <a:bodyPr wrap="square" lIns="25400" tIns="25400" rIns="25400" bIns="25400" rtlCol="0" anchor="t">
            <a:normAutofit/>
          </a:bodyPr>
          <a:lstStyle/>
          <a:p>
            <a:pPr algn="l" indent="0" marL="0">
              <a:buNone/>
            </a:pPr>
            <a:r>
              <a:rPr lang="en-US" sz="1500" spc="120" kern="0" dirty="0">
                <a:solidFill>
                  <a:srgbClr val="E8710A"/>
                </a:solidFill>
                <a:latin typeface="Courier New" pitchFamily="34" charset="0"/>
                <a:ea typeface="Courier New" pitchFamily="34" charset="-122"/>
                <a:cs typeface="Courier New" pitchFamily="34" charset="-120"/>
              </a:rPr>
              <a:t>EL HALLAZGO DE ESTE PARCIAL</a:t>
            </a:r>
            <a:endParaRPr lang="en-US" sz="1500" dirty="0"/>
          </a:p>
        </p:txBody>
      </p:sp>
      <p:sp>
        <p:nvSpPr>
          <p:cNvPr id="8" name="Text 6"/>
          <p:cNvSpPr/>
          <p:nvPr/>
        </p:nvSpPr>
        <p:spPr>
          <a:xfrm>
            <a:off x="1047714" y="3291796"/>
            <a:ext cx="13931163" cy="1895771"/>
          </a:xfrm>
          <a:prstGeom prst="rect">
            <a:avLst/>
          </a:prstGeom>
          <a:noFill/>
          <a:ln/>
        </p:spPr>
        <p:txBody>
          <a:bodyPr wrap="square" lIns="25400" tIns="25400" rIns="25400" bIns="25400" rtlCol="0" anchor="t">
            <a:normAutofit/>
          </a:bodyPr>
          <a:lstStyle/>
          <a:p>
            <a:pPr algn="l" indent="0" marL="0">
              <a:lnSpc>
                <a:spcPct val="92225"/>
              </a:lnSpc>
              <a:buNone/>
            </a:pPr>
            <a:r>
              <a:rPr lang="en-US" sz="6900" b="1" spc="-195" kern="0" dirty="0">
                <a:solidFill>
                  <a:srgbClr val="E6E9EF"/>
                </a:solidFill>
                <a:latin typeface="Arial" pitchFamily="34" charset="0"/>
                <a:ea typeface="Arial" pitchFamily="34" charset="-122"/>
                <a:cs typeface="Arial" pitchFamily="34" charset="-120"/>
              </a:rPr>
              <a:t>El modelo que ganó la tabla es el que no sirve.</a:t>
            </a:r>
            <a:endParaRPr lang="en-US" sz="6900" dirty="0"/>
          </a:p>
        </p:txBody>
      </p:sp>
      <p:sp>
        <p:nvSpPr>
          <p:cNvPr id="9" name="Text 7"/>
          <p:cNvSpPr/>
          <p:nvPr/>
        </p:nvSpPr>
        <p:spPr>
          <a:xfrm>
            <a:off x="1047714" y="5473268"/>
            <a:ext cx="11576612" cy="1366819"/>
          </a:xfrm>
          <a:prstGeom prst="rect">
            <a:avLst/>
          </a:prstGeom>
          <a:noFill/>
          <a:ln/>
        </p:spPr>
        <p:txBody>
          <a:bodyPr wrap="square" lIns="25400" tIns="25400" rIns="25400" bIns="25400" rtlCol="0" anchor="t">
            <a:normAutofit/>
          </a:bodyPr>
          <a:lstStyle/>
          <a:p>
            <a:pPr algn="l" indent="0" marL="0">
              <a:lnSpc>
                <a:spcPct val="130055"/>
              </a:lnSpc>
              <a:buNone/>
            </a:pPr>
            <a:r>
              <a:rPr lang="en-US" sz="2325" dirty="0">
                <a:solidFill>
                  <a:srgbClr val="9AA3B2"/>
                </a:solidFill>
                <a:latin typeface="Arial" pitchFamily="34" charset="0"/>
                <a:ea typeface="Arial" pitchFamily="34" charset="-122"/>
                <a:cs typeface="Arial" pitchFamily="34" charset="-120"/>
              </a:rPr>
              <a:t>Gemelo digital de un hogar para la predicción y optimización del consumo energético. Cuatro puntos, cuatro decisiones de arquitectura — y una que cambia la conclusión del proyecto.</a:t>
            </a:r>
            <a:endParaRPr lang="en-US" sz="2325" dirty="0"/>
          </a:p>
        </p:txBody>
      </p:sp>
      <p:sp>
        <p:nvSpPr>
          <p:cNvPr id="10" name="Shape 8"/>
          <p:cNvSpPr/>
          <p:nvPr/>
        </p:nvSpPr>
        <p:spPr>
          <a:xfrm>
            <a:off x="1047714" y="8437752"/>
            <a:ext cx="16192464" cy="9525"/>
          </a:xfrm>
          <a:prstGeom prst="rect">
            <a:avLst/>
          </a:prstGeom>
          <a:solidFill>
            <a:srgbClr val="232833"/>
          </a:solidFill>
          <a:ln/>
        </p:spPr>
      </p:sp>
      <p:sp>
        <p:nvSpPr>
          <p:cNvPr id="11" name="Text 9"/>
          <p:cNvSpPr/>
          <p:nvPr/>
        </p:nvSpPr>
        <p:spPr>
          <a:xfrm>
            <a:off x="1047714" y="8768800"/>
            <a:ext cx="8721671" cy="718084"/>
          </a:xfrm>
          <a:prstGeom prst="rect">
            <a:avLst/>
          </a:prstGeom>
          <a:noFill/>
          <a:ln/>
        </p:spPr>
        <p:txBody>
          <a:bodyPr wrap="square" lIns="25400" tIns="25400" rIns="25400" bIns="25400" rtlCol="0" anchor="t">
            <a:normAutofit/>
          </a:bodyPr>
          <a:lstStyle/>
          <a:p>
            <a:pPr algn="l" indent="0" marL="0">
              <a:lnSpc>
                <a:spcPct val="146653"/>
              </a:lnSpc>
              <a:buNone/>
            </a:pPr>
            <a:r>
              <a:rPr lang="en-US" sz="1575" dirty="0">
                <a:solidFill>
                  <a:srgbClr val="C9D1DE"/>
                </a:solidFill>
                <a:latin typeface="Arial" pitchFamily="34" charset="0"/>
                <a:ea typeface="Arial" pitchFamily="34" charset="-122"/>
                <a:cs typeface="Arial" pitchFamily="34" charset="-120"/>
              </a:rPr>
              <a:t>Jose Leonardo Diazgranados · Sofía Londoño · Andrés Felipe Céspedes Rondón · Alex Duran </a:t>
            </a:r>
            <a:pPr algn="l" indent="0" marL="0">
              <a:lnSpc>
                <a:spcPct val="146653"/>
              </a:lnSpc>
              <a:buNone/>
            </a:pPr>
            <a:r>
              <a:rPr lang="en-US" sz="1425" dirty="0">
                <a:solidFill>
                  <a:srgbClr val="6F7787"/>
                </a:solidFill>
                <a:latin typeface="Courier New" pitchFamily="34" charset="0"/>
                <a:ea typeface="Courier New" pitchFamily="34" charset="-122"/>
                <a:cs typeface="Courier New" pitchFamily="34" charset="-120"/>
              </a:rPr>
              <a:t>Universidad Sergio Arboleda · Semestre 26-2 · Docente: Hernán Darío Cruz Bueno</a:t>
            </a:r>
            <a:endParaRPr lang="en-US" sz="1575" dirty="0"/>
          </a:p>
        </p:txBody>
      </p:sp>
      <p:sp>
        <p:nvSpPr>
          <p:cNvPr id="12" name="Text 10"/>
          <p:cNvSpPr/>
          <p:nvPr/>
        </p:nvSpPr>
        <p:spPr>
          <a:xfrm>
            <a:off x="12879284" y="8870016"/>
            <a:ext cx="4360894" cy="616867"/>
          </a:xfrm>
          <a:prstGeom prst="rect">
            <a:avLst/>
          </a:prstGeom>
          <a:noFill/>
          <a:ln/>
        </p:spPr>
        <p:txBody>
          <a:bodyPr wrap="square" lIns="25400" tIns="25400" rIns="25400" bIns="25400" rtlCol="0" anchor="t">
            <a:normAutofit/>
          </a:bodyPr>
          <a:lstStyle/>
          <a:p>
            <a:pPr algn="r" indent="0" marL="0">
              <a:lnSpc>
                <a:spcPct val="142721"/>
              </a:lnSpc>
              <a:buNone/>
            </a:pPr>
            <a:r>
              <a:rPr lang="en-US" sz="1425" dirty="0">
                <a:solidFill>
                  <a:srgbClr val="6F7787"/>
                </a:solidFill>
                <a:latin typeface="Courier New" pitchFamily="34" charset="0"/>
                <a:ea typeface="Courier New" pitchFamily="34" charset="-122"/>
                <a:cs typeface="Courier New" pitchFamily="34" charset="-120"/>
              </a:rPr>
              <a:t>Appliances Energy Prediction · UCI #374 random_state = 42 · 9 sep 2026</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66737"/>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6F7787"/>
                </a:solidFill>
                <a:latin typeface="Courier New" pitchFamily="34" charset="0"/>
                <a:ea typeface="Courier New" pitchFamily="34" charset="-122"/>
                <a:cs typeface="Courier New" pitchFamily="34" charset="-120"/>
              </a:rPr>
              <a:t>EL MISMO DATASET, DOS FORMAS DE VALIDAR</a:t>
            </a:r>
            <a:endParaRPr lang="en-US" sz="1350" dirty="0"/>
          </a:p>
        </p:txBody>
      </p:sp>
      <p:sp>
        <p:nvSpPr>
          <p:cNvPr id="3" name="Text 1"/>
          <p:cNvSpPr/>
          <p:nvPr/>
        </p:nvSpPr>
        <p:spPr>
          <a:xfrm>
            <a:off x="914344" y="1043751"/>
            <a:ext cx="18105124" cy="645851"/>
          </a:xfrm>
          <a:prstGeom prst="rect">
            <a:avLst/>
          </a:prstGeom>
          <a:noFill/>
          <a:ln/>
        </p:spPr>
        <p:txBody>
          <a:bodyPr wrap="square" lIns="25400" tIns="25400" rIns="25400" bIns="25400" rtlCol="0" anchor="t">
            <a:normAutofit/>
          </a:bodyPr>
          <a:lstStyle/>
          <a:p>
            <a:pPr algn="l" indent="0" marL="0">
              <a:lnSpc>
                <a:spcPct val="96399"/>
              </a:lnSpc>
              <a:buNone/>
            </a:pPr>
            <a:r>
              <a:rPr lang="en-US" sz="4350" b="1" spc="-105" kern="0" dirty="0">
                <a:solidFill>
                  <a:srgbClr val="E6E9EF"/>
                </a:solidFill>
                <a:latin typeface="Arial" pitchFamily="34" charset="0"/>
                <a:ea typeface="Arial" pitchFamily="34" charset="-122"/>
                <a:cs typeface="Arial" pitchFamily="34" charset="-120"/>
              </a:rPr>
              <a:t>R² del regresor, según cómo se parta el tiempo</a:t>
            </a:r>
            <a:endParaRPr lang="en-US" sz="4350" dirty="0"/>
          </a:p>
        </p:txBody>
      </p:sp>
      <p:sp>
        <p:nvSpPr>
          <p:cNvPr id="4" name="Shape 2"/>
          <p:cNvSpPr/>
          <p:nvPr/>
        </p:nvSpPr>
        <p:spPr>
          <a:xfrm>
            <a:off x="914344" y="2146715"/>
            <a:ext cx="8067644" cy="3600766"/>
          </a:xfrm>
          <a:prstGeom prst="roundRect">
            <a:avLst>
              <a:gd name="adj" fmla="val 3703"/>
            </a:avLst>
          </a:prstGeom>
          <a:solidFill>
            <a:srgbClr val="151920"/>
          </a:solidFill>
          <a:ln w="7246">
            <a:solidFill>
              <a:srgbClr val="232833"/>
            </a:solidFill>
            <a:prstDash val="solid"/>
          </a:ln>
        </p:spPr>
      </p:sp>
      <p:sp>
        <p:nvSpPr>
          <p:cNvPr id="5" name="Text 3"/>
          <p:cNvSpPr/>
          <p:nvPr/>
        </p:nvSpPr>
        <p:spPr>
          <a:xfrm>
            <a:off x="1340607" y="2534937"/>
            <a:ext cx="7936630" cy="262723"/>
          </a:xfrm>
          <a:prstGeom prst="rect">
            <a:avLst/>
          </a:prstGeom>
          <a:noFill/>
          <a:ln/>
        </p:spPr>
        <p:txBody>
          <a:bodyPr wrap="square" lIns="25400" tIns="25400" rIns="25400" bIns="25400" rtlCol="0" anchor="t">
            <a:normAutofit/>
          </a:bodyPr>
          <a:lstStyle/>
          <a:p>
            <a:pPr algn="l" indent="0" marL="0">
              <a:buNone/>
            </a:pPr>
            <a:r>
              <a:rPr lang="en-US" sz="1350" spc="90" kern="0" dirty="0">
                <a:solidFill>
                  <a:srgbClr val="6F7787"/>
                </a:solidFill>
                <a:latin typeface="Courier New" pitchFamily="34" charset="0"/>
                <a:ea typeface="Courier New" pitchFamily="34" charset="-122"/>
                <a:cs typeface="Courier New" pitchFamily="34" charset="-120"/>
              </a:rPr>
              <a:t>RANDOM FOREST · 200 ÁRBOLES</a:t>
            </a:r>
            <a:endParaRPr lang="en-US" sz="1350" dirty="0"/>
          </a:p>
        </p:txBody>
      </p:sp>
      <p:sp>
        <p:nvSpPr>
          <p:cNvPr id="6" name="Text 4"/>
          <p:cNvSpPr/>
          <p:nvPr/>
        </p:nvSpPr>
        <p:spPr>
          <a:xfrm>
            <a:off x="1340607" y="3045208"/>
            <a:ext cx="2867015" cy="762012"/>
          </a:xfrm>
          <a:prstGeom prst="rect">
            <a:avLst/>
          </a:prstGeom>
          <a:noFill/>
          <a:ln/>
        </p:spPr>
        <p:txBody>
          <a:bodyPr wrap="square" lIns="25400" tIns="25400" rIns="25400" bIns="25400" rtlCol="0" anchor="t">
            <a:normAutofit/>
          </a:bodyPr>
          <a:lstStyle/>
          <a:p>
            <a:pPr algn="l" indent="0" marL="0">
              <a:lnSpc>
                <a:spcPct val="88411"/>
              </a:lnSpc>
              <a:buNone/>
            </a:pPr>
            <a:r>
              <a:rPr lang="en-US" sz="5700" b="1" dirty="0">
                <a:solidFill>
                  <a:srgbClr val="7BD992"/>
                </a:solidFill>
                <a:latin typeface="Courier New" pitchFamily="34" charset="0"/>
                <a:ea typeface="Courier New" pitchFamily="34" charset="-122"/>
                <a:cs typeface="Courier New" pitchFamily="34" charset="-120"/>
              </a:rPr>
              <a:t>+0,567</a:t>
            </a:r>
            <a:endParaRPr lang="en-US" sz="5700" dirty="0"/>
          </a:p>
        </p:txBody>
      </p:sp>
      <p:sp>
        <p:nvSpPr>
          <p:cNvPr id="7" name="Text 5"/>
          <p:cNvSpPr/>
          <p:nvPr/>
        </p:nvSpPr>
        <p:spPr>
          <a:xfrm>
            <a:off x="1340607" y="3864336"/>
            <a:ext cx="2867015" cy="313445"/>
          </a:xfrm>
          <a:prstGeom prst="rect">
            <a:avLst/>
          </a:prstGeom>
          <a:noFill/>
          <a:ln/>
        </p:spPr>
        <p:txBody>
          <a:bodyPr wrap="square" lIns="25400" tIns="25400" rIns="25400" bIns="25400" rtlCol="0" anchor="t">
            <a:normAutofit/>
          </a:bodyPr>
          <a:lstStyle/>
          <a:p>
            <a:pPr algn="l" indent="0" marL="0">
              <a:buNone/>
            </a:pPr>
            <a:r>
              <a:rPr lang="en-US" sz="1650" dirty="0">
                <a:solidFill>
                  <a:srgbClr val="8B93A3"/>
                </a:solidFill>
                <a:latin typeface="Arial" pitchFamily="34" charset="0"/>
                <a:ea typeface="Arial" pitchFamily="34" charset="-122"/>
                <a:cs typeface="Arial" pitchFamily="34" charset="-120"/>
              </a:rPr>
              <a:t>partición aleatoria</a:t>
            </a:r>
            <a:endParaRPr lang="en-US" sz="1650" dirty="0"/>
          </a:p>
        </p:txBody>
      </p:sp>
      <p:sp>
        <p:nvSpPr>
          <p:cNvPr id="8" name="Text 6"/>
          <p:cNvSpPr/>
          <p:nvPr/>
        </p:nvSpPr>
        <p:spPr>
          <a:xfrm>
            <a:off x="4194591" y="3168389"/>
            <a:ext cx="306597" cy="581543"/>
          </a:xfrm>
          <a:prstGeom prst="rect">
            <a:avLst/>
          </a:prstGeom>
          <a:noFill/>
          <a:ln/>
        </p:spPr>
        <p:txBody>
          <a:bodyPr wrap="square" lIns="25400" tIns="25400" rIns="25400" bIns="25400" rtlCol="0" anchor="t">
            <a:normAutofit/>
          </a:bodyPr>
          <a:lstStyle/>
          <a:p>
            <a:pPr algn="l" indent="0" marL="0">
              <a:buNone/>
            </a:pPr>
            <a:r>
              <a:rPr lang="en-US" sz="3300" dirty="0">
                <a:solidFill>
                  <a:srgbClr val="4F5765"/>
                </a:solidFill>
                <a:latin typeface="Courier New" pitchFamily="34" charset="0"/>
                <a:ea typeface="Courier New" pitchFamily="34" charset="-122"/>
                <a:cs typeface="Courier New" pitchFamily="34" charset="-120"/>
              </a:rPr>
              <a:t>→</a:t>
            </a:r>
            <a:endParaRPr lang="en-US" sz="3300" dirty="0"/>
          </a:p>
        </p:txBody>
      </p:sp>
      <p:sp>
        <p:nvSpPr>
          <p:cNvPr id="9" name="Text 7"/>
          <p:cNvSpPr/>
          <p:nvPr/>
        </p:nvSpPr>
        <p:spPr>
          <a:xfrm>
            <a:off x="4672595" y="3045208"/>
            <a:ext cx="2867015" cy="762012"/>
          </a:xfrm>
          <a:prstGeom prst="rect">
            <a:avLst/>
          </a:prstGeom>
          <a:noFill/>
          <a:ln/>
        </p:spPr>
        <p:txBody>
          <a:bodyPr wrap="square" lIns="25400" tIns="25400" rIns="25400" bIns="25400" rtlCol="0" anchor="t">
            <a:normAutofit/>
          </a:bodyPr>
          <a:lstStyle/>
          <a:p>
            <a:pPr algn="l" indent="0" marL="0">
              <a:lnSpc>
                <a:spcPct val="88411"/>
              </a:lnSpc>
              <a:buNone/>
            </a:pPr>
            <a:r>
              <a:rPr lang="en-US" sz="5700" b="1" dirty="0">
                <a:solidFill>
                  <a:srgbClr val="F28B82"/>
                </a:solidFill>
                <a:latin typeface="Courier New" pitchFamily="34" charset="0"/>
                <a:ea typeface="Courier New" pitchFamily="34" charset="-122"/>
                <a:cs typeface="Courier New" pitchFamily="34" charset="-120"/>
              </a:rPr>
              <a:t>−4,459</a:t>
            </a:r>
            <a:endParaRPr lang="en-US" sz="5700" dirty="0"/>
          </a:p>
        </p:txBody>
      </p:sp>
      <p:sp>
        <p:nvSpPr>
          <p:cNvPr id="10" name="Text 8"/>
          <p:cNvSpPr/>
          <p:nvPr/>
        </p:nvSpPr>
        <p:spPr>
          <a:xfrm>
            <a:off x="4672595" y="3864336"/>
            <a:ext cx="2867015" cy="313445"/>
          </a:xfrm>
          <a:prstGeom prst="rect">
            <a:avLst/>
          </a:prstGeom>
          <a:noFill/>
          <a:ln/>
        </p:spPr>
        <p:txBody>
          <a:bodyPr wrap="square" lIns="25400" tIns="25400" rIns="25400" bIns="25400" rtlCol="0" anchor="t">
            <a:normAutofit/>
          </a:bodyPr>
          <a:lstStyle/>
          <a:p>
            <a:pPr algn="l" indent="0" marL="0">
              <a:buNone/>
            </a:pPr>
            <a:r>
              <a:rPr lang="en-US" sz="1650" dirty="0">
                <a:solidFill>
                  <a:srgbClr val="8B93A3"/>
                </a:solidFill>
                <a:latin typeface="Arial" pitchFamily="34" charset="0"/>
                <a:ea typeface="Arial" pitchFamily="34" charset="-122"/>
                <a:cs typeface="Arial" pitchFamily="34" charset="-120"/>
              </a:rPr>
              <a:t>partición temporal</a:t>
            </a:r>
            <a:endParaRPr lang="en-US" sz="1650" dirty="0"/>
          </a:p>
        </p:txBody>
      </p:sp>
      <p:sp>
        <p:nvSpPr>
          <p:cNvPr id="11" name="Shape 9"/>
          <p:cNvSpPr/>
          <p:nvPr/>
        </p:nvSpPr>
        <p:spPr>
          <a:xfrm>
            <a:off x="1340607" y="4425328"/>
            <a:ext cx="7215118" cy="9525"/>
          </a:xfrm>
          <a:prstGeom prst="rect">
            <a:avLst/>
          </a:prstGeom>
          <a:solidFill>
            <a:srgbClr val="232833"/>
          </a:solidFill>
          <a:ln/>
        </p:spPr>
      </p:sp>
      <p:sp>
        <p:nvSpPr>
          <p:cNvPr id="12" name="Text 10"/>
          <p:cNvSpPr/>
          <p:nvPr/>
        </p:nvSpPr>
        <p:spPr>
          <a:xfrm>
            <a:off x="1340607" y="4680224"/>
            <a:ext cx="7431571" cy="717134"/>
          </a:xfrm>
          <a:prstGeom prst="rect">
            <a:avLst/>
          </a:prstGeom>
          <a:noFill/>
          <a:ln/>
        </p:spPr>
        <p:txBody>
          <a:bodyPr wrap="square" lIns="25400" tIns="25400" rIns="25400" bIns="25400" rtlCol="0" anchor="t">
            <a:normAutofit/>
          </a:bodyPr>
          <a:lstStyle/>
          <a:p>
            <a:pPr algn="l" indent="0" marL="0">
              <a:lnSpc>
                <a:spcPct val="137833"/>
              </a:lnSpc>
              <a:buNone/>
            </a:pPr>
            <a:r>
              <a:rPr lang="en-US" sz="1725" dirty="0">
                <a:solidFill>
                  <a:srgbClr val="C9D1DE"/>
                </a:solidFill>
                <a:latin typeface="Arial" pitchFamily="34" charset="0"/>
                <a:ea typeface="Arial" pitchFamily="34" charset="-122"/>
                <a:cs typeface="Arial" pitchFamily="34" charset="-120"/>
              </a:rPr>
              <a:t>Primero de cuatro → último de cuatro. Peor que predecir siempre la media.</a:t>
            </a:r>
            <a:endParaRPr lang="en-US" sz="1725" dirty="0"/>
          </a:p>
        </p:txBody>
      </p:sp>
      <p:sp>
        <p:nvSpPr>
          <p:cNvPr id="13" name="Shape 11"/>
          <p:cNvSpPr/>
          <p:nvPr/>
        </p:nvSpPr>
        <p:spPr>
          <a:xfrm>
            <a:off x="9305790" y="2146715"/>
            <a:ext cx="8067758" cy="3600766"/>
          </a:xfrm>
          <a:prstGeom prst="roundRect">
            <a:avLst>
              <a:gd name="adj" fmla="val 3703"/>
            </a:avLst>
          </a:prstGeom>
          <a:solidFill>
            <a:srgbClr val="151920"/>
          </a:solidFill>
          <a:ln w="7246">
            <a:solidFill>
              <a:srgbClr val="232833"/>
            </a:solidFill>
            <a:prstDash val="solid"/>
          </a:ln>
        </p:spPr>
      </p:sp>
      <p:sp>
        <p:nvSpPr>
          <p:cNvPr id="14" name="Text 12"/>
          <p:cNvSpPr/>
          <p:nvPr/>
        </p:nvSpPr>
        <p:spPr>
          <a:xfrm>
            <a:off x="9732053" y="2534937"/>
            <a:ext cx="7936754" cy="262723"/>
          </a:xfrm>
          <a:prstGeom prst="rect">
            <a:avLst/>
          </a:prstGeom>
          <a:noFill/>
          <a:ln/>
        </p:spPr>
        <p:txBody>
          <a:bodyPr wrap="square" lIns="25400" tIns="25400" rIns="25400" bIns="25400" rtlCol="0" anchor="t">
            <a:normAutofit/>
          </a:bodyPr>
          <a:lstStyle/>
          <a:p>
            <a:pPr algn="l" indent="0" marL="0">
              <a:buNone/>
            </a:pPr>
            <a:r>
              <a:rPr lang="en-US" sz="1350" spc="90" kern="0" dirty="0">
                <a:solidFill>
                  <a:srgbClr val="6F7787"/>
                </a:solidFill>
                <a:latin typeface="Courier New" pitchFamily="34" charset="0"/>
                <a:ea typeface="Courier New" pitchFamily="34" charset="-122"/>
                <a:cs typeface="Courier New" pitchFamily="34" charset="-120"/>
              </a:rPr>
              <a:t>REGRESIÓN LINEAL · CON RETARDOS</a:t>
            </a:r>
            <a:endParaRPr lang="en-US" sz="1350" dirty="0"/>
          </a:p>
        </p:txBody>
      </p:sp>
      <p:sp>
        <p:nvSpPr>
          <p:cNvPr id="15" name="Text 13"/>
          <p:cNvSpPr/>
          <p:nvPr/>
        </p:nvSpPr>
        <p:spPr>
          <a:xfrm>
            <a:off x="9732053" y="3045208"/>
            <a:ext cx="2867015" cy="762012"/>
          </a:xfrm>
          <a:prstGeom prst="rect">
            <a:avLst/>
          </a:prstGeom>
          <a:noFill/>
          <a:ln/>
        </p:spPr>
        <p:txBody>
          <a:bodyPr wrap="square" lIns="25400" tIns="25400" rIns="25400" bIns="25400" rtlCol="0" anchor="t">
            <a:normAutofit/>
          </a:bodyPr>
          <a:lstStyle/>
          <a:p>
            <a:pPr algn="l" indent="0" marL="0">
              <a:lnSpc>
                <a:spcPct val="88411"/>
              </a:lnSpc>
              <a:buNone/>
            </a:pPr>
            <a:r>
              <a:rPr lang="en-US" sz="5700" b="1" dirty="0">
                <a:solidFill>
                  <a:srgbClr val="8B93A3"/>
                </a:solidFill>
                <a:latin typeface="Courier New" pitchFamily="34" charset="0"/>
                <a:ea typeface="Courier New" pitchFamily="34" charset="-122"/>
                <a:cs typeface="Courier New" pitchFamily="34" charset="-120"/>
              </a:rPr>
              <a:t>+0,171</a:t>
            </a:r>
            <a:endParaRPr lang="en-US" sz="5700" dirty="0"/>
          </a:p>
        </p:txBody>
      </p:sp>
      <p:sp>
        <p:nvSpPr>
          <p:cNvPr id="16" name="Text 14"/>
          <p:cNvSpPr/>
          <p:nvPr/>
        </p:nvSpPr>
        <p:spPr>
          <a:xfrm>
            <a:off x="9732053" y="3864336"/>
            <a:ext cx="2867015" cy="313445"/>
          </a:xfrm>
          <a:prstGeom prst="rect">
            <a:avLst/>
          </a:prstGeom>
          <a:noFill/>
          <a:ln/>
        </p:spPr>
        <p:txBody>
          <a:bodyPr wrap="square" lIns="25400" tIns="25400" rIns="25400" bIns="25400" rtlCol="0" anchor="t">
            <a:normAutofit/>
          </a:bodyPr>
          <a:lstStyle/>
          <a:p>
            <a:pPr algn="l" indent="0" marL="0">
              <a:buNone/>
            </a:pPr>
            <a:r>
              <a:rPr lang="en-US" sz="1650" dirty="0">
                <a:solidFill>
                  <a:srgbClr val="8B93A3"/>
                </a:solidFill>
                <a:latin typeface="Arial" pitchFamily="34" charset="0"/>
                <a:ea typeface="Arial" pitchFamily="34" charset="-122"/>
                <a:cs typeface="Arial" pitchFamily="34" charset="-120"/>
              </a:rPr>
              <a:t>partición aleatoria</a:t>
            </a:r>
            <a:endParaRPr lang="en-US" sz="1650" dirty="0"/>
          </a:p>
        </p:txBody>
      </p:sp>
      <p:sp>
        <p:nvSpPr>
          <p:cNvPr id="17" name="Text 15"/>
          <p:cNvSpPr/>
          <p:nvPr/>
        </p:nvSpPr>
        <p:spPr>
          <a:xfrm>
            <a:off x="12586038" y="3168389"/>
            <a:ext cx="306597" cy="581543"/>
          </a:xfrm>
          <a:prstGeom prst="rect">
            <a:avLst/>
          </a:prstGeom>
          <a:noFill/>
          <a:ln/>
        </p:spPr>
        <p:txBody>
          <a:bodyPr wrap="square" lIns="25400" tIns="25400" rIns="25400" bIns="25400" rtlCol="0" anchor="t">
            <a:normAutofit/>
          </a:bodyPr>
          <a:lstStyle/>
          <a:p>
            <a:pPr algn="l" indent="0" marL="0">
              <a:buNone/>
            </a:pPr>
            <a:r>
              <a:rPr lang="en-US" sz="3300" dirty="0">
                <a:solidFill>
                  <a:srgbClr val="4F5765"/>
                </a:solidFill>
                <a:latin typeface="Courier New" pitchFamily="34" charset="0"/>
                <a:ea typeface="Courier New" pitchFamily="34" charset="-122"/>
                <a:cs typeface="Courier New" pitchFamily="34" charset="-120"/>
              </a:rPr>
              <a:t>→</a:t>
            </a:r>
            <a:endParaRPr lang="en-US" sz="3300" dirty="0"/>
          </a:p>
        </p:txBody>
      </p:sp>
      <p:sp>
        <p:nvSpPr>
          <p:cNvPr id="18" name="Text 16"/>
          <p:cNvSpPr/>
          <p:nvPr/>
        </p:nvSpPr>
        <p:spPr>
          <a:xfrm>
            <a:off x="13064041" y="3045208"/>
            <a:ext cx="2867015" cy="762012"/>
          </a:xfrm>
          <a:prstGeom prst="rect">
            <a:avLst/>
          </a:prstGeom>
          <a:noFill/>
          <a:ln/>
        </p:spPr>
        <p:txBody>
          <a:bodyPr wrap="square" lIns="25400" tIns="25400" rIns="25400" bIns="25400" rtlCol="0" anchor="t">
            <a:normAutofit/>
          </a:bodyPr>
          <a:lstStyle/>
          <a:p>
            <a:pPr algn="l" indent="0" marL="0">
              <a:lnSpc>
                <a:spcPct val="88411"/>
              </a:lnSpc>
              <a:buNone/>
            </a:pPr>
            <a:r>
              <a:rPr lang="en-US" sz="5700" b="1" dirty="0">
                <a:solidFill>
                  <a:srgbClr val="7BD992"/>
                </a:solidFill>
                <a:latin typeface="Courier New" pitchFamily="34" charset="0"/>
                <a:ea typeface="Courier New" pitchFamily="34" charset="-122"/>
                <a:cs typeface="Courier New" pitchFamily="34" charset="-120"/>
              </a:rPr>
              <a:t>+0,557</a:t>
            </a:r>
            <a:endParaRPr lang="en-US" sz="5700" dirty="0"/>
          </a:p>
        </p:txBody>
      </p:sp>
      <p:sp>
        <p:nvSpPr>
          <p:cNvPr id="19" name="Text 17"/>
          <p:cNvSpPr/>
          <p:nvPr/>
        </p:nvSpPr>
        <p:spPr>
          <a:xfrm>
            <a:off x="13064041" y="3864336"/>
            <a:ext cx="2867015" cy="313445"/>
          </a:xfrm>
          <a:prstGeom prst="rect">
            <a:avLst/>
          </a:prstGeom>
          <a:noFill/>
          <a:ln/>
        </p:spPr>
        <p:txBody>
          <a:bodyPr wrap="square" lIns="25400" tIns="25400" rIns="25400" bIns="25400" rtlCol="0" anchor="t">
            <a:normAutofit/>
          </a:bodyPr>
          <a:lstStyle/>
          <a:p>
            <a:pPr algn="l" indent="0" marL="0">
              <a:buNone/>
            </a:pPr>
            <a:r>
              <a:rPr lang="en-US" sz="1650" dirty="0">
                <a:solidFill>
                  <a:srgbClr val="8B93A3"/>
                </a:solidFill>
                <a:latin typeface="Arial" pitchFamily="34" charset="0"/>
                <a:ea typeface="Arial" pitchFamily="34" charset="-122"/>
                <a:cs typeface="Arial" pitchFamily="34" charset="-120"/>
              </a:rPr>
              <a:t>partición temporal</a:t>
            </a:r>
            <a:endParaRPr lang="en-US" sz="1650" dirty="0"/>
          </a:p>
        </p:txBody>
      </p:sp>
      <p:sp>
        <p:nvSpPr>
          <p:cNvPr id="20" name="Shape 18"/>
          <p:cNvSpPr/>
          <p:nvPr/>
        </p:nvSpPr>
        <p:spPr>
          <a:xfrm>
            <a:off x="9732053" y="4425328"/>
            <a:ext cx="7215231" cy="9525"/>
          </a:xfrm>
          <a:prstGeom prst="rect">
            <a:avLst/>
          </a:prstGeom>
          <a:solidFill>
            <a:srgbClr val="232833"/>
          </a:solidFill>
          <a:ln/>
        </p:spPr>
      </p:sp>
      <p:sp>
        <p:nvSpPr>
          <p:cNvPr id="21" name="Text 19"/>
          <p:cNvSpPr/>
          <p:nvPr/>
        </p:nvSpPr>
        <p:spPr>
          <a:xfrm>
            <a:off x="9732053" y="4680224"/>
            <a:ext cx="7431687" cy="377595"/>
          </a:xfrm>
          <a:prstGeom prst="rect">
            <a:avLst/>
          </a:prstGeom>
          <a:noFill/>
          <a:ln/>
        </p:spPr>
        <p:txBody>
          <a:bodyPr wrap="square" lIns="25400" tIns="25400" rIns="25400" bIns="25400" rtlCol="0" anchor="t">
            <a:normAutofit/>
          </a:bodyPr>
          <a:lstStyle/>
          <a:p>
            <a:pPr algn="l" indent="0" marL="0">
              <a:lnSpc>
                <a:spcPct val="137833"/>
              </a:lnSpc>
              <a:buNone/>
            </a:pPr>
            <a:r>
              <a:rPr lang="en-US" sz="1725" dirty="0">
                <a:solidFill>
                  <a:srgbClr val="C9D1DE"/>
                </a:solidFill>
                <a:latin typeface="Arial" pitchFamily="34" charset="0"/>
                <a:ea typeface="Arial" pitchFamily="34" charset="-122"/>
                <a:cs typeface="Arial" pitchFamily="34" charset="-120"/>
              </a:rPr>
              <a:t>Último de cuatro → primero. MAE 28,17 Wh sobre un mes que nunca vio.</a:t>
            </a:r>
            <a:endParaRPr lang="en-US" sz="1725" dirty="0"/>
          </a:p>
        </p:txBody>
      </p:sp>
      <p:sp>
        <p:nvSpPr>
          <p:cNvPr id="22" name="Shape 20"/>
          <p:cNvSpPr/>
          <p:nvPr/>
        </p:nvSpPr>
        <p:spPr>
          <a:xfrm>
            <a:off x="914344" y="8613013"/>
            <a:ext cx="16459203" cy="1007182"/>
          </a:xfrm>
          <a:custGeom>
            <a:avLst/>
            <a:gdLst/>
            <a:ahLst/>
            <a:cxnLst/>
            <a:rect l="l" t="t" r="r" b="b"/>
            <a:pathLst>
              <a:path w="16459203" h="1007182">
                <a:moveTo>
                  <a:pt x="0" y="0"/>
                </a:moveTo>
                <a:lnTo>
                  <a:pt x="16344903" y="0"/>
                </a:lnTo>
                <a:arcTo hR="114300" wR="114300" stAng="16200000" swAng="5400000"/>
                <a:lnTo>
                  <a:pt x="16459203" y="892882"/>
                </a:lnTo>
                <a:arcTo hR="114300" wR="114300" stAng="0" swAng="5400000"/>
                <a:lnTo>
                  <a:pt x="0" y="1007182"/>
                </a:lnTo>
                <a:lnTo>
                  <a:pt x="0" y="0"/>
                </a:lnTo>
                <a:close/>
              </a:path>
            </a:pathLst>
          </a:custGeom>
          <a:solidFill>
            <a:srgbClr val="11141A"/>
          </a:solidFill>
          <a:ln/>
        </p:spPr>
      </p:sp>
      <p:sp>
        <p:nvSpPr>
          <p:cNvPr id="23" name="Shape 21"/>
          <p:cNvSpPr/>
          <p:nvPr/>
        </p:nvSpPr>
        <p:spPr>
          <a:xfrm>
            <a:off x="914344" y="8613013"/>
            <a:ext cx="36230" cy="1007182"/>
          </a:xfrm>
          <a:prstGeom prst="rect">
            <a:avLst/>
          </a:prstGeom>
          <a:solidFill>
            <a:srgbClr val="E8710A"/>
          </a:solidFill>
          <a:ln/>
        </p:spPr>
      </p:sp>
      <p:sp>
        <p:nvSpPr>
          <p:cNvPr id="24" name="Text 22"/>
          <p:cNvSpPr/>
          <p:nvPr/>
        </p:nvSpPr>
        <p:spPr>
          <a:xfrm>
            <a:off x="1293395" y="8898660"/>
            <a:ext cx="14834851" cy="473987"/>
          </a:xfrm>
          <a:prstGeom prst="rect">
            <a:avLst/>
          </a:prstGeom>
          <a:noFill/>
          <a:ln/>
        </p:spPr>
        <p:txBody>
          <a:bodyPr wrap="square" lIns="25400" tIns="25400" rIns="25400" bIns="25400" rtlCol="0" anchor="t">
            <a:normAutofit/>
          </a:bodyPr>
          <a:lstStyle/>
          <a:p>
            <a:pPr algn="l" indent="0" marL="0">
              <a:lnSpc>
                <a:spcPct val="131453"/>
              </a:lnSpc>
              <a:buNone/>
            </a:pPr>
            <a:r>
              <a:rPr lang="en-US" sz="2250" dirty="0">
                <a:solidFill>
                  <a:srgbClr val="E6E9EF"/>
                </a:solidFill>
                <a:latin typeface="Arial" pitchFamily="34" charset="0"/>
                <a:ea typeface="Arial" pitchFamily="34" charset="-122"/>
                <a:cs typeface="Arial" pitchFamily="34" charset="-120"/>
              </a:rPr>
              <a:t>El criterio de validación pesó más que el algoritmo. Todo lo que sigue se decide sobre </a:t>
            </a:r>
            <a:pPr algn="l" indent="0" marL="0">
              <a:lnSpc>
                <a:spcPct val="131453"/>
              </a:lnSpc>
              <a:buNone/>
            </a:pPr>
            <a:r>
              <a:rPr lang="en-US" sz="2250" b="1" dirty="0">
                <a:solidFill>
                  <a:srgbClr val="FFB877"/>
                </a:solidFill>
                <a:latin typeface="Arial" pitchFamily="34" charset="0"/>
                <a:ea typeface="Arial" pitchFamily="34" charset="-122"/>
                <a:cs typeface="Arial" pitchFamily="34" charset="-120"/>
              </a:rPr>
              <a:t>validación temporal</a:t>
            </a:r>
            <a:pPr algn="l" indent="0" marL="0">
              <a:lnSpc>
                <a:spcPct val="131453"/>
              </a:lnSpc>
              <a:buNone/>
            </a:pPr>
            <a:r>
              <a:rPr lang="en-US" sz="2250" dirty="0">
                <a:solidFill>
                  <a:srgbClr val="E6E9EF"/>
                </a:solidFill>
                <a:latin typeface="Arial" pitchFamily="34" charset="0"/>
                <a:ea typeface="Arial" pitchFamily="34" charset="-122"/>
                <a:cs typeface="Arial" pitchFamily="34" charset="-120"/>
              </a:rPr>
              <a:t>.</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66737"/>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6F7787"/>
                </a:solidFill>
                <a:latin typeface="Courier New" pitchFamily="34" charset="0"/>
                <a:ea typeface="Courier New" pitchFamily="34" charset="-122"/>
                <a:cs typeface="Courier New" pitchFamily="34" charset="-120"/>
              </a:rPr>
              <a:t>QUÉ COMPONENTE DE SHIRO CONSTRUYE ESTE PARCIAL</a:t>
            </a:r>
            <a:endParaRPr lang="en-US" sz="1350" dirty="0"/>
          </a:p>
        </p:txBody>
      </p:sp>
      <p:sp>
        <p:nvSpPr>
          <p:cNvPr id="3" name="Text 1"/>
          <p:cNvSpPr/>
          <p:nvPr/>
        </p:nvSpPr>
        <p:spPr>
          <a:xfrm>
            <a:off x="914344" y="1043751"/>
            <a:ext cx="18105124" cy="645851"/>
          </a:xfrm>
          <a:prstGeom prst="rect">
            <a:avLst/>
          </a:prstGeom>
          <a:noFill/>
          <a:ln/>
        </p:spPr>
        <p:txBody>
          <a:bodyPr wrap="square" lIns="25400" tIns="25400" rIns="25400" bIns="25400" rtlCol="0" anchor="t">
            <a:normAutofit/>
          </a:bodyPr>
          <a:lstStyle/>
          <a:p>
            <a:pPr algn="l" indent="0" marL="0">
              <a:lnSpc>
                <a:spcPct val="96399"/>
              </a:lnSpc>
              <a:buNone/>
            </a:pPr>
            <a:r>
              <a:rPr lang="en-US" sz="4350" b="1" spc="-105" kern="0" dirty="0">
                <a:solidFill>
                  <a:srgbClr val="E6E9EF"/>
                </a:solidFill>
                <a:latin typeface="Arial" pitchFamily="34" charset="0"/>
                <a:ea typeface="Arial" pitchFamily="34" charset="-122"/>
                <a:cs typeface="Arial" pitchFamily="34" charset="-120"/>
              </a:rPr>
              <a:t>Cuatro puntos = cuatro decisiones de arquitectura</a:t>
            </a:r>
            <a:endParaRPr lang="en-US" sz="4350" dirty="0"/>
          </a:p>
        </p:txBody>
      </p:sp>
      <p:sp>
        <p:nvSpPr>
          <p:cNvPr id="4" name="Text 2"/>
          <p:cNvSpPr/>
          <p:nvPr/>
        </p:nvSpPr>
        <p:spPr>
          <a:xfrm>
            <a:off x="914344" y="1841934"/>
            <a:ext cx="12263351" cy="780806"/>
          </a:xfrm>
          <a:prstGeom prst="rect">
            <a:avLst/>
          </a:prstGeom>
          <a:noFill/>
          <a:ln/>
        </p:spPr>
        <p:txBody>
          <a:bodyPr wrap="square" lIns="25400" tIns="25400" rIns="25400" bIns="25400" rtlCol="0" anchor="t">
            <a:normAutofit/>
          </a:bodyPr>
          <a:lstStyle/>
          <a:p>
            <a:pPr algn="l" indent="0" marL="0">
              <a:lnSpc>
                <a:spcPct val="131453"/>
              </a:lnSpc>
              <a:buNone/>
            </a:pPr>
            <a:r>
              <a:rPr lang="en-US" sz="1950" dirty="0">
                <a:solidFill>
                  <a:srgbClr val="8B93A3"/>
                </a:solidFill>
                <a:latin typeface="Arial" pitchFamily="34" charset="0"/>
                <a:ea typeface="Arial" pitchFamily="34" charset="-122"/>
                <a:cs typeface="Arial" pitchFamily="34" charset="-120"/>
              </a:rPr>
              <a:t>Shiro Twin es la simulación sobre la que un agente de refuerzo aprenderá a operar una casa. Ese agente no puede entrenarse hasta que existan estas cuatro piezas.</a:t>
            </a:r>
            <a:endParaRPr lang="en-US" sz="1950" dirty="0"/>
          </a:p>
        </p:txBody>
      </p:sp>
      <p:sp>
        <p:nvSpPr>
          <p:cNvPr id="5" name="Shape 3"/>
          <p:cNvSpPr/>
          <p:nvPr/>
        </p:nvSpPr>
        <p:spPr>
          <a:xfrm>
            <a:off x="914344" y="3060832"/>
            <a:ext cx="3957627" cy="5565087"/>
          </a:xfrm>
          <a:prstGeom prst="roundRect">
            <a:avLst>
              <a:gd name="adj" fmla="val 2888"/>
            </a:avLst>
          </a:prstGeom>
          <a:solidFill>
            <a:srgbClr val="151920"/>
          </a:solidFill>
          <a:ln/>
        </p:spPr>
      </p:sp>
      <p:sp>
        <p:nvSpPr>
          <p:cNvPr id="6" name="Shape 4"/>
          <p:cNvSpPr/>
          <p:nvPr/>
        </p:nvSpPr>
        <p:spPr>
          <a:xfrm>
            <a:off x="914344" y="8618673"/>
            <a:ext cx="3957627" cy="9525"/>
          </a:xfrm>
          <a:prstGeom prst="rect">
            <a:avLst/>
          </a:prstGeom>
          <a:solidFill>
            <a:srgbClr val="232833"/>
          </a:solidFill>
          <a:ln/>
        </p:spPr>
      </p:sp>
      <p:sp>
        <p:nvSpPr>
          <p:cNvPr id="7" name="Shape 5"/>
          <p:cNvSpPr/>
          <p:nvPr/>
        </p:nvSpPr>
        <p:spPr>
          <a:xfrm>
            <a:off x="914344" y="3060832"/>
            <a:ext cx="3957627" cy="21738"/>
          </a:xfrm>
          <a:prstGeom prst="rect">
            <a:avLst/>
          </a:prstGeom>
          <a:solidFill>
            <a:srgbClr val="188038"/>
          </a:solidFill>
          <a:ln/>
        </p:spPr>
      </p:sp>
      <p:sp>
        <p:nvSpPr>
          <p:cNvPr id="8" name="Shape 6"/>
          <p:cNvSpPr/>
          <p:nvPr/>
        </p:nvSpPr>
        <p:spPr>
          <a:xfrm>
            <a:off x="914344" y="3060832"/>
            <a:ext cx="9525" cy="5565087"/>
          </a:xfrm>
          <a:prstGeom prst="rect">
            <a:avLst/>
          </a:prstGeom>
          <a:solidFill>
            <a:srgbClr val="232833"/>
          </a:solidFill>
          <a:ln/>
        </p:spPr>
      </p:sp>
      <p:sp>
        <p:nvSpPr>
          <p:cNvPr id="9" name="Shape 7"/>
          <p:cNvSpPr/>
          <p:nvPr/>
        </p:nvSpPr>
        <p:spPr>
          <a:xfrm>
            <a:off x="4864725" y="3060832"/>
            <a:ext cx="9525" cy="5565087"/>
          </a:xfrm>
          <a:prstGeom prst="rect">
            <a:avLst/>
          </a:prstGeom>
          <a:solidFill>
            <a:srgbClr val="232833"/>
          </a:solidFill>
          <a:ln/>
        </p:spPr>
      </p:sp>
      <p:sp>
        <p:nvSpPr>
          <p:cNvPr id="10" name="Text 8"/>
          <p:cNvSpPr/>
          <p:nvPr/>
        </p:nvSpPr>
        <p:spPr>
          <a:xfrm>
            <a:off x="1207237" y="3387351"/>
            <a:ext cx="3709024" cy="509084"/>
          </a:xfrm>
          <a:prstGeom prst="rect">
            <a:avLst/>
          </a:prstGeom>
          <a:noFill/>
          <a:ln/>
        </p:spPr>
        <p:txBody>
          <a:bodyPr wrap="square" lIns="25400" tIns="25400" rIns="25400" bIns="25400" rtlCol="0" anchor="t">
            <a:normAutofit/>
          </a:bodyPr>
          <a:lstStyle/>
          <a:p>
            <a:pPr algn="l" indent="0" marL="0">
              <a:buNone/>
            </a:pPr>
            <a:r>
              <a:rPr lang="en-US" sz="3300" b="1" dirty="0">
                <a:solidFill>
                  <a:srgbClr val="188038"/>
                </a:solidFill>
                <a:latin typeface="Courier New" pitchFamily="34" charset="0"/>
                <a:ea typeface="Courier New" pitchFamily="34" charset="-122"/>
                <a:cs typeface="Courier New" pitchFamily="34" charset="-120"/>
              </a:rPr>
              <a:t>01</a:t>
            </a:r>
            <a:endParaRPr lang="en-US" sz="3300" dirty="0"/>
          </a:p>
        </p:txBody>
      </p:sp>
      <p:sp>
        <p:nvSpPr>
          <p:cNvPr id="11" name="Text 9"/>
          <p:cNvSpPr/>
          <p:nvPr/>
        </p:nvSpPr>
        <p:spPr>
          <a:xfrm>
            <a:off x="1207237" y="4010726"/>
            <a:ext cx="3709024" cy="395301"/>
          </a:xfrm>
          <a:prstGeom prst="rect">
            <a:avLst/>
          </a:prstGeom>
          <a:noFill/>
          <a:ln/>
        </p:spPr>
        <p:txBody>
          <a:bodyPr wrap="square" lIns="25400" tIns="25400" rIns="25400" bIns="25400" rtlCol="0" anchor="t">
            <a:normAutofit/>
          </a:bodyPr>
          <a:lstStyle/>
          <a:p>
            <a:pPr algn="l" indent="0" marL="0">
              <a:lnSpc>
                <a:spcPct val="109545"/>
              </a:lnSpc>
              <a:buNone/>
            </a:pPr>
            <a:r>
              <a:rPr lang="en-US" sz="2250" b="1" dirty="0">
                <a:solidFill>
                  <a:srgbClr val="E6E9EF"/>
                </a:solidFill>
                <a:latin typeface="Arial" pitchFamily="34" charset="0"/>
                <a:ea typeface="Arial" pitchFamily="34" charset="-122"/>
                <a:cs typeface="Arial" pitchFamily="34" charset="-120"/>
              </a:rPr>
              <a:t>Función de transición</a:t>
            </a:r>
            <a:endParaRPr lang="en-US" sz="2250" dirty="0"/>
          </a:p>
        </p:txBody>
      </p:sp>
      <p:sp>
        <p:nvSpPr>
          <p:cNvPr id="12" name="Text 10"/>
          <p:cNvSpPr/>
          <p:nvPr/>
        </p:nvSpPr>
        <p:spPr>
          <a:xfrm>
            <a:off x="1207237" y="4501184"/>
            <a:ext cx="3472995" cy="3201847"/>
          </a:xfrm>
          <a:prstGeom prst="rect">
            <a:avLst/>
          </a:prstGeom>
          <a:noFill/>
          <a:ln/>
        </p:spPr>
        <p:txBody>
          <a:bodyPr wrap="square" lIns="25400" tIns="25400" rIns="25400" bIns="25400" rtlCol="0" anchor="t">
            <a:normAutofit/>
          </a:bodyPr>
          <a:lstStyle/>
          <a:p>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Cuál de los modelos entrenados devuelve el consumo ante un estado. Comparativo histórico.</a:t>
            </a:r>
            <a:endParaRPr lang="en-US" sz="1650" dirty="0"/>
          </a:p>
        </p:txBody>
      </p:sp>
      <p:sp>
        <p:nvSpPr>
          <p:cNvPr id="13" name="Shape 11"/>
          <p:cNvSpPr/>
          <p:nvPr/>
        </p:nvSpPr>
        <p:spPr>
          <a:xfrm>
            <a:off x="1207237" y="7874382"/>
            <a:ext cx="3371840" cy="9525"/>
          </a:xfrm>
          <a:prstGeom prst="rect">
            <a:avLst/>
          </a:prstGeom>
          <a:solidFill>
            <a:srgbClr val="232833"/>
          </a:solidFill>
          <a:ln/>
        </p:spPr>
      </p:sp>
      <p:sp>
        <p:nvSpPr>
          <p:cNvPr id="14" name="Text 12"/>
          <p:cNvSpPr/>
          <p:nvPr/>
        </p:nvSpPr>
        <p:spPr>
          <a:xfrm>
            <a:off x="1207237" y="8053078"/>
            <a:ext cx="3472995" cy="298914"/>
          </a:xfrm>
          <a:prstGeom prst="rect">
            <a:avLst/>
          </a:prstGeom>
          <a:noFill/>
          <a:ln/>
        </p:spPr>
        <p:txBody>
          <a:bodyPr wrap="square" lIns="25400" tIns="25400" rIns="25400" bIns="25400" rtlCol="0" anchor="t">
            <a:normAutofit/>
          </a:bodyPr>
          <a:lstStyle/>
          <a:p>
            <a:pPr algn="l" indent="0" marL="0">
              <a:buNone/>
            </a:pPr>
            <a:r>
              <a:rPr lang="en-US" sz="1575" dirty="0">
                <a:solidFill>
                  <a:srgbClr val="C9D1DE"/>
                </a:solidFill>
                <a:latin typeface="Arial" pitchFamily="34" charset="0"/>
                <a:ea typeface="Arial" pitchFamily="34" charset="-122"/>
                <a:cs typeface="Arial" pitchFamily="34" charset="-120"/>
              </a:rPr>
              <a:t>Jose Leonardo</a:t>
            </a:r>
            <a:endParaRPr lang="en-US" sz="1575" dirty="0"/>
          </a:p>
        </p:txBody>
      </p:sp>
      <p:sp>
        <p:nvSpPr>
          <p:cNvPr id="15" name="Shape 13"/>
          <p:cNvSpPr/>
          <p:nvPr/>
        </p:nvSpPr>
        <p:spPr>
          <a:xfrm>
            <a:off x="5081422" y="3060832"/>
            <a:ext cx="3957740" cy="5565087"/>
          </a:xfrm>
          <a:prstGeom prst="roundRect">
            <a:avLst>
              <a:gd name="adj" fmla="val 2888"/>
            </a:avLst>
          </a:prstGeom>
          <a:solidFill>
            <a:srgbClr val="151920"/>
          </a:solidFill>
          <a:ln/>
        </p:spPr>
      </p:sp>
      <p:sp>
        <p:nvSpPr>
          <p:cNvPr id="16" name="Shape 14"/>
          <p:cNvSpPr/>
          <p:nvPr/>
        </p:nvSpPr>
        <p:spPr>
          <a:xfrm>
            <a:off x="5081422" y="8618673"/>
            <a:ext cx="3957740" cy="9525"/>
          </a:xfrm>
          <a:prstGeom prst="rect">
            <a:avLst/>
          </a:prstGeom>
          <a:solidFill>
            <a:srgbClr val="232833"/>
          </a:solidFill>
          <a:ln/>
        </p:spPr>
      </p:sp>
      <p:sp>
        <p:nvSpPr>
          <p:cNvPr id="17" name="Shape 15"/>
          <p:cNvSpPr/>
          <p:nvPr/>
        </p:nvSpPr>
        <p:spPr>
          <a:xfrm>
            <a:off x="5081422" y="3060832"/>
            <a:ext cx="3957740" cy="21738"/>
          </a:xfrm>
          <a:prstGeom prst="rect">
            <a:avLst/>
          </a:prstGeom>
          <a:solidFill>
            <a:srgbClr val="1A73E8"/>
          </a:solidFill>
          <a:ln/>
        </p:spPr>
      </p:sp>
      <p:sp>
        <p:nvSpPr>
          <p:cNvPr id="18" name="Shape 16"/>
          <p:cNvSpPr/>
          <p:nvPr/>
        </p:nvSpPr>
        <p:spPr>
          <a:xfrm>
            <a:off x="5081422" y="3060832"/>
            <a:ext cx="9525" cy="5565087"/>
          </a:xfrm>
          <a:prstGeom prst="rect">
            <a:avLst/>
          </a:prstGeom>
          <a:solidFill>
            <a:srgbClr val="232833"/>
          </a:solidFill>
          <a:ln/>
        </p:spPr>
      </p:sp>
      <p:sp>
        <p:nvSpPr>
          <p:cNvPr id="19" name="Shape 17"/>
          <p:cNvSpPr/>
          <p:nvPr/>
        </p:nvSpPr>
        <p:spPr>
          <a:xfrm>
            <a:off x="9031917" y="3060832"/>
            <a:ext cx="9525" cy="5565087"/>
          </a:xfrm>
          <a:prstGeom prst="rect">
            <a:avLst/>
          </a:prstGeom>
          <a:solidFill>
            <a:srgbClr val="232833"/>
          </a:solidFill>
          <a:ln/>
        </p:spPr>
      </p:sp>
      <p:sp>
        <p:nvSpPr>
          <p:cNvPr id="20" name="Text 18"/>
          <p:cNvSpPr/>
          <p:nvPr/>
        </p:nvSpPr>
        <p:spPr>
          <a:xfrm>
            <a:off x="5374316" y="3387351"/>
            <a:ext cx="3709149" cy="509084"/>
          </a:xfrm>
          <a:prstGeom prst="rect">
            <a:avLst/>
          </a:prstGeom>
          <a:noFill/>
          <a:ln/>
        </p:spPr>
        <p:txBody>
          <a:bodyPr wrap="square" lIns="25400" tIns="25400" rIns="25400" bIns="25400" rtlCol="0" anchor="t">
            <a:normAutofit/>
          </a:bodyPr>
          <a:lstStyle/>
          <a:p>
            <a:pPr algn="l" indent="0" marL="0">
              <a:buNone/>
            </a:pPr>
            <a:r>
              <a:rPr lang="en-US" sz="3300" b="1" dirty="0">
                <a:solidFill>
                  <a:srgbClr val="1A73E8"/>
                </a:solidFill>
                <a:latin typeface="Courier New" pitchFamily="34" charset="0"/>
                <a:ea typeface="Courier New" pitchFamily="34" charset="-122"/>
                <a:cs typeface="Courier New" pitchFamily="34" charset="-120"/>
              </a:rPr>
              <a:t>02</a:t>
            </a:r>
            <a:endParaRPr lang="en-US" sz="3300" dirty="0"/>
          </a:p>
        </p:txBody>
      </p:sp>
      <p:sp>
        <p:nvSpPr>
          <p:cNvPr id="21" name="Text 19"/>
          <p:cNvSpPr/>
          <p:nvPr/>
        </p:nvSpPr>
        <p:spPr>
          <a:xfrm>
            <a:off x="5374316" y="4010726"/>
            <a:ext cx="3709149" cy="395301"/>
          </a:xfrm>
          <a:prstGeom prst="rect">
            <a:avLst/>
          </a:prstGeom>
          <a:noFill/>
          <a:ln/>
        </p:spPr>
        <p:txBody>
          <a:bodyPr wrap="square" lIns="25400" tIns="25400" rIns="25400" bIns="25400" rtlCol="0" anchor="t">
            <a:normAutofit/>
          </a:bodyPr>
          <a:lstStyle/>
          <a:p>
            <a:pPr algn="l" indent="0" marL="0">
              <a:lnSpc>
                <a:spcPct val="109545"/>
              </a:lnSpc>
              <a:buNone/>
            </a:pPr>
            <a:r>
              <a:rPr lang="en-US" sz="2250" b="1" dirty="0">
                <a:solidFill>
                  <a:srgbClr val="E6E9EF"/>
                </a:solidFill>
                <a:latin typeface="Arial" pitchFamily="34" charset="0"/>
                <a:ea typeface="Arial" pitchFamily="34" charset="-122"/>
                <a:cs typeface="Arial" pitchFamily="34" charset="-120"/>
              </a:rPr>
              <a:t>Incertidumbre</a:t>
            </a:r>
            <a:endParaRPr lang="en-US" sz="2250" dirty="0"/>
          </a:p>
        </p:txBody>
      </p:sp>
      <p:sp>
        <p:nvSpPr>
          <p:cNvPr id="22" name="Text 20"/>
          <p:cNvSpPr/>
          <p:nvPr/>
        </p:nvSpPr>
        <p:spPr>
          <a:xfrm>
            <a:off x="5374316" y="4501184"/>
            <a:ext cx="3473112" cy="3201847"/>
          </a:xfrm>
          <a:prstGeom prst="rect">
            <a:avLst/>
          </a:prstGeom>
          <a:noFill/>
          <a:ln/>
        </p:spPr>
        <p:txBody>
          <a:bodyPr wrap="square" lIns="25400" tIns="25400" rIns="25400" bIns="25400" rtlCol="0" anchor="t">
            <a:normAutofit/>
          </a:bodyPr>
          <a:lstStyle/>
          <a:p>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Cuánto miente el simulador y dónde. Errores críticos, tres casos y la mejora medida.</a:t>
            </a:r>
            <a:endParaRPr lang="en-US" sz="1650" dirty="0"/>
          </a:p>
        </p:txBody>
      </p:sp>
      <p:sp>
        <p:nvSpPr>
          <p:cNvPr id="23" name="Shape 21"/>
          <p:cNvSpPr/>
          <p:nvPr/>
        </p:nvSpPr>
        <p:spPr>
          <a:xfrm>
            <a:off x="5374316" y="7874382"/>
            <a:ext cx="3371953" cy="9525"/>
          </a:xfrm>
          <a:prstGeom prst="rect">
            <a:avLst/>
          </a:prstGeom>
          <a:solidFill>
            <a:srgbClr val="232833"/>
          </a:solidFill>
          <a:ln/>
        </p:spPr>
      </p:sp>
      <p:sp>
        <p:nvSpPr>
          <p:cNvPr id="24" name="Text 22"/>
          <p:cNvSpPr/>
          <p:nvPr/>
        </p:nvSpPr>
        <p:spPr>
          <a:xfrm>
            <a:off x="5374316" y="8053078"/>
            <a:ext cx="3473112" cy="298914"/>
          </a:xfrm>
          <a:prstGeom prst="rect">
            <a:avLst/>
          </a:prstGeom>
          <a:noFill/>
          <a:ln/>
        </p:spPr>
        <p:txBody>
          <a:bodyPr wrap="square" lIns="25400" tIns="25400" rIns="25400" bIns="25400" rtlCol="0" anchor="t">
            <a:normAutofit/>
          </a:bodyPr>
          <a:lstStyle/>
          <a:p>
            <a:pPr algn="l" indent="0" marL="0">
              <a:buNone/>
            </a:pPr>
            <a:r>
              <a:rPr lang="en-US" sz="1575" dirty="0">
                <a:solidFill>
                  <a:srgbClr val="C9D1DE"/>
                </a:solidFill>
                <a:latin typeface="Arial" pitchFamily="34" charset="0"/>
                <a:ea typeface="Arial" pitchFamily="34" charset="-122"/>
                <a:cs typeface="Arial" pitchFamily="34" charset="-120"/>
              </a:rPr>
              <a:t>Sofía</a:t>
            </a:r>
            <a:endParaRPr lang="en-US" sz="1575" dirty="0"/>
          </a:p>
        </p:txBody>
      </p:sp>
      <p:sp>
        <p:nvSpPr>
          <p:cNvPr id="25" name="Shape 23"/>
          <p:cNvSpPr/>
          <p:nvPr/>
        </p:nvSpPr>
        <p:spPr>
          <a:xfrm>
            <a:off x="9248615" y="3060832"/>
            <a:ext cx="3957740" cy="5565087"/>
          </a:xfrm>
          <a:prstGeom prst="roundRect">
            <a:avLst>
              <a:gd name="adj" fmla="val 2888"/>
            </a:avLst>
          </a:prstGeom>
          <a:solidFill>
            <a:srgbClr val="151920"/>
          </a:solidFill>
          <a:ln/>
        </p:spPr>
      </p:sp>
      <p:sp>
        <p:nvSpPr>
          <p:cNvPr id="26" name="Shape 24"/>
          <p:cNvSpPr/>
          <p:nvPr/>
        </p:nvSpPr>
        <p:spPr>
          <a:xfrm>
            <a:off x="9248615" y="8618673"/>
            <a:ext cx="3957740" cy="9525"/>
          </a:xfrm>
          <a:prstGeom prst="rect">
            <a:avLst/>
          </a:prstGeom>
          <a:solidFill>
            <a:srgbClr val="232833"/>
          </a:solidFill>
          <a:ln/>
        </p:spPr>
      </p:sp>
      <p:sp>
        <p:nvSpPr>
          <p:cNvPr id="27" name="Shape 25"/>
          <p:cNvSpPr/>
          <p:nvPr/>
        </p:nvSpPr>
        <p:spPr>
          <a:xfrm>
            <a:off x="9248615" y="3060832"/>
            <a:ext cx="3957740" cy="21738"/>
          </a:xfrm>
          <a:prstGeom prst="rect">
            <a:avLst/>
          </a:prstGeom>
          <a:solidFill>
            <a:srgbClr val="E8710A"/>
          </a:solidFill>
          <a:ln/>
        </p:spPr>
      </p:sp>
      <p:sp>
        <p:nvSpPr>
          <p:cNvPr id="28" name="Shape 26"/>
          <p:cNvSpPr/>
          <p:nvPr/>
        </p:nvSpPr>
        <p:spPr>
          <a:xfrm>
            <a:off x="9248615" y="3060832"/>
            <a:ext cx="9525" cy="5565087"/>
          </a:xfrm>
          <a:prstGeom prst="rect">
            <a:avLst/>
          </a:prstGeom>
          <a:solidFill>
            <a:srgbClr val="232833"/>
          </a:solidFill>
          <a:ln/>
        </p:spPr>
      </p:sp>
      <p:sp>
        <p:nvSpPr>
          <p:cNvPr id="29" name="Shape 27"/>
          <p:cNvSpPr/>
          <p:nvPr/>
        </p:nvSpPr>
        <p:spPr>
          <a:xfrm>
            <a:off x="13199109" y="3060832"/>
            <a:ext cx="9525" cy="5565087"/>
          </a:xfrm>
          <a:prstGeom prst="rect">
            <a:avLst/>
          </a:prstGeom>
          <a:solidFill>
            <a:srgbClr val="232833"/>
          </a:solidFill>
          <a:ln/>
        </p:spPr>
      </p:sp>
      <p:sp>
        <p:nvSpPr>
          <p:cNvPr id="30" name="Text 28"/>
          <p:cNvSpPr/>
          <p:nvPr/>
        </p:nvSpPr>
        <p:spPr>
          <a:xfrm>
            <a:off x="9541508" y="3387351"/>
            <a:ext cx="3709149" cy="509084"/>
          </a:xfrm>
          <a:prstGeom prst="rect">
            <a:avLst/>
          </a:prstGeom>
          <a:noFill/>
          <a:ln/>
        </p:spPr>
        <p:txBody>
          <a:bodyPr wrap="square" lIns="25400" tIns="25400" rIns="25400" bIns="25400" rtlCol="0" anchor="t">
            <a:normAutofit/>
          </a:bodyPr>
          <a:lstStyle/>
          <a:p>
            <a:pPr algn="l" indent="0" marL="0">
              <a:buNone/>
            </a:pPr>
            <a:r>
              <a:rPr lang="en-US" sz="3300" b="1" dirty="0">
                <a:solidFill>
                  <a:srgbClr val="E8710A"/>
                </a:solidFill>
                <a:latin typeface="Courier New" pitchFamily="34" charset="0"/>
                <a:ea typeface="Courier New" pitchFamily="34" charset="-122"/>
                <a:cs typeface="Courier New" pitchFamily="34" charset="-120"/>
              </a:rPr>
              <a:t>03</a:t>
            </a:r>
            <a:endParaRPr lang="en-US" sz="3300" dirty="0"/>
          </a:p>
        </p:txBody>
      </p:sp>
      <p:sp>
        <p:nvSpPr>
          <p:cNvPr id="31" name="Text 29"/>
          <p:cNvSpPr/>
          <p:nvPr/>
        </p:nvSpPr>
        <p:spPr>
          <a:xfrm>
            <a:off x="9541508" y="4010726"/>
            <a:ext cx="3709149" cy="395301"/>
          </a:xfrm>
          <a:prstGeom prst="rect">
            <a:avLst/>
          </a:prstGeom>
          <a:noFill/>
          <a:ln/>
        </p:spPr>
        <p:txBody>
          <a:bodyPr wrap="square" lIns="25400" tIns="25400" rIns="25400" bIns="25400" rtlCol="0" anchor="t">
            <a:normAutofit/>
          </a:bodyPr>
          <a:lstStyle/>
          <a:p>
            <a:pPr algn="l" indent="0" marL="0">
              <a:lnSpc>
                <a:spcPct val="109545"/>
              </a:lnSpc>
              <a:buNone/>
            </a:pPr>
            <a:r>
              <a:rPr lang="en-US" sz="2250" b="1" dirty="0">
                <a:solidFill>
                  <a:srgbClr val="E6E9EF"/>
                </a:solidFill>
                <a:latin typeface="Arial" pitchFamily="34" charset="0"/>
                <a:ea typeface="Arial" pitchFamily="34" charset="-122"/>
                <a:cs typeface="Arial" pitchFamily="34" charset="-120"/>
              </a:rPr>
              <a:t>Garantías éticas</a:t>
            </a:r>
            <a:endParaRPr lang="en-US" sz="2250" dirty="0"/>
          </a:p>
        </p:txBody>
      </p:sp>
      <p:sp>
        <p:nvSpPr>
          <p:cNvPr id="32" name="Text 30"/>
          <p:cNvSpPr/>
          <p:nvPr/>
        </p:nvSpPr>
        <p:spPr>
          <a:xfrm>
            <a:off x="9541508" y="4501184"/>
            <a:ext cx="3473112" cy="3201847"/>
          </a:xfrm>
          <a:prstGeom prst="rect">
            <a:avLst/>
          </a:prstGeom>
          <a:noFill/>
          <a:ln/>
        </p:spPr>
        <p:txBody>
          <a:bodyPr wrap="square" lIns="25400" tIns="25400" rIns="25400" bIns="25400" rtlCol="0" anchor="t">
            <a:normAutofit/>
          </a:bodyPr>
          <a:lstStyle/>
          <a:p>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Qué promete el sistema y a quién. Riesgo, sesgo medido y explicabilidad.</a:t>
            </a:r>
            <a:endParaRPr lang="en-US" sz="1650" dirty="0"/>
          </a:p>
        </p:txBody>
      </p:sp>
      <p:sp>
        <p:nvSpPr>
          <p:cNvPr id="33" name="Shape 31"/>
          <p:cNvSpPr/>
          <p:nvPr/>
        </p:nvSpPr>
        <p:spPr>
          <a:xfrm>
            <a:off x="9541508" y="7874382"/>
            <a:ext cx="3371953" cy="9525"/>
          </a:xfrm>
          <a:prstGeom prst="rect">
            <a:avLst/>
          </a:prstGeom>
          <a:solidFill>
            <a:srgbClr val="232833"/>
          </a:solidFill>
          <a:ln/>
        </p:spPr>
      </p:sp>
      <p:sp>
        <p:nvSpPr>
          <p:cNvPr id="34" name="Text 32"/>
          <p:cNvSpPr/>
          <p:nvPr/>
        </p:nvSpPr>
        <p:spPr>
          <a:xfrm>
            <a:off x="9541508" y="8053078"/>
            <a:ext cx="3473112" cy="298914"/>
          </a:xfrm>
          <a:prstGeom prst="rect">
            <a:avLst/>
          </a:prstGeom>
          <a:noFill/>
          <a:ln/>
        </p:spPr>
        <p:txBody>
          <a:bodyPr wrap="square" lIns="25400" tIns="25400" rIns="25400" bIns="25400" rtlCol="0" anchor="t">
            <a:normAutofit/>
          </a:bodyPr>
          <a:lstStyle/>
          <a:p>
            <a:pPr algn="l" indent="0" marL="0">
              <a:buNone/>
            </a:pPr>
            <a:r>
              <a:rPr lang="en-US" sz="1575" dirty="0">
                <a:solidFill>
                  <a:srgbClr val="C9D1DE"/>
                </a:solidFill>
                <a:latin typeface="Arial" pitchFamily="34" charset="0"/>
                <a:ea typeface="Arial" pitchFamily="34" charset="-122"/>
                <a:cs typeface="Arial" pitchFamily="34" charset="-120"/>
              </a:rPr>
              <a:t>Andrés Felipe</a:t>
            </a:r>
            <a:endParaRPr lang="en-US" sz="1575" dirty="0"/>
          </a:p>
        </p:txBody>
      </p:sp>
      <p:sp>
        <p:nvSpPr>
          <p:cNvPr id="35" name="Shape 33"/>
          <p:cNvSpPr/>
          <p:nvPr/>
        </p:nvSpPr>
        <p:spPr>
          <a:xfrm>
            <a:off x="13415807" y="3060832"/>
            <a:ext cx="3957740" cy="5565087"/>
          </a:xfrm>
          <a:prstGeom prst="roundRect">
            <a:avLst>
              <a:gd name="adj" fmla="val 2888"/>
            </a:avLst>
          </a:prstGeom>
          <a:solidFill>
            <a:srgbClr val="151920"/>
          </a:solidFill>
          <a:ln/>
        </p:spPr>
      </p:sp>
      <p:sp>
        <p:nvSpPr>
          <p:cNvPr id="36" name="Shape 34"/>
          <p:cNvSpPr/>
          <p:nvPr/>
        </p:nvSpPr>
        <p:spPr>
          <a:xfrm>
            <a:off x="13415807" y="8618673"/>
            <a:ext cx="3957740" cy="9525"/>
          </a:xfrm>
          <a:prstGeom prst="rect">
            <a:avLst/>
          </a:prstGeom>
          <a:solidFill>
            <a:srgbClr val="232833"/>
          </a:solidFill>
          <a:ln/>
        </p:spPr>
      </p:sp>
      <p:sp>
        <p:nvSpPr>
          <p:cNvPr id="37" name="Shape 35"/>
          <p:cNvSpPr/>
          <p:nvPr/>
        </p:nvSpPr>
        <p:spPr>
          <a:xfrm>
            <a:off x="13415807" y="3060832"/>
            <a:ext cx="3957740" cy="21738"/>
          </a:xfrm>
          <a:prstGeom prst="rect">
            <a:avLst/>
          </a:prstGeom>
          <a:solidFill>
            <a:srgbClr val="7BD992"/>
          </a:solidFill>
          <a:ln/>
        </p:spPr>
      </p:sp>
      <p:sp>
        <p:nvSpPr>
          <p:cNvPr id="38" name="Shape 36"/>
          <p:cNvSpPr/>
          <p:nvPr/>
        </p:nvSpPr>
        <p:spPr>
          <a:xfrm>
            <a:off x="13415807" y="3060832"/>
            <a:ext cx="9525" cy="5565087"/>
          </a:xfrm>
          <a:prstGeom prst="rect">
            <a:avLst/>
          </a:prstGeom>
          <a:solidFill>
            <a:srgbClr val="232833"/>
          </a:solidFill>
          <a:ln/>
        </p:spPr>
      </p:sp>
      <p:sp>
        <p:nvSpPr>
          <p:cNvPr id="39" name="Shape 37"/>
          <p:cNvSpPr/>
          <p:nvPr/>
        </p:nvSpPr>
        <p:spPr>
          <a:xfrm>
            <a:off x="17366301" y="3060832"/>
            <a:ext cx="9525" cy="5565087"/>
          </a:xfrm>
          <a:prstGeom prst="rect">
            <a:avLst/>
          </a:prstGeom>
          <a:solidFill>
            <a:srgbClr val="232833"/>
          </a:solidFill>
          <a:ln/>
        </p:spPr>
      </p:sp>
      <p:sp>
        <p:nvSpPr>
          <p:cNvPr id="40" name="Text 38"/>
          <p:cNvSpPr/>
          <p:nvPr/>
        </p:nvSpPr>
        <p:spPr>
          <a:xfrm>
            <a:off x="13708700" y="3387351"/>
            <a:ext cx="3709149" cy="509084"/>
          </a:xfrm>
          <a:prstGeom prst="rect">
            <a:avLst/>
          </a:prstGeom>
          <a:noFill/>
          <a:ln/>
        </p:spPr>
        <p:txBody>
          <a:bodyPr wrap="square" lIns="25400" tIns="25400" rIns="25400" bIns="25400" rtlCol="0" anchor="t">
            <a:normAutofit/>
          </a:bodyPr>
          <a:lstStyle/>
          <a:p>
            <a:pPr algn="l" indent="0" marL="0">
              <a:buNone/>
            </a:pPr>
            <a:r>
              <a:rPr lang="en-US" sz="3300" b="1" dirty="0">
                <a:solidFill>
                  <a:srgbClr val="7BD992"/>
                </a:solidFill>
                <a:latin typeface="Courier New" pitchFamily="34" charset="0"/>
                <a:ea typeface="Courier New" pitchFamily="34" charset="-122"/>
                <a:cs typeface="Courier New" pitchFamily="34" charset="-120"/>
              </a:rPr>
              <a:t>04</a:t>
            </a:r>
            <a:endParaRPr lang="en-US" sz="3300" dirty="0"/>
          </a:p>
        </p:txBody>
      </p:sp>
      <p:sp>
        <p:nvSpPr>
          <p:cNvPr id="41" name="Text 39"/>
          <p:cNvSpPr/>
          <p:nvPr/>
        </p:nvSpPr>
        <p:spPr>
          <a:xfrm>
            <a:off x="13708700" y="4010726"/>
            <a:ext cx="3709149" cy="395301"/>
          </a:xfrm>
          <a:prstGeom prst="rect">
            <a:avLst/>
          </a:prstGeom>
          <a:noFill/>
          <a:ln/>
        </p:spPr>
        <p:txBody>
          <a:bodyPr wrap="square" lIns="25400" tIns="25400" rIns="25400" bIns="25400" rtlCol="0" anchor="t">
            <a:normAutofit/>
          </a:bodyPr>
          <a:lstStyle/>
          <a:p>
            <a:pPr algn="l" indent="0" marL="0">
              <a:lnSpc>
                <a:spcPct val="109545"/>
              </a:lnSpc>
              <a:buNone/>
            </a:pPr>
            <a:r>
              <a:rPr lang="en-US" sz="2250" b="1" dirty="0">
                <a:solidFill>
                  <a:srgbClr val="E6E9EF"/>
                </a:solidFill>
                <a:latin typeface="Arial" pitchFamily="34" charset="0"/>
                <a:ea typeface="Arial" pitchFamily="34" charset="-122"/>
                <a:cs typeface="Arial" pitchFamily="34" charset="-120"/>
              </a:rPr>
              <a:t>Lazo iot-bridge</a:t>
            </a:r>
            <a:endParaRPr lang="en-US" sz="2250" dirty="0"/>
          </a:p>
        </p:txBody>
      </p:sp>
      <p:sp>
        <p:nvSpPr>
          <p:cNvPr id="42" name="Text 40"/>
          <p:cNvSpPr/>
          <p:nvPr/>
        </p:nvSpPr>
        <p:spPr>
          <a:xfrm>
            <a:off x="13708700" y="4501184"/>
            <a:ext cx="3473112" cy="3201847"/>
          </a:xfrm>
          <a:prstGeom prst="rect">
            <a:avLst/>
          </a:prstGeom>
          <a:noFill/>
          <a:ln/>
        </p:spPr>
        <p:txBody>
          <a:bodyPr wrap="square" lIns="25400" tIns="25400" rIns="25400" bIns="25400" rtlCol="0" anchor="t">
            <a:normAutofit/>
          </a:bodyPr>
          <a:lstStyle/>
          <a:p>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Cómo una predicción llega a una persona. Umbral, salvaguardas y mockup.</a:t>
            </a:r>
            <a:endParaRPr lang="en-US" sz="1650" dirty="0"/>
          </a:p>
        </p:txBody>
      </p:sp>
      <p:sp>
        <p:nvSpPr>
          <p:cNvPr id="43" name="Shape 41"/>
          <p:cNvSpPr/>
          <p:nvPr/>
        </p:nvSpPr>
        <p:spPr>
          <a:xfrm>
            <a:off x="13708700" y="7874382"/>
            <a:ext cx="3371953" cy="9525"/>
          </a:xfrm>
          <a:prstGeom prst="rect">
            <a:avLst/>
          </a:prstGeom>
          <a:solidFill>
            <a:srgbClr val="232833"/>
          </a:solidFill>
          <a:ln/>
        </p:spPr>
      </p:sp>
      <p:sp>
        <p:nvSpPr>
          <p:cNvPr id="44" name="Text 42"/>
          <p:cNvSpPr/>
          <p:nvPr/>
        </p:nvSpPr>
        <p:spPr>
          <a:xfrm>
            <a:off x="13708700" y="8053078"/>
            <a:ext cx="3473112" cy="298914"/>
          </a:xfrm>
          <a:prstGeom prst="rect">
            <a:avLst/>
          </a:prstGeom>
          <a:noFill/>
          <a:ln/>
        </p:spPr>
        <p:txBody>
          <a:bodyPr wrap="square" lIns="25400" tIns="25400" rIns="25400" bIns="25400" rtlCol="0" anchor="t">
            <a:normAutofit/>
          </a:bodyPr>
          <a:lstStyle/>
          <a:p>
            <a:pPr algn="l" indent="0" marL="0">
              <a:buNone/>
            </a:pPr>
            <a:r>
              <a:rPr lang="en-US" sz="1575" dirty="0">
                <a:solidFill>
                  <a:srgbClr val="C9D1DE"/>
                </a:solidFill>
                <a:latin typeface="Arial" pitchFamily="34" charset="0"/>
                <a:ea typeface="Arial" pitchFamily="34" charset="-122"/>
                <a:cs typeface="Arial" pitchFamily="34" charset="-120"/>
              </a:rPr>
              <a:t>Alex</a:t>
            </a:r>
            <a:endParaRPr lang="en-US" sz="1575" dirty="0"/>
          </a:p>
        </p:txBody>
      </p:sp>
      <p:sp>
        <p:nvSpPr>
          <p:cNvPr id="45" name="Text 43"/>
          <p:cNvSpPr/>
          <p:nvPr/>
        </p:nvSpPr>
        <p:spPr>
          <a:xfrm>
            <a:off x="914344" y="8949721"/>
            <a:ext cx="16952980" cy="708573"/>
          </a:xfrm>
          <a:prstGeom prst="rect">
            <a:avLst/>
          </a:prstGeom>
          <a:noFill/>
          <a:ln/>
        </p:spPr>
        <p:txBody>
          <a:bodyPr wrap="square" lIns="25400" tIns="25400" rIns="25400" bIns="25400" rtlCol="0" anchor="t">
            <a:normAutofit/>
          </a:bodyPr>
          <a:lstStyle/>
          <a:p>
            <a:pPr algn="l" indent="0" marL="0">
              <a:lnSpc>
                <a:spcPct val="140217"/>
              </a:lnSpc>
              <a:buNone/>
            </a:pPr>
            <a:r>
              <a:rPr lang="en-US" sz="1650" dirty="0">
                <a:solidFill>
                  <a:srgbClr val="6F7787"/>
                </a:solidFill>
                <a:latin typeface="Courier New" pitchFamily="34" charset="0"/>
                <a:ea typeface="Courier New" pitchFamily="34" charset="-122"/>
                <a:cs typeface="Courier New" pitchFamily="34" charset="-120"/>
              </a:rPr>
              <a:t>Metodología heredada sin cambios de los Talleres 1–3: 29 variables predictoras · dos particiones · umbral de anomalía en el percentil 90 (200 Wh) · escalado ajustado solo sobre entrenamiento.</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41A"/>
        </a:solidFill>
      </p:bgPr>
    </p:bg>
    <p:spTree>
      <p:nvGrpSpPr>
        <p:cNvPr id="1" name=""/>
        <p:cNvGrpSpPr/>
        <p:nvPr/>
      </p:nvGrpSpPr>
      <p:grpSpPr>
        <a:xfrm>
          <a:off x="0" y="0"/>
          <a:ext cx="0" cy="0"/>
          <a:chOff x="0" y="0"/>
          <a:chExt cx="0" cy="0"/>
        </a:xfrm>
      </p:grpSpPr>
      <p:sp>
        <p:nvSpPr>
          <p:cNvPr id="2" name="Text 0"/>
          <p:cNvSpPr/>
          <p:nvPr/>
        </p:nvSpPr>
        <p:spPr>
          <a:xfrm>
            <a:off x="1047714" y="3037736"/>
            <a:ext cx="3269525" cy="2068767"/>
          </a:xfrm>
          <a:prstGeom prst="rect">
            <a:avLst/>
          </a:prstGeom>
          <a:noFill/>
          <a:ln/>
        </p:spPr>
        <p:txBody>
          <a:bodyPr wrap="square" lIns="25400" tIns="25400" rIns="25400" bIns="25400" rtlCol="0" anchor="t">
            <a:normAutofit/>
          </a:bodyPr>
          <a:lstStyle/>
          <a:p>
            <a:pPr algn="l" indent="0" marL="0">
              <a:lnSpc>
                <a:spcPct val="72232"/>
              </a:lnSpc>
              <a:buNone/>
            </a:pPr>
            <a:r>
              <a:rPr lang="en-US" sz="19500" b="1" dirty="0">
                <a:solidFill>
                  <a:srgbClr val="188038"/>
                </a:solidFill>
                <a:latin typeface="Courier New" pitchFamily="34" charset="0"/>
                <a:ea typeface="Courier New" pitchFamily="34" charset="-122"/>
                <a:cs typeface="Courier New" pitchFamily="34" charset="-120"/>
              </a:rPr>
              <a:t>01</a:t>
            </a:r>
            <a:endParaRPr lang="en-US" sz="19500" dirty="0"/>
          </a:p>
        </p:txBody>
      </p:sp>
      <p:sp>
        <p:nvSpPr>
          <p:cNvPr id="3" name="Text 1"/>
          <p:cNvSpPr/>
          <p:nvPr/>
        </p:nvSpPr>
        <p:spPr>
          <a:xfrm>
            <a:off x="4477181" y="3170992"/>
            <a:ext cx="9810728" cy="1638088"/>
          </a:xfrm>
          <a:prstGeom prst="rect">
            <a:avLst/>
          </a:prstGeom>
          <a:noFill/>
          <a:ln/>
        </p:spPr>
        <p:txBody>
          <a:bodyPr wrap="square" lIns="25400" tIns="25400" rIns="25400" bIns="25400" rtlCol="0" anchor="t">
            <a:normAutofit/>
          </a:bodyPr>
          <a:lstStyle/>
          <a:p>
            <a:pPr algn="l" indent="0" marL="0">
              <a:lnSpc>
                <a:spcPct val="92017"/>
              </a:lnSpc>
              <a:buNone/>
            </a:pPr>
            <a:r>
              <a:rPr lang="en-US" sz="6000" b="1" spc="-150" kern="0" dirty="0">
                <a:solidFill>
                  <a:srgbClr val="E6E9EF"/>
                </a:solidFill>
                <a:latin typeface="Arial" pitchFamily="34" charset="0"/>
                <a:ea typeface="Arial" pitchFamily="34" charset="-122"/>
                <a:cs typeface="Arial" pitchFamily="34" charset="-120"/>
              </a:rPr>
              <a:t>Comparativo histórico de modelos</a:t>
            </a:r>
            <a:endParaRPr lang="en-US" sz="6000" dirty="0"/>
          </a:p>
        </p:txBody>
      </p:sp>
      <p:sp>
        <p:nvSpPr>
          <p:cNvPr id="4" name="Text 2"/>
          <p:cNvSpPr/>
          <p:nvPr/>
        </p:nvSpPr>
        <p:spPr>
          <a:xfrm>
            <a:off x="4477181" y="5056628"/>
            <a:ext cx="9810728" cy="1324023"/>
          </a:xfrm>
          <a:prstGeom prst="rect">
            <a:avLst/>
          </a:prstGeom>
          <a:noFill/>
          <a:ln/>
        </p:spPr>
        <p:txBody>
          <a:bodyPr wrap="square" lIns="25400" tIns="25400" rIns="25400" bIns="25400" rtlCol="0" anchor="t">
            <a:normAutofit/>
          </a:bodyPr>
          <a:lstStyle/>
          <a:p>
            <a:pPr algn="l" indent="0" marL="0">
              <a:lnSpc>
                <a:spcPct val="131453"/>
              </a:lnSpc>
              <a:buNone/>
            </a:pPr>
            <a:r>
              <a:rPr lang="en-US" sz="2250" dirty="0">
                <a:solidFill>
                  <a:srgbClr val="9AA3B2"/>
                </a:solidFill>
                <a:latin typeface="Arial" pitchFamily="34" charset="0"/>
                <a:ea typeface="Arial" pitchFamily="34" charset="-122"/>
                <a:cs typeface="Arial" pitchFamily="34" charset="-120"/>
              </a:rPr>
              <a:t>Cuatro modelos compiten por el puesto de función de transición del gemelo. Este punto los ordena — y muestra que el orden depende de cómo se valide.</a:t>
            </a:r>
            <a:endParaRPr lang="en-US" sz="2250" dirty="0"/>
          </a:p>
        </p:txBody>
      </p:sp>
      <p:sp>
        <p:nvSpPr>
          <p:cNvPr id="5" name="Shape 3"/>
          <p:cNvSpPr/>
          <p:nvPr/>
        </p:nvSpPr>
        <p:spPr>
          <a:xfrm>
            <a:off x="4477181" y="6723527"/>
            <a:ext cx="3888791" cy="525555"/>
          </a:xfrm>
          <a:prstGeom prst="roundRect">
            <a:avLst>
              <a:gd name="adj" fmla="val 50000"/>
            </a:avLst>
          </a:prstGeom>
          <a:solidFill>
            <a:srgbClr val="1A2A1E"/>
          </a:solidFill>
          <a:ln w="7246">
            <a:solidFill>
              <a:srgbClr val="2C5233"/>
            </a:solidFill>
            <a:prstDash val="solid"/>
          </a:ln>
        </p:spPr>
      </p:sp>
      <p:sp>
        <p:nvSpPr>
          <p:cNvPr id="6" name="Text 4"/>
          <p:cNvSpPr/>
          <p:nvPr/>
        </p:nvSpPr>
        <p:spPr>
          <a:xfrm>
            <a:off x="4713027" y="6845073"/>
            <a:ext cx="3533763" cy="320563"/>
          </a:xfrm>
          <a:prstGeom prst="rect">
            <a:avLst/>
          </a:prstGeom>
          <a:noFill/>
          <a:ln/>
        </p:spPr>
        <p:txBody>
          <a:bodyPr wrap="square" lIns="25400" tIns="25400" rIns="25400" bIns="25400" rtlCol="0" anchor="t">
            <a:normAutofit/>
          </a:bodyPr>
          <a:lstStyle/>
          <a:p>
            <a:pPr algn="l" indent="0" marL="0">
              <a:buNone/>
            </a:pPr>
            <a:r>
              <a:rPr lang="en-US" sz="1725" dirty="0">
                <a:solidFill>
                  <a:srgbClr val="7BD992"/>
                </a:solidFill>
                <a:latin typeface="Courier New" pitchFamily="34" charset="0"/>
                <a:ea typeface="Courier New" pitchFamily="34" charset="-122"/>
                <a:cs typeface="Courier New" pitchFamily="34" charset="-120"/>
              </a:rPr>
              <a:t>Jose Leonardo Diazgranados</a:t>
            </a:r>
            <a:endParaRPr lang="en-US" sz="17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88038"/>
                </a:solidFill>
                <a:latin typeface="Courier New" pitchFamily="34" charset="0"/>
                <a:ea typeface="Courier New" pitchFamily="34" charset="-122"/>
                <a:cs typeface="Courier New" pitchFamily="34" charset="-120"/>
              </a:rPr>
              <a:t>PUNTO 1 · 1.1 LÍNEA DE TIEMPO</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Qué se probó, qué se cambió y por qué</a:t>
            </a:r>
            <a:endParaRPr lang="en-US" sz="4050" dirty="0"/>
          </a:p>
        </p:txBody>
      </p:sp>
      <p:sp>
        <p:nvSpPr>
          <p:cNvPr id="4" name="Shape 2"/>
          <p:cNvSpPr/>
          <p:nvPr/>
        </p:nvSpPr>
        <p:spPr>
          <a:xfrm>
            <a:off x="914344" y="2257555"/>
            <a:ext cx="2381188" cy="9525"/>
          </a:xfrm>
          <a:prstGeom prst="rect">
            <a:avLst/>
          </a:prstGeom>
          <a:solidFill>
            <a:srgbClr val="2C323E"/>
          </a:solidFill>
          <a:ln/>
        </p:spPr>
      </p:sp>
      <p:sp>
        <p:nvSpPr>
          <p:cNvPr id="5" name="Text 3"/>
          <p:cNvSpPr/>
          <p:nvPr/>
        </p:nvSpPr>
        <p:spPr>
          <a:xfrm>
            <a:off x="914344" y="1914166"/>
            <a:ext cx="2457388" cy="248138"/>
          </a:xfrm>
          <a:prstGeom prst="rect">
            <a:avLst/>
          </a:prstGeom>
          <a:noFill/>
          <a:ln/>
        </p:spPr>
        <p:txBody>
          <a:bodyPr wrap="square" lIns="25400" tIns="25400" rIns="25400" bIns="25400" rtlCol="0" anchor="t">
            <a:normAutofit/>
          </a:bodyPr>
          <a:lstStyle/>
          <a:p>
            <a:pPr algn="l" indent="0" marL="0">
              <a:buNone/>
            </a:pPr>
            <a:r>
              <a:rPr lang="en-US" sz="1275" spc="75" kern="0" dirty="0">
                <a:solidFill>
                  <a:srgbClr val="6F7787"/>
                </a:solidFill>
                <a:latin typeface="Courier New" pitchFamily="34" charset="0"/>
                <a:ea typeface="Courier New" pitchFamily="34" charset="-122"/>
                <a:cs typeface="Courier New" pitchFamily="34" charset="-120"/>
              </a:rPr>
              <a:t>HITO · MODELO</a:t>
            </a:r>
            <a:endParaRPr lang="en-US" sz="1275" dirty="0"/>
          </a:p>
        </p:txBody>
      </p:sp>
      <p:sp>
        <p:nvSpPr>
          <p:cNvPr id="6" name="Shape 4"/>
          <p:cNvSpPr/>
          <p:nvPr/>
        </p:nvSpPr>
        <p:spPr>
          <a:xfrm>
            <a:off x="3581179" y="2257555"/>
            <a:ext cx="3047925" cy="9525"/>
          </a:xfrm>
          <a:prstGeom prst="rect">
            <a:avLst/>
          </a:prstGeom>
          <a:solidFill>
            <a:srgbClr val="2C323E"/>
          </a:solidFill>
          <a:ln/>
        </p:spPr>
      </p:sp>
      <p:sp>
        <p:nvSpPr>
          <p:cNvPr id="7" name="Text 5"/>
          <p:cNvSpPr/>
          <p:nvPr/>
        </p:nvSpPr>
        <p:spPr>
          <a:xfrm>
            <a:off x="3581179" y="1914166"/>
            <a:ext cx="3139363" cy="248138"/>
          </a:xfrm>
          <a:prstGeom prst="rect">
            <a:avLst/>
          </a:prstGeom>
          <a:noFill/>
          <a:ln/>
        </p:spPr>
        <p:txBody>
          <a:bodyPr wrap="square" lIns="25400" tIns="25400" rIns="25400" bIns="25400" rtlCol="0" anchor="t">
            <a:normAutofit/>
          </a:bodyPr>
          <a:lstStyle/>
          <a:p>
            <a:pPr algn="l" indent="0" marL="0">
              <a:buNone/>
            </a:pPr>
            <a:r>
              <a:rPr lang="en-US" sz="1275" spc="75" kern="0" dirty="0">
                <a:solidFill>
                  <a:srgbClr val="6F7787"/>
                </a:solidFill>
                <a:latin typeface="Courier New" pitchFamily="34" charset="0"/>
                <a:ea typeface="Courier New" pitchFamily="34" charset="-122"/>
                <a:cs typeface="Courier New" pitchFamily="34" charset="-120"/>
              </a:rPr>
              <a:t>CAMBIO DE PREPROCESAMIENTO</a:t>
            </a:r>
            <a:endParaRPr lang="en-US" sz="1275" dirty="0"/>
          </a:p>
        </p:txBody>
      </p:sp>
      <p:sp>
        <p:nvSpPr>
          <p:cNvPr id="8" name="Shape 6"/>
          <p:cNvSpPr/>
          <p:nvPr/>
        </p:nvSpPr>
        <p:spPr>
          <a:xfrm>
            <a:off x="6914752" y="2257555"/>
            <a:ext cx="10458795" cy="9525"/>
          </a:xfrm>
          <a:prstGeom prst="rect">
            <a:avLst/>
          </a:prstGeom>
          <a:solidFill>
            <a:srgbClr val="2C323E"/>
          </a:solidFill>
          <a:ln/>
        </p:spPr>
      </p:sp>
      <p:sp>
        <p:nvSpPr>
          <p:cNvPr id="9" name="Text 7"/>
          <p:cNvSpPr/>
          <p:nvPr/>
        </p:nvSpPr>
        <p:spPr>
          <a:xfrm>
            <a:off x="6914752" y="1914166"/>
            <a:ext cx="10772559" cy="248138"/>
          </a:xfrm>
          <a:prstGeom prst="rect">
            <a:avLst/>
          </a:prstGeom>
          <a:noFill/>
          <a:ln/>
        </p:spPr>
        <p:txBody>
          <a:bodyPr wrap="square" lIns="25400" tIns="25400" rIns="25400" bIns="25400" rtlCol="0" anchor="t">
            <a:normAutofit/>
          </a:bodyPr>
          <a:lstStyle/>
          <a:p>
            <a:pPr algn="l" indent="0" marL="0">
              <a:buNone/>
            </a:pPr>
            <a:r>
              <a:rPr lang="en-US" sz="1275" spc="75" kern="0" dirty="0">
                <a:solidFill>
                  <a:srgbClr val="6F7787"/>
                </a:solidFill>
                <a:latin typeface="Courier New" pitchFamily="34" charset="0"/>
                <a:ea typeface="Courier New" pitchFamily="34" charset="-122"/>
                <a:cs typeface="Courier New" pitchFamily="34" charset="-120"/>
              </a:rPr>
              <a:t>JUSTIFICACIÓN DE LA DECISIÓN</a:t>
            </a:r>
            <a:endParaRPr lang="en-US" sz="1275" dirty="0"/>
          </a:p>
        </p:txBody>
      </p:sp>
      <p:sp>
        <p:nvSpPr>
          <p:cNvPr id="10" name="Shape 8"/>
          <p:cNvSpPr/>
          <p:nvPr/>
        </p:nvSpPr>
        <p:spPr>
          <a:xfrm>
            <a:off x="914344" y="3550044"/>
            <a:ext cx="2381188" cy="9525"/>
          </a:xfrm>
          <a:prstGeom prst="rect">
            <a:avLst/>
          </a:prstGeom>
          <a:solidFill>
            <a:srgbClr val="1C212A"/>
          </a:solidFill>
          <a:ln/>
        </p:spPr>
      </p:sp>
      <p:sp>
        <p:nvSpPr>
          <p:cNvPr id="11" name="Text 9"/>
          <p:cNvSpPr/>
          <p:nvPr/>
        </p:nvSpPr>
        <p:spPr>
          <a:xfrm>
            <a:off x="914344" y="2474253"/>
            <a:ext cx="2619307" cy="335182"/>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Taller 1 · 16-ago</a:t>
            </a:r>
            <a:endParaRPr lang="en-US" sz="1800" dirty="0"/>
          </a:p>
        </p:txBody>
      </p:sp>
      <p:sp>
        <p:nvSpPr>
          <p:cNvPr id="12" name="Text 10"/>
          <p:cNvSpPr/>
          <p:nvPr/>
        </p:nvSpPr>
        <p:spPr>
          <a:xfrm>
            <a:off x="914344" y="2818886"/>
            <a:ext cx="2457388" cy="559806"/>
          </a:xfrm>
          <a:prstGeom prst="rect">
            <a:avLst/>
          </a:prstGeom>
          <a:noFill/>
          <a:ln/>
        </p:spPr>
        <p:txBody>
          <a:bodyPr wrap="square" lIns="25400" tIns="25400" rIns="25400" bIns="25400" rtlCol="0" anchor="t">
            <a:normAutofit/>
          </a:bodyPr>
          <a:lstStyle/>
          <a:p>
            <a:pPr algn="l" indent="0" marL="0">
              <a:buNone/>
            </a:pPr>
            <a:r>
              <a:rPr lang="en-US" sz="1575" dirty="0">
                <a:solidFill>
                  <a:srgbClr val="8B93A3"/>
                </a:solidFill>
                <a:latin typeface="Courier New" pitchFamily="34" charset="0"/>
                <a:ea typeface="Courier New" pitchFamily="34" charset="-122"/>
                <a:cs typeface="Courier New" pitchFamily="34" charset="-120"/>
              </a:rPr>
              <a:t>selección de dataset</a:t>
            </a:r>
            <a:endParaRPr lang="en-US" sz="1575" dirty="0"/>
          </a:p>
        </p:txBody>
      </p:sp>
      <p:sp>
        <p:nvSpPr>
          <p:cNvPr id="13" name="Shape 11"/>
          <p:cNvSpPr/>
          <p:nvPr/>
        </p:nvSpPr>
        <p:spPr>
          <a:xfrm>
            <a:off x="3581179" y="3550044"/>
            <a:ext cx="3047925" cy="9525"/>
          </a:xfrm>
          <a:prstGeom prst="rect">
            <a:avLst/>
          </a:prstGeom>
          <a:solidFill>
            <a:srgbClr val="1C212A"/>
          </a:solidFill>
          <a:ln/>
        </p:spPr>
      </p:sp>
      <p:sp>
        <p:nvSpPr>
          <p:cNvPr id="14" name="Text 12"/>
          <p:cNvSpPr/>
          <p:nvPr/>
        </p:nvSpPr>
        <p:spPr>
          <a:xfrm>
            <a:off x="3581179" y="2474351"/>
            <a:ext cx="3139363" cy="904244"/>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Ninguno. Rúbrica de 5 criterios sobre 3 candidatos.</a:t>
            </a:r>
            <a:endParaRPr lang="en-US" sz="1650" dirty="0"/>
          </a:p>
        </p:txBody>
      </p:sp>
      <p:sp>
        <p:nvSpPr>
          <p:cNvPr id="15" name="Shape 13"/>
          <p:cNvSpPr/>
          <p:nvPr/>
        </p:nvSpPr>
        <p:spPr>
          <a:xfrm>
            <a:off x="6914752" y="3550044"/>
            <a:ext cx="10458795" cy="9525"/>
          </a:xfrm>
          <a:prstGeom prst="rect">
            <a:avLst/>
          </a:prstGeom>
          <a:solidFill>
            <a:srgbClr val="1C212A"/>
          </a:solidFill>
          <a:ln/>
        </p:spPr>
      </p:sp>
      <p:sp>
        <p:nvSpPr>
          <p:cNvPr id="16" name="Text 14"/>
          <p:cNvSpPr/>
          <p:nvPr/>
        </p:nvSpPr>
        <p:spPr>
          <a:xfrm>
            <a:off x="6914752" y="2474351"/>
            <a:ext cx="10772559" cy="904244"/>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Appliances (24/25) es el único con temperatura y humedad por habitación; sin eso no hay penalización de confort en la recompensa del MDP.</a:t>
            </a:r>
            <a:endParaRPr lang="en-US" sz="1650" dirty="0"/>
          </a:p>
        </p:txBody>
      </p:sp>
      <p:sp>
        <p:nvSpPr>
          <p:cNvPr id="17" name="Shape 15"/>
          <p:cNvSpPr/>
          <p:nvPr/>
        </p:nvSpPr>
        <p:spPr>
          <a:xfrm>
            <a:off x="914344" y="5233360"/>
            <a:ext cx="2381188" cy="9525"/>
          </a:xfrm>
          <a:prstGeom prst="rect">
            <a:avLst/>
          </a:prstGeom>
          <a:solidFill>
            <a:srgbClr val="1C212A"/>
          </a:solidFill>
          <a:ln/>
        </p:spPr>
      </p:sp>
      <p:sp>
        <p:nvSpPr>
          <p:cNvPr id="18" name="Text 16"/>
          <p:cNvSpPr/>
          <p:nvPr/>
        </p:nvSpPr>
        <p:spPr>
          <a:xfrm>
            <a:off x="914344" y="3766742"/>
            <a:ext cx="2619307" cy="335182"/>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Taller 2 · 16-ago</a:t>
            </a:r>
            <a:endParaRPr lang="en-US" sz="1800" dirty="0"/>
          </a:p>
        </p:txBody>
      </p:sp>
      <p:sp>
        <p:nvSpPr>
          <p:cNvPr id="19" name="Text 17"/>
          <p:cNvSpPr/>
          <p:nvPr/>
        </p:nvSpPr>
        <p:spPr>
          <a:xfrm>
            <a:off x="914344" y="4111376"/>
            <a:ext cx="2619307" cy="298953"/>
          </a:xfrm>
          <a:prstGeom prst="rect">
            <a:avLst/>
          </a:prstGeom>
          <a:noFill/>
          <a:ln/>
        </p:spPr>
        <p:txBody>
          <a:bodyPr wrap="square" lIns="25400" tIns="25400" rIns="25400" bIns="25400" rtlCol="0" anchor="t">
            <a:normAutofit/>
          </a:bodyPr>
          <a:lstStyle/>
          <a:p>
            <a:pPr algn="l" indent="0" marL="0">
              <a:buNone/>
            </a:pPr>
            <a:r>
              <a:rPr lang="en-US" sz="1575" dirty="0">
                <a:solidFill>
                  <a:srgbClr val="8B93A3"/>
                </a:solidFill>
                <a:latin typeface="Courier New" pitchFamily="34" charset="0"/>
                <a:ea typeface="Courier New" pitchFamily="34" charset="-122"/>
                <a:cs typeface="Courier New" pitchFamily="34" charset="-120"/>
              </a:rPr>
              <a:t>Árbol · KNN</a:t>
            </a:r>
            <a:endParaRPr lang="en-US" sz="1575" dirty="0"/>
          </a:p>
        </p:txBody>
      </p:sp>
      <p:sp>
        <p:nvSpPr>
          <p:cNvPr id="20" name="Shape 18"/>
          <p:cNvSpPr/>
          <p:nvPr/>
        </p:nvSpPr>
        <p:spPr>
          <a:xfrm>
            <a:off x="3581179" y="5233360"/>
            <a:ext cx="3047925" cy="9525"/>
          </a:xfrm>
          <a:prstGeom prst="rect">
            <a:avLst/>
          </a:prstGeom>
          <a:solidFill>
            <a:srgbClr val="1C212A"/>
          </a:solidFill>
          <a:ln/>
        </p:spPr>
      </p:sp>
      <p:sp>
        <p:nvSpPr>
          <p:cNvPr id="21" name="Text 19"/>
          <p:cNvSpPr/>
          <p:nvPr/>
        </p:nvSpPr>
        <p:spPr>
          <a:xfrm>
            <a:off x="3581179" y="3766840"/>
            <a:ext cx="3139363" cy="1295070"/>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+4 temporales derivadas · se excluyen rv1/rv2 · </a:t>
            </a:r>
            <a:pPr algn="l" indent="0" marL="0">
              <a:lnSpc>
                <a:spcPct val="131453"/>
              </a:lnSpc>
              <a:buNone/>
            </a:pPr>
            <a:r>
              <a:rPr lang="en-US" sz="1650" dirty="0">
                <a:solidFill>
                  <a:srgbClr val="FFB877"/>
                </a:solidFill>
                <a:latin typeface="Arial" pitchFamily="34" charset="0"/>
                <a:ea typeface="Arial" pitchFamily="34" charset="-122"/>
                <a:cs typeface="Arial" pitchFamily="34" charset="-120"/>
              </a:rPr>
              <a:t>StandardScaler solo en train </a:t>
            </a:r>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 se fijan las DOS particiones.</a:t>
            </a:r>
            <a:endParaRPr lang="en-US" sz="1650" dirty="0"/>
          </a:p>
        </p:txBody>
      </p:sp>
      <p:sp>
        <p:nvSpPr>
          <p:cNvPr id="22" name="Shape 20"/>
          <p:cNvSpPr/>
          <p:nvPr/>
        </p:nvSpPr>
        <p:spPr>
          <a:xfrm>
            <a:off x="6914752" y="5233360"/>
            <a:ext cx="10458795" cy="9525"/>
          </a:xfrm>
          <a:prstGeom prst="rect">
            <a:avLst/>
          </a:prstGeom>
          <a:solidFill>
            <a:srgbClr val="1C212A"/>
          </a:solidFill>
          <a:ln/>
        </p:spPr>
      </p:sp>
      <p:sp>
        <p:nvSpPr>
          <p:cNvPr id="23" name="Text 21"/>
          <p:cNvSpPr/>
          <p:nvPr/>
        </p:nvSpPr>
        <p:spPr>
          <a:xfrm>
            <a:off x="6914752" y="3766840"/>
            <a:ext cx="10772559" cy="1295070"/>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Primer modelo interpretable. El árbol no usa distancias; KNN sí: sin escalar, Press_mm_hg (~750) aplasta a lights (0–70).</a:t>
            </a:r>
            <a:endParaRPr lang="en-US" sz="1650" dirty="0"/>
          </a:p>
        </p:txBody>
      </p:sp>
      <p:sp>
        <p:nvSpPr>
          <p:cNvPr id="24" name="Shape 22"/>
          <p:cNvSpPr/>
          <p:nvPr/>
        </p:nvSpPr>
        <p:spPr>
          <a:xfrm>
            <a:off x="914344" y="6525850"/>
            <a:ext cx="2381188" cy="9525"/>
          </a:xfrm>
          <a:prstGeom prst="rect">
            <a:avLst/>
          </a:prstGeom>
          <a:solidFill>
            <a:srgbClr val="1C212A"/>
          </a:solidFill>
          <a:ln/>
        </p:spPr>
      </p:sp>
      <p:sp>
        <p:nvSpPr>
          <p:cNvPr id="25" name="Text 23"/>
          <p:cNvSpPr/>
          <p:nvPr/>
        </p:nvSpPr>
        <p:spPr>
          <a:xfrm>
            <a:off x="914344" y="5450059"/>
            <a:ext cx="2619307" cy="335182"/>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Taller 3 · 3-sep</a:t>
            </a:r>
            <a:endParaRPr lang="en-US" sz="1800" dirty="0"/>
          </a:p>
        </p:txBody>
      </p:sp>
      <p:sp>
        <p:nvSpPr>
          <p:cNvPr id="26" name="Text 24"/>
          <p:cNvSpPr/>
          <p:nvPr/>
        </p:nvSpPr>
        <p:spPr>
          <a:xfrm>
            <a:off x="914344" y="5794692"/>
            <a:ext cx="2457388" cy="559806"/>
          </a:xfrm>
          <a:prstGeom prst="rect">
            <a:avLst/>
          </a:prstGeom>
          <a:noFill/>
          <a:ln/>
        </p:spPr>
        <p:txBody>
          <a:bodyPr wrap="square" lIns="25400" tIns="25400" rIns="25400" bIns="25400" rtlCol="0" anchor="t">
            <a:normAutofit/>
          </a:bodyPr>
          <a:lstStyle/>
          <a:p>
            <a:pPr algn="l" indent="0" marL="0">
              <a:buNone/>
            </a:pPr>
            <a:r>
              <a:rPr lang="en-US" sz="1575" dirty="0">
                <a:solidFill>
                  <a:srgbClr val="8B93A3"/>
                </a:solidFill>
                <a:latin typeface="Courier New" pitchFamily="34" charset="0"/>
                <a:ea typeface="Courier New" pitchFamily="34" charset="-122"/>
                <a:cs typeface="Courier New" pitchFamily="34" charset="-120"/>
              </a:rPr>
              <a:t>Lineal · Random Forest</a:t>
            </a:r>
            <a:endParaRPr lang="en-US" sz="1575" dirty="0"/>
          </a:p>
        </p:txBody>
      </p:sp>
      <p:sp>
        <p:nvSpPr>
          <p:cNvPr id="27" name="Shape 25"/>
          <p:cNvSpPr/>
          <p:nvPr/>
        </p:nvSpPr>
        <p:spPr>
          <a:xfrm>
            <a:off x="3581179" y="6525850"/>
            <a:ext cx="3047925" cy="9525"/>
          </a:xfrm>
          <a:prstGeom prst="rect">
            <a:avLst/>
          </a:prstGeom>
          <a:solidFill>
            <a:srgbClr val="1C212A"/>
          </a:solidFill>
          <a:ln/>
        </p:spPr>
      </p:sp>
      <p:sp>
        <p:nvSpPr>
          <p:cNvPr id="28" name="Text 26"/>
          <p:cNvSpPr/>
          <p:nvPr/>
        </p:nvSpPr>
        <p:spPr>
          <a:xfrm>
            <a:off x="3581179" y="5450156"/>
            <a:ext cx="3139363" cy="904244"/>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Sin cambios. Mismas 29 variables, mismas particiones.</a:t>
            </a:r>
            <a:endParaRPr lang="en-US" sz="1650" dirty="0"/>
          </a:p>
        </p:txBody>
      </p:sp>
      <p:sp>
        <p:nvSpPr>
          <p:cNvPr id="29" name="Shape 27"/>
          <p:cNvSpPr/>
          <p:nvPr/>
        </p:nvSpPr>
        <p:spPr>
          <a:xfrm>
            <a:off x="6914752" y="6525850"/>
            <a:ext cx="10458795" cy="9525"/>
          </a:xfrm>
          <a:prstGeom prst="rect">
            <a:avLst/>
          </a:prstGeom>
          <a:solidFill>
            <a:srgbClr val="1C212A"/>
          </a:solidFill>
          <a:ln/>
        </p:spPr>
      </p:sp>
      <p:sp>
        <p:nvSpPr>
          <p:cNvPr id="30" name="Text 28"/>
          <p:cNvSpPr/>
          <p:nvPr/>
        </p:nvSpPr>
        <p:spPr>
          <a:xfrm>
            <a:off x="6914752" y="5450156"/>
            <a:ext cx="10772559" cy="904244"/>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Faltaba una línea base honesta. El bosque es continuación natural del árbol: barrido secuencial de 16 combinaciones.</a:t>
            </a:r>
            <a:endParaRPr lang="en-US" sz="1650" dirty="0"/>
          </a:p>
        </p:txBody>
      </p:sp>
      <p:sp>
        <p:nvSpPr>
          <p:cNvPr id="31" name="Shape 29"/>
          <p:cNvSpPr/>
          <p:nvPr/>
        </p:nvSpPr>
        <p:spPr>
          <a:xfrm>
            <a:off x="914344" y="7894875"/>
            <a:ext cx="2381188" cy="9525"/>
          </a:xfrm>
          <a:prstGeom prst="rect">
            <a:avLst/>
          </a:prstGeom>
          <a:solidFill>
            <a:srgbClr val="1C212A"/>
          </a:solidFill>
          <a:ln/>
        </p:spPr>
      </p:sp>
      <p:sp>
        <p:nvSpPr>
          <p:cNvPr id="32" name="Text 30"/>
          <p:cNvSpPr/>
          <p:nvPr/>
        </p:nvSpPr>
        <p:spPr>
          <a:xfrm>
            <a:off x="914344" y="6742548"/>
            <a:ext cx="2619307" cy="335182"/>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Taller 3 · 3-sep</a:t>
            </a:r>
            <a:endParaRPr lang="en-US" sz="1800" dirty="0"/>
          </a:p>
        </p:txBody>
      </p:sp>
      <p:sp>
        <p:nvSpPr>
          <p:cNvPr id="33" name="Text 31"/>
          <p:cNvSpPr/>
          <p:nvPr/>
        </p:nvSpPr>
        <p:spPr>
          <a:xfrm>
            <a:off x="914344" y="7087182"/>
            <a:ext cx="2457388" cy="559806"/>
          </a:xfrm>
          <a:prstGeom prst="rect">
            <a:avLst/>
          </a:prstGeom>
          <a:noFill/>
          <a:ln/>
        </p:spPr>
        <p:txBody>
          <a:bodyPr wrap="square" lIns="25400" tIns="25400" rIns="25400" bIns="25400" rtlCol="0" anchor="t">
            <a:normAutofit/>
          </a:bodyPr>
          <a:lstStyle/>
          <a:p>
            <a:pPr algn="l" indent="0" marL="0">
              <a:buNone/>
            </a:pPr>
            <a:r>
              <a:rPr lang="en-US" sz="1575" dirty="0">
                <a:solidFill>
                  <a:srgbClr val="8B93A3"/>
                </a:solidFill>
                <a:latin typeface="Courier New" pitchFamily="34" charset="0"/>
                <a:ea typeface="Courier New" pitchFamily="34" charset="-122"/>
                <a:cs typeface="Courier New" pitchFamily="34" charset="-120"/>
              </a:rPr>
              <a:t>SVM rbf · balanceado</a:t>
            </a:r>
            <a:endParaRPr lang="en-US" sz="1575" dirty="0"/>
          </a:p>
        </p:txBody>
      </p:sp>
      <p:sp>
        <p:nvSpPr>
          <p:cNvPr id="34" name="Shape 32"/>
          <p:cNvSpPr/>
          <p:nvPr/>
        </p:nvSpPr>
        <p:spPr>
          <a:xfrm>
            <a:off x="3581179" y="7894875"/>
            <a:ext cx="3047925" cy="9525"/>
          </a:xfrm>
          <a:prstGeom prst="rect">
            <a:avLst/>
          </a:prstGeom>
          <a:solidFill>
            <a:srgbClr val="1C212A"/>
          </a:solidFill>
          <a:ln/>
        </p:spPr>
      </p:sp>
      <p:sp>
        <p:nvSpPr>
          <p:cNvPr id="35" name="Text 33"/>
          <p:cNvSpPr/>
          <p:nvPr/>
        </p:nvSpPr>
        <p:spPr>
          <a:xfrm>
            <a:off x="3581179" y="6742646"/>
            <a:ext cx="3139363" cy="980779"/>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+submuestra de 4.000 filas para entrenar · </a:t>
            </a:r>
            <a:pPr algn="l" indent="0" marL="0">
              <a:lnSpc>
                <a:spcPct val="131453"/>
              </a:lnSpc>
              <a:buNone/>
            </a:pPr>
            <a:r>
              <a:rPr lang="en-US" sz="1650" dirty="0">
                <a:solidFill>
                  <a:srgbClr val="FFB877"/>
                </a:solidFill>
                <a:latin typeface="Arial" pitchFamily="34" charset="0"/>
                <a:ea typeface="Arial" pitchFamily="34" charset="-122"/>
                <a:cs typeface="Arial" pitchFamily="34" charset="-120"/>
              </a:rPr>
              <a:t>class_weight='balanced'</a:t>
            </a:r>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a:t>
            </a:r>
            <a:endParaRPr lang="en-US" sz="1650" dirty="0"/>
          </a:p>
        </p:txBody>
      </p:sp>
      <p:sp>
        <p:nvSpPr>
          <p:cNvPr id="36" name="Shape 34"/>
          <p:cNvSpPr/>
          <p:nvPr/>
        </p:nvSpPr>
        <p:spPr>
          <a:xfrm>
            <a:off x="6914752" y="7894875"/>
            <a:ext cx="10458795" cy="9525"/>
          </a:xfrm>
          <a:prstGeom prst="rect">
            <a:avLst/>
          </a:prstGeom>
          <a:solidFill>
            <a:srgbClr val="1C212A"/>
          </a:solidFill>
          <a:ln/>
        </p:spPr>
      </p:sp>
      <p:sp>
        <p:nvSpPr>
          <p:cNvPr id="37" name="Text 35"/>
          <p:cNvSpPr/>
          <p:nvPr/>
        </p:nvSpPr>
        <p:spPr>
          <a:xfrm>
            <a:off x="6914752" y="6742646"/>
            <a:ext cx="10772559" cy="980779"/>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No es una mejora, es una concesión: el SVM no converge sobre 15.788 filas y 6 de 9 combinaciones colapsaban a F1 = 0,000.</a:t>
            </a:r>
            <a:endParaRPr lang="en-US" sz="1650" dirty="0"/>
          </a:p>
        </p:txBody>
      </p:sp>
      <p:sp>
        <p:nvSpPr>
          <p:cNvPr id="38" name="Text 36"/>
          <p:cNvSpPr/>
          <p:nvPr/>
        </p:nvSpPr>
        <p:spPr>
          <a:xfrm>
            <a:off x="914344" y="8111573"/>
            <a:ext cx="2619307" cy="335182"/>
          </a:xfrm>
          <a:prstGeom prst="rect">
            <a:avLst/>
          </a:prstGeom>
          <a:noFill/>
          <a:ln/>
        </p:spPr>
        <p:txBody>
          <a:bodyPr wrap="square" lIns="25400" tIns="25400" rIns="25400" bIns="25400" rtlCol="0" anchor="t">
            <a:normAutofit/>
          </a:bodyPr>
          <a:lstStyle/>
          <a:p>
            <a:pPr algn="l" indent="0" marL="0">
              <a:buNone/>
            </a:pPr>
            <a:r>
              <a:rPr lang="en-US" sz="1800" dirty="0">
                <a:solidFill>
                  <a:srgbClr val="7BD992"/>
                </a:solidFill>
                <a:latin typeface="Arial" pitchFamily="34" charset="0"/>
                <a:ea typeface="Arial" pitchFamily="34" charset="-122"/>
                <a:cs typeface="Arial" pitchFamily="34" charset="-120"/>
              </a:rPr>
              <a:t>Parcial · 9-sep</a:t>
            </a:r>
            <a:endParaRPr lang="en-US" sz="1800" dirty="0"/>
          </a:p>
        </p:txBody>
      </p:sp>
      <p:sp>
        <p:nvSpPr>
          <p:cNvPr id="39" name="Text 37"/>
          <p:cNvSpPr/>
          <p:nvPr/>
        </p:nvSpPr>
        <p:spPr>
          <a:xfrm>
            <a:off x="914344" y="8456207"/>
            <a:ext cx="2457388" cy="559806"/>
          </a:xfrm>
          <a:prstGeom prst="rect">
            <a:avLst/>
          </a:prstGeom>
          <a:noFill/>
          <a:ln/>
        </p:spPr>
        <p:txBody>
          <a:bodyPr wrap="square" lIns="25400" tIns="25400" rIns="25400" bIns="25400" rtlCol="0" anchor="t">
            <a:normAutofit/>
          </a:bodyPr>
          <a:lstStyle/>
          <a:p>
            <a:pPr algn="l" indent="0" marL="0">
              <a:buNone/>
            </a:pPr>
            <a:r>
              <a:rPr lang="en-US" sz="1575" dirty="0">
                <a:solidFill>
                  <a:srgbClr val="8B93A3"/>
                </a:solidFill>
                <a:latin typeface="Courier New" pitchFamily="34" charset="0"/>
                <a:ea typeface="Courier New" pitchFamily="34" charset="-122"/>
                <a:cs typeface="Courier New" pitchFamily="34" charset="-120"/>
              </a:rPr>
              <a:t>RF y Lineal con retardos</a:t>
            </a:r>
            <a:endParaRPr lang="en-US" sz="1575" dirty="0"/>
          </a:p>
        </p:txBody>
      </p:sp>
      <p:sp>
        <p:nvSpPr>
          <p:cNvPr id="40" name="Text 38"/>
          <p:cNvSpPr/>
          <p:nvPr/>
        </p:nvSpPr>
        <p:spPr>
          <a:xfrm>
            <a:off x="3581179" y="8111671"/>
            <a:ext cx="3139363" cy="980779"/>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+lag1, lag2, lag3, lag6 y media/máx/desv. de la última hora. </a:t>
            </a:r>
            <a:pPr algn="l" indent="0" marL="0">
              <a:lnSpc>
                <a:spcPct val="131453"/>
              </a:lnSpc>
              <a:buNone/>
            </a:pPr>
            <a:r>
              <a:rPr lang="en-US" sz="1650" dirty="0">
                <a:solidFill>
                  <a:srgbClr val="7BD992"/>
                </a:solidFill>
                <a:latin typeface="Arial" pitchFamily="34" charset="0"/>
                <a:ea typeface="Arial" pitchFamily="34" charset="-122"/>
                <a:cs typeface="Arial" pitchFamily="34" charset="-120"/>
              </a:rPr>
              <a:t>Solo partición temporal.</a:t>
            </a:r>
            <a:endParaRPr lang="en-US" sz="1650" dirty="0"/>
          </a:p>
        </p:txBody>
      </p:sp>
      <p:sp>
        <p:nvSpPr>
          <p:cNvPr id="41" name="Text 39"/>
          <p:cNvSpPr/>
          <p:nvPr/>
        </p:nvSpPr>
        <p:spPr>
          <a:xfrm>
            <a:off x="6914752" y="8111671"/>
            <a:ext cx="10772559" cy="980779"/>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C9D1DE"/>
                </a:solidFill>
                <a:latin typeface="Arial" pitchFamily="34" charset="0"/>
                <a:ea typeface="Arial" pitchFamily="34" charset="-122"/>
                <a:cs typeface="Arial" pitchFamily="34" charset="-120"/>
              </a:rPr>
              <a:t>La propuesta de mejora del punto 2, medida y no solo afirmada. Cambia la conclusión del proyecto.</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88038"/>
                </a:solidFill>
                <a:latin typeface="Courier New" pitchFamily="34" charset="0"/>
                <a:ea typeface="Courier New" pitchFamily="34" charset="-122"/>
                <a:cs typeface="Courier New" pitchFamily="34" charset="-120"/>
              </a:rPr>
              <a:t>PUNTO 1 · 1.2 RESULTADOS OBTENIDOS · PARTICIÓN ALEATORIA</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Regresión y clasificación, con su línea base</a:t>
            </a:r>
            <a:endParaRPr lang="en-US" sz="4050" dirty="0"/>
          </a:p>
        </p:txBody>
      </p:sp>
      <p:sp>
        <p:nvSpPr>
          <p:cNvPr id="4" name="Shape 2"/>
          <p:cNvSpPr/>
          <p:nvPr/>
        </p:nvSpPr>
        <p:spPr>
          <a:xfrm>
            <a:off x="914344" y="1952207"/>
            <a:ext cx="7171189" cy="4936165"/>
          </a:xfrm>
          <a:prstGeom prst="roundRect">
            <a:avLst>
              <a:gd name="adj" fmla="val 2316"/>
            </a:avLst>
          </a:prstGeom>
          <a:solidFill>
            <a:srgbClr val="151920"/>
          </a:solidFill>
          <a:ln w="7246">
            <a:solidFill>
              <a:srgbClr val="232833"/>
            </a:solidFill>
            <a:prstDash val="solid"/>
          </a:ln>
        </p:spPr>
      </p:sp>
      <p:sp>
        <p:nvSpPr>
          <p:cNvPr id="5" name="Text 3"/>
          <p:cNvSpPr/>
          <p:nvPr/>
        </p:nvSpPr>
        <p:spPr>
          <a:xfrm>
            <a:off x="1245391" y="2264234"/>
            <a:ext cx="7160003" cy="248231"/>
          </a:xfrm>
          <a:prstGeom prst="rect">
            <a:avLst/>
          </a:prstGeom>
          <a:noFill/>
          <a:ln/>
        </p:spPr>
        <p:txBody>
          <a:bodyPr wrap="square" lIns="25400" tIns="25400" rIns="25400" bIns="25400" rtlCol="0" anchor="t">
            <a:normAutofit/>
          </a:bodyPr>
          <a:lstStyle/>
          <a:p>
            <a:pPr algn="l" indent="0" marL="0">
              <a:buNone/>
            </a:pPr>
            <a:r>
              <a:rPr lang="en-US" sz="1275" spc="83" kern="0" dirty="0">
                <a:solidFill>
                  <a:srgbClr val="6F7787"/>
                </a:solidFill>
                <a:latin typeface="Courier New" pitchFamily="34" charset="0"/>
                <a:ea typeface="Courier New" pitchFamily="34" charset="-122"/>
                <a:cs typeface="Courier New" pitchFamily="34" charset="-120"/>
              </a:rPr>
              <a:t>REGRESIÓN · CONSUMO EN Wh</a:t>
            </a:r>
            <a:endParaRPr lang="en-US" sz="1275" dirty="0"/>
          </a:p>
        </p:txBody>
      </p:sp>
      <p:sp>
        <p:nvSpPr>
          <p:cNvPr id="6" name="Shape 4"/>
          <p:cNvSpPr/>
          <p:nvPr/>
        </p:nvSpPr>
        <p:spPr>
          <a:xfrm>
            <a:off x="1245391" y="3037170"/>
            <a:ext cx="3572235" cy="9525"/>
          </a:xfrm>
          <a:prstGeom prst="rect">
            <a:avLst/>
          </a:prstGeom>
          <a:solidFill>
            <a:srgbClr val="2C323E"/>
          </a:solidFill>
          <a:ln/>
        </p:spPr>
      </p:sp>
      <p:sp>
        <p:nvSpPr>
          <p:cNvPr id="7" name="Text 5"/>
          <p:cNvSpPr/>
          <p:nvPr/>
        </p:nvSpPr>
        <p:spPr>
          <a:xfrm>
            <a:off x="1245391" y="2683818"/>
            <a:ext cx="3679402" cy="277151"/>
          </a:xfrm>
          <a:prstGeom prst="rect">
            <a:avLst/>
          </a:prstGeom>
          <a:noFill/>
          <a:ln/>
        </p:spPr>
        <p:txBody>
          <a:bodyPr wrap="square" lIns="25400" tIns="25400" rIns="25400" bIns="25400" rtlCol="0" anchor="t">
            <a:normAutofit/>
          </a:bodyPr>
          <a:lstStyle/>
          <a:p>
            <a:pPr algn="l" indent="0" marL="0">
              <a:buNone/>
            </a:pPr>
            <a:r>
              <a:rPr lang="en-US" sz="1425" dirty="0">
                <a:solidFill>
                  <a:srgbClr val="6F7787"/>
                </a:solidFill>
                <a:latin typeface="Courier New" pitchFamily="34" charset="0"/>
                <a:ea typeface="Courier New" pitchFamily="34" charset="-122"/>
                <a:cs typeface="Courier New" pitchFamily="34" charset="-120"/>
              </a:rPr>
              <a:t>MODELO</a:t>
            </a:r>
            <a:endParaRPr lang="en-US" sz="1425" dirty="0"/>
          </a:p>
        </p:txBody>
      </p:sp>
      <p:sp>
        <p:nvSpPr>
          <p:cNvPr id="8" name="Shape 6"/>
          <p:cNvSpPr/>
          <p:nvPr/>
        </p:nvSpPr>
        <p:spPr>
          <a:xfrm>
            <a:off x="5065233" y="3037170"/>
            <a:ext cx="685644" cy="9525"/>
          </a:xfrm>
          <a:prstGeom prst="rect">
            <a:avLst/>
          </a:prstGeom>
          <a:solidFill>
            <a:srgbClr val="2C323E"/>
          </a:solidFill>
          <a:ln/>
        </p:spPr>
      </p:sp>
      <p:sp>
        <p:nvSpPr>
          <p:cNvPr id="9" name="Text 7"/>
          <p:cNvSpPr/>
          <p:nvPr/>
        </p:nvSpPr>
        <p:spPr>
          <a:xfrm>
            <a:off x="4989033"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R²</a:t>
            </a:r>
            <a:endParaRPr lang="en-US" sz="1425" dirty="0"/>
          </a:p>
        </p:txBody>
      </p:sp>
      <p:sp>
        <p:nvSpPr>
          <p:cNvPr id="10" name="Shape 8"/>
          <p:cNvSpPr/>
          <p:nvPr/>
        </p:nvSpPr>
        <p:spPr>
          <a:xfrm>
            <a:off x="5998483" y="3037170"/>
            <a:ext cx="685644" cy="9525"/>
          </a:xfrm>
          <a:prstGeom prst="rect">
            <a:avLst/>
          </a:prstGeom>
          <a:solidFill>
            <a:srgbClr val="2C323E"/>
          </a:solidFill>
          <a:ln/>
        </p:spPr>
      </p:sp>
      <p:sp>
        <p:nvSpPr>
          <p:cNvPr id="11" name="Text 9"/>
          <p:cNvSpPr/>
          <p:nvPr/>
        </p:nvSpPr>
        <p:spPr>
          <a:xfrm>
            <a:off x="5922283"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MAE</a:t>
            </a:r>
            <a:endParaRPr lang="en-US" sz="1425" dirty="0"/>
          </a:p>
        </p:txBody>
      </p:sp>
      <p:sp>
        <p:nvSpPr>
          <p:cNvPr id="12" name="Shape 10"/>
          <p:cNvSpPr/>
          <p:nvPr/>
        </p:nvSpPr>
        <p:spPr>
          <a:xfrm>
            <a:off x="6931734" y="3037170"/>
            <a:ext cx="822751" cy="9525"/>
          </a:xfrm>
          <a:prstGeom prst="rect">
            <a:avLst/>
          </a:prstGeom>
          <a:solidFill>
            <a:srgbClr val="2C323E"/>
          </a:solidFill>
          <a:ln/>
        </p:spPr>
      </p:sp>
      <p:sp>
        <p:nvSpPr>
          <p:cNvPr id="13" name="Text 11"/>
          <p:cNvSpPr/>
          <p:nvPr/>
        </p:nvSpPr>
        <p:spPr>
          <a:xfrm>
            <a:off x="6855534" y="2683818"/>
            <a:ext cx="898951"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RMSE</a:t>
            </a:r>
            <a:endParaRPr lang="en-US" sz="1425" dirty="0"/>
          </a:p>
        </p:txBody>
      </p:sp>
      <p:sp>
        <p:nvSpPr>
          <p:cNvPr id="14" name="Shape 12"/>
          <p:cNvSpPr/>
          <p:nvPr/>
        </p:nvSpPr>
        <p:spPr>
          <a:xfrm>
            <a:off x="1245391" y="3627032"/>
            <a:ext cx="3572235" cy="9525"/>
          </a:xfrm>
          <a:prstGeom prst="rect">
            <a:avLst/>
          </a:prstGeom>
          <a:solidFill>
            <a:srgbClr val="1C212A"/>
          </a:solidFill>
          <a:ln/>
        </p:spPr>
      </p:sp>
      <p:sp>
        <p:nvSpPr>
          <p:cNvPr id="15" name="Text 13"/>
          <p:cNvSpPr/>
          <p:nvPr/>
        </p:nvSpPr>
        <p:spPr>
          <a:xfrm>
            <a:off x="1245391" y="3187291"/>
            <a:ext cx="3679402"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Regresión Lineal</a:t>
            </a:r>
            <a:endParaRPr lang="en-US" sz="1800" dirty="0"/>
          </a:p>
        </p:txBody>
      </p:sp>
      <p:sp>
        <p:nvSpPr>
          <p:cNvPr id="16" name="Shape 14"/>
          <p:cNvSpPr/>
          <p:nvPr/>
        </p:nvSpPr>
        <p:spPr>
          <a:xfrm>
            <a:off x="5065233" y="3627032"/>
            <a:ext cx="685644" cy="9525"/>
          </a:xfrm>
          <a:prstGeom prst="rect">
            <a:avLst/>
          </a:prstGeom>
          <a:solidFill>
            <a:srgbClr val="1C212A"/>
          </a:solidFill>
          <a:ln/>
        </p:spPr>
      </p:sp>
      <p:sp>
        <p:nvSpPr>
          <p:cNvPr id="17" name="Text 15"/>
          <p:cNvSpPr/>
          <p:nvPr/>
        </p:nvSpPr>
        <p:spPr>
          <a:xfrm>
            <a:off x="4989033"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0,171</a:t>
            </a:r>
            <a:endParaRPr lang="en-US" sz="1800" dirty="0"/>
          </a:p>
        </p:txBody>
      </p:sp>
      <p:sp>
        <p:nvSpPr>
          <p:cNvPr id="18" name="Shape 16"/>
          <p:cNvSpPr/>
          <p:nvPr/>
        </p:nvSpPr>
        <p:spPr>
          <a:xfrm>
            <a:off x="5998483" y="3627032"/>
            <a:ext cx="685644" cy="9525"/>
          </a:xfrm>
          <a:prstGeom prst="rect">
            <a:avLst/>
          </a:prstGeom>
          <a:solidFill>
            <a:srgbClr val="1C212A"/>
          </a:solidFill>
          <a:ln/>
        </p:spPr>
      </p:sp>
      <p:sp>
        <p:nvSpPr>
          <p:cNvPr id="19" name="Text 17"/>
          <p:cNvSpPr/>
          <p:nvPr/>
        </p:nvSpPr>
        <p:spPr>
          <a:xfrm>
            <a:off x="5922283"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52,55</a:t>
            </a:r>
            <a:endParaRPr lang="en-US" sz="1800" dirty="0"/>
          </a:p>
        </p:txBody>
      </p:sp>
      <p:sp>
        <p:nvSpPr>
          <p:cNvPr id="20" name="Shape 18"/>
          <p:cNvSpPr/>
          <p:nvPr/>
        </p:nvSpPr>
        <p:spPr>
          <a:xfrm>
            <a:off x="6931734" y="3627032"/>
            <a:ext cx="822751" cy="9525"/>
          </a:xfrm>
          <a:prstGeom prst="rect">
            <a:avLst/>
          </a:prstGeom>
          <a:solidFill>
            <a:srgbClr val="1C212A"/>
          </a:solidFill>
          <a:ln/>
        </p:spPr>
      </p:sp>
      <p:sp>
        <p:nvSpPr>
          <p:cNvPr id="21" name="Text 19"/>
          <p:cNvSpPr/>
          <p:nvPr/>
        </p:nvSpPr>
        <p:spPr>
          <a:xfrm>
            <a:off x="6855534" y="3187291"/>
            <a:ext cx="898951"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91,07</a:t>
            </a:r>
            <a:endParaRPr lang="en-US" sz="1800" dirty="0"/>
          </a:p>
        </p:txBody>
      </p:sp>
      <p:sp>
        <p:nvSpPr>
          <p:cNvPr id="22" name="Shape 20"/>
          <p:cNvSpPr/>
          <p:nvPr/>
        </p:nvSpPr>
        <p:spPr>
          <a:xfrm>
            <a:off x="1245391" y="4216895"/>
            <a:ext cx="3572235" cy="9525"/>
          </a:xfrm>
          <a:prstGeom prst="rect">
            <a:avLst/>
          </a:prstGeom>
          <a:solidFill>
            <a:srgbClr val="1C212A"/>
          </a:solidFill>
          <a:ln/>
        </p:spPr>
      </p:sp>
      <p:sp>
        <p:nvSpPr>
          <p:cNvPr id="23" name="Text 21"/>
          <p:cNvSpPr/>
          <p:nvPr/>
        </p:nvSpPr>
        <p:spPr>
          <a:xfrm>
            <a:off x="1245391" y="3777153"/>
            <a:ext cx="3679402"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Árbol de Decisión</a:t>
            </a:r>
            <a:endParaRPr lang="en-US" sz="1800" dirty="0"/>
          </a:p>
        </p:txBody>
      </p:sp>
      <p:sp>
        <p:nvSpPr>
          <p:cNvPr id="24" name="Shape 22"/>
          <p:cNvSpPr/>
          <p:nvPr/>
        </p:nvSpPr>
        <p:spPr>
          <a:xfrm>
            <a:off x="5065233" y="4216895"/>
            <a:ext cx="685644" cy="9525"/>
          </a:xfrm>
          <a:prstGeom prst="rect">
            <a:avLst/>
          </a:prstGeom>
          <a:solidFill>
            <a:srgbClr val="1C212A"/>
          </a:solidFill>
          <a:ln/>
        </p:spPr>
      </p:sp>
      <p:sp>
        <p:nvSpPr>
          <p:cNvPr id="25" name="Text 23"/>
          <p:cNvSpPr/>
          <p:nvPr/>
        </p:nvSpPr>
        <p:spPr>
          <a:xfrm>
            <a:off x="4989033"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0,325</a:t>
            </a:r>
            <a:endParaRPr lang="en-US" sz="1800" dirty="0"/>
          </a:p>
        </p:txBody>
      </p:sp>
      <p:sp>
        <p:nvSpPr>
          <p:cNvPr id="26" name="Shape 24"/>
          <p:cNvSpPr/>
          <p:nvPr/>
        </p:nvSpPr>
        <p:spPr>
          <a:xfrm>
            <a:off x="5998483" y="4216895"/>
            <a:ext cx="685644" cy="9525"/>
          </a:xfrm>
          <a:prstGeom prst="rect">
            <a:avLst/>
          </a:prstGeom>
          <a:solidFill>
            <a:srgbClr val="1C212A"/>
          </a:solidFill>
          <a:ln/>
        </p:spPr>
      </p:sp>
      <p:sp>
        <p:nvSpPr>
          <p:cNvPr id="27" name="Text 25"/>
          <p:cNvSpPr/>
          <p:nvPr/>
        </p:nvSpPr>
        <p:spPr>
          <a:xfrm>
            <a:off x="5922283"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40,07</a:t>
            </a:r>
            <a:endParaRPr lang="en-US" sz="1800" dirty="0"/>
          </a:p>
        </p:txBody>
      </p:sp>
      <p:sp>
        <p:nvSpPr>
          <p:cNvPr id="28" name="Shape 26"/>
          <p:cNvSpPr/>
          <p:nvPr/>
        </p:nvSpPr>
        <p:spPr>
          <a:xfrm>
            <a:off x="6931734" y="4216895"/>
            <a:ext cx="822751" cy="9525"/>
          </a:xfrm>
          <a:prstGeom prst="rect">
            <a:avLst/>
          </a:prstGeom>
          <a:solidFill>
            <a:srgbClr val="1C212A"/>
          </a:solidFill>
          <a:ln/>
        </p:spPr>
      </p:sp>
      <p:sp>
        <p:nvSpPr>
          <p:cNvPr id="29" name="Text 27"/>
          <p:cNvSpPr/>
          <p:nvPr/>
        </p:nvSpPr>
        <p:spPr>
          <a:xfrm>
            <a:off x="6855534" y="3777153"/>
            <a:ext cx="898951"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82,20</a:t>
            </a:r>
            <a:endParaRPr lang="en-US" sz="1800" dirty="0"/>
          </a:p>
        </p:txBody>
      </p:sp>
      <p:sp>
        <p:nvSpPr>
          <p:cNvPr id="30" name="Shape 28"/>
          <p:cNvSpPr/>
          <p:nvPr/>
        </p:nvSpPr>
        <p:spPr>
          <a:xfrm>
            <a:off x="1245391" y="4806757"/>
            <a:ext cx="3572235" cy="9525"/>
          </a:xfrm>
          <a:prstGeom prst="rect">
            <a:avLst/>
          </a:prstGeom>
          <a:solidFill>
            <a:srgbClr val="1C212A"/>
          </a:solidFill>
          <a:ln/>
        </p:spPr>
      </p:sp>
      <p:sp>
        <p:nvSpPr>
          <p:cNvPr id="31" name="Text 29"/>
          <p:cNvSpPr/>
          <p:nvPr/>
        </p:nvSpPr>
        <p:spPr>
          <a:xfrm>
            <a:off x="1245391" y="4367016"/>
            <a:ext cx="3679402"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KNN (K=5)</a:t>
            </a:r>
            <a:endParaRPr lang="en-US" sz="1800" dirty="0"/>
          </a:p>
        </p:txBody>
      </p:sp>
      <p:sp>
        <p:nvSpPr>
          <p:cNvPr id="32" name="Shape 30"/>
          <p:cNvSpPr/>
          <p:nvPr/>
        </p:nvSpPr>
        <p:spPr>
          <a:xfrm>
            <a:off x="5065233" y="4806757"/>
            <a:ext cx="685644" cy="9525"/>
          </a:xfrm>
          <a:prstGeom prst="rect">
            <a:avLst/>
          </a:prstGeom>
          <a:solidFill>
            <a:srgbClr val="1C212A"/>
          </a:solidFill>
          <a:ln/>
        </p:spPr>
      </p:sp>
      <p:sp>
        <p:nvSpPr>
          <p:cNvPr id="33" name="Text 31"/>
          <p:cNvSpPr/>
          <p:nvPr/>
        </p:nvSpPr>
        <p:spPr>
          <a:xfrm>
            <a:off x="4989033"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0,539</a:t>
            </a:r>
            <a:endParaRPr lang="en-US" sz="1800" dirty="0"/>
          </a:p>
        </p:txBody>
      </p:sp>
      <p:sp>
        <p:nvSpPr>
          <p:cNvPr id="34" name="Shape 32"/>
          <p:cNvSpPr/>
          <p:nvPr/>
        </p:nvSpPr>
        <p:spPr>
          <a:xfrm>
            <a:off x="5998483" y="4806757"/>
            <a:ext cx="685644" cy="9525"/>
          </a:xfrm>
          <a:prstGeom prst="rect">
            <a:avLst/>
          </a:prstGeom>
          <a:solidFill>
            <a:srgbClr val="1C212A"/>
          </a:solidFill>
          <a:ln/>
        </p:spPr>
      </p:sp>
      <p:sp>
        <p:nvSpPr>
          <p:cNvPr id="35" name="Text 33"/>
          <p:cNvSpPr/>
          <p:nvPr/>
        </p:nvSpPr>
        <p:spPr>
          <a:xfrm>
            <a:off x="5922283"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30,90</a:t>
            </a:r>
            <a:endParaRPr lang="en-US" sz="1800" dirty="0"/>
          </a:p>
        </p:txBody>
      </p:sp>
      <p:sp>
        <p:nvSpPr>
          <p:cNvPr id="36" name="Shape 34"/>
          <p:cNvSpPr/>
          <p:nvPr/>
        </p:nvSpPr>
        <p:spPr>
          <a:xfrm>
            <a:off x="6931734" y="4806757"/>
            <a:ext cx="822751" cy="9525"/>
          </a:xfrm>
          <a:prstGeom prst="rect">
            <a:avLst/>
          </a:prstGeom>
          <a:solidFill>
            <a:srgbClr val="1C212A"/>
          </a:solidFill>
          <a:ln/>
        </p:spPr>
      </p:sp>
      <p:sp>
        <p:nvSpPr>
          <p:cNvPr id="37" name="Text 35"/>
          <p:cNvSpPr/>
          <p:nvPr/>
        </p:nvSpPr>
        <p:spPr>
          <a:xfrm>
            <a:off x="6855534" y="4367016"/>
            <a:ext cx="898951"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67,89</a:t>
            </a:r>
            <a:endParaRPr lang="en-US" sz="1800" dirty="0"/>
          </a:p>
        </p:txBody>
      </p:sp>
      <p:sp>
        <p:nvSpPr>
          <p:cNvPr id="38" name="Shape 36"/>
          <p:cNvSpPr/>
          <p:nvPr/>
        </p:nvSpPr>
        <p:spPr>
          <a:xfrm>
            <a:off x="1245391" y="4814003"/>
            <a:ext cx="3572235" cy="589863"/>
          </a:xfrm>
          <a:prstGeom prst="rect">
            <a:avLst/>
          </a:prstGeom>
          <a:solidFill>
            <a:srgbClr val="1A2A1E"/>
          </a:solidFill>
          <a:ln/>
        </p:spPr>
      </p:sp>
      <p:sp>
        <p:nvSpPr>
          <p:cNvPr id="39" name="Shape 37"/>
          <p:cNvSpPr/>
          <p:nvPr/>
        </p:nvSpPr>
        <p:spPr>
          <a:xfrm>
            <a:off x="1245391" y="5396620"/>
            <a:ext cx="3572235" cy="9525"/>
          </a:xfrm>
          <a:prstGeom prst="rect">
            <a:avLst/>
          </a:prstGeom>
          <a:solidFill>
            <a:srgbClr val="1C212A"/>
          </a:solidFill>
          <a:ln/>
        </p:spPr>
      </p:sp>
      <p:sp>
        <p:nvSpPr>
          <p:cNvPr id="40" name="Text 38"/>
          <p:cNvSpPr/>
          <p:nvPr/>
        </p:nvSpPr>
        <p:spPr>
          <a:xfrm>
            <a:off x="1245391" y="4956878"/>
            <a:ext cx="3679402" cy="334967"/>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Random Forest</a:t>
            </a:r>
            <a:endParaRPr lang="en-US" sz="1800" dirty="0"/>
          </a:p>
        </p:txBody>
      </p:sp>
      <p:sp>
        <p:nvSpPr>
          <p:cNvPr id="41" name="Shape 39"/>
          <p:cNvSpPr/>
          <p:nvPr/>
        </p:nvSpPr>
        <p:spPr>
          <a:xfrm>
            <a:off x="5065233" y="4814003"/>
            <a:ext cx="685644" cy="589863"/>
          </a:xfrm>
          <a:prstGeom prst="rect">
            <a:avLst/>
          </a:prstGeom>
          <a:solidFill>
            <a:srgbClr val="1A2A1E"/>
          </a:solidFill>
          <a:ln/>
        </p:spPr>
      </p:sp>
      <p:sp>
        <p:nvSpPr>
          <p:cNvPr id="42" name="Shape 40"/>
          <p:cNvSpPr/>
          <p:nvPr/>
        </p:nvSpPr>
        <p:spPr>
          <a:xfrm>
            <a:off x="5065233" y="5396620"/>
            <a:ext cx="685644" cy="9525"/>
          </a:xfrm>
          <a:prstGeom prst="rect">
            <a:avLst/>
          </a:prstGeom>
          <a:solidFill>
            <a:srgbClr val="1C212A"/>
          </a:solidFill>
          <a:ln/>
        </p:spPr>
      </p:sp>
      <p:sp>
        <p:nvSpPr>
          <p:cNvPr id="43" name="Text 41"/>
          <p:cNvSpPr/>
          <p:nvPr/>
        </p:nvSpPr>
        <p:spPr>
          <a:xfrm>
            <a:off x="4989033"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0,567</a:t>
            </a:r>
            <a:endParaRPr lang="en-US" sz="1800" dirty="0"/>
          </a:p>
        </p:txBody>
      </p:sp>
      <p:sp>
        <p:nvSpPr>
          <p:cNvPr id="44" name="Shape 42"/>
          <p:cNvSpPr/>
          <p:nvPr/>
        </p:nvSpPr>
        <p:spPr>
          <a:xfrm>
            <a:off x="5998483" y="4814003"/>
            <a:ext cx="685644" cy="589863"/>
          </a:xfrm>
          <a:prstGeom prst="rect">
            <a:avLst/>
          </a:prstGeom>
          <a:solidFill>
            <a:srgbClr val="1A2A1E"/>
          </a:solidFill>
          <a:ln/>
        </p:spPr>
      </p:sp>
      <p:sp>
        <p:nvSpPr>
          <p:cNvPr id="45" name="Shape 43"/>
          <p:cNvSpPr/>
          <p:nvPr/>
        </p:nvSpPr>
        <p:spPr>
          <a:xfrm>
            <a:off x="5998483" y="5396620"/>
            <a:ext cx="685644" cy="9525"/>
          </a:xfrm>
          <a:prstGeom prst="rect">
            <a:avLst/>
          </a:prstGeom>
          <a:solidFill>
            <a:srgbClr val="1C212A"/>
          </a:solidFill>
          <a:ln/>
        </p:spPr>
      </p:sp>
      <p:sp>
        <p:nvSpPr>
          <p:cNvPr id="46" name="Text 44"/>
          <p:cNvSpPr/>
          <p:nvPr/>
        </p:nvSpPr>
        <p:spPr>
          <a:xfrm>
            <a:off x="5922283"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30,73</a:t>
            </a:r>
            <a:endParaRPr lang="en-US" sz="1800" dirty="0"/>
          </a:p>
        </p:txBody>
      </p:sp>
      <p:sp>
        <p:nvSpPr>
          <p:cNvPr id="47" name="Shape 45"/>
          <p:cNvSpPr/>
          <p:nvPr/>
        </p:nvSpPr>
        <p:spPr>
          <a:xfrm>
            <a:off x="6931734" y="4814003"/>
            <a:ext cx="822751" cy="589863"/>
          </a:xfrm>
          <a:prstGeom prst="rect">
            <a:avLst/>
          </a:prstGeom>
          <a:solidFill>
            <a:srgbClr val="1A2A1E"/>
          </a:solidFill>
          <a:ln/>
        </p:spPr>
      </p:sp>
      <p:sp>
        <p:nvSpPr>
          <p:cNvPr id="48" name="Shape 46"/>
          <p:cNvSpPr/>
          <p:nvPr/>
        </p:nvSpPr>
        <p:spPr>
          <a:xfrm>
            <a:off x="6931734" y="5396620"/>
            <a:ext cx="822751" cy="9525"/>
          </a:xfrm>
          <a:prstGeom prst="rect">
            <a:avLst/>
          </a:prstGeom>
          <a:solidFill>
            <a:srgbClr val="1C212A"/>
          </a:solidFill>
          <a:ln/>
        </p:spPr>
      </p:sp>
      <p:sp>
        <p:nvSpPr>
          <p:cNvPr id="49" name="Text 47"/>
          <p:cNvSpPr/>
          <p:nvPr/>
        </p:nvSpPr>
        <p:spPr>
          <a:xfrm>
            <a:off x="6855534" y="4956878"/>
            <a:ext cx="898951"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65,83</a:t>
            </a:r>
            <a:endParaRPr lang="en-US" sz="1800" dirty="0"/>
          </a:p>
        </p:txBody>
      </p:sp>
      <p:sp>
        <p:nvSpPr>
          <p:cNvPr id="50" name="Text 48"/>
          <p:cNvSpPr/>
          <p:nvPr/>
        </p:nvSpPr>
        <p:spPr>
          <a:xfrm>
            <a:off x="1245391" y="5546741"/>
            <a:ext cx="3679402" cy="334967"/>
          </a:xfrm>
          <a:prstGeom prst="rect">
            <a:avLst/>
          </a:prstGeom>
          <a:noFill/>
          <a:ln/>
        </p:spPr>
        <p:txBody>
          <a:bodyPr wrap="square" lIns="25400" tIns="25400" rIns="25400" bIns="25400" rtlCol="0" anchor="t">
            <a:normAutofit/>
          </a:bodyPr>
          <a:lstStyle/>
          <a:p>
            <a:pPr algn="l" indent="0" marL="0">
              <a:buNone/>
            </a:pPr>
            <a:r>
              <a:rPr lang="en-US" sz="1800" dirty="0">
                <a:solidFill>
                  <a:srgbClr val="6F7787"/>
                </a:solidFill>
                <a:latin typeface="Arial" pitchFamily="34" charset="0"/>
                <a:ea typeface="Arial" pitchFamily="34" charset="-122"/>
                <a:cs typeface="Arial" pitchFamily="34" charset="-120"/>
              </a:rPr>
              <a:t>Línea base · la media</a:t>
            </a:r>
            <a:endParaRPr lang="en-US" sz="1800" dirty="0"/>
          </a:p>
        </p:txBody>
      </p:sp>
      <p:sp>
        <p:nvSpPr>
          <p:cNvPr id="51" name="Text 49"/>
          <p:cNvSpPr/>
          <p:nvPr/>
        </p:nvSpPr>
        <p:spPr>
          <a:xfrm>
            <a:off x="4989033"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0,000</a:t>
            </a:r>
            <a:endParaRPr lang="en-US" sz="1800" dirty="0"/>
          </a:p>
        </p:txBody>
      </p:sp>
      <p:sp>
        <p:nvSpPr>
          <p:cNvPr id="52" name="Text 50"/>
          <p:cNvSpPr/>
          <p:nvPr/>
        </p:nvSpPr>
        <p:spPr>
          <a:xfrm>
            <a:off x="5922283"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59,87</a:t>
            </a:r>
            <a:endParaRPr lang="en-US" sz="1800" dirty="0"/>
          </a:p>
        </p:txBody>
      </p:sp>
      <p:sp>
        <p:nvSpPr>
          <p:cNvPr id="53" name="Text 51"/>
          <p:cNvSpPr/>
          <p:nvPr/>
        </p:nvSpPr>
        <p:spPr>
          <a:xfrm>
            <a:off x="6855534" y="5546741"/>
            <a:ext cx="898951"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100,04</a:t>
            </a:r>
            <a:endParaRPr lang="en-US" sz="1800" dirty="0"/>
          </a:p>
        </p:txBody>
      </p:sp>
      <p:sp>
        <p:nvSpPr>
          <p:cNvPr id="54" name="Shape 52"/>
          <p:cNvSpPr/>
          <p:nvPr/>
        </p:nvSpPr>
        <p:spPr>
          <a:xfrm>
            <a:off x="8409334" y="1952207"/>
            <a:ext cx="8964213" cy="4936165"/>
          </a:xfrm>
          <a:prstGeom prst="roundRect">
            <a:avLst>
              <a:gd name="adj" fmla="val 2316"/>
            </a:avLst>
          </a:prstGeom>
          <a:solidFill>
            <a:srgbClr val="151920"/>
          </a:solidFill>
          <a:ln w="7246">
            <a:solidFill>
              <a:srgbClr val="232833"/>
            </a:solidFill>
            <a:prstDash val="solid"/>
          </a:ln>
        </p:spPr>
      </p:sp>
      <p:sp>
        <p:nvSpPr>
          <p:cNvPr id="55" name="Text 53"/>
          <p:cNvSpPr/>
          <p:nvPr/>
        </p:nvSpPr>
        <p:spPr>
          <a:xfrm>
            <a:off x="8740382" y="2264234"/>
            <a:ext cx="9132329" cy="248231"/>
          </a:xfrm>
          <a:prstGeom prst="rect">
            <a:avLst/>
          </a:prstGeom>
          <a:noFill/>
          <a:ln/>
        </p:spPr>
        <p:txBody>
          <a:bodyPr wrap="square" lIns="25400" tIns="25400" rIns="25400" bIns="25400" rtlCol="0" anchor="t">
            <a:normAutofit/>
          </a:bodyPr>
          <a:lstStyle/>
          <a:p>
            <a:pPr algn="l" indent="0" marL="0">
              <a:buNone/>
            </a:pPr>
            <a:r>
              <a:rPr lang="en-US" sz="1275" spc="83" kern="0" dirty="0">
                <a:solidFill>
                  <a:srgbClr val="6F7787"/>
                </a:solidFill>
                <a:latin typeface="Courier New" pitchFamily="34" charset="0"/>
                <a:ea typeface="Courier New" pitchFamily="34" charset="-122"/>
                <a:cs typeface="Courier New" pitchFamily="34" charset="-120"/>
              </a:rPr>
              <a:t>CLASIFICACIÓN · CONSUMO ANÓMALO &gt; 200 Wh</a:t>
            </a:r>
            <a:endParaRPr lang="en-US" sz="1275" dirty="0"/>
          </a:p>
        </p:txBody>
      </p:sp>
      <p:sp>
        <p:nvSpPr>
          <p:cNvPr id="56" name="Shape 54"/>
          <p:cNvSpPr/>
          <p:nvPr/>
        </p:nvSpPr>
        <p:spPr>
          <a:xfrm>
            <a:off x="8740382" y="3037170"/>
            <a:ext cx="3730966" cy="9525"/>
          </a:xfrm>
          <a:prstGeom prst="rect">
            <a:avLst/>
          </a:prstGeom>
          <a:solidFill>
            <a:srgbClr val="2C323E"/>
          </a:solidFill>
          <a:ln/>
        </p:spPr>
      </p:sp>
      <p:sp>
        <p:nvSpPr>
          <p:cNvPr id="57" name="Text 55"/>
          <p:cNvSpPr/>
          <p:nvPr/>
        </p:nvSpPr>
        <p:spPr>
          <a:xfrm>
            <a:off x="8740382" y="2683818"/>
            <a:ext cx="3842895" cy="277151"/>
          </a:xfrm>
          <a:prstGeom prst="rect">
            <a:avLst/>
          </a:prstGeom>
          <a:noFill/>
          <a:ln/>
        </p:spPr>
        <p:txBody>
          <a:bodyPr wrap="square" lIns="25400" tIns="25400" rIns="25400" bIns="25400" rtlCol="0" anchor="t">
            <a:normAutofit/>
          </a:bodyPr>
          <a:lstStyle/>
          <a:p>
            <a:pPr algn="l" indent="0" marL="0">
              <a:buNone/>
            </a:pPr>
            <a:r>
              <a:rPr lang="en-US" sz="1425" dirty="0">
                <a:solidFill>
                  <a:srgbClr val="6F7787"/>
                </a:solidFill>
                <a:latin typeface="Courier New" pitchFamily="34" charset="0"/>
                <a:ea typeface="Courier New" pitchFamily="34" charset="-122"/>
                <a:cs typeface="Courier New" pitchFamily="34" charset="-120"/>
              </a:rPr>
              <a:t>MODELO</a:t>
            </a:r>
            <a:endParaRPr lang="en-US" sz="1425" dirty="0"/>
          </a:p>
        </p:txBody>
      </p:sp>
      <p:sp>
        <p:nvSpPr>
          <p:cNvPr id="58" name="Shape 56"/>
          <p:cNvSpPr/>
          <p:nvPr/>
        </p:nvSpPr>
        <p:spPr>
          <a:xfrm>
            <a:off x="12699934" y="3037170"/>
            <a:ext cx="685644" cy="9525"/>
          </a:xfrm>
          <a:prstGeom prst="rect">
            <a:avLst/>
          </a:prstGeom>
          <a:solidFill>
            <a:srgbClr val="2C323E"/>
          </a:solidFill>
          <a:ln/>
        </p:spPr>
      </p:sp>
      <p:sp>
        <p:nvSpPr>
          <p:cNvPr id="59" name="Text 57"/>
          <p:cNvSpPr/>
          <p:nvPr/>
        </p:nvSpPr>
        <p:spPr>
          <a:xfrm>
            <a:off x="12623734"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ACC</a:t>
            </a:r>
            <a:endParaRPr lang="en-US" sz="1425" dirty="0"/>
          </a:p>
        </p:txBody>
      </p:sp>
      <p:sp>
        <p:nvSpPr>
          <p:cNvPr id="60" name="Shape 58"/>
          <p:cNvSpPr/>
          <p:nvPr/>
        </p:nvSpPr>
        <p:spPr>
          <a:xfrm>
            <a:off x="13614164" y="3037170"/>
            <a:ext cx="685644" cy="9525"/>
          </a:xfrm>
          <a:prstGeom prst="rect">
            <a:avLst/>
          </a:prstGeom>
          <a:solidFill>
            <a:srgbClr val="2C323E"/>
          </a:solidFill>
          <a:ln/>
        </p:spPr>
      </p:sp>
      <p:sp>
        <p:nvSpPr>
          <p:cNvPr id="61" name="Text 59"/>
          <p:cNvSpPr/>
          <p:nvPr/>
        </p:nvSpPr>
        <p:spPr>
          <a:xfrm>
            <a:off x="13537964"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PREC</a:t>
            </a:r>
            <a:endParaRPr lang="en-US" sz="1425" dirty="0"/>
          </a:p>
        </p:txBody>
      </p:sp>
      <p:sp>
        <p:nvSpPr>
          <p:cNvPr id="62" name="Shape 60"/>
          <p:cNvSpPr/>
          <p:nvPr/>
        </p:nvSpPr>
        <p:spPr>
          <a:xfrm>
            <a:off x="14528395" y="3037170"/>
            <a:ext cx="685644" cy="9525"/>
          </a:xfrm>
          <a:prstGeom prst="rect">
            <a:avLst/>
          </a:prstGeom>
          <a:solidFill>
            <a:srgbClr val="2C323E"/>
          </a:solidFill>
          <a:ln/>
        </p:spPr>
      </p:sp>
      <p:sp>
        <p:nvSpPr>
          <p:cNvPr id="63" name="Text 61"/>
          <p:cNvSpPr/>
          <p:nvPr/>
        </p:nvSpPr>
        <p:spPr>
          <a:xfrm>
            <a:off x="14452195"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RECALL</a:t>
            </a:r>
            <a:endParaRPr lang="en-US" sz="1425" dirty="0"/>
          </a:p>
        </p:txBody>
      </p:sp>
      <p:sp>
        <p:nvSpPr>
          <p:cNvPr id="64" name="Shape 62"/>
          <p:cNvSpPr/>
          <p:nvPr/>
        </p:nvSpPr>
        <p:spPr>
          <a:xfrm>
            <a:off x="15442625" y="3037170"/>
            <a:ext cx="685644" cy="9525"/>
          </a:xfrm>
          <a:prstGeom prst="rect">
            <a:avLst/>
          </a:prstGeom>
          <a:solidFill>
            <a:srgbClr val="2C323E"/>
          </a:solidFill>
          <a:ln/>
        </p:spPr>
      </p:sp>
      <p:sp>
        <p:nvSpPr>
          <p:cNvPr id="65" name="Text 63"/>
          <p:cNvSpPr/>
          <p:nvPr/>
        </p:nvSpPr>
        <p:spPr>
          <a:xfrm>
            <a:off x="15366425"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F1</a:t>
            </a:r>
            <a:endParaRPr lang="en-US" sz="1425" dirty="0"/>
          </a:p>
        </p:txBody>
      </p:sp>
      <p:sp>
        <p:nvSpPr>
          <p:cNvPr id="66" name="Shape 64"/>
          <p:cNvSpPr/>
          <p:nvPr/>
        </p:nvSpPr>
        <p:spPr>
          <a:xfrm>
            <a:off x="16356855" y="3037170"/>
            <a:ext cx="685644" cy="9525"/>
          </a:xfrm>
          <a:prstGeom prst="rect">
            <a:avLst/>
          </a:prstGeom>
          <a:solidFill>
            <a:srgbClr val="2C323E"/>
          </a:solidFill>
          <a:ln/>
        </p:spPr>
      </p:sp>
      <p:sp>
        <p:nvSpPr>
          <p:cNvPr id="67" name="Text 65"/>
          <p:cNvSpPr/>
          <p:nvPr/>
        </p:nvSpPr>
        <p:spPr>
          <a:xfrm>
            <a:off x="16280655" y="2683818"/>
            <a:ext cx="761844" cy="277151"/>
          </a:xfrm>
          <a:prstGeom prst="rect">
            <a:avLst/>
          </a:prstGeom>
          <a:noFill/>
          <a:ln/>
        </p:spPr>
        <p:txBody>
          <a:bodyPr wrap="square" lIns="25400" tIns="25400" rIns="25400" bIns="25400" rtlCol="0" anchor="t">
            <a:normAutofit/>
          </a:bodyPr>
          <a:lstStyle/>
          <a:p>
            <a:pPr algn="r" indent="0" marL="0">
              <a:buNone/>
            </a:pPr>
            <a:r>
              <a:rPr lang="en-US" sz="1425" dirty="0">
                <a:solidFill>
                  <a:srgbClr val="6F7787"/>
                </a:solidFill>
                <a:latin typeface="Courier New" pitchFamily="34" charset="0"/>
                <a:ea typeface="Courier New" pitchFamily="34" charset="-122"/>
                <a:cs typeface="Courier New" pitchFamily="34" charset="-120"/>
              </a:rPr>
              <a:t>AUC</a:t>
            </a:r>
            <a:endParaRPr lang="en-US" sz="1425" dirty="0"/>
          </a:p>
        </p:txBody>
      </p:sp>
      <p:sp>
        <p:nvSpPr>
          <p:cNvPr id="68" name="Shape 66"/>
          <p:cNvSpPr/>
          <p:nvPr/>
        </p:nvSpPr>
        <p:spPr>
          <a:xfrm>
            <a:off x="8740382" y="3627032"/>
            <a:ext cx="3730966" cy="9525"/>
          </a:xfrm>
          <a:prstGeom prst="rect">
            <a:avLst/>
          </a:prstGeom>
          <a:solidFill>
            <a:srgbClr val="1C212A"/>
          </a:solidFill>
          <a:ln/>
        </p:spPr>
      </p:sp>
      <p:sp>
        <p:nvSpPr>
          <p:cNvPr id="69" name="Text 67"/>
          <p:cNvSpPr/>
          <p:nvPr/>
        </p:nvSpPr>
        <p:spPr>
          <a:xfrm>
            <a:off x="8740382" y="3187291"/>
            <a:ext cx="3842895"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Árbol de Decisión</a:t>
            </a:r>
            <a:endParaRPr lang="en-US" sz="1800" dirty="0"/>
          </a:p>
        </p:txBody>
      </p:sp>
      <p:sp>
        <p:nvSpPr>
          <p:cNvPr id="70" name="Shape 68"/>
          <p:cNvSpPr/>
          <p:nvPr/>
        </p:nvSpPr>
        <p:spPr>
          <a:xfrm>
            <a:off x="12699934" y="3627032"/>
            <a:ext cx="685644" cy="9525"/>
          </a:xfrm>
          <a:prstGeom prst="rect">
            <a:avLst/>
          </a:prstGeom>
          <a:solidFill>
            <a:srgbClr val="1C212A"/>
          </a:solidFill>
          <a:ln/>
        </p:spPr>
      </p:sp>
      <p:sp>
        <p:nvSpPr>
          <p:cNvPr id="71" name="Text 69"/>
          <p:cNvSpPr/>
          <p:nvPr/>
        </p:nvSpPr>
        <p:spPr>
          <a:xfrm>
            <a:off x="12623734"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0,914</a:t>
            </a:r>
            <a:endParaRPr lang="en-US" sz="1800" dirty="0"/>
          </a:p>
        </p:txBody>
      </p:sp>
      <p:sp>
        <p:nvSpPr>
          <p:cNvPr id="72" name="Shape 70"/>
          <p:cNvSpPr/>
          <p:nvPr/>
        </p:nvSpPr>
        <p:spPr>
          <a:xfrm>
            <a:off x="13614164" y="3627032"/>
            <a:ext cx="685644" cy="9525"/>
          </a:xfrm>
          <a:prstGeom prst="rect">
            <a:avLst/>
          </a:prstGeom>
          <a:solidFill>
            <a:srgbClr val="1C212A"/>
          </a:solidFill>
          <a:ln/>
        </p:spPr>
      </p:sp>
      <p:sp>
        <p:nvSpPr>
          <p:cNvPr id="73" name="Text 71"/>
          <p:cNvSpPr/>
          <p:nvPr/>
        </p:nvSpPr>
        <p:spPr>
          <a:xfrm>
            <a:off x="13537964"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0,580</a:t>
            </a:r>
            <a:endParaRPr lang="en-US" sz="1800" dirty="0"/>
          </a:p>
        </p:txBody>
      </p:sp>
      <p:sp>
        <p:nvSpPr>
          <p:cNvPr id="74" name="Shape 72"/>
          <p:cNvSpPr/>
          <p:nvPr/>
        </p:nvSpPr>
        <p:spPr>
          <a:xfrm>
            <a:off x="14528395" y="3627032"/>
            <a:ext cx="685644" cy="9525"/>
          </a:xfrm>
          <a:prstGeom prst="rect">
            <a:avLst/>
          </a:prstGeom>
          <a:solidFill>
            <a:srgbClr val="1C212A"/>
          </a:solidFill>
          <a:ln/>
        </p:spPr>
      </p:sp>
      <p:sp>
        <p:nvSpPr>
          <p:cNvPr id="75" name="Text 73"/>
          <p:cNvSpPr/>
          <p:nvPr/>
        </p:nvSpPr>
        <p:spPr>
          <a:xfrm>
            <a:off x="14452195"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0,383</a:t>
            </a:r>
            <a:endParaRPr lang="en-US" sz="1800" dirty="0"/>
          </a:p>
        </p:txBody>
      </p:sp>
      <p:sp>
        <p:nvSpPr>
          <p:cNvPr id="76" name="Shape 74"/>
          <p:cNvSpPr/>
          <p:nvPr/>
        </p:nvSpPr>
        <p:spPr>
          <a:xfrm>
            <a:off x="15442625" y="3627032"/>
            <a:ext cx="685644" cy="9525"/>
          </a:xfrm>
          <a:prstGeom prst="rect">
            <a:avLst/>
          </a:prstGeom>
          <a:solidFill>
            <a:srgbClr val="1C212A"/>
          </a:solidFill>
          <a:ln/>
        </p:spPr>
      </p:sp>
      <p:sp>
        <p:nvSpPr>
          <p:cNvPr id="77" name="Text 75"/>
          <p:cNvSpPr/>
          <p:nvPr/>
        </p:nvSpPr>
        <p:spPr>
          <a:xfrm>
            <a:off x="15366425"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0,461</a:t>
            </a:r>
            <a:endParaRPr lang="en-US" sz="1800" dirty="0"/>
          </a:p>
        </p:txBody>
      </p:sp>
      <p:sp>
        <p:nvSpPr>
          <p:cNvPr id="78" name="Shape 76"/>
          <p:cNvSpPr/>
          <p:nvPr/>
        </p:nvSpPr>
        <p:spPr>
          <a:xfrm>
            <a:off x="16356855" y="3627032"/>
            <a:ext cx="685644" cy="9525"/>
          </a:xfrm>
          <a:prstGeom prst="rect">
            <a:avLst/>
          </a:prstGeom>
          <a:solidFill>
            <a:srgbClr val="1C212A"/>
          </a:solidFill>
          <a:ln/>
        </p:spPr>
      </p:sp>
      <p:sp>
        <p:nvSpPr>
          <p:cNvPr id="79" name="Text 77"/>
          <p:cNvSpPr/>
          <p:nvPr/>
        </p:nvSpPr>
        <p:spPr>
          <a:xfrm>
            <a:off x="16280655" y="318729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0,861</a:t>
            </a:r>
            <a:endParaRPr lang="en-US" sz="1800" dirty="0"/>
          </a:p>
        </p:txBody>
      </p:sp>
      <p:sp>
        <p:nvSpPr>
          <p:cNvPr id="80" name="Shape 78"/>
          <p:cNvSpPr/>
          <p:nvPr/>
        </p:nvSpPr>
        <p:spPr>
          <a:xfrm>
            <a:off x="8740382" y="4216895"/>
            <a:ext cx="3730966" cy="9525"/>
          </a:xfrm>
          <a:prstGeom prst="rect">
            <a:avLst/>
          </a:prstGeom>
          <a:solidFill>
            <a:srgbClr val="1C212A"/>
          </a:solidFill>
          <a:ln/>
        </p:spPr>
      </p:sp>
      <p:sp>
        <p:nvSpPr>
          <p:cNvPr id="81" name="Text 79"/>
          <p:cNvSpPr/>
          <p:nvPr/>
        </p:nvSpPr>
        <p:spPr>
          <a:xfrm>
            <a:off x="8740382" y="3777153"/>
            <a:ext cx="3842895"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KNN (K=3)</a:t>
            </a:r>
            <a:endParaRPr lang="en-US" sz="1800" dirty="0"/>
          </a:p>
        </p:txBody>
      </p:sp>
      <p:sp>
        <p:nvSpPr>
          <p:cNvPr id="82" name="Shape 80"/>
          <p:cNvSpPr/>
          <p:nvPr/>
        </p:nvSpPr>
        <p:spPr>
          <a:xfrm>
            <a:off x="12699934" y="4216895"/>
            <a:ext cx="685644" cy="9525"/>
          </a:xfrm>
          <a:prstGeom prst="rect">
            <a:avLst/>
          </a:prstGeom>
          <a:solidFill>
            <a:srgbClr val="1C212A"/>
          </a:solidFill>
          <a:ln/>
        </p:spPr>
      </p:sp>
      <p:sp>
        <p:nvSpPr>
          <p:cNvPr id="83" name="Text 81"/>
          <p:cNvSpPr/>
          <p:nvPr/>
        </p:nvSpPr>
        <p:spPr>
          <a:xfrm>
            <a:off x="12623734"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0,938</a:t>
            </a:r>
            <a:endParaRPr lang="en-US" sz="1800" dirty="0"/>
          </a:p>
        </p:txBody>
      </p:sp>
      <p:sp>
        <p:nvSpPr>
          <p:cNvPr id="84" name="Shape 82"/>
          <p:cNvSpPr/>
          <p:nvPr/>
        </p:nvSpPr>
        <p:spPr>
          <a:xfrm>
            <a:off x="13614164" y="4216895"/>
            <a:ext cx="685644" cy="9525"/>
          </a:xfrm>
          <a:prstGeom prst="rect">
            <a:avLst/>
          </a:prstGeom>
          <a:solidFill>
            <a:srgbClr val="1C212A"/>
          </a:solidFill>
          <a:ln/>
        </p:spPr>
      </p:sp>
      <p:sp>
        <p:nvSpPr>
          <p:cNvPr id="85" name="Text 83"/>
          <p:cNvSpPr/>
          <p:nvPr/>
        </p:nvSpPr>
        <p:spPr>
          <a:xfrm>
            <a:off x="13537964"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0,727</a:t>
            </a:r>
            <a:endParaRPr lang="en-US" sz="1800" dirty="0"/>
          </a:p>
        </p:txBody>
      </p:sp>
      <p:sp>
        <p:nvSpPr>
          <p:cNvPr id="86" name="Shape 84"/>
          <p:cNvSpPr/>
          <p:nvPr/>
        </p:nvSpPr>
        <p:spPr>
          <a:xfrm>
            <a:off x="14528395" y="4216895"/>
            <a:ext cx="685644" cy="9525"/>
          </a:xfrm>
          <a:prstGeom prst="rect">
            <a:avLst/>
          </a:prstGeom>
          <a:solidFill>
            <a:srgbClr val="1C212A"/>
          </a:solidFill>
          <a:ln/>
        </p:spPr>
      </p:sp>
      <p:sp>
        <p:nvSpPr>
          <p:cNvPr id="87" name="Text 85"/>
          <p:cNvSpPr/>
          <p:nvPr/>
        </p:nvSpPr>
        <p:spPr>
          <a:xfrm>
            <a:off x="14452195"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0,562</a:t>
            </a:r>
            <a:endParaRPr lang="en-US" sz="1800" dirty="0"/>
          </a:p>
        </p:txBody>
      </p:sp>
      <p:sp>
        <p:nvSpPr>
          <p:cNvPr id="88" name="Shape 86"/>
          <p:cNvSpPr/>
          <p:nvPr/>
        </p:nvSpPr>
        <p:spPr>
          <a:xfrm>
            <a:off x="15442625" y="4216895"/>
            <a:ext cx="685644" cy="9525"/>
          </a:xfrm>
          <a:prstGeom prst="rect">
            <a:avLst/>
          </a:prstGeom>
          <a:solidFill>
            <a:srgbClr val="1C212A"/>
          </a:solidFill>
          <a:ln/>
        </p:spPr>
      </p:sp>
      <p:sp>
        <p:nvSpPr>
          <p:cNvPr id="89" name="Text 87"/>
          <p:cNvSpPr/>
          <p:nvPr/>
        </p:nvSpPr>
        <p:spPr>
          <a:xfrm>
            <a:off x="15366425"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0,634</a:t>
            </a:r>
            <a:endParaRPr lang="en-US" sz="1800" dirty="0"/>
          </a:p>
        </p:txBody>
      </p:sp>
      <p:sp>
        <p:nvSpPr>
          <p:cNvPr id="90" name="Shape 88"/>
          <p:cNvSpPr/>
          <p:nvPr/>
        </p:nvSpPr>
        <p:spPr>
          <a:xfrm>
            <a:off x="16356855" y="4216895"/>
            <a:ext cx="685644" cy="9525"/>
          </a:xfrm>
          <a:prstGeom prst="rect">
            <a:avLst/>
          </a:prstGeom>
          <a:solidFill>
            <a:srgbClr val="1C212A"/>
          </a:solidFill>
          <a:ln/>
        </p:spPr>
      </p:sp>
      <p:sp>
        <p:nvSpPr>
          <p:cNvPr id="91" name="Text 89"/>
          <p:cNvSpPr/>
          <p:nvPr/>
        </p:nvSpPr>
        <p:spPr>
          <a:xfrm>
            <a:off x="16280655" y="377715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0,903</a:t>
            </a:r>
            <a:endParaRPr lang="en-US" sz="1800" dirty="0"/>
          </a:p>
        </p:txBody>
      </p:sp>
      <p:sp>
        <p:nvSpPr>
          <p:cNvPr id="92" name="Shape 90"/>
          <p:cNvSpPr/>
          <p:nvPr/>
        </p:nvSpPr>
        <p:spPr>
          <a:xfrm>
            <a:off x="8740382" y="4224141"/>
            <a:ext cx="3730966" cy="589863"/>
          </a:xfrm>
          <a:prstGeom prst="rect">
            <a:avLst/>
          </a:prstGeom>
          <a:solidFill>
            <a:srgbClr val="1A2A1E"/>
          </a:solidFill>
          <a:ln/>
        </p:spPr>
      </p:sp>
      <p:sp>
        <p:nvSpPr>
          <p:cNvPr id="93" name="Shape 91"/>
          <p:cNvSpPr/>
          <p:nvPr/>
        </p:nvSpPr>
        <p:spPr>
          <a:xfrm>
            <a:off x="8740382" y="4806757"/>
            <a:ext cx="3730966" cy="9525"/>
          </a:xfrm>
          <a:prstGeom prst="rect">
            <a:avLst/>
          </a:prstGeom>
          <a:solidFill>
            <a:srgbClr val="1C212A"/>
          </a:solidFill>
          <a:ln/>
        </p:spPr>
      </p:sp>
      <p:sp>
        <p:nvSpPr>
          <p:cNvPr id="94" name="Text 92"/>
          <p:cNvSpPr/>
          <p:nvPr/>
        </p:nvSpPr>
        <p:spPr>
          <a:xfrm>
            <a:off x="8740382" y="4367016"/>
            <a:ext cx="3842895" cy="334967"/>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Random Forest</a:t>
            </a:r>
            <a:endParaRPr lang="en-US" sz="1800" dirty="0"/>
          </a:p>
        </p:txBody>
      </p:sp>
      <p:sp>
        <p:nvSpPr>
          <p:cNvPr id="95" name="Shape 93"/>
          <p:cNvSpPr/>
          <p:nvPr/>
        </p:nvSpPr>
        <p:spPr>
          <a:xfrm>
            <a:off x="12699934" y="4224141"/>
            <a:ext cx="685644" cy="589863"/>
          </a:xfrm>
          <a:prstGeom prst="rect">
            <a:avLst/>
          </a:prstGeom>
          <a:solidFill>
            <a:srgbClr val="1A2A1E"/>
          </a:solidFill>
          <a:ln/>
        </p:spPr>
      </p:sp>
      <p:sp>
        <p:nvSpPr>
          <p:cNvPr id="96" name="Shape 94"/>
          <p:cNvSpPr/>
          <p:nvPr/>
        </p:nvSpPr>
        <p:spPr>
          <a:xfrm>
            <a:off x="12699934" y="4806757"/>
            <a:ext cx="685644" cy="9525"/>
          </a:xfrm>
          <a:prstGeom prst="rect">
            <a:avLst/>
          </a:prstGeom>
          <a:solidFill>
            <a:srgbClr val="1C212A"/>
          </a:solidFill>
          <a:ln/>
        </p:spPr>
      </p:sp>
      <p:sp>
        <p:nvSpPr>
          <p:cNvPr id="97" name="Text 95"/>
          <p:cNvSpPr/>
          <p:nvPr/>
        </p:nvSpPr>
        <p:spPr>
          <a:xfrm>
            <a:off x="12623734"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0,944</a:t>
            </a:r>
            <a:endParaRPr lang="en-US" sz="1800" dirty="0"/>
          </a:p>
        </p:txBody>
      </p:sp>
      <p:sp>
        <p:nvSpPr>
          <p:cNvPr id="98" name="Shape 96"/>
          <p:cNvSpPr/>
          <p:nvPr/>
        </p:nvSpPr>
        <p:spPr>
          <a:xfrm>
            <a:off x="13614164" y="4224141"/>
            <a:ext cx="685644" cy="589863"/>
          </a:xfrm>
          <a:prstGeom prst="rect">
            <a:avLst/>
          </a:prstGeom>
          <a:solidFill>
            <a:srgbClr val="1A2A1E"/>
          </a:solidFill>
          <a:ln/>
        </p:spPr>
      </p:sp>
      <p:sp>
        <p:nvSpPr>
          <p:cNvPr id="99" name="Shape 97"/>
          <p:cNvSpPr/>
          <p:nvPr/>
        </p:nvSpPr>
        <p:spPr>
          <a:xfrm>
            <a:off x="13614164" y="4806757"/>
            <a:ext cx="685644" cy="9525"/>
          </a:xfrm>
          <a:prstGeom prst="rect">
            <a:avLst/>
          </a:prstGeom>
          <a:solidFill>
            <a:srgbClr val="1C212A"/>
          </a:solidFill>
          <a:ln/>
        </p:spPr>
      </p:sp>
      <p:sp>
        <p:nvSpPr>
          <p:cNvPr id="100" name="Text 98"/>
          <p:cNvSpPr/>
          <p:nvPr/>
        </p:nvSpPr>
        <p:spPr>
          <a:xfrm>
            <a:off x="13537964"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0,832</a:t>
            </a:r>
            <a:endParaRPr lang="en-US" sz="1800" dirty="0"/>
          </a:p>
        </p:txBody>
      </p:sp>
      <p:sp>
        <p:nvSpPr>
          <p:cNvPr id="101" name="Shape 99"/>
          <p:cNvSpPr/>
          <p:nvPr/>
        </p:nvSpPr>
        <p:spPr>
          <a:xfrm>
            <a:off x="14528395" y="4224141"/>
            <a:ext cx="685644" cy="589863"/>
          </a:xfrm>
          <a:prstGeom prst="rect">
            <a:avLst/>
          </a:prstGeom>
          <a:solidFill>
            <a:srgbClr val="1A2A1E"/>
          </a:solidFill>
          <a:ln/>
        </p:spPr>
      </p:sp>
      <p:sp>
        <p:nvSpPr>
          <p:cNvPr id="102" name="Shape 100"/>
          <p:cNvSpPr/>
          <p:nvPr/>
        </p:nvSpPr>
        <p:spPr>
          <a:xfrm>
            <a:off x="14528395" y="4806757"/>
            <a:ext cx="685644" cy="9525"/>
          </a:xfrm>
          <a:prstGeom prst="rect">
            <a:avLst/>
          </a:prstGeom>
          <a:solidFill>
            <a:srgbClr val="1C212A"/>
          </a:solidFill>
          <a:ln/>
        </p:spPr>
      </p:sp>
      <p:sp>
        <p:nvSpPr>
          <p:cNvPr id="103" name="Text 101"/>
          <p:cNvSpPr/>
          <p:nvPr/>
        </p:nvSpPr>
        <p:spPr>
          <a:xfrm>
            <a:off x="14452195"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0,522</a:t>
            </a:r>
            <a:endParaRPr lang="en-US" sz="1800" dirty="0"/>
          </a:p>
        </p:txBody>
      </p:sp>
      <p:sp>
        <p:nvSpPr>
          <p:cNvPr id="104" name="Shape 102"/>
          <p:cNvSpPr/>
          <p:nvPr/>
        </p:nvSpPr>
        <p:spPr>
          <a:xfrm>
            <a:off x="15442625" y="4224141"/>
            <a:ext cx="685644" cy="589863"/>
          </a:xfrm>
          <a:prstGeom prst="rect">
            <a:avLst/>
          </a:prstGeom>
          <a:solidFill>
            <a:srgbClr val="1A2A1E"/>
          </a:solidFill>
          <a:ln/>
        </p:spPr>
      </p:sp>
      <p:sp>
        <p:nvSpPr>
          <p:cNvPr id="105" name="Shape 103"/>
          <p:cNvSpPr/>
          <p:nvPr/>
        </p:nvSpPr>
        <p:spPr>
          <a:xfrm>
            <a:off x="15442625" y="4806757"/>
            <a:ext cx="685644" cy="9525"/>
          </a:xfrm>
          <a:prstGeom prst="rect">
            <a:avLst/>
          </a:prstGeom>
          <a:solidFill>
            <a:srgbClr val="1C212A"/>
          </a:solidFill>
          <a:ln/>
        </p:spPr>
      </p:sp>
      <p:sp>
        <p:nvSpPr>
          <p:cNvPr id="106" name="Text 104"/>
          <p:cNvSpPr/>
          <p:nvPr/>
        </p:nvSpPr>
        <p:spPr>
          <a:xfrm>
            <a:off x="15366425"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0,642</a:t>
            </a:r>
            <a:endParaRPr lang="en-US" sz="1800" dirty="0"/>
          </a:p>
        </p:txBody>
      </p:sp>
      <p:sp>
        <p:nvSpPr>
          <p:cNvPr id="107" name="Shape 105"/>
          <p:cNvSpPr/>
          <p:nvPr/>
        </p:nvSpPr>
        <p:spPr>
          <a:xfrm>
            <a:off x="16356855" y="4224141"/>
            <a:ext cx="685644" cy="589863"/>
          </a:xfrm>
          <a:prstGeom prst="rect">
            <a:avLst/>
          </a:prstGeom>
          <a:solidFill>
            <a:srgbClr val="1A2A1E"/>
          </a:solidFill>
          <a:ln/>
        </p:spPr>
      </p:sp>
      <p:sp>
        <p:nvSpPr>
          <p:cNvPr id="108" name="Shape 106"/>
          <p:cNvSpPr/>
          <p:nvPr/>
        </p:nvSpPr>
        <p:spPr>
          <a:xfrm>
            <a:off x="16356855" y="4806757"/>
            <a:ext cx="685644" cy="9525"/>
          </a:xfrm>
          <a:prstGeom prst="rect">
            <a:avLst/>
          </a:prstGeom>
          <a:solidFill>
            <a:srgbClr val="1C212A"/>
          </a:solidFill>
          <a:ln/>
        </p:spPr>
      </p:sp>
      <p:sp>
        <p:nvSpPr>
          <p:cNvPr id="109" name="Text 107"/>
          <p:cNvSpPr/>
          <p:nvPr/>
        </p:nvSpPr>
        <p:spPr>
          <a:xfrm>
            <a:off x="16280655" y="4367016"/>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0,951</a:t>
            </a:r>
            <a:endParaRPr lang="en-US" sz="1800" dirty="0"/>
          </a:p>
        </p:txBody>
      </p:sp>
      <p:sp>
        <p:nvSpPr>
          <p:cNvPr id="110" name="Shape 108"/>
          <p:cNvSpPr/>
          <p:nvPr/>
        </p:nvSpPr>
        <p:spPr>
          <a:xfrm>
            <a:off x="8740382" y="5396620"/>
            <a:ext cx="3730966" cy="9525"/>
          </a:xfrm>
          <a:prstGeom prst="rect">
            <a:avLst/>
          </a:prstGeom>
          <a:solidFill>
            <a:srgbClr val="1C212A"/>
          </a:solidFill>
          <a:ln/>
        </p:spPr>
      </p:sp>
      <p:sp>
        <p:nvSpPr>
          <p:cNvPr id="111" name="Text 109"/>
          <p:cNvSpPr/>
          <p:nvPr/>
        </p:nvSpPr>
        <p:spPr>
          <a:xfrm>
            <a:off x="8740382" y="4956878"/>
            <a:ext cx="3842895"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SVM (rbf, C=10)</a:t>
            </a:r>
            <a:endParaRPr lang="en-US" sz="1800" dirty="0"/>
          </a:p>
        </p:txBody>
      </p:sp>
      <p:sp>
        <p:nvSpPr>
          <p:cNvPr id="112" name="Shape 110"/>
          <p:cNvSpPr/>
          <p:nvPr/>
        </p:nvSpPr>
        <p:spPr>
          <a:xfrm>
            <a:off x="12699934" y="5396620"/>
            <a:ext cx="685644" cy="9525"/>
          </a:xfrm>
          <a:prstGeom prst="rect">
            <a:avLst/>
          </a:prstGeom>
          <a:solidFill>
            <a:srgbClr val="1C212A"/>
          </a:solidFill>
          <a:ln/>
        </p:spPr>
      </p:sp>
      <p:sp>
        <p:nvSpPr>
          <p:cNvPr id="113" name="Text 111"/>
          <p:cNvSpPr/>
          <p:nvPr/>
        </p:nvSpPr>
        <p:spPr>
          <a:xfrm>
            <a:off x="12623734"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0,914</a:t>
            </a:r>
            <a:endParaRPr lang="en-US" sz="1800" dirty="0"/>
          </a:p>
        </p:txBody>
      </p:sp>
      <p:sp>
        <p:nvSpPr>
          <p:cNvPr id="114" name="Shape 112"/>
          <p:cNvSpPr/>
          <p:nvPr/>
        </p:nvSpPr>
        <p:spPr>
          <a:xfrm>
            <a:off x="13614164" y="5396620"/>
            <a:ext cx="685644" cy="9525"/>
          </a:xfrm>
          <a:prstGeom prst="rect">
            <a:avLst/>
          </a:prstGeom>
          <a:solidFill>
            <a:srgbClr val="1C212A"/>
          </a:solidFill>
          <a:ln/>
        </p:spPr>
      </p:sp>
      <p:sp>
        <p:nvSpPr>
          <p:cNvPr id="115" name="Text 113"/>
          <p:cNvSpPr/>
          <p:nvPr/>
        </p:nvSpPr>
        <p:spPr>
          <a:xfrm>
            <a:off x="13537964"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0,617</a:t>
            </a:r>
            <a:endParaRPr lang="en-US" sz="1800" dirty="0"/>
          </a:p>
        </p:txBody>
      </p:sp>
      <p:sp>
        <p:nvSpPr>
          <p:cNvPr id="116" name="Shape 114"/>
          <p:cNvSpPr/>
          <p:nvPr/>
        </p:nvSpPr>
        <p:spPr>
          <a:xfrm>
            <a:off x="14528395" y="5396620"/>
            <a:ext cx="685644" cy="9525"/>
          </a:xfrm>
          <a:prstGeom prst="rect">
            <a:avLst/>
          </a:prstGeom>
          <a:solidFill>
            <a:srgbClr val="1C212A"/>
          </a:solidFill>
          <a:ln/>
        </p:spPr>
      </p:sp>
      <p:sp>
        <p:nvSpPr>
          <p:cNvPr id="117" name="Text 115"/>
          <p:cNvSpPr/>
          <p:nvPr/>
        </p:nvSpPr>
        <p:spPr>
          <a:xfrm>
            <a:off x="14452195"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0,285</a:t>
            </a:r>
            <a:endParaRPr lang="en-US" sz="1800" dirty="0"/>
          </a:p>
        </p:txBody>
      </p:sp>
      <p:sp>
        <p:nvSpPr>
          <p:cNvPr id="118" name="Shape 116"/>
          <p:cNvSpPr/>
          <p:nvPr/>
        </p:nvSpPr>
        <p:spPr>
          <a:xfrm>
            <a:off x="15442625" y="5396620"/>
            <a:ext cx="685644" cy="9525"/>
          </a:xfrm>
          <a:prstGeom prst="rect">
            <a:avLst/>
          </a:prstGeom>
          <a:solidFill>
            <a:srgbClr val="1C212A"/>
          </a:solidFill>
          <a:ln/>
        </p:spPr>
      </p:sp>
      <p:sp>
        <p:nvSpPr>
          <p:cNvPr id="119" name="Text 117"/>
          <p:cNvSpPr/>
          <p:nvPr/>
        </p:nvSpPr>
        <p:spPr>
          <a:xfrm>
            <a:off x="15366425"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0,390</a:t>
            </a:r>
            <a:endParaRPr lang="en-US" sz="1800" dirty="0"/>
          </a:p>
        </p:txBody>
      </p:sp>
      <p:sp>
        <p:nvSpPr>
          <p:cNvPr id="120" name="Shape 118"/>
          <p:cNvSpPr/>
          <p:nvPr/>
        </p:nvSpPr>
        <p:spPr>
          <a:xfrm>
            <a:off x="16356855" y="5396620"/>
            <a:ext cx="685644" cy="9525"/>
          </a:xfrm>
          <a:prstGeom prst="rect">
            <a:avLst/>
          </a:prstGeom>
          <a:solidFill>
            <a:srgbClr val="1C212A"/>
          </a:solidFill>
          <a:ln/>
        </p:spPr>
      </p:sp>
      <p:sp>
        <p:nvSpPr>
          <p:cNvPr id="121" name="Text 119"/>
          <p:cNvSpPr/>
          <p:nvPr/>
        </p:nvSpPr>
        <p:spPr>
          <a:xfrm>
            <a:off x="16280655" y="4956878"/>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0,832</a:t>
            </a:r>
            <a:endParaRPr lang="en-US" sz="1800" dirty="0"/>
          </a:p>
        </p:txBody>
      </p:sp>
      <p:sp>
        <p:nvSpPr>
          <p:cNvPr id="122" name="Shape 120"/>
          <p:cNvSpPr/>
          <p:nvPr/>
        </p:nvSpPr>
        <p:spPr>
          <a:xfrm>
            <a:off x="8740382" y="5986482"/>
            <a:ext cx="3730966" cy="9525"/>
          </a:xfrm>
          <a:prstGeom prst="rect">
            <a:avLst/>
          </a:prstGeom>
          <a:solidFill>
            <a:srgbClr val="1C212A"/>
          </a:solidFill>
          <a:ln/>
        </p:spPr>
      </p:sp>
      <p:sp>
        <p:nvSpPr>
          <p:cNvPr id="123" name="Text 121"/>
          <p:cNvSpPr/>
          <p:nvPr/>
        </p:nvSpPr>
        <p:spPr>
          <a:xfrm>
            <a:off x="8740382" y="5546741"/>
            <a:ext cx="3842895" cy="334967"/>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SVM balanceado</a:t>
            </a:r>
            <a:endParaRPr lang="en-US" sz="1800" dirty="0"/>
          </a:p>
        </p:txBody>
      </p:sp>
      <p:sp>
        <p:nvSpPr>
          <p:cNvPr id="124" name="Shape 122"/>
          <p:cNvSpPr/>
          <p:nvPr/>
        </p:nvSpPr>
        <p:spPr>
          <a:xfrm>
            <a:off x="12699934" y="5986482"/>
            <a:ext cx="685644" cy="9525"/>
          </a:xfrm>
          <a:prstGeom prst="rect">
            <a:avLst/>
          </a:prstGeom>
          <a:solidFill>
            <a:srgbClr val="1C212A"/>
          </a:solidFill>
          <a:ln/>
        </p:spPr>
      </p:sp>
      <p:sp>
        <p:nvSpPr>
          <p:cNvPr id="125" name="Text 123"/>
          <p:cNvSpPr/>
          <p:nvPr/>
        </p:nvSpPr>
        <p:spPr>
          <a:xfrm>
            <a:off x="12623734"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0,858</a:t>
            </a:r>
            <a:endParaRPr lang="en-US" sz="1800" dirty="0"/>
          </a:p>
        </p:txBody>
      </p:sp>
      <p:sp>
        <p:nvSpPr>
          <p:cNvPr id="126" name="Shape 124"/>
          <p:cNvSpPr/>
          <p:nvPr/>
        </p:nvSpPr>
        <p:spPr>
          <a:xfrm>
            <a:off x="13614164" y="5986482"/>
            <a:ext cx="685644" cy="9525"/>
          </a:xfrm>
          <a:prstGeom prst="rect">
            <a:avLst/>
          </a:prstGeom>
          <a:solidFill>
            <a:srgbClr val="1C212A"/>
          </a:solidFill>
          <a:ln/>
        </p:spPr>
      </p:sp>
      <p:sp>
        <p:nvSpPr>
          <p:cNvPr id="127" name="Text 125"/>
          <p:cNvSpPr/>
          <p:nvPr/>
        </p:nvSpPr>
        <p:spPr>
          <a:xfrm>
            <a:off x="13537964"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0,367</a:t>
            </a:r>
            <a:endParaRPr lang="en-US" sz="1800" dirty="0"/>
          </a:p>
        </p:txBody>
      </p:sp>
      <p:sp>
        <p:nvSpPr>
          <p:cNvPr id="128" name="Shape 126"/>
          <p:cNvSpPr/>
          <p:nvPr/>
        </p:nvSpPr>
        <p:spPr>
          <a:xfrm>
            <a:off x="14528395" y="5986482"/>
            <a:ext cx="685644" cy="9525"/>
          </a:xfrm>
          <a:prstGeom prst="rect">
            <a:avLst/>
          </a:prstGeom>
          <a:solidFill>
            <a:srgbClr val="1C212A"/>
          </a:solidFill>
          <a:ln/>
        </p:spPr>
      </p:sp>
      <p:sp>
        <p:nvSpPr>
          <p:cNvPr id="129" name="Text 127"/>
          <p:cNvSpPr/>
          <p:nvPr/>
        </p:nvSpPr>
        <p:spPr>
          <a:xfrm>
            <a:off x="14452195"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0,662</a:t>
            </a:r>
            <a:endParaRPr lang="en-US" sz="1800" dirty="0"/>
          </a:p>
        </p:txBody>
      </p:sp>
      <p:sp>
        <p:nvSpPr>
          <p:cNvPr id="130" name="Shape 128"/>
          <p:cNvSpPr/>
          <p:nvPr/>
        </p:nvSpPr>
        <p:spPr>
          <a:xfrm>
            <a:off x="15442625" y="5986482"/>
            <a:ext cx="685644" cy="9525"/>
          </a:xfrm>
          <a:prstGeom prst="rect">
            <a:avLst/>
          </a:prstGeom>
          <a:solidFill>
            <a:srgbClr val="1C212A"/>
          </a:solidFill>
          <a:ln/>
        </p:spPr>
      </p:sp>
      <p:sp>
        <p:nvSpPr>
          <p:cNvPr id="131" name="Text 129"/>
          <p:cNvSpPr/>
          <p:nvPr/>
        </p:nvSpPr>
        <p:spPr>
          <a:xfrm>
            <a:off x="15366425"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0,472</a:t>
            </a:r>
            <a:endParaRPr lang="en-US" sz="1800" dirty="0"/>
          </a:p>
        </p:txBody>
      </p:sp>
      <p:sp>
        <p:nvSpPr>
          <p:cNvPr id="132" name="Shape 130"/>
          <p:cNvSpPr/>
          <p:nvPr/>
        </p:nvSpPr>
        <p:spPr>
          <a:xfrm>
            <a:off x="16356855" y="5986482"/>
            <a:ext cx="685644" cy="9525"/>
          </a:xfrm>
          <a:prstGeom prst="rect">
            <a:avLst/>
          </a:prstGeom>
          <a:solidFill>
            <a:srgbClr val="1C212A"/>
          </a:solidFill>
          <a:ln/>
        </p:spPr>
      </p:sp>
      <p:sp>
        <p:nvSpPr>
          <p:cNvPr id="133" name="Text 131"/>
          <p:cNvSpPr/>
          <p:nvPr/>
        </p:nvSpPr>
        <p:spPr>
          <a:xfrm>
            <a:off x="16280655" y="5546741"/>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0,855</a:t>
            </a:r>
            <a:endParaRPr lang="en-US" sz="1800" dirty="0"/>
          </a:p>
        </p:txBody>
      </p:sp>
      <p:sp>
        <p:nvSpPr>
          <p:cNvPr id="134" name="Text 132"/>
          <p:cNvSpPr/>
          <p:nvPr/>
        </p:nvSpPr>
        <p:spPr>
          <a:xfrm>
            <a:off x="8740382" y="6136603"/>
            <a:ext cx="3842895" cy="334967"/>
          </a:xfrm>
          <a:prstGeom prst="rect">
            <a:avLst/>
          </a:prstGeom>
          <a:noFill/>
          <a:ln/>
        </p:spPr>
        <p:txBody>
          <a:bodyPr wrap="square" lIns="25400" tIns="25400" rIns="25400" bIns="25400" rtlCol="0" anchor="t">
            <a:normAutofit/>
          </a:bodyPr>
          <a:lstStyle/>
          <a:p>
            <a:pPr algn="l" indent="0" marL="0">
              <a:buNone/>
            </a:pPr>
            <a:r>
              <a:rPr lang="en-US" sz="1800" dirty="0">
                <a:solidFill>
                  <a:srgbClr val="6F7787"/>
                </a:solidFill>
                <a:latin typeface="Arial" pitchFamily="34" charset="0"/>
                <a:ea typeface="Arial" pitchFamily="34" charset="-122"/>
                <a:cs typeface="Arial" pitchFamily="34" charset="-120"/>
              </a:rPr>
              <a:t>Siempre «normal»</a:t>
            </a:r>
            <a:endParaRPr lang="en-US" sz="1800" dirty="0"/>
          </a:p>
        </p:txBody>
      </p:sp>
      <p:sp>
        <p:nvSpPr>
          <p:cNvPr id="135" name="Text 133"/>
          <p:cNvSpPr/>
          <p:nvPr/>
        </p:nvSpPr>
        <p:spPr>
          <a:xfrm>
            <a:off x="12623734" y="613660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0,904</a:t>
            </a:r>
            <a:endParaRPr lang="en-US" sz="1800" dirty="0"/>
          </a:p>
        </p:txBody>
      </p:sp>
      <p:sp>
        <p:nvSpPr>
          <p:cNvPr id="136" name="Text 134"/>
          <p:cNvSpPr/>
          <p:nvPr/>
        </p:nvSpPr>
        <p:spPr>
          <a:xfrm>
            <a:off x="13537964" y="613660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a:t>
            </a:r>
            <a:endParaRPr lang="en-US" sz="1800" dirty="0"/>
          </a:p>
        </p:txBody>
      </p:sp>
      <p:sp>
        <p:nvSpPr>
          <p:cNvPr id="137" name="Text 135"/>
          <p:cNvSpPr/>
          <p:nvPr/>
        </p:nvSpPr>
        <p:spPr>
          <a:xfrm>
            <a:off x="14452195" y="613660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0,000</a:t>
            </a:r>
            <a:endParaRPr lang="en-US" sz="1800" dirty="0"/>
          </a:p>
        </p:txBody>
      </p:sp>
      <p:sp>
        <p:nvSpPr>
          <p:cNvPr id="138" name="Text 136"/>
          <p:cNvSpPr/>
          <p:nvPr/>
        </p:nvSpPr>
        <p:spPr>
          <a:xfrm>
            <a:off x="15366425" y="613660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0,000</a:t>
            </a:r>
            <a:endParaRPr lang="en-US" sz="1800" dirty="0"/>
          </a:p>
        </p:txBody>
      </p:sp>
      <p:sp>
        <p:nvSpPr>
          <p:cNvPr id="139" name="Text 137"/>
          <p:cNvSpPr/>
          <p:nvPr/>
        </p:nvSpPr>
        <p:spPr>
          <a:xfrm>
            <a:off x="16280655" y="6136603"/>
            <a:ext cx="761844" cy="334967"/>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0,500</a:t>
            </a:r>
            <a:endParaRPr lang="en-US" sz="1800" dirty="0"/>
          </a:p>
        </p:txBody>
      </p:sp>
      <p:sp>
        <p:nvSpPr>
          <p:cNvPr id="140" name="Text 138"/>
          <p:cNvSpPr/>
          <p:nvPr/>
        </p:nvSpPr>
        <p:spPr>
          <a:xfrm>
            <a:off x="914344" y="8991798"/>
            <a:ext cx="16952980" cy="723671"/>
          </a:xfrm>
          <a:prstGeom prst="rect">
            <a:avLst/>
          </a:prstGeom>
          <a:noFill/>
          <a:ln/>
        </p:spPr>
        <p:txBody>
          <a:bodyPr wrap="square" lIns="25400" tIns="25400" rIns="25400" bIns="25400" rtlCol="0" anchor="t">
            <a:normAutofit/>
          </a:bodyPr>
          <a:lstStyle/>
          <a:p>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Las anomalías son el 9,6 % de los datos: decir siempre «normal» ya da </a:t>
            </a:r>
            <a:pPr algn="l" indent="0" marL="0">
              <a:lnSpc>
                <a:spcPct val="127901"/>
              </a:lnSpc>
              <a:buNone/>
            </a:pPr>
            <a:r>
              <a:rPr lang="en-US" sz="1800" dirty="0">
                <a:solidFill>
                  <a:srgbClr val="F28B82"/>
                </a:solidFill>
                <a:latin typeface="Courier New" pitchFamily="34" charset="0"/>
                <a:ea typeface="Courier New" pitchFamily="34" charset="-122"/>
                <a:cs typeface="Courier New" pitchFamily="34" charset="-120"/>
              </a:rPr>
              <a:t>0,904 </a:t>
            </a:r>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de accuracy con F1 = 0,000. Por eso el proyecto reporta recall y F1, nunca accuracy.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88038"/>
                </a:solidFill>
                <a:latin typeface="Courier New" pitchFamily="34" charset="0"/>
                <a:ea typeface="Courier New" pitchFamily="34" charset="-122"/>
                <a:cs typeface="Courier New" pitchFamily="34" charset="-120"/>
              </a:rPr>
              <a:t>PUNTO 1 · FIGURA 1</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Evolución del proyecto en las dos familias de modelos</a:t>
            </a:r>
            <a:endParaRPr lang="en-US" sz="4050" dirty="0"/>
          </a:p>
        </p:txBody>
      </p:sp>
      <p:sp>
        <p:nvSpPr>
          <p:cNvPr id="4" name="Shape 2"/>
          <p:cNvSpPr/>
          <p:nvPr/>
        </p:nvSpPr>
        <p:spPr>
          <a:xfrm>
            <a:off x="914344" y="2623133"/>
            <a:ext cx="16459203" cy="5621470"/>
          </a:xfrm>
          <a:prstGeom prst="roundRect">
            <a:avLst>
              <a:gd name="adj" fmla="val 2033"/>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1199991" y="2870740"/>
            <a:ext cx="15887909" cy="5126257"/>
          </a:xfrm>
          <a:prstGeom prst="rect">
            <a:avLst/>
          </a:prstGeom>
        </p:spPr>
      </p:pic>
      <p:sp>
        <p:nvSpPr>
          <p:cNvPr id="6" name="Text 3"/>
          <p:cNvSpPr/>
          <p:nvPr/>
        </p:nvSpPr>
        <p:spPr>
          <a:xfrm>
            <a:off x="914344" y="9334547"/>
            <a:ext cx="18105124" cy="380922"/>
          </a:xfrm>
          <a:prstGeom prst="rect">
            <a:avLst/>
          </a:prstGeom>
          <a:noFill/>
          <a:ln/>
        </p:spPr>
        <p:txBody>
          <a:bodyPr wrap="square" lIns="25400" tIns="25400" rIns="25400" bIns="25400" rtlCol="0" anchor="t">
            <a:normAutofit/>
          </a:bodyPr>
          <a:lstStyle/>
          <a:p>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Partición aleatoria. La mejora es sostenida en ambas familias — y esa es exactamente la lectura que la siguiente lámina desmonta.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88038"/>
                </a:solidFill>
                <a:latin typeface="Courier New" pitchFamily="34" charset="0"/>
                <a:ea typeface="Courier New" pitchFamily="34" charset="-122"/>
                <a:cs typeface="Courier New" pitchFamily="34" charset="-120"/>
              </a:rPr>
              <a:t>PUNTO 1 · 1.3 EL CONTRASTE QUE ORDENA TODO LO DEMÁS</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Bajo partición temporal el orden se invierte por completo</a:t>
            </a:r>
            <a:endParaRPr lang="en-US" sz="4050" dirty="0"/>
          </a:p>
        </p:txBody>
      </p:sp>
      <p:sp>
        <p:nvSpPr>
          <p:cNvPr id="4" name="Shape 2"/>
          <p:cNvSpPr/>
          <p:nvPr/>
        </p:nvSpPr>
        <p:spPr>
          <a:xfrm>
            <a:off x="914344" y="2253026"/>
            <a:ext cx="3476793" cy="9525"/>
          </a:xfrm>
          <a:prstGeom prst="rect">
            <a:avLst/>
          </a:prstGeom>
          <a:solidFill>
            <a:srgbClr val="2C323E"/>
          </a:solidFill>
          <a:ln/>
        </p:spPr>
      </p:sp>
      <p:sp>
        <p:nvSpPr>
          <p:cNvPr id="5" name="Text 3"/>
          <p:cNvSpPr/>
          <p:nvPr/>
        </p:nvSpPr>
        <p:spPr>
          <a:xfrm>
            <a:off x="914344" y="1914166"/>
            <a:ext cx="3581097" cy="26266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MODELO</a:t>
            </a:r>
            <a:endParaRPr lang="en-US" sz="1350" dirty="0"/>
          </a:p>
        </p:txBody>
      </p:sp>
      <p:sp>
        <p:nvSpPr>
          <p:cNvPr id="6" name="Shape 4"/>
          <p:cNvSpPr/>
          <p:nvPr/>
        </p:nvSpPr>
        <p:spPr>
          <a:xfrm>
            <a:off x="4638743" y="2253026"/>
            <a:ext cx="925779" cy="9525"/>
          </a:xfrm>
          <a:prstGeom prst="rect">
            <a:avLst/>
          </a:prstGeom>
          <a:solidFill>
            <a:srgbClr val="2C323E"/>
          </a:solidFill>
          <a:ln/>
        </p:spPr>
      </p:sp>
      <p:sp>
        <p:nvSpPr>
          <p:cNvPr id="7" name="Text 5"/>
          <p:cNvSpPr/>
          <p:nvPr/>
        </p:nvSpPr>
        <p:spPr>
          <a:xfrm>
            <a:off x="4562543" y="1914166"/>
            <a:ext cx="1001979"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R² ALEAT.</a:t>
            </a:r>
            <a:endParaRPr lang="en-US" sz="1350" dirty="0"/>
          </a:p>
        </p:txBody>
      </p:sp>
      <p:sp>
        <p:nvSpPr>
          <p:cNvPr id="8" name="Shape 6"/>
          <p:cNvSpPr/>
          <p:nvPr/>
        </p:nvSpPr>
        <p:spPr>
          <a:xfrm>
            <a:off x="5812128" y="2253026"/>
            <a:ext cx="1131495" cy="9525"/>
          </a:xfrm>
          <a:prstGeom prst="rect">
            <a:avLst/>
          </a:prstGeom>
          <a:solidFill>
            <a:srgbClr val="2C323E"/>
          </a:solidFill>
          <a:ln/>
        </p:spPr>
      </p:sp>
      <p:sp>
        <p:nvSpPr>
          <p:cNvPr id="9" name="Text 7"/>
          <p:cNvSpPr/>
          <p:nvPr/>
        </p:nvSpPr>
        <p:spPr>
          <a:xfrm>
            <a:off x="5735928" y="1914166"/>
            <a:ext cx="1207695"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R² TEMPORAL</a:t>
            </a:r>
            <a:endParaRPr lang="en-US" sz="1350" dirty="0"/>
          </a:p>
        </p:txBody>
      </p:sp>
      <p:sp>
        <p:nvSpPr>
          <p:cNvPr id="10" name="Shape 8"/>
          <p:cNvSpPr/>
          <p:nvPr/>
        </p:nvSpPr>
        <p:spPr>
          <a:xfrm>
            <a:off x="914344" y="3229866"/>
            <a:ext cx="3476793" cy="9525"/>
          </a:xfrm>
          <a:prstGeom prst="rect">
            <a:avLst/>
          </a:prstGeom>
          <a:solidFill>
            <a:srgbClr val="1C212A"/>
          </a:solidFill>
          <a:ln/>
        </p:spPr>
      </p:sp>
      <p:sp>
        <p:nvSpPr>
          <p:cNvPr id="11" name="Text 9"/>
          <p:cNvSpPr/>
          <p:nvPr/>
        </p:nvSpPr>
        <p:spPr>
          <a:xfrm>
            <a:off x="914344" y="2450704"/>
            <a:ext cx="1835372" cy="349674"/>
          </a:xfrm>
          <a:prstGeom prst="rect">
            <a:avLst/>
          </a:prstGeom>
          <a:noFill/>
          <a:ln/>
        </p:spPr>
        <p:txBody>
          <a:bodyPr wrap="square" lIns="0" tIns="0" rIns="0" bIns="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Regresión Lineal</a:t>
            </a:r>
            <a:endParaRPr lang="en-US" sz="1875" dirty="0"/>
          </a:p>
        </p:txBody>
      </p:sp>
      <p:sp>
        <p:nvSpPr>
          <p:cNvPr id="12" name="Text 10"/>
          <p:cNvSpPr/>
          <p:nvPr/>
        </p:nvSpPr>
        <p:spPr>
          <a:xfrm>
            <a:off x="914344" y="2800319"/>
            <a:ext cx="3824472" cy="277215"/>
          </a:xfrm>
          <a:prstGeom prst="rect">
            <a:avLst/>
          </a:prstGeom>
          <a:noFill/>
          <a:ln/>
        </p:spPr>
        <p:txBody>
          <a:bodyPr wrap="square" lIns="25400" tIns="25400" rIns="25400" bIns="25400" rtlCol="0" anchor="t">
            <a:normAutofit/>
          </a:bodyPr>
          <a:lstStyle/>
          <a:p>
            <a:pPr algn="l" indent="0" marL="0">
              <a:buNone/>
            </a:pPr>
            <a:r>
              <a:rPr lang="en-US" sz="1425" dirty="0">
                <a:solidFill>
                  <a:srgbClr val="7BD992"/>
                </a:solidFill>
                <a:latin typeface="Courier New" pitchFamily="34" charset="0"/>
                <a:ea typeface="Courier New" pitchFamily="34" charset="-122"/>
                <a:cs typeface="Courier New" pitchFamily="34" charset="-120"/>
              </a:rPr>
              <a:t>último → primero</a:t>
            </a:r>
            <a:endParaRPr lang="en-US" sz="1425" dirty="0"/>
          </a:p>
        </p:txBody>
      </p:sp>
      <p:sp>
        <p:nvSpPr>
          <p:cNvPr id="13" name="Shape 11"/>
          <p:cNvSpPr/>
          <p:nvPr/>
        </p:nvSpPr>
        <p:spPr>
          <a:xfrm>
            <a:off x="4638743" y="3229866"/>
            <a:ext cx="925779" cy="9525"/>
          </a:xfrm>
          <a:prstGeom prst="rect">
            <a:avLst/>
          </a:prstGeom>
          <a:solidFill>
            <a:srgbClr val="1C212A"/>
          </a:solidFill>
          <a:ln/>
        </p:spPr>
      </p:sp>
      <p:sp>
        <p:nvSpPr>
          <p:cNvPr id="14" name="Text 12"/>
          <p:cNvSpPr/>
          <p:nvPr/>
        </p:nvSpPr>
        <p:spPr>
          <a:xfrm>
            <a:off x="4562543" y="2450772"/>
            <a:ext cx="1001979" cy="626694"/>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0,171</a:t>
            </a:r>
            <a:endParaRPr lang="en-US" sz="1875" dirty="0"/>
          </a:p>
        </p:txBody>
      </p:sp>
      <p:sp>
        <p:nvSpPr>
          <p:cNvPr id="15" name="Shape 13"/>
          <p:cNvSpPr/>
          <p:nvPr/>
        </p:nvSpPr>
        <p:spPr>
          <a:xfrm>
            <a:off x="5812128" y="3229866"/>
            <a:ext cx="1131495" cy="9525"/>
          </a:xfrm>
          <a:prstGeom prst="rect">
            <a:avLst/>
          </a:prstGeom>
          <a:solidFill>
            <a:srgbClr val="1C212A"/>
          </a:solidFill>
          <a:ln/>
        </p:spPr>
      </p:sp>
      <p:sp>
        <p:nvSpPr>
          <p:cNvPr id="16" name="Text 14"/>
          <p:cNvSpPr/>
          <p:nvPr/>
        </p:nvSpPr>
        <p:spPr>
          <a:xfrm>
            <a:off x="5735928" y="2450772"/>
            <a:ext cx="1207695" cy="626694"/>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+0,106</a:t>
            </a:r>
            <a:endParaRPr lang="en-US" sz="1875" dirty="0"/>
          </a:p>
        </p:txBody>
      </p:sp>
      <p:sp>
        <p:nvSpPr>
          <p:cNvPr id="17" name="Shape 15"/>
          <p:cNvSpPr/>
          <p:nvPr/>
        </p:nvSpPr>
        <p:spPr>
          <a:xfrm>
            <a:off x="914344" y="4206705"/>
            <a:ext cx="3476793" cy="9525"/>
          </a:xfrm>
          <a:prstGeom prst="rect">
            <a:avLst/>
          </a:prstGeom>
          <a:solidFill>
            <a:srgbClr val="1C212A"/>
          </a:solidFill>
          <a:ln/>
        </p:spPr>
      </p:sp>
      <p:sp>
        <p:nvSpPr>
          <p:cNvPr id="18" name="Text 16"/>
          <p:cNvSpPr/>
          <p:nvPr/>
        </p:nvSpPr>
        <p:spPr>
          <a:xfrm>
            <a:off x="914344" y="3427543"/>
            <a:ext cx="1947457" cy="349674"/>
          </a:xfrm>
          <a:prstGeom prst="rect">
            <a:avLst/>
          </a:prstGeom>
          <a:noFill/>
          <a:ln/>
        </p:spPr>
        <p:txBody>
          <a:bodyPr wrap="square" lIns="0" tIns="0" rIns="0" bIns="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Árbol de Decisión</a:t>
            </a:r>
            <a:endParaRPr lang="en-US" sz="1875" dirty="0"/>
          </a:p>
        </p:txBody>
      </p:sp>
      <p:sp>
        <p:nvSpPr>
          <p:cNvPr id="19" name="Text 17"/>
          <p:cNvSpPr/>
          <p:nvPr/>
        </p:nvSpPr>
        <p:spPr>
          <a:xfrm>
            <a:off x="914344" y="3777158"/>
            <a:ext cx="3824472" cy="277215"/>
          </a:xfrm>
          <a:prstGeom prst="rect">
            <a:avLst/>
          </a:prstGeom>
          <a:noFill/>
          <a:ln/>
        </p:spPr>
        <p:txBody>
          <a:bodyPr wrap="square" lIns="25400" tIns="25400" rIns="25400" bIns="25400" rtlCol="0" anchor="t">
            <a:normAutofit/>
          </a:bodyPr>
          <a:lstStyle/>
          <a:p>
            <a:pPr algn="l" indent="0" marL="0">
              <a:buNone/>
            </a:pPr>
            <a:r>
              <a:rPr lang="en-US" sz="1425" dirty="0">
                <a:solidFill>
                  <a:srgbClr val="6F7787"/>
                </a:solidFill>
                <a:latin typeface="Courier New" pitchFamily="34" charset="0"/>
                <a:ea typeface="Courier New" pitchFamily="34" charset="-122"/>
                <a:cs typeface="Courier New" pitchFamily="34" charset="-120"/>
              </a:rPr>
              <a:t>tercero → tercero</a:t>
            </a:r>
            <a:endParaRPr lang="en-US" sz="1425" dirty="0"/>
          </a:p>
        </p:txBody>
      </p:sp>
      <p:sp>
        <p:nvSpPr>
          <p:cNvPr id="20" name="Shape 18"/>
          <p:cNvSpPr/>
          <p:nvPr/>
        </p:nvSpPr>
        <p:spPr>
          <a:xfrm>
            <a:off x="4638743" y="4206705"/>
            <a:ext cx="925779" cy="9525"/>
          </a:xfrm>
          <a:prstGeom prst="rect">
            <a:avLst/>
          </a:prstGeom>
          <a:solidFill>
            <a:srgbClr val="1C212A"/>
          </a:solidFill>
          <a:ln/>
        </p:spPr>
      </p:sp>
      <p:sp>
        <p:nvSpPr>
          <p:cNvPr id="21" name="Text 19"/>
          <p:cNvSpPr/>
          <p:nvPr/>
        </p:nvSpPr>
        <p:spPr>
          <a:xfrm>
            <a:off x="4562543" y="3427611"/>
            <a:ext cx="1001979" cy="626694"/>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0,325</a:t>
            </a:r>
            <a:endParaRPr lang="en-US" sz="1875" dirty="0"/>
          </a:p>
        </p:txBody>
      </p:sp>
      <p:sp>
        <p:nvSpPr>
          <p:cNvPr id="22" name="Shape 20"/>
          <p:cNvSpPr/>
          <p:nvPr/>
        </p:nvSpPr>
        <p:spPr>
          <a:xfrm>
            <a:off x="5812128" y="4206705"/>
            <a:ext cx="1131495" cy="9525"/>
          </a:xfrm>
          <a:prstGeom prst="rect">
            <a:avLst/>
          </a:prstGeom>
          <a:solidFill>
            <a:srgbClr val="1C212A"/>
          </a:solidFill>
          <a:ln/>
        </p:spPr>
      </p:sp>
      <p:sp>
        <p:nvSpPr>
          <p:cNvPr id="23" name="Text 21"/>
          <p:cNvSpPr/>
          <p:nvPr/>
        </p:nvSpPr>
        <p:spPr>
          <a:xfrm>
            <a:off x="5735928" y="3427611"/>
            <a:ext cx="1207695" cy="626694"/>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−2,891</a:t>
            </a:r>
            <a:endParaRPr lang="en-US" sz="1875" dirty="0"/>
          </a:p>
        </p:txBody>
      </p:sp>
      <p:sp>
        <p:nvSpPr>
          <p:cNvPr id="24" name="Shape 22"/>
          <p:cNvSpPr/>
          <p:nvPr/>
        </p:nvSpPr>
        <p:spPr>
          <a:xfrm>
            <a:off x="914344" y="5183545"/>
            <a:ext cx="3476793" cy="9525"/>
          </a:xfrm>
          <a:prstGeom prst="rect">
            <a:avLst/>
          </a:prstGeom>
          <a:solidFill>
            <a:srgbClr val="1C212A"/>
          </a:solidFill>
          <a:ln/>
        </p:spPr>
      </p:sp>
      <p:sp>
        <p:nvSpPr>
          <p:cNvPr id="25" name="Text 23"/>
          <p:cNvSpPr/>
          <p:nvPr/>
        </p:nvSpPr>
        <p:spPr>
          <a:xfrm>
            <a:off x="914344" y="4404383"/>
            <a:ext cx="563940" cy="349674"/>
          </a:xfrm>
          <a:prstGeom prst="rect">
            <a:avLst/>
          </a:prstGeom>
          <a:noFill/>
          <a:ln/>
        </p:spPr>
        <p:txBody>
          <a:bodyPr wrap="square" lIns="0" tIns="0" rIns="0" bIns="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KNN</a:t>
            </a:r>
            <a:endParaRPr lang="en-US" sz="1875" dirty="0"/>
          </a:p>
        </p:txBody>
      </p:sp>
      <p:sp>
        <p:nvSpPr>
          <p:cNvPr id="26" name="Text 24"/>
          <p:cNvSpPr/>
          <p:nvPr/>
        </p:nvSpPr>
        <p:spPr>
          <a:xfrm>
            <a:off x="914344" y="4753998"/>
            <a:ext cx="3824472" cy="277215"/>
          </a:xfrm>
          <a:prstGeom prst="rect">
            <a:avLst/>
          </a:prstGeom>
          <a:noFill/>
          <a:ln/>
        </p:spPr>
        <p:txBody>
          <a:bodyPr wrap="square" lIns="25400" tIns="25400" rIns="25400" bIns="25400" rtlCol="0" anchor="t">
            <a:normAutofit/>
          </a:bodyPr>
          <a:lstStyle/>
          <a:p>
            <a:pPr algn="l" indent="0" marL="0">
              <a:buNone/>
            </a:pPr>
            <a:r>
              <a:rPr lang="en-US" sz="1425" dirty="0">
                <a:solidFill>
                  <a:srgbClr val="6F7787"/>
                </a:solidFill>
                <a:latin typeface="Courier New" pitchFamily="34" charset="0"/>
                <a:ea typeface="Courier New" pitchFamily="34" charset="-122"/>
                <a:cs typeface="Courier New" pitchFamily="34" charset="-120"/>
              </a:rPr>
              <a:t>segundo → segundo</a:t>
            </a:r>
            <a:endParaRPr lang="en-US" sz="1425" dirty="0"/>
          </a:p>
        </p:txBody>
      </p:sp>
      <p:sp>
        <p:nvSpPr>
          <p:cNvPr id="27" name="Shape 25"/>
          <p:cNvSpPr/>
          <p:nvPr/>
        </p:nvSpPr>
        <p:spPr>
          <a:xfrm>
            <a:off x="4638743" y="5183545"/>
            <a:ext cx="925779" cy="9525"/>
          </a:xfrm>
          <a:prstGeom prst="rect">
            <a:avLst/>
          </a:prstGeom>
          <a:solidFill>
            <a:srgbClr val="1C212A"/>
          </a:solidFill>
          <a:ln/>
        </p:spPr>
      </p:sp>
      <p:sp>
        <p:nvSpPr>
          <p:cNvPr id="28" name="Text 26"/>
          <p:cNvSpPr/>
          <p:nvPr/>
        </p:nvSpPr>
        <p:spPr>
          <a:xfrm>
            <a:off x="4562543" y="4404451"/>
            <a:ext cx="1001979" cy="626694"/>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0,539</a:t>
            </a:r>
            <a:endParaRPr lang="en-US" sz="1875" dirty="0"/>
          </a:p>
        </p:txBody>
      </p:sp>
      <p:sp>
        <p:nvSpPr>
          <p:cNvPr id="29" name="Shape 27"/>
          <p:cNvSpPr/>
          <p:nvPr/>
        </p:nvSpPr>
        <p:spPr>
          <a:xfrm>
            <a:off x="5812128" y="5183545"/>
            <a:ext cx="1131495" cy="9525"/>
          </a:xfrm>
          <a:prstGeom prst="rect">
            <a:avLst/>
          </a:prstGeom>
          <a:solidFill>
            <a:srgbClr val="1C212A"/>
          </a:solidFill>
          <a:ln/>
        </p:spPr>
      </p:sp>
      <p:sp>
        <p:nvSpPr>
          <p:cNvPr id="30" name="Text 28"/>
          <p:cNvSpPr/>
          <p:nvPr/>
        </p:nvSpPr>
        <p:spPr>
          <a:xfrm>
            <a:off x="5735928" y="4404451"/>
            <a:ext cx="1207695" cy="626694"/>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−0,602</a:t>
            </a:r>
            <a:endParaRPr lang="en-US" sz="1875" dirty="0"/>
          </a:p>
        </p:txBody>
      </p:sp>
      <p:sp>
        <p:nvSpPr>
          <p:cNvPr id="31" name="Text 29"/>
          <p:cNvSpPr/>
          <p:nvPr/>
        </p:nvSpPr>
        <p:spPr>
          <a:xfrm>
            <a:off x="914344" y="5381222"/>
            <a:ext cx="1699398" cy="349675"/>
          </a:xfrm>
          <a:prstGeom prst="rect">
            <a:avLst/>
          </a:prstGeom>
          <a:noFill/>
          <a:ln/>
        </p:spPr>
        <p:txBody>
          <a:bodyPr wrap="square" lIns="0" tIns="0" rIns="0" bIns="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Random Forest</a:t>
            </a:r>
            <a:endParaRPr lang="en-US" sz="1875" dirty="0"/>
          </a:p>
        </p:txBody>
      </p:sp>
      <p:sp>
        <p:nvSpPr>
          <p:cNvPr id="32" name="Text 30"/>
          <p:cNvSpPr/>
          <p:nvPr/>
        </p:nvSpPr>
        <p:spPr>
          <a:xfrm>
            <a:off x="914344" y="5730837"/>
            <a:ext cx="3824472" cy="277215"/>
          </a:xfrm>
          <a:prstGeom prst="rect">
            <a:avLst/>
          </a:prstGeom>
          <a:noFill/>
          <a:ln/>
        </p:spPr>
        <p:txBody>
          <a:bodyPr wrap="square" lIns="25400" tIns="25400" rIns="25400" bIns="25400" rtlCol="0" anchor="t">
            <a:normAutofit/>
          </a:bodyPr>
          <a:lstStyle/>
          <a:p>
            <a:pPr algn="l" indent="0" marL="0">
              <a:buNone/>
            </a:pPr>
            <a:r>
              <a:rPr lang="en-US" sz="1425" dirty="0">
                <a:solidFill>
                  <a:srgbClr val="F28B82"/>
                </a:solidFill>
                <a:latin typeface="Courier New" pitchFamily="34" charset="0"/>
                <a:ea typeface="Courier New" pitchFamily="34" charset="-122"/>
                <a:cs typeface="Courier New" pitchFamily="34" charset="-120"/>
              </a:rPr>
              <a:t>primero → último</a:t>
            </a:r>
            <a:endParaRPr lang="en-US" sz="1425" dirty="0"/>
          </a:p>
        </p:txBody>
      </p:sp>
      <p:sp>
        <p:nvSpPr>
          <p:cNvPr id="33" name="Text 31"/>
          <p:cNvSpPr/>
          <p:nvPr/>
        </p:nvSpPr>
        <p:spPr>
          <a:xfrm>
            <a:off x="4562543" y="5381291"/>
            <a:ext cx="1001979" cy="626694"/>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0,567</a:t>
            </a:r>
            <a:endParaRPr lang="en-US" sz="1875" dirty="0"/>
          </a:p>
        </p:txBody>
      </p:sp>
      <p:sp>
        <p:nvSpPr>
          <p:cNvPr id="34" name="Text 32"/>
          <p:cNvSpPr/>
          <p:nvPr/>
        </p:nvSpPr>
        <p:spPr>
          <a:xfrm>
            <a:off x="5735928" y="5381291"/>
            <a:ext cx="1207695" cy="626694"/>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−4,459</a:t>
            </a:r>
            <a:endParaRPr lang="en-US" sz="1875" dirty="0"/>
          </a:p>
        </p:txBody>
      </p:sp>
      <p:sp>
        <p:nvSpPr>
          <p:cNvPr id="35" name="Shape 33"/>
          <p:cNvSpPr/>
          <p:nvPr/>
        </p:nvSpPr>
        <p:spPr>
          <a:xfrm>
            <a:off x="7324599" y="1914166"/>
            <a:ext cx="10048948" cy="3501361"/>
          </a:xfrm>
          <a:prstGeom prst="roundRect">
            <a:avLst>
              <a:gd name="adj" fmla="val 3264"/>
            </a:avLst>
          </a:prstGeom>
          <a:solidFill>
            <a:srgbClr val="FFFFFF"/>
          </a:solidFill>
          <a:ln/>
        </p:spPr>
      </p:sp>
      <p:pic>
        <p:nvPicPr>
          <p:cNvPr id="36" name="Image 0" descr="preencoded.png">    </p:cNvPr>
          <p:cNvPicPr>
            <a:picLocks noChangeAspect="1"/>
          </p:cNvPicPr>
          <p:nvPr/>
        </p:nvPicPr>
        <p:blipFill>
          <a:blip r:embed="rId1"/>
          <a:stretch>
            <a:fillRect/>
          </a:stretch>
        </p:blipFill>
        <p:spPr>
          <a:xfrm>
            <a:off x="7572205" y="2123618"/>
            <a:ext cx="9553736" cy="3082457"/>
          </a:xfrm>
          <a:prstGeom prst="rect">
            <a:avLst/>
          </a:prstGeom>
        </p:spPr>
      </p:pic>
      <p:sp>
        <p:nvSpPr>
          <p:cNvPr id="37" name="Text 34"/>
          <p:cNvSpPr/>
          <p:nvPr/>
        </p:nvSpPr>
        <p:spPr>
          <a:xfrm>
            <a:off x="7324599" y="5567918"/>
            <a:ext cx="10350417" cy="666683"/>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6F7787"/>
                </a:solidFill>
                <a:latin typeface="Courier New" pitchFamily="34" charset="0"/>
                <a:ea typeface="Courier New" pitchFamily="34" charset="-122"/>
                <a:cs typeface="Courier New" pitchFamily="34" charset="-120"/>
              </a:rPr>
              <a:t>Figura 2 · un R² negativo significa que el modelo predice peor que decir siempre la media.</a:t>
            </a:r>
            <a:endParaRPr lang="en-US" sz="1650" dirty="0"/>
          </a:p>
        </p:txBody>
      </p:sp>
      <p:sp>
        <p:nvSpPr>
          <p:cNvPr id="38" name="Shape 35"/>
          <p:cNvSpPr/>
          <p:nvPr/>
        </p:nvSpPr>
        <p:spPr>
          <a:xfrm>
            <a:off x="914344" y="8432204"/>
            <a:ext cx="16459203" cy="1245165"/>
          </a:xfrm>
          <a:custGeom>
            <a:avLst/>
            <a:gdLst/>
            <a:ahLst/>
            <a:cxnLst/>
            <a:rect l="l" t="t" r="r" b="b"/>
            <a:pathLst>
              <a:path w="16459203" h="1245165">
                <a:moveTo>
                  <a:pt x="0" y="0"/>
                </a:moveTo>
                <a:lnTo>
                  <a:pt x="16344903" y="0"/>
                </a:lnTo>
                <a:arcTo hR="114300" wR="114300" stAng="16200000" swAng="5400000"/>
                <a:lnTo>
                  <a:pt x="16459203" y="1130865"/>
                </a:lnTo>
                <a:arcTo hR="114300" wR="114300" stAng="0" swAng="5400000"/>
                <a:lnTo>
                  <a:pt x="0" y="1245165"/>
                </a:lnTo>
                <a:lnTo>
                  <a:pt x="0" y="0"/>
                </a:lnTo>
                <a:close/>
              </a:path>
            </a:pathLst>
          </a:custGeom>
          <a:solidFill>
            <a:srgbClr val="11141A"/>
          </a:solidFill>
          <a:ln/>
        </p:spPr>
      </p:sp>
      <p:sp>
        <p:nvSpPr>
          <p:cNvPr id="39" name="Shape 36"/>
          <p:cNvSpPr/>
          <p:nvPr/>
        </p:nvSpPr>
        <p:spPr>
          <a:xfrm>
            <a:off x="914344" y="8432204"/>
            <a:ext cx="36230" cy="1245165"/>
          </a:xfrm>
          <a:prstGeom prst="rect">
            <a:avLst/>
          </a:prstGeom>
          <a:solidFill>
            <a:srgbClr val="188038"/>
          </a:solidFill>
          <a:ln/>
        </p:spPr>
      </p:sp>
      <p:sp>
        <p:nvSpPr>
          <p:cNvPr id="40" name="Text 37"/>
          <p:cNvSpPr/>
          <p:nvPr/>
        </p:nvSpPr>
        <p:spPr>
          <a:xfrm>
            <a:off x="1274423" y="8679854"/>
            <a:ext cx="16269050" cy="787965"/>
          </a:xfrm>
          <a:prstGeom prst="rect">
            <a:avLst/>
          </a:prstGeom>
          <a:noFill/>
          <a:ln/>
        </p:spPr>
        <p:txBody>
          <a:bodyPr wrap="square" lIns="25400" tIns="25400" rIns="25400" bIns="25400" rtlCol="0" anchor="t">
            <a:normAutofit/>
          </a:bodyPr>
          <a:lstStyle/>
          <a:p>
            <a:pPr algn="l" indent="0" marL="0">
              <a:lnSpc>
                <a:spcPct val="131453"/>
              </a:lnSpc>
              <a:buNone/>
            </a:pPr>
            <a:r>
              <a:rPr lang="en-US" sz="1950" b="1" dirty="0">
                <a:solidFill>
                  <a:srgbClr val="E6E9EF"/>
                </a:solidFill>
                <a:latin typeface="Arial" pitchFamily="34" charset="0"/>
                <a:ea typeface="Arial" pitchFamily="34" charset="-122"/>
                <a:cs typeface="Arial" pitchFamily="34" charset="-120"/>
              </a:rPr>
              <a:t>Qué cambia en el diseño de Shiro. </a:t>
            </a:r>
            <a:pPr algn="l" indent="0" marL="0">
              <a:lnSpc>
                <a:spcPct val="131453"/>
              </a:lnSpc>
              <a:buNone/>
            </a:pPr>
            <a:r>
              <a:rPr lang="en-US" sz="1950" dirty="0">
                <a:solidFill>
                  <a:srgbClr val="C9D1DE"/>
                </a:solidFill>
                <a:highlight>
                  <a:srgbClr val="11141A"/>
                </a:highlight>
                <a:latin typeface="Arial" pitchFamily="34" charset="0"/>
                <a:ea typeface="Arial" pitchFamily="34" charset="-122"/>
                <a:cs typeface="Arial" pitchFamily="34" charset="-120"/>
              </a:rPr>
              <a:t>Todo lo que los modelos más capaces aprenden resulta ser estructura del invierno belga que no se repite en mayo. Ese +0,106 explica una décima parte de la varianza, pero es la única señal que sobrevive al paso del tiempo.</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41A"/>
        </a:solidFill>
      </p:bgPr>
    </p:bg>
    <p:spTree>
      <p:nvGrpSpPr>
        <p:cNvPr id="1" name=""/>
        <p:cNvGrpSpPr/>
        <p:nvPr/>
      </p:nvGrpSpPr>
      <p:grpSpPr>
        <a:xfrm>
          <a:off x="0" y="0"/>
          <a:ext cx="0" cy="0"/>
          <a:chOff x="0" y="0"/>
          <a:chExt cx="0" cy="0"/>
        </a:xfrm>
      </p:grpSpPr>
      <p:sp>
        <p:nvSpPr>
          <p:cNvPr id="2" name="Text 0"/>
          <p:cNvSpPr/>
          <p:nvPr/>
        </p:nvSpPr>
        <p:spPr>
          <a:xfrm>
            <a:off x="1047714" y="3037736"/>
            <a:ext cx="3269525" cy="2068767"/>
          </a:xfrm>
          <a:prstGeom prst="rect">
            <a:avLst/>
          </a:prstGeom>
          <a:noFill/>
          <a:ln/>
        </p:spPr>
        <p:txBody>
          <a:bodyPr wrap="square" lIns="25400" tIns="25400" rIns="25400" bIns="25400" rtlCol="0" anchor="t">
            <a:normAutofit/>
          </a:bodyPr>
          <a:lstStyle/>
          <a:p>
            <a:pPr algn="l" indent="0" marL="0">
              <a:lnSpc>
                <a:spcPct val="72232"/>
              </a:lnSpc>
              <a:buNone/>
            </a:pPr>
            <a:r>
              <a:rPr lang="en-US" sz="19500" b="1" dirty="0">
                <a:solidFill>
                  <a:srgbClr val="1A73E8"/>
                </a:solidFill>
                <a:latin typeface="Courier New" pitchFamily="34" charset="0"/>
                <a:ea typeface="Courier New" pitchFamily="34" charset="-122"/>
                <a:cs typeface="Courier New" pitchFamily="34" charset="-120"/>
              </a:rPr>
              <a:t>02</a:t>
            </a:r>
            <a:endParaRPr lang="en-US" sz="19500" dirty="0"/>
          </a:p>
        </p:txBody>
      </p:sp>
      <p:sp>
        <p:nvSpPr>
          <p:cNvPr id="3" name="Text 1"/>
          <p:cNvSpPr/>
          <p:nvPr/>
        </p:nvSpPr>
        <p:spPr>
          <a:xfrm>
            <a:off x="4477181" y="3170992"/>
            <a:ext cx="9810728" cy="1638088"/>
          </a:xfrm>
          <a:prstGeom prst="rect">
            <a:avLst/>
          </a:prstGeom>
          <a:noFill/>
          <a:ln/>
        </p:spPr>
        <p:txBody>
          <a:bodyPr wrap="square" lIns="25400" tIns="25400" rIns="25400" bIns="25400" rtlCol="0" anchor="t">
            <a:normAutofit/>
          </a:bodyPr>
          <a:lstStyle/>
          <a:p>
            <a:pPr algn="l" indent="0" marL="0">
              <a:lnSpc>
                <a:spcPct val="92017"/>
              </a:lnSpc>
              <a:buNone/>
            </a:pPr>
            <a:r>
              <a:rPr lang="en-US" sz="6000" b="1" spc="-150" kern="0" dirty="0">
                <a:solidFill>
                  <a:srgbClr val="E6E9EF"/>
                </a:solidFill>
                <a:latin typeface="Arial" pitchFamily="34" charset="0"/>
                <a:ea typeface="Arial" pitchFamily="34" charset="-122"/>
                <a:cs typeface="Arial" pitchFamily="34" charset="-120"/>
              </a:rPr>
              <a:t>Análisis de errores críticos</a:t>
            </a:r>
            <a:endParaRPr lang="en-US" sz="6000" dirty="0"/>
          </a:p>
        </p:txBody>
      </p:sp>
      <p:sp>
        <p:nvSpPr>
          <p:cNvPr id="4" name="Text 2"/>
          <p:cNvSpPr/>
          <p:nvPr/>
        </p:nvSpPr>
        <p:spPr>
          <a:xfrm>
            <a:off x="4477181" y="5056628"/>
            <a:ext cx="9810728" cy="1324023"/>
          </a:xfrm>
          <a:prstGeom prst="rect">
            <a:avLst/>
          </a:prstGeom>
          <a:noFill/>
          <a:ln/>
        </p:spPr>
        <p:txBody>
          <a:bodyPr wrap="square" lIns="25400" tIns="25400" rIns="25400" bIns="25400" rtlCol="0" anchor="t">
            <a:normAutofit/>
          </a:bodyPr>
          <a:lstStyle/>
          <a:p>
            <a:pPr algn="l" indent="0" marL="0">
              <a:lnSpc>
                <a:spcPct val="131453"/>
              </a:lnSpc>
              <a:buNone/>
            </a:pPr>
            <a:r>
              <a:rPr lang="en-US" sz="2250" dirty="0">
                <a:solidFill>
                  <a:srgbClr val="9AA3B2"/>
                </a:solidFill>
                <a:latin typeface="Arial" pitchFamily="34" charset="0"/>
                <a:ea typeface="Arial" pitchFamily="34" charset="-122"/>
                <a:cs typeface="Arial" pitchFamily="34" charset="-120"/>
              </a:rPr>
              <a:t>La recompensa del MDP es r = −(energía × tarifa) − λ · desviación de confort. Si el simulador subestima el consumo, el agente cobra un ahorro que no existe. Este punto localiza dónde miente el gemelo.</a:t>
            </a:r>
            <a:endParaRPr lang="en-US" sz="2250" dirty="0"/>
          </a:p>
        </p:txBody>
      </p:sp>
      <p:sp>
        <p:nvSpPr>
          <p:cNvPr id="5" name="Shape 3"/>
          <p:cNvSpPr/>
          <p:nvPr/>
        </p:nvSpPr>
        <p:spPr>
          <a:xfrm>
            <a:off x="4477181" y="6723527"/>
            <a:ext cx="2180227" cy="525555"/>
          </a:xfrm>
          <a:prstGeom prst="roundRect">
            <a:avLst>
              <a:gd name="adj" fmla="val 50000"/>
            </a:avLst>
          </a:prstGeom>
          <a:solidFill>
            <a:srgbClr val="131D2B"/>
          </a:solidFill>
          <a:ln w="7246">
            <a:solidFill>
              <a:srgbClr val="234A7D"/>
            </a:solidFill>
            <a:prstDash val="solid"/>
          </a:ln>
        </p:spPr>
      </p:sp>
      <p:sp>
        <p:nvSpPr>
          <p:cNvPr id="6" name="Text 4"/>
          <p:cNvSpPr/>
          <p:nvPr/>
        </p:nvSpPr>
        <p:spPr>
          <a:xfrm>
            <a:off x="4713027" y="6845073"/>
            <a:ext cx="1784735" cy="320563"/>
          </a:xfrm>
          <a:prstGeom prst="rect">
            <a:avLst/>
          </a:prstGeom>
          <a:noFill/>
          <a:ln/>
        </p:spPr>
        <p:txBody>
          <a:bodyPr wrap="square" lIns="25400" tIns="25400" rIns="25400" bIns="25400" rtlCol="0" anchor="t">
            <a:normAutofit/>
          </a:bodyPr>
          <a:lstStyle/>
          <a:p>
            <a:pPr algn="l" indent="0" marL="0">
              <a:buNone/>
            </a:pPr>
            <a:r>
              <a:rPr lang="en-US" sz="1725" dirty="0">
                <a:solidFill>
                  <a:srgbClr val="7DB6FF"/>
                </a:solidFill>
                <a:latin typeface="Courier New" pitchFamily="34" charset="0"/>
                <a:ea typeface="Courier New" pitchFamily="34" charset="-122"/>
                <a:cs typeface="Courier New" pitchFamily="34" charset="-120"/>
              </a:rPr>
              <a:t>Sofía Londoño</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A73E8"/>
                </a:solidFill>
                <a:latin typeface="Courier New" pitchFamily="34" charset="0"/>
                <a:ea typeface="Courier New" pitchFamily="34" charset="-122"/>
                <a:cs typeface="Courier New" pitchFamily="34" charset="-120"/>
              </a:rPr>
              <a:t>PUNTO 2 · 2.1 IDENTIFICACIÓN DE ERRORES</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El error no es ruido: es sesgo, y tiene una sola dirección</a:t>
            </a:r>
            <a:endParaRPr lang="en-US" sz="4050" dirty="0"/>
          </a:p>
        </p:txBody>
      </p:sp>
      <p:sp>
        <p:nvSpPr>
          <p:cNvPr id="4" name="Shape 2"/>
          <p:cNvSpPr/>
          <p:nvPr/>
        </p:nvSpPr>
        <p:spPr>
          <a:xfrm>
            <a:off x="914344" y="3478038"/>
            <a:ext cx="9773038" cy="4006876"/>
          </a:xfrm>
          <a:prstGeom prst="roundRect">
            <a:avLst>
              <a:gd name="adj" fmla="val 2853"/>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1161950" y="3687490"/>
            <a:ext cx="9277825" cy="3587972"/>
          </a:xfrm>
          <a:prstGeom prst="rect">
            <a:avLst/>
          </a:prstGeom>
        </p:spPr>
      </p:pic>
      <p:sp>
        <p:nvSpPr>
          <p:cNvPr id="6" name="Shape 3"/>
          <p:cNvSpPr/>
          <p:nvPr/>
        </p:nvSpPr>
        <p:spPr>
          <a:xfrm>
            <a:off x="11068358" y="2688347"/>
            <a:ext cx="6305076" cy="1501489"/>
          </a:xfrm>
          <a:prstGeom prst="roundRect">
            <a:avLst>
              <a:gd name="adj" fmla="val 7612"/>
            </a:avLst>
          </a:prstGeom>
          <a:solidFill>
            <a:srgbClr val="151920"/>
          </a:solidFill>
          <a:ln w="7246">
            <a:solidFill>
              <a:srgbClr val="232833"/>
            </a:solidFill>
            <a:prstDash val="solid"/>
          </a:ln>
        </p:spPr>
      </p:sp>
      <p:sp>
        <p:nvSpPr>
          <p:cNvPr id="7" name="Text 4"/>
          <p:cNvSpPr/>
          <p:nvPr/>
        </p:nvSpPr>
        <p:spPr>
          <a:xfrm>
            <a:off x="11361252" y="2943199"/>
            <a:ext cx="6291218" cy="603281"/>
          </a:xfrm>
          <a:prstGeom prst="rect">
            <a:avLst/>
          </a:prstGeom>
          <a:noFill/>
          <a:ln/>
        </p:spPr>
        <p:txBody>
          <a:bodyPr wrap="square" lIns="25400" tIns="25400" rIns="25400" bIns="25400" rtlCol="0" anchor="t">
            <a:normAutofit/>
          </a:bodyPr>
          <a:lstStyle/>
          <a:p>
            <a:pPr algn="l" indent="0" marL="0">
              <a:buNone/>
            </a:pPr>
            <a:r>
              <a:rPr lang="en-US" sz="3900" b="1" dirty="0">
                <a:solidFill>
                  <a:srgbClr val="F28B82"/>
                </a:solidFill>
                <a:latin typeface="Courier New" pitchFamily="34" charset="0"/>
                <a:ea typeface="Courier New" pitchFamily="34" charset="-122"/>
                <a:cs typeface="Courier New" pitchFamily="34" charset="-120"/>
              </a:rPr>
              <a:t>19 de 20</a:t>
            </a:r>
            <a:endParaRPr lang="en-US" sz="3900" dirty="0"/>
          </a:p>
        </p:txBody>
      </p:sp>
      <p:sp>
        <p:nvSpPr>
          <p:cNvPr id="8" name="Text 5"/>
          <p:cNvSpPr/>
          <p:nvPr/>
        </p:nvSpPr>
        <p:spPr>
          <a:xfrm>
            <a:off x="11361252" y="3603596"/>
            <a:ext cx="6291218" cy="369487"/>
          </a:xfrm>
          <a:prstGeom prst="rect">
            <a:avLst/>
          </a:prstGeom>
          <a:noFill/>
          <a:ln/>
        </p:spPr>
        <p:txBody>
          <a:bodyPr wrap="square" lIns="25400" tIns="25400" rIns="25400" bIns="25400" rtlCol="0" anchor="t">
            <a:normAutofit/>
          </a:bodyPr>
          <a:lstStyle/>
          <a:p>
            <a:pPr algn="l" indent="0" marL="0">
              <a:lnSpc>
                <a:spcPct val="123637"/>
              </a:lnSpc>
              <a:buNone/>
            </a:pPr>
            <a:r>
              <a:rPr lang="en-US" sz="1800" dirty="0">
                <a:solidFill>
                  <a:srgbClr val="C9D1DE"/>
                </a:solidFill>
                <a:latin typeface="Arial" pitchFamily="34" charset="0"/>
                <a:ea typeface="Arial" pitchFamily="34" charset="-122"/>
                <a:cs typeface="Arial" pitchFamily="34" charset="-120"/>
              </a:rPr>
              <a:t>de los mayores errores son subestimaciones</a:t>
            </a:r>
            <a:endParaRPr lang="en-US" sz="1800" dirty="0"/>
          </a:p>
        </p:txBody>
      </p:sp>
      <p:sp>
        <p:nvSpPr>
          <p:cNvPr id="9" name="Shape 6"/>
          <p:cNvSpPr/>
          <p:nvPr/>
        </p:nvSpPr>
        <p:spPr>
          <a:xfrm>
            <a:off x="11068358" y="4399288"/>
            <a:ext cx="6305076" cy="1832876"/>
          </a:xfrm>
          <a:prstGeom prst="roundRect">
            <a:avLst>
              <a:gd name="adj" fmla="val 6236"/>
            </a:avLst>
          </a:prstGeom>
          <a:solidFill>
            <a:srgbClr val="151920"/>
          </a:solidFill>
          <a:ln w="7246">
            <a:solidFill>
              <a:srgbClr val="232833"/>
            </a:solidFill>
            <a:prstDash val="solid"/>
          </a:ln>
        </p:spPr>
      </p:sp>
      <p:sp>
        <p:nvSpPr>
          <p:cNvPr id="10" name="Text 7"/>
          <p:cNvSpPr/>
          <p:nvPr/>
        </p:nvSpPr>
        <p:spPr>
          <a:xfrm>
            <a:off x="11361252" y="4654140"/>
            <a:ext cx="967900" cy="603281"/>
          </a:xfrm>
          <a:prstGeom prst="rect">
            <a:avLst/>
          </a:prstGeom>
          <a:noFill/>
          <a:ln/>
        </p:spPr>
        <p:txBody>
          <a:bodyPr wrap="square" lIns="25400" tIns="25400" rIns="25400" bIns="25400" rtlCol="0" anchor="t">
            <a:normAutofit/>
          </a:bodyPr>
          <a:lstStyle/>
          <a:p>
            <a:pPr algn="l" indent="0" marL="0">
              <a:buNone/>
            </a:pPr>
            <a:r>
              <a:rPr lang="en-US" sz="3900" b="1" dirty="0">
                <a:solidFill>
                  <a:srgbClr val="E6E9EF"/>
                </a:solidFill>
                <a:latin typeface="Courier New" pitchFamily="34" charset="0"/>
                <a:ea typeface="Courier New" pitchFamily="34" charset="-122"/>
                <a:cs typeface="Courier New" pitchFamily="34" charset="-120"/>
              </a:rPr>
              <a:t>243</a:t>
            </a:r>
            <a:endParaRPr lang="en-US" sz="3900" dirty="0"/>
          </a:p>
        </p:txBody>
      </p:sp>
      <p:sp>
        <p:nvSpPr>
          <p:cNvPr id="11" name="Text 8"/>
          <p:cNvSpPr/>
          <p:nvPr/>
        </p:nvSpPr>
        <p:spPr>
          <a:xfrm>
            <a:off x="12386208" y="4777321"/>
            <a:ext cx="419135" cy="407642"/>
          </a:xfrm>
          <a:prstGeom prst="rect">
            <a:avLst/>
          </a:prstGeom>
          <a:noFill/>
          <a:ln/>
        </p:spPr>
        <p:txBody>
          <a:bodyPr wrap="square" lIns="25400" tIns="25400" rIns="25400" bIns="25400" rtlCol="0" anchor="t">
            <a:normAutofit/>
          </a:bodyPr>
          <a:lstStyle/>
          <a:p>
            <a:pPr algn="l" indent="0" marL="0">
              <a:buNone/>
            </a:pPr>
            <a:r>
              <a:rPr lang="en-US" sz="2250" dirty="0">
                <a:solidFill>
                  <a:srgbClr val="6F7787"/>
                </a:solidFill>
                <a:latin typeface="Courier New" pitchFamily="34" charset="0"/>
                <a:ea typeface="Courier New" pitchFamily="34" charset="-122"/>
                <a:cs typeface="Courier New" pitchFamily="34" charset="-120"/>
              </a:rPr>
              <a:t>vs</a:t>
            </a:r>
            <a:endParaRPr lang="en-US" sz="2250" dirty="0"/>
          </a:p>
        </p:txBody>
      </p:sp>
      <p:sp>
        <p:nvSpPr>
          <p:cNvPr id="12" name="Text 9"/>
          <p:cNvSpPr/>
          <p:nvPr/>
        </p:nvSpPr>
        <p:spPr>
          <a:xfrm>
            <a:off x="12862401" y="4654140"/>
            <a:ext cx="967900" cy="603281"/>
          </a:xfrm>
          <a:prstGeom prst="rect">
            <a:avLst/>
          </a:prstGeom>
          <a:noFill/>
          <a:ln/>
        </p:spPr>
        <p:txBody>
          <a:bodyPr wrap="square" lIns="25400" tIns="25400" rIns="25400" bIns="25400" rtlCol="0" anchor="t">
            <a:normAutofit/>
          </a:bodyPr>
          <a:lstStyle/>
          <a:p>
            <a:pPr algn="l" indent="0" marL="0">
              <a:buNone/>
            </a:pPr>
            <a:r>
              <a:rPr lang="en-US" sz="3900" b="1" dirty="0">
                <a:solidFill>
                  <a:srgbClr val="FFB877"/>
                </a:solidFill>
                <a:latin typeface="Courier New" pitchFamily="34" charset="0"/>
                <a:ea typeface="Courier New" pitchFamily="34" charset="-122"/>
                <a:cs typeface="Courier New" pitchFamily="34" charset="-120"/>
              </a:rPr>
              <a:t>653</a:t>
            </a:r>
            <a:endParaRPr lang="en-US" sz="3900" dirty="0"/>
          </a:p>
        </p:txBody>
      </p:sp>
      <p:sp>
        <p:nvSpPr>
          <p:cNvPr id="13" name="Text 10"/>
          <p:cNvSpPr/>
          <p:nvPr/>
        </p:nvSpPr>
        <p:spPr>
          <a:xfrm>
            <a:off x="11361252" y="5314537"/>
            <a:ext cx="5890868" cy="700875"/>
          </a:xfrm>
          <a:prstGeom prst="rect">
            <a:avLst/>
          </a:prstGeom>
          <a:noFill/>
          <a:ln/>
        </p:spPr>
        <p:txBody>
          <a:bodyPr wrap="square" lIns="25400" tIns="25400" rIns="25400" bIns="25400" rtlCol="0" anchor="t">
            <a:normAutofit/>
          </a:bodyPr>
          <a:lstStyle/>
          <a:p>
            <a:pPr algn="l" indent="0" marL="0">
              <a:lnSpc>
                <a:spcPct val="123637"/>
              </a:lnSpc>
              <a:buNone/>
            </a:pPr>
            <a:r>
              <a:rPr lang="en-US" sz="1800" dirty="0">
                <a:solidFill>
                  <a:srgbClr val="C9D1DE"/>
                </a:solidFill>
                <a:latin typeface="Arial" pitchFamily="34" charset="0"/>
                <a:ea typeface="Arial" pitchFamily="34" charset="-122"/>
                <a:cs typeface="Arial" pitchFamily="34" charset="-120"/>
              </a:rPr>
              <a:t>Wh predichos de media donde la casa consumió, de media, 653</a:t>
            </a:r>
            <a:endParaRPr lang="en-US" sz="1800" dirty="0"/>
          </a:p>
        </p:txBody>
      </p:sp>
      <p:sp>
        <p:nvSpPr>
          <p:cNvPr id="14" name="Shape 11"/>
          <p:cNvSpPr/>
          <p:nvPr/>
        </p:nvSpPr>
        <p:spPr>
          <a:xfrm>
            <a:off x="11068358" y="6441616"/>
            <a:ext cx="6305076" cy="1832876"/>
          </a:xfrm>
          <a:prstGeom prst="roundRect">
            <a:avLst>
              <a:gd name="adj" fmla="val 6236"/>
            </a:avLst>
          </a:prstGeom>
          <a:solidFill>
            <a:srgbClr val="151920"/>
          </a:solidFill>
          <a:ln w="7246">
            <a:solidFill>
              <a:srgbClr val="232833"/>
            </a:solidFill>
            <a:prstDash val="solid"/>
          </a:ln>
        </p:spPr>
      </p:sp>
      <p:sp>
        <p:nvSpPr>
          <p:cNvPr id="15" name="Text 12"/>
          <p:cNvSpPr/>
          <p:nvPr/>
        </p:nvSpPr>
        <p:spPr>
          <a:xfrm>
            <a:off x="11361252" y="6696469"/>
            <a:ext cx="6291218" cy="603281"/>
          </a:xfrm>
          <a:prstGeom prst="rect">
            <a:avLst/>
          </a:prstGeom>
          <a:noFill/>
          <a:ln/>
        </p:spPr>
        <p:txBody>
          <a:bodyPr wrap="square" lIns="25400" tIns="25400" rIns="25400" bIns="25400" rtlCol="0" anchor="t">
            <a:normAutofit/>
          </a:bodyPr>
          <a:lstStyle/>
          <a:p>
            <a:pPr algn="l" indent="0" marL="0">
              <a:buNone/>
            </a:pPr>
            <a:r>
              <a:rPr lang="en-US" sz="3900" b="1" dirty="0">
                <a:solidFill>
                  <a:srgbClr val="FFB877"/>
                </a:solidFill>
                <a:latin typeface="Courier New" pitchFamily="34" charset="0"/>
                <a:ea typeface="Courier New" pitchFamily="34" charset="-122"/>
                <a:cs typeface="Courier New" pitchFamily="34" charset="-120"/>
              </a:rPr>
              <a:t>50 %</a:t>
            </a:r>
            <a:endParaRPr lang="en-US" sz="3900" dirty="0"/>
          </a:p>
        </p:txBody>
      </p:sp>
      <p:sp>
        <p:nvSpPr>
          <p:cNvPr id="16" name="Text 13"/>
          <p:cNvSpPr/>
          <p:nvPr/>
        </p:nvSpPr>
        <p:spPr>
          <a:xfrm>
            <a:off x="11361252" y="7356865"/>
            <a:ext cx="5890868" cy="700875"/>
          </a:xfrm>
          <a:prstGeom prst="rect">
            <a:avLst/>
          </a:prstGeom>
          <a:noFill/>
          <a:ln/>
        </p:spPr>
        <p:txBody>
          <a:bodyPr wrap="square" lIns="25400" tIns="25400" rIns="25400" bIns="25400" rtlCol="0" anchor="t">
            <a:normAutofit/>
          </a:bodyPr>
          <a:lstStyle/>
          <a:p>
            <a:pPr algn="l" indent="0" marL="0">
              <a:lnSpc>
                <a:spcPct val="123637"/>
              </a:lnSpc>
              <a:buNone/>
            </a:pPr>
            <a:r>
              <a:rPr lang="en-US" sz="1800" dirty="0">
                <a:solidFill>
                  <a:srgbClr val="C9D1DE"/>
                </a:solidFill>
                <a:latin typeface="Arial" pitchFamily="34" charset="0"/>
                <a:ea typeface="Arial" pitchFamily="34" charset="-122"/>
                <a:cs typeface="Arial" pitchFamily="34" charset="-120"/>
              </a:rPr>
              <a:t>de esos 20 casos ocurre en la mañana (06–12 h), el tramo de rutina más variable</a:t>
            </a:r>
            <a:endParaRPr lang="en-US" sz="1800" dirty="0"/>
          </a:p>
        </p:txBody>
      </p:sp>
      <p:sp>
        <p:nvSpPr>
          <p:cNvPr id="17" name="Text 14"/>
          <p:cNvSpPr/>
          <p:nvPr/>
        </p:nvSpPr>
        <p:spPr>
          <a:xfrm>
            <a:off x="914344" y="9334547"/>
            <a:ext cx="18105124" cy="380922"/>
          </a:xfrm>
          <a:prstGeom prst="rect">
            <a:avLst/>
          </a:prstGeom>
          <a:noFill/>
          <a:ln/>
        </p:spPr>
        <p:txBody>
          <a:bodyPr wrap="square" lIns="25400" tIns="25400" rIns="25400" bIns="25400" rtlCol="0" anchor="t">
            <a:normAutofit/>
          </a:bodyPr>
          <a:lstStyle/>
          <a:p>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Peor caso: </a:t>
            </a:r>
            <a:pPr algn="l" indent="0" marL="0">
              <a:lnSpc>
                <a:spcPct val="127901"/>
              </a:lnSpc>
              <a:buNone/>
            </a:pPr>
            <a:r>
              <a:rPr lang="en-US" sz="1800" dirty="0">
                <a:solidFill>
                  <a:srgbClr val="E6E9EF"/>
                </a:solidFill>
                <a:latin typeface="Courier New" pitchFamily="34" charset="0"/>
                <a:ea typeface="Courier New" pitchFamily="34" charset="-122"/>
                <a:cs typeface="Courier New" pitchFamily="34" charset="-120"/>
              </a:rPr>
              <a:t>2016-04-16 10:40 </a:t>
            </a:r>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 800 Wh reales contra 192,3 predichos. Error de −607,8 Wh un sábado por la mañana con las luces apagadas.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A73E8"/>
                </a:solidFill>
                <a:latin typeface="Courier New" pitchFamily="34" charset="0"/>
                <a:ea typeface="Courier New" pitchFamily="34" charset="-122"/>
                <a:cs typeface="Courier New" pitchFamily="34" charset="-120"/>
              </a:rPr>
              <a:t>PUNTO 2 · 2.2 EL ERROR TAMPOCO ES UNIFORME</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El simulador es seis veces más fiable cuando la casa duerme</a:t>
            </a:r>
            <a:endParaRPr lang="en-US" sz="4050" dirty="0"/>
          </a:p>
        </p:txBody>
      </p:sp>
      <p:sp>
        <p:nvSpPr>
          <p:cNvPr id="4" name="Shape 2"/>
          <p:cNvSpPr/>
          <p:nvPr/>
        </p:nvSpPr>
        <p:spPr>
          <a:xfrm>
            <a:off x="914344" y="3743306"/>
            <a:ext cx="4771094" cy="9525"/>
          </a:xfrm>
          <a:prstGeom prst="rect">
            <a:avLst/>
          </a:prstGeom>
          <a:solidFill>
            <a:srgbClr val="2C323E"/>
          </a:solidFill>
          <a:ln/>
        </p:spPr>
      </p:sp>
      <p:sp>
        <p:nvSpPr>
          <p:cNvPr id="5" name="Text 3"/>
          <p:cNvSpPr/>
          <p:nvPr/>
        </p:nvSpPr>
        <p:spPr>
          <a:xfrm>
            <a:off x="914344" y="3404447"/>
            <a:ext cx="4914227" cy="26266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FRANJA</a:t>
            </a:r>
            <a:endParaRPr lang="en-US" sz="1350" dirty="0"/>
          </a:p>
        </p:txBody>
      </p:sp>
      <p:sp>
        <p:nvSpPr>
          <p:cNvPr id="6" name="Shape 4"/>
          <p:cNvSpPr/>
          <p:nvPr/>
        </p:nvSpPr>
        <p:spPr>
          <a:xfrm>
            <a:off x="5952065" y="3743306"/>
            <a:ext cx="822977" cy="9525"/>
          </a:xfrm>
          <a:prstGeom prst="rect">
            <a:avLst/>
          </a:prstGeom>
          <a:solidFill>
            <a:srgbClr val="2C323E"/>
          </a:solidFill>
          <a:ln/>
        </p:spPr>
      </p:sp>
      <p:sp>
        <p:nvSpPr>
          <p:cNvPr id="7" name="Text 5"/>
          <p:cNvSpPr/>
          <p:nvPr/>
        </p:nvSpPr>
        <p:spPr>
          <a:xfrm>
            <a:off x="5875865" y="3404447"/>
            <a:ext cx="899177"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MAE (Wh)</a:t>
            </a:r>
            <a:endParaRPr lang="en-US" sz="1350" dirty="0"/>
          </a:p>
        </p:txBody>
      </p:sp>
      <p:sp>
        <p:nvSpPr>
          <p:cNvPr id="8" name="Shape 6"/>
          <p:cNvSpPr/>
          <p:nvPr/>
        </p:nvSpPr>
        <p:spPr>
          <a:xfrm>
            <a:off x="7041668" y="3743306"/>
            <a:ext cx="714402" cy="9525"/>
          </a:xfrm>
          <a:prstGeom prst="rect">
            <a:avLst/>
          </a:prstGeom>
          <a:solidFill>
            <a:srgbClr val="2C323E"/>
          </a:solidFill>
          <a:ln/>
        </p:spPr>
      </p:sp>
      <p:sp>
        <p:nvSpPr>
          <p:cNvPr id="9" name="Text 7"/>
          <p:cNvSpPr/>
          <p:nvPr/>
        </p:nvSpPr>
        <p:spPr>
          <a:xfrm>
            <a:off x="6965468" y="3404447"/>
            <a:ext cx="790602"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SESGO</a:t>
            </a:r>
            <a:endParaRPr lang="en-US" sz="1350" dirty="0"/>
          </a:p>
        </p:txBody>
      </p:sp>
      <p:sp>
        <p:nvSpPr>
          <p:cNvPr id="10" name="Shape 8"/>
          <p:cNvSpPr/>
          <p:nvPr/>
        </p:nvSpPr>
        <p:spPr>
          <a:xfrm>
            <a:off x="914344" y="4481031"/>
            <a:ext cx="4771094" cy="9525"/>
          </a:xfrm>
          <a:prstGeom prst="rect">
            <a:avLst/>
          </a:prstGeom>
          <a:solidFill>
            <a:srgbClr val="1C212A"/>
          </a:solidFill>
          <a:ln/>
        </p:spPr>
      </p:sp>
      <p:sp>
        <p:nvSpPr>
          <p:cNvPr id="11" name="Text 9"/>
          <p:cNvSpPr/>
          <p:nvPr/>
        </p:nvSpPr>
        <p:spPr>
          <a:xfrm>
            <a:off x="914344" y="3960102"/>
            <a:ext cx="4914227"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Madrugada (00–06)</a:t>
            </a:r>
            <a:endParaRPr lang="en-US" sz="1875" dirty="0"/>
          </a:p>
        </p:txBody>
      </p:sp>
      <p:sp>
        <p:nvSpPr>
          <p:cNvPr id="12" name="Shape 10"/>
          <p:cNvSpPr/>
          <p:nvPr/>
        </p:nvSpPr>
        <p:spPr>
          <a:xfrm>
            <a:off x="5952065" y="4481031"/>
            <a:ext cx="822977" cy="9525"/>
          </a:xfrm>
          <a:prstGeom prst="rect">
            <a:avLst/>
          </a:prstGeom>
          <a:solidFill>
            <a:srgbClr val="1C212A"/>
          </a:solidFill>
          <a:ln/>
        </p:spPr>
      </p:sp>
      <p:sp>
        <p:nvSpPr>
          <p:cNvPr id="13" name="Text 11"/>
          <p:cNvSpPr/>
          <p:nvPr/>
        </p:nvSpPr>
        <p:spPr>
          <a:xfrm>
            <a:off x="5875865" y="3960102"/>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7,34</a:t>
            </a:r>
            <a:endParaRPr lang="en-US" sz="1875" dirty="0"/>
          </a:p>
        </p:txBody>
      </p:sp>
      <p:sp>
        <p:nvSpPr>
          <p:cNvPr id="14" name="Shape 12"/>
          <p:cNvSpPr/>
          <p:nvPr/>
        </p:nvSpPr>
        <p:spPr>
          <a:xfrm>
            <a:off x="7041668" y="4481031"/>
            <a:ext cx="714402" cy="9525"/>
          </a:xfrm>
          <a:prstGeom prst="rect">
            <a:avLst/>
          </a:prstGeom>
          <a:solidFill>
            <a:srgbClr val="1C212A"/>
          </a:solidFill>
          <a:ln/>
        </p:spPr>
      </p:sp>
      <p:sp>
        <p:nvSpPr>
          <p:cNvPr id="15" name="Text 13"/>
          <p:cNvSpPr/>
          <p:nvPr/>
        </p:nvSpPr>
        <p:spPr>
          <a:xfrm>
            <a:off x="6965468" y="3960102"/>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−0,08</a:t>
            </a:r>
            <a:endParaRPr lang="en-US" sz="1875" dirty="0"/>
          </a:p>
        </p:txBody>
      </p:sp>
      <p:sp>
        <p:nvSpPr>
          <p:cNvPr id="16" name="Shape 14"/>
          <p:cNvSpPr/>
          <p:nvPr/>
        </p:nvSpPr>
        <p:spPr>
          <a:xfrm>
            <a:off x="914344" y="5218755"/>
            <a:ext cx="4771094" cy="9525"/>
          </a:xfrm>
          <a:prstGeom prst="rect">
            <a:avLst/>
          </a:prstGeom>
          <a:solidFill>
            <a:srgbClr val="1C212A"/>
          </a:solidFill>
          <a:ln/>
        </p:spPr>
      </p:sp>
      <p:sp>
        <p:nvSpPr>
          <p:cNvPr id="17" name="Text 15"/>
          <p:cNvSpPr/>
          <p:nvPr/>
        </p:nvSpPr>
        <p:spPr>
          <a:xfrm>
            <a:off x="914344" y="4697827"/>
            <a:ext cx="4914227"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Mañana (06–12)</a:t>
            </a:r>
            <a:endParaRPr lang="en-US" sz="1875" dirty="0"/>
          </a:p>
        </p:txBody>
      </p:sp>
      <p:sp>
        <p:nvSpPr>
          <p:cNvPr id="18" name="Shape 16"/>
          <p:cNvSpPr/>
          <p:nvPr/>
        </p:nvSpPr>
        <p:spPr>
          <a:xfrm>
            <a:off x="5952065" y="5218755"/>
            <a:ext cx="822977" cy="9525"/>
          </a:xfrm>
          <a:prstGeom prst="rect">
            <a:avLst/>
          </a:prstGeom>
          <a:solidFill>
            <a:srgbClr val="1C212A"/>
          </a:solidFill>
          <a:ln/>
        </p:spPr>
      </p:sp>
      <p:sp>
        <p:nvSpPr>
          <p:cNvPr id="19" name="Text 17"/>
          <p:cNvSpPr/>
          <p:nvPr/>
        </p:nvSpPr>
        <p:spPr>
          <a:xfrm>
            <a:off x="5875865" y="4697827"/>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42,12</a:t>
            </a:r>
            <a:endParaRPr lang="en-US" sz="1875" dirty="0"/>
          </a:p>
        </p:txBody>
      </p:sp>
      <p:sp>
        <p:nvSpPr>
          <p:cNvPr id="20" name="Shape 18"/>
          <p:cNvSpPr/>
          <p:nvPr/>
        </p:nvSpPr>
        <p:spPr>
          <a:xfrm>
            <a:off x="7041668" y="5218755"/>
            <a:ext cx="714402" cy="9525"/>
          </a:xfrm>
          <a:prstGeom prst="rect">
            <a:avLst/>
          </a:prstGeom>
          <a:solidFill>
            <a:srgbClr val="1C212A"/>
          </a:solidFill>
          <a:ln/>
        </p:spPr>
      </p:sp>
      <p:sp>
        <p:nvSpPr>
          <p:cNvPr id="21" name="Text 19"/>
          <p:cNvSpPr/>
          <p:nvPr/>
        </p:nvSpPr>
        <p:spPr>
          <a:xfrm>
            <a:off x="6965468" y="4697827"/>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−0,20</a:t>
            </a:r>
            <a:endParaRPr lang="en-US" sz="1875" dirty="0"/>
          </a:p>
        </p:txBody>
      </p:sp>
      <p:sp>
        <p:nvSpPr>
          <p:cNvPr id="22" name="Shape 20"/>
          <p:cNvSpPr/>
          <p:nvPr/>
        </p:nvSpPr>
        <p:spPr>
          <a:xfrm>
            <a:off x="914344" y="5956480"/>
            <a:ext cx="4771094" cy="9525"/>
          </a:xfrm>
          <a:prstGeom prst="rect">
            <a:avLst/>
          </a:prstGeom>
          <a:solidFill>
            <a:srgbClr val="1C212A"/>
          </a:solidFill>
          <a:ln/>
        </p:spPr>
      </p:sp>
      <p:sp>
        <p:nvSpPr>
          <p:cNvPr id="23" name="Text 21"/>
          <p:cNvSpPr/>
          <p:nvPr/>
        </p:nvSpPr>
        <p:spPr>
          <a:xfrm>
            <a:off x="914344" y="5435551"/>
            <a:ext cx="4914227"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Tarde (12–18)</a:t>
            </a:r>
            <a:endParaRPr lang="en-US" sz="1875" dirty="0"/>
          </a:p>
        </p:txBody>
      </p:sp>
      <p:sp>
        <p:nvSpPr>
          <p:cNvPr id="24" name="Shape 22"/>
          <p:cNvSpPr/>
          <p:nvPr/>
        </p:nvSpPr>
        <p:spPr>
          <a:xfrm>
            <a:off x="5952065" y="5956480"/>
            <a:ext cx="822977" cy="9525"/>
          </a:xfrm>
          <a:prstGeom prst="rect">
            <a:avLst/>
          </a:prstGeom>
          <a:solidFill>
            <a:srgbClr val="1C212A"/>
          </a:solidFill>
          <a:ln/>
        </p:spPr>
      </p:sp>
      <p:sp>
        <p:nvSpPr>
          <p:cNvPr id="25" name="Text 23"/>
          <p:cNvSpPr/>
          <p:nvPr/>
        </p:nvSpPr>
        <p:spPr>
          <a:xfrm>
            <a:off x="5875865" y="5435551"/>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FFB877"/>
                </a:solidFill>
                <a:latin typeface="Courier New" pitchFamily="34" charset="0"/>
                <a:ea typeface="Courier New" pitchFamily="34" charset="-122"/>
                <a:cs typeface="Courier New" pitchFamily="34" charset="-120"/>
              </a:rPr>
              <a:t>38,16</a:t>
            </a:r>
            <a:endParaRPr lang="en-US" sz="1875" dirty="0"/>
          </a:p>
        </p:txBody>
      </p:sp>
      <p:sp>
        <p:nvSpPr>
          <p:cNvPr id="26" name="Shape 24"/>
          <p:cNvSpPr/>
          <p:nvPr/>
        </p:nvSpPr>
        <p:spPr>
          <a:xfrm>
            <a:off x="7041668" y="5956480"/>
            <a:ext cx="714402" cy="9525"/>
          </a:xfrm>
          <a:prstGeom prst="rect">
            <a:avLst/>
          </a:prstGeom>
          <a:solidFill>
            <a:srgbClr val="1C212A"/>
          </a:solidFill>
          <a:ln/>
        </p:spPr>
      </p:sp>
      <p:sp>
        <p:nvSpPr>
          <p:cNvPr id="27" name="Text 25"/>
          <p:cNvSpPr/>
          <p:nvPr/>
        </p:nvSpPr>
        <p:spPr>
          <a:xfrm>
            <a:off x="6965468" y="5435551"/>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+2,98</a:t>
            </a:r>
            <a:endParaRPr lang="en-US" sz="1875" dirty="0"/>
          </a:p>
        </p:txBody>
      </p:sp>
      <p:sp>
        <p:nvSpPr>
          <p:cNvPr id="28" name="Text 26"/>
          <p:cNvSpPr/>
          <p:nvPr/>
        </p:nvSpPr>
        <p:spPr>
          <a:xfrm>
            <a:off x="914344" y="6173276"/>
            <a:ext cx="4914227"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Noche (18–24)</a:t>
            </a:r>
            <a:endParaRPr lang="en-US" sz="1875" dirty="0"/>
          </a:p>
        </p:txBody>
      </p:sp>
      <p:sp>
        <p:nvSpPr>
          <p:cNvPr id="29" name="Text 27"/>
          <p:cNvSpPr/>
          <p:nvPr/>
        </p:nvSpPr>
        <p:spPr>
          <a:xfrm>
            <a:off x="5875865" y="6173276"/>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FFB877"/>
                </a:solidFill>
                <a:latin typeface="Courier New" pitchFamily="34" charset="0"/>
                <a:ea typeface="Courier New" pitchFamily="34" charset="-122"/>
                <a:cs typeface="Courier New" pitchFamily="34" charset="-120"/>
              </a:rPr>
              <a:t>34,74</a:t>
            </a:r>
            <a:endParaRPr lang="en-US" sz="1875" dirty="0"/>
          </a:p>
        </p:txBody>
      </p:sp>
      <p:sp>
        <p:nvSpPr>
          <p:cNvPr id="30" name="Text 28"/>
          <p:cNvSpPr/>
          <p:nvPr/>
        </p:nvSpPr>
        <p:spPr>
          <a:xfrm>
            <a:off x="6965468" y="6173276"/>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+2,99</a:t>
            </a:r>
            <a:endParaRPr lang="en-US" sz="1875" dirty="0"/>
          </a:p>
        </p:txBody>
      </p:sp>
      <p:sp>
        <p:nvSpPr>
          <p:cNvPr id="31" name="Shape 29"/>
          <p:cNvSpPr/>
          <p:nvPr/>
        </p:nvSpPr>
        <p:spPr>
          <a:xfrm>
            <a:off x="8137047" y="3079173"/>
            <a:ext cx="9236501" cy="3159218"/>
          </a:xfrm>
          <a:prstGeom prst="roundRect">
            <a:avLst>
              <a:gd name="adj" fmla="val 3618"/>
            </a:avLst>
          </a:prstGeom>
          <a:solidFill>
            <a:srgbClr val="FFFFFF"/>
          </a:solidFill>
          <a:ln/>
        </p:spPr>
      </p:sp>
      <p:pic>
        <p:nvPicPr>
          <p:cNvPr id="32" name="Image 0" descr="preencoded.png">    </p:cNvPr>
          <p:cNvPicPr>
            <a:picLocks noChangeAspect="1"/>
          </p:cNvPicPr>
          <p:nvPr/>
        </p:nvPicPr>
        <p:blipFill>
          <a:blip r:embed="rId1"/>
          <a:stretch>
            <a:fillRect/>
          </a:stretch>
        </p:blipFill>
        <p:spPr>
          <a:xfrm>
            <a:off x="8384653" y="3288625"/>
            <a:ext cx="8741288" cy="2740314"/>
          </a:xfrm>
          <a:prstGeom prst="rect">
            <a:avLst/>
          </a:prstGeom>
        </p:spPr>
      </p:pic>
      <p:sp>
        <p:nvSpPr>
          <p:cNvPr id="33" name="Text 30"/>
          <p:cNvSpPr/>
          <p:nvPr/>
        </p:nvSpPr>
        <p:spPr>
          <a:xfrm>
            <a:off x="8137047" y="6390782"/>
            <a:ext cx="9513596" cy="666683"/>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6F7787"/>
                </a:solidFill>
                <a:latin typeface="Courier New" pitchFamily="34" charset="0"/>
                <a:ea typeface="Courier New" pitchFamily="34" charset="-122"/>
                <a:cs typeface="Courier New" pitchFamily="34" charset="-120"/>
              </a:rPr>
              <a:t>Figura 4 · por cuartil de consumo el signo se invierte: +9,8 / +6,2 / +21,6 Wh en los bajos y </a:t>
            </a:r>
            <a:pPr algn="l" indent="0" marL="0">
              <a:lnSpc>
                <a:spcPct val="131453"/>
              </a:lnSpc>
              <a:buNone/>
            </a:pPr>
            <a:r>
              <a:rPr lang="en-US" sz="1650" dirty="0">
                <a:solidFill>
                  <a:srgbClr val="F28B82"/>
                </a:solidFill>
                <a:latin typeface="Courier New" pitchFamily="34" charset="0"/>
                <a:ea typeface="Courier New" pitchFamily="34" charset="-122"/>
                <a:cs typeface="Courier New" pitchFamily="34" charset="-120"/>
              </a:rPr>
              <a:t>−40,6 Wh </a:t>
            </a:r>
            <a:pPr algn="l" indent="0" marL="0">
              <a:lnSpc>
                <a:spcPct val="131453"/>
              </a:lnSpc>
              <a:buNone/>
            </a:pPr>
            <a:r>
              <a:rPr lang="en-US" sz="1650" dirty="0">
                <a:solidFill>
                  <a:srgbClr val="6F7787"/>
                </a:solidFill>
                <a:latin typeface="Courier New" pitchFamily="34" charset="0"/>
                <a:ea typeface="Courier New" pitchFamily="34" charset="-122"/>
                <a:cs typeface="Courier New" pitchFamily="34" charset="-120"/>
              </a:rPr>
              <a:t>en el alto.</a:t>
            </a:r>
            <a:endParaRPr lang="en-US" sz="1650" dirty="0"/>
          </a:p>
        </p:txBody>
      </p:sp>
      <p:sp>
        <p:nvSpPr>
          <p:cNvPr id="34" name="Shape 31"/>
          <p:cNvSpPr/>
          <p:nvPr/>
        </p:nvSpPr>
        <p:spPr>
          <a:xfrm>
            <a:off x="914344" y="8432204"/>
            <a:ext cx="16459203" cy="1245165"/>
          </a:xfrm>
          <a:custGeom>
            <a:avLst/>
            <a:gdLst/>
            <a:ahLst/>
            <a:cxnLst/>
            <a:rect l="l" t="t" r="r" b="b"/>
            <a:pathLst>
              <a:path w="16459203" h="1245165">
                <a:moveTo>
                  <a:pt x="0" y="0"/>
                </a:moveTo>
                <a:lnTo>
                  <a:pt x="16344903" y="0"/>
                </a:lnTo>
                <a:arcTo hR="114300" wR="114300" stAng="16200000" swAng="5400000"/>
                <a:lnTo>
                  <a:pt x="16459203" y="1130865"/>
                </a:lnTo>
                <a:arcTo hR="114300" wR="114300" stAng="0" swAng="5400000"/>
                <a:lnTo>
                  <a:pt x="0" y="1245165"/>
                </a:lnTo>
                <a:lnTo>
                  <a:pt x="0" y="0"/>
                </a:lnTo>
                <a:close/>
              </a:path>
            </a:pathLst>
          </a:custGeom>
          <a:solidFill>
            <a:srgbClr val="11141A"/>
          </a:solidFill>
          <a:ln/>
        </p:spPr>
      </p:sp>
      <p:sp>
        <p:nvSpPr>
          <p:cNvPr id="35" name="Shape 32"/>
          <p:cNvSpPr/>
          <p:nvPr/>
        </p:nvSpPr>
        <p:spPr>
          <a:xfrm>
            <a:off x="914344" y="8432204"/>
            <a:ext cx="36230" cy="1245165"/>
          </a:xfrm>
          <a:prstGeom prst="rect">
            <a:avLst/>
          </a:prstGeom>
          <a:solidFill>
            <a:srgbClr val="1A73E8"/>
          </a:solidFill>
          <a:ln/>
        </p:spPr>
      </p:sp>
      <p:sp>
        <p:nvSpPr>
          <p:cNvPr id="36" name="Text 33"/>
          <p:cNvSpPr/>
          <p:nvPr/>
        </p:nvSpPr>
        <p:spPr>
          <a:xfrm>
            <a:off x="1274423" y="8679854"/>
            <a:ext cx="16269050" cy="787965"/>
          </a:xfrm>
          <a:prstGeom prst="rect">
            <a:avLst/>
          </a:prstGeom>
          <a:noFill/>
          <a:ln/>
        </p:spPr>
        <p:txBody>
          <a:bodyPr wrap="square" lIns="25400" tIns="25400" rIns="25400" bIns="25400" rtlCol="0" anchor="t">
            <a:normAutofit/>
          </a:bodyPr>
          <a:lstStyle/>
          <a:p>
            <a:pPr algn="l" indent="0" marL="0">
              <a:lnSpc>
                <a:spcPct val="131453"/>
              </a:lnSpc>
              <a:buNone/>
            </a:pPr>
            <a:r>
              <a:rPr lang="en-US" sz="1950" b="1" dirty="0">
                <a:solidFill>
                  <a:srgbClr val="E6E9EF"/>
                </a:solidFill>
                <a:latin typeface="Arial" pitchFamily="34" charset="0"/>
                <a:ea typeface="Arial" pitchFamily="34" charset="-122"/>
                <a:cs typeface="Arial" pitchFamily="34" charset="-120"/>
              </a:rPr>
              <a:t>Qué cambia en el diseño de Shiro. </a:t>
            </a:r>
            <a:pPr algn="l" indent="0" marL="0">
              <a:lnSpc>
                <a:spcPct val="131453"/>
              </a:lnSpc>
              <a:buNone/>
            </a:pPr>
            <a:r>
              <a:rPr lang="en-US" sz="1950" dirty="0">
                <a:solidFill>
                  <a:srgbClr val="C9D1DE"/>
                </a:solidFill>
                <a:highlight>
                  <a:srgbClr val="11141A"/>
                </a:highlight>
                <a:latin typeface="Arial" pitchFamily="34" charset="0"/>
                <a:ea typeface="Arial" pitchFamily="34" charset="-122"/>
                <a:cs typeface="Arial" pitchFamily="34" charset="-120"/>
              </a:rPr>
              <a:t>Con una sola incertidumbre global, el agente creería que la tarde es tan predecible como la madrugada y explotaría justo las horas donde el simulador es menos fiable. La incertidumbre debe ser función de la franja horaria.</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533367"/>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A73E8"/>
                </a:solidFill>
                <a:latin typeface="Courier New" pitchFamily="34" charset="0"/>
                <a:ea typeface="Courier New" pitchFamily="34" charset="-122"/>
                <a:cs typeface="Courier New" pitchFamily="34" charset="-120"/>
              </a:rPr>
              <a:t>PUNTO 2 · 2.3 TRES CASOS CRÍTICOS</a:t>
            </a:r>
            <a:endParaRPr lang="en-US" sz="1350" dirty="0"/>
          </a:p>
        </p:txBody>
      </p:sp>
      <p:sp>
        <p:nvSpPr>
          <p:cNvPr id="3" name="Text 1"/>
          <p:cNvSpPr/>
          <p:nvPr/>
        </p:nvSpPr>
        <p:spPr>
          <a:xfrm>
            <a:off x="914344" y="891247"/>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Tres fallos, tres causas distintas</a:t>
            </a:r>
            <a:endParaRPr lang="en-US" sz="4050" dirty="0"/>
          </a:p>
        </p:txBody>
      </p:sp>
      <p:sp>
        <p:nvSpPr>
          <p:cNvPr id="4" name="Shape 2"/>
          <p:cNvSpPr/>
          <p:nvPr/>
        </p:nvSpPr>
        <p:spPr>
          <a:xfrm>
            <a:off x="914344" y="1780796"/>
            <a:ext cx="5334010" cy="4449670"/>
          </a:xfrm>
          <a:prstGeom prst="roundRect">
            <a:avLst>
              <a:gd name="adj" fmla="val 2569"/>
            </a:avLst>
          </a:prstGeom>
          <a:solidFill>
            <a:srgbClr val="151920"/>
          </a:solidFill>
          <a:ln/>
        </p:spPr>
      </p:sp>
      <p:sp>
        <p:nvSpPr>
          <p:cNvPr id="5" name="Shape 3"/>
          <p:cNvSpPr/>
          <p:nvPr/>
        </p:nvSpPr>
        <p:spPr>
          <a:xfrm>
            <a:off x="914344" y="6223220"/>
            <a:ext cx="5334010" cy="9525"/>
          </a:xfrm>
          <a:prstGeom prst="rect">
            <a:avLst/>
          </a:prstGeom>
          <a:solidFill>
            <a:srgbClr val="232833"/>
          </a:solidFill>
          <a:ln/>
        </p:spPr>
      </p:sp>
      <p:sp>
        <p:nvSpPr>
          <p:cNvPr id="6" name="Shape 4"/>
          <p:cNvSpPr/>
          <p:nvPr/>
        </p:nvSpPr>
        <p:spPr>
          <a:xfrm>
            <a:off x="914344" y="1780796"/>
            <a:ext cx="5334010" cy="21738"/>
          </a:xfrm>
          <a:prstGeom prst="rect">
            <a:avLst/>
          </a:prstGeom>
          <a:solidFill>
            <a:srgbClr val="F28B82"/>
          </a:solidFill>
          <a:ln/>
        </p:spPr>
      </p:sp>
      <p:sp>
        <p:nvSpPr>
          <p:cNvPr id="7" name="Shape 5"/>
          <p:cNvSpPr/>
          <p:nvPr/>
        </p:nvSpPr>
        <p:spPr>
          <a:xfrm>
            <a:off x="914344" y="1780796"/>
            <a:ext cx="9525" cy="4449670"/>
          </a:xfrm>
          <a:prstGeom prst="rect">
            <a:avLst/>
          </a:prstGeom>
          <a:solidFill>
            <a:srgbClr val="232833"/>
          </a:solidFill>
          <a:ln/>
        </p:spPr>
      </p:sp>
      <p:sp>
        <p:nvSpPr>
          <p:cNvPr id="8" name="Shape 6"/>
          <p:cNvSpPr/>
          <p:nvPr/>
        </p:nvSpPr>
        <p:spPr>
          <a:xfrm>
            <a:off x="6241108" y="1780796"/>
            <a:ext cx="9525" cy="4449670"/>
          </a:xfrm>
          <a:prstGeom prst="rect">
            <a:avLst/>
          </a:prstGeom>
          <a:solidFill>
            <a:srgbClr val="232833"/>
          </a:solidFill>
          <a:ln/>
        </p:spPr>
      </p:sp>
      <p:sp>
        <p:nvSpPr>
          <p:cNvPr id="9" name="Text 7"/>
          <p:cNvSpPr/>
          <p:nvPr/>
        </p:nvSpPr>
        <p:spPr>
          <a:xfrm>
            <a:off x="1207237" y="2069161"/>
            <a:ext cx="5223046" cy="262723"/>
          </a:xfrm>
          <a:prstGeom prst="rect">
            <a:avLst/>
          </a:prstGeom>
          <a:noFill/>
          <a:ln/>
        </p:spPr>
        <p:txBody>
          <a:bodyPr wrap="square" lIns="25400" tIns="25400" rIns="25400" bIns="25400" rtlCol="0" anchor="t">
            <a:normAutofit/>
          </a:bodyPr>
          <a:lstStyle/>
          <a:p>
            <a:pPr algn="l" indent="0" marL="0">
              <a:buNone/>
            </a:pPr>
            <a:r>
              <a:rPr lang="en-US" sz="1350" spc="75" kern="0" dirty="0">
                <a:solidFill>
                  <a:srgbClr val="F28B82"/>
                </a:solidFill>
                <a:latin typeface="Courier New" pitchFamily="34" charset="0"/>
                <a:ea typeface="Courier New" pitchFamily="34" charset="-122"/>
                <a:cs typeface="Courier New" pitchFamily="34" charset="-120"/>
              </a:rPr>
              <a:t>CASO A · EL PICO INVISIBLE</a:t>
            </a:r>
            <a:endParaRPr lang="en-US" sz="1350" dirty="0"/>
          </a:p>
        </p:txBody>
      </p:sp>
      <p:sp>
        <p:nvSpPr>
          <p:cNvPr id="10" name="Text 8"/>
          <p:cNvSpPr/>
          <p:nvPr/>
        </p:nvSpPr>
        <p:spPr>
          <a:xfrm>
            <a:off x="1207237" y="2408021"/>
            <a:ext cx="5223046" cy="372431"/>
          </a:xfrm>
          <a:prstGeom prst="rect">
            <a:avLst/>
          </a:prstGeom>
          <a:noFill/>
          <a:ln/>
        </p:spPr>
        <p:txBody>
          <a:bodyPr wrap="square" lIns="25400" tIns="25400" rIns="25400" bIns="25400" rtlCol="0" anchor="t">
            <a:normAutofit/>
          </a:bodyPr>
          <a:lstStyle/>
          <a:p>
            <a:pPr algn="l" indent="0" marL="0">
              <a:lnSpc>
                <a:spcPct val="112537"/>
              </a:lnSpc>
              <a:buNone/>
            </a:pPr>
            <a:r>
              <a:rPr lang="en-US" sz="2025" b="1" dirty="0">
                <a:solidFill>
                  <a:srgbClr val="E6E9EF"/>
                </a:solidFill>
                <a:latin typeface="Arial" pitchFamily="34" charset="0"/>
                <a:ea typeface="Arial" pitchFamily="34" charset="-122"/>
                <a:cs typeface="Arial" pitchFamily="34" charset="-120"/>
              </a:rPr>
              <a:t>16-abr 10:40 · sábado</a:t>
            </a:r>
            <a:endParaRPr lang="en-US" sz="2025" dirty="0"/>
          </a:p>
        </p:txBody>
      </p:sp>
      <p:sp>
        <p:nvSpPr>
          <p:cNvPr id="11" name="Text 9"/>
          <p:cNvSpPr/>
          <p:nvPr/>
        </p:nvSpPr>
        <p:spPr>
          <a:xfrm>
            <a:off x="1207237" y="2913763"/>
            <a:ext cx="624965"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REAL</a:t>
            </a:r>
            <a:endParaRPr lang="en-US" sz="1275" dirty="0"/>
          </a:p>
        </p:txBody>
      </p:sp>
      <p:sp>
        <p:nvSpPr>
          <p:cNvPr id="12" name="Text 10"/>
          <p:cNvSpPr/>
          <p:nvPr/>
        </p:nvSpPr>
        <p:spPr>
          <a:xfrm>
            <a:off x="1207237" y="3123894"/>
            <a:ext cx="624965"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E6E9EF"/>
                </a:solidFill>
                <a:latin typeface="Courier New" pitchFamily="34" charset="0"/>
                <a:ea typeface="Courier New" pitchFamily="34" charset="-122"/>
                <a:cs typeface="Courier New" pitchFamily="34" charset="-120"/>
              </a:rPr>
              <a:t>800</a:t>
            </a:r>
            <a:endParaRPr lang="en-US" sz="2400" dirty="0"/>
          </a:p>
        </p:txBody>
      </p:sp>
      <p:sp>
        <p:nvSpPr>
          <p:cNvPr id="13" name="Text 11"/>
          <p:cNvSpPr/>
          <p:nvPr/>
        </p:nvSpPr>
        <p:spPr>
          <a:xfrm>
            <a:off x="2003608" y="2913763"/>
            <a:ext cx="990657"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PREDICHO</a:t>
            </a:r>
            <a:endParaRPr lang="en-US" sz="1275" dirty="0"/>
          </a:p>
        </p:txBody>
      </p:sp>
      <p:sp>
        <p:nvSpPr>
          <p:cNvPr id="14" name="Text 12"/>
          <p:cNvSpPr/>
          <p:nvPr/>
        </p:nvSpPr>
        <p:spPr>
          <a:xfrm>
            <a:off x="2003608" y="3123894"/>
            <a:ext cx="990657"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8B93A3"/>
                </a:solidFill>
                <a:latin typeface="Courier New" pitchFamily="34" charset="0"/>
                <a:ea typeface="Courier New" pitchFamily="34" charset="-122"/>
                <a:cs typeface="Courier New" pitchFamily="34" charset="-120"/>
              </a:rPr>
              <a:t>192,3</a:t>
            </a:r>
            <a:endParaRPr lang="en-US" sz="2400" dirty="0"/>
          </a:p>
        </p:txBody>
      </p:sp>
      <p:sp>
        <p:nvSpPr>
          <p:cNvPr id="15" name="Text 13"/>
          <p:cNvSpPr/>
          <p:nvPr/>
        </p:nvSpPr>
        <p:spPr>
          <a:xfrm>
            <a:off x="3165671" y="2913763"/>
            <a:ext cx="1173616"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ERROR</a:t>
            </a:r>
            <a:endParaRPr lang="en-US" sz="1275" dirty="0"/>
          </a:p>
        </p:txBody>
      </p:sp>
      <p:sp>
        <p:nvSpPr>
          <p:cNvPr id="16" name="Text 14"/>
          <p:cNvSpPr/>
          <p:nvPr/>
        </p:nvSpPr>
        <p:spPr>
          <a:xfrm>
            <a:off x="3165671" y="3123894"/>
            <a:ext cx="1173616"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F28B82"/>
                </a:solidFill>
                <a:latin typeface="Courier New" pitchFamily="34" charset="0"/>
                <a:ea typeface="Courier New" pitchFamily="34" charset="-122"/>
                <a:cs typeface="Courier New" pitchFamily="34" charset="-120"/>
              </a:rPr>
              <a:t>−607,8</a:t>
            </a:r>
            <a:endParaRPr lang="en-US" sz="2400" dirty="0"/>
          </a:p>
        </p:txBody>
      </p:sp>
      <p:sp>
        <p:nvSpPr>
          <p:cNvPr id="17" name="Shape 15"/>
          <p:cNvSpPr/>
          <p:nvPr/>
        </p:nvSpPr>
        <p:spPr>
          <a:xfrm>
            <a:off x="1207237" y="3662130"/>
            <a:ext cx="4748224" cy="9525"/>
          </a:xfrm>
          <a:prstGeom prst="rect">
            <a:avLst/>
          </a:prstGeom>
          <a:solidFill>
            <a:srgbClr val="232833"/>
          </a:solidFill>
          <a:ln/>
        </p:spPr>
      </p:sp>
      <p:sp>
        <p:nvSpPr>
          <p:cNvPr id="18" name="Text 16"/>
          <p:cNvSpPr/>
          <p:nvPr/>
        </p:nvSpPr>
        <p:spPr>
          <a:xfrm>
            <a:off x="1207237" y="3840826"/>
            <a:ext cx="4890671" cy="1344590"/>
          </a:xfrm>
          <a:prstGeom prst="rect">
            <a:avLst/>
          </a:prstGeom>
          <a:noFill/>
          <a:ln/>
        </p:spPr>
        <p:txBody>
          <a:bodyPr wrap="square" lIns="25400" tIns="25400" rIns="25400" bIns="25400" rtlCol="0" anchor="t">
            <a:normAutofit/>
          </a:bodyPr>
          <a:lstStyle/>
          <a:p>
            <a:pPr algn="l" indent="0" marL="0">
              <a:lnSpc>
                <a:spcPct val="135835"/>
              </a:lnSpc>
              <a:buNone/>
            </a:pPr>
            <a:r>
              <a:rPr lang="en-US" sz="1650" b="1" dirty="0">
                <a:solidFill>
                  <a:srgbClr val="E6E9EF"/>
                </a:solidFill>
                <a:latin typeface="Arial" pitchFamily="34" charset="0"/>
                <a:ea typeface="Arial" pitchFamily="34" charset="-122"/>
                <a:cs typeface="Arial" pitchFamily="34" charset="-120"/>
              </a:rPr>
              <a:t>¿Qué feature influyó? </a:t>
            </a:r>
            <a:pPr algn="l" indent="0" marL="0">
              <a:lnSpc>
                <a:spcPct val="135835"/>
              </a:lnSpc>
              <a:buNone/>
            </a:pPr>
            <a:r>
              <a:rPr lang="en-US" sz="1650" dirty="0">
                <a:solidFill>
                  <a:srgbClr val="C9D1DE"/>
                </a:solidFill>
                <a:latin typeface="Arial" pitchFamily="34" charset="0"/>
                <a:ea typeface="Arial" pitchFamily="34" charset="-122"/>
                <a:cs typeface="Arial" pitchFamily="34" charset="-120"/>
              </a:rPr>
              <a:t>Ninguna — el problema es la que falta. Casa ordinaria, lights = 0. Alguien encendió un aparato y esa decisión no está en ninguna columna.</a:t>
            </a:r>
            <a:endParaRPr lang="en-US" sz="1650" dirty="0"/>
          </a:p>
        </p:txBody>
      </p:sp>
      <p:sp>
        <p:nvSpPr>
          <p:cNvPr id="19" name="Text 17"/>
          <p:cNvSpPr/>
          <p:nvPr/>
        </p:nvSpPr>
        <p:spPr>
          <a:xfrm>
            <a:off x="1207237" y="5299706"/>
            <a:ext cx="4890671" cy="694987"/>
          </a:xfrm>
          <a:prstGeom prst="rect">
            <a:avLst/>
          </a:prstGeom>
          <a:noFill/>
          <a:ln/>
        </p:spPr>
        <p:txBody>
          <a:bodyPr wrap="square" lIns="25400" tIns="25400" rIns="25400" bIns="25400" rtlCol="0" anchor="t">
            <a:normAutofit/>
          </a:bodyPr>
          <a:lstStyle/>
          <a:p>
            <a:pPr algn="l" indent="0" marL="0">
              <a:lnSpc>
                <a:spcPct val="135835"/>
              </a:lnSpc>
              <a:buNone/>
            </a:pPr>
            <a:r>
              <a:rPr lang="en-US" sz="1650" b="1" dirty="0">
                <a:solidFill>
                  <a:srgbClr val="7BD992"/>
                </a:solidFill>
                <a:latin typeface="Arial" pitchFamily="34" charset="0"/>
                <a:ea typeface="Arial" pitchFamily="34" charset="-122"/>
                <a:cs typeface="Arial" pitchFamily="34" charset="-120"/>
              </a:rPr>
              <a:t>¿Sobreajustado? No. </a:t>
            </a:r>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Error irreducible con estas variables.</a:t>
            </a:r>
            <a:endParaRPr lang="en-US" sz="1650" dirty="0"/>
          </a:p>
        </p:txBody>
      </p:sp>
      <p:sp>
        <p:nvSpPr>
          <p:cNvPr id="20" name="Shape 18"/>
          <p:cNvSpPr/>
          <p:nvPr/>
        </p:nvSpPr>
        <p:spPr>
          <a:xfrm>
            <a:off x="6476940" y="1780796"/>
            <a:ext cx="5334010" cy="4449670"/>
          </a:xfrm>
          <a:prstGeom prst="roundRect">
            <a:avLst>
              <a:gd name="adj" fmla="val 2569"/>
            </a:avLst>
          </a:prstGeom>
          <a:solidFill>
            <a:srgbClr val="151920"/>
          </a:solidFill>
          <a:ln/>
        </p:spPr>
      </p:sp>
      <p:sp>
        <p:nvSpPr>
          <p:cNvPr id="21" name="Shape 19"/>
          <p:cNvSpPr/>
          <p:nvPr/>
        </p:nvSpPr>
        <p:spPr>
          <a:xfrm>
            <a:off x="6476940" y="6223220"/>
            <a:ext cx="5334010" cy="9525"/>
          </a:xfrm>
          <a:prstGeom prst="rect">
            <a:avLst/>
          </a:prstGeom>
          <a:solidFill>
            <a:srgbClr val="232833"/>
          </a:solidFill>
          <a:ln/>
        </p:spPr>
      </p:sp>
      <p:sp>
        <p:nvSpPr>
          <p:cNvPr id="22" name="Shape 20"/>
          <p:cNvSpPr/>
          <p:nvPr/>
        </p:nvSpPr>
        <p:spPr>
          <a:xfrm>
            <a:off x="6476940" y="1780796"/>
            <a:ext cx="5334010" cy="21738"/>
          </a:xfrm>
          <a:prstGeom prst="rect">
            <a:avLst/>
          </a:prstGeom>
          <a:solidFill>
            <a:srgbClr val="FFB877"/>
          </a:solidFill>
          <a:ln/>
        </p:spPr>
      </p:sp>
      <p:sp>
        <p:nvSpPr>
          <p:cNvPr id="23" name="Shape 21"/>
          <p:cNvSpPr/>
          <p:nvPr/>
        </p:nvSpPr>
        <p:spPr>
          <a:xfrm>
            <a:off x="6476940" y="1780796"/>
            <a:ext cx="9525" cy="4449670"/>
          </a:xfrm>
          <a:prstGeom prst="rect">
            <a:avLst/>
          </a:prstGeom>
          <a:solidFill>
            <a:srgbClr val="232833"/>
          </a:solidFill>
          <a:ln/>
        </p:spPr>
      </p:sp>
      <p:sp>
        <p:nvSpPr>
          <p:cNvPr id="24" name="Shape 22"/>
          <p:cNvSpPr/>
          <p:nvPr/>
        </p:nvSpPr>
        <p:spPr>
          <a:xfrm>
            <a:off x="11803705" y="1780796"/>
            <a:ext cx="9525" cy="4449670"/>
          </a:xfrm>
          <a:prstGeom prst="rect">
            <a:avLst/>
          </a:prstGeom>
          <a:solidFill>
            <a:srgbClr val="232833"/>
          </a:solidFill>
          <a:ln/>
        </p:spPr>
      </p:sp>
      <p:sp>
        <p:nvSpPr>
          <p:cNvPr id="25" name="Text 23"/>
          <p:cNvSpPr/>
          <p:nvPr/>
        </p:nvSpPr>
        <p:spPr>
          <a:xfrm>
            <a:off x="6769833" y="2069161"/>
            <a:ext cx="5223046" cy="262723"/>
          </a:xfrm>
          <a:prstGeom prst="rect">
            <a:avLst/>
          </a:prstGeom>
          <a:noFill/>
          <a:ln/>
        </p:spPr>
        <p:txBody>
          <a:bodyPr wrap="square" lIns="25400" tIns="25400" rIns="25400" bIns="25400" rtlCol="0" anchor="t">
            <a:normAutofit/>
          </a:bodyPr>
          <a:lstStyle/>
          <a:p>
            <a:pPr algn="l" indent="0" marL="0">
              <a:buNone/>
            </a:pPr>
            <a:r>
              <a:rPr lang="en-US" sz="1350" spc="75" kern="0" dirty="0">
                <a:solidFill>
                  <a:srgbClr val="FFB877"/>
                </a:solidFill>
                <a:latin typeface="Courier New" pitchFamily="34" charset="0"/>
                <a:ea typeface="Courier New" pitchFamily="34" charset="-122"/>
                <a:cs typeface="Courier New" pitchFamily="34" charset="-120"/>
              </a:rPr>
              <a:t>CASO B · EL PROXY ENCENDIDO</a:t>
            </a:r>
            <a:endParaRPr lang="en-US" sz="1350" dirty="0"/>
          </a:p>
        </p:txBody>
      </p:sp>
      <p:sp>
        <p:nvSpPr>
          <p:cNvPr id="26" name="Text 24"/>
          <p:cNvSpPr/>
          <p:nvPr/>
        </p:nvSpPr>
        <p:spPr>
          <a:xfrm>
            <a:off x="6769833" y="2408021"/>
            <a:ext cx="5223046" cy="372431"/>
          </a:xfrm>
          <a:prstGeom prst="rect">
            <a:avLst/>
          </a:prstGeom>
          <a:noFill/>
          <a:ln/>
        </p:spPr>
        <p:txBody>
          <a:bodyPr wrap="square" lIns="25400" tIns="25400" rIns="25400" bIns="25400" rtlCol="0" anchor="t">
            <a:normAutofit/>
          </a:bodyPr>
          <a:lstStyle/>
          <a:p>
            <a:pPr algn="l" indent="0" marL="0">
              <a:lnSpc>
                <a:spcPct val="112537"/>
              </a:lnSpc>
              <a:buNone/>
            </a:pPr>
            <a:r>
              <a:rPr lang="en-US" sz="2025" b="1" dirty="0">
                <a:solidFill>
                  <a:srgbClr val="E6E9EF"/>
                </a:solidFill>
                <a:latin typeface="Arial" pitchFamily="34" charset="0"/>
                <a:ea typeface="Arial" pitchFamily="34" charset="-122"/>
                <a:cs typeface="Arial" pitchFamily="34" charset="-120"/>
              </a:rPr>
              <a:t>8-feb 11:10 · lunes</a:t>
            </a:r>
            <a:endParaRPr lang="en-US" sz="2025" dirty="0"/>
          </a:p>
        </p:txBody>
      </p:sp>
      <p:sp>
        <p:nvSpPr>
          <p:cNvPr id="27" name="Text 25"/>
          <p:cNvSpPr/>
          <p:nvPr/>
        </p:nvSpPr>
        <p:spPr>
          <a:xfrm>
            <a:off x="6769833" y="2913763"/>
            <a:ext cx="624965"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REAL</a:t>
            </a:r>
            <a:endParaRPr lang="en-US" sz="1275" dirty="0"/>
          </a:p>
        </p:txBody>
      </p:sp>
      <p:sp>
        <p:nvSpPr>
          <p:cNvPr id="28" name="Text 26"/>
          <p:cNvSpPr/>
          <p:nvPr/>
        </p:nvSpPr>
        <p:spPr>
          <a:xfrm>
            <a:off x="6769833" y="3123894"/>
            <a:ext cx="624965"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E6E9EF"/>
                </a:solidFill>
                <a:latin typeface="Courier New" pitchFamily="34" charset="0"/>
                <a:ea typeface="Courier New" pitchFamily="34" charset="-122"/>
                <a:cs typeface="Courier New" pitchFamily="34" charset="-120"/>
              </a:rPr>
              <a:t>710</a:t>
            </a:r>
            <a:endParaRPr lang="en-US" sz="2400" dirty="0"/>
          </a:p>
        </p:txBody>
      </p:sp>
      <p:sp>
        <p:nvSpPr>
          <p:cNvPr id="29" name="Text 27"/>
          <p:cNvSpPr/>
          <p:nvPr/>
        </p:nvSpPr>
        <p:spPr>
          <a:xfrm>
            <a:off x="7566204" y="2913763"/>
            <a:ext cx="990657"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PREDICHO</a:t>
            </a:r>
            <a:endParaRPr lang="en-US" sz="1275" dirty="0"/>
          </a:p>
        </p:txBody>
      </p:sp>
      <p:sp>
        <p:nvSpPr>
          <p:cNvPr id="30" name="Text 28"/>
          <p:cNvSpPr/>
          <p:nvPr/>
        </p:nvSpPr>
        <p:spPr>
          <a:xfrm>
            <a:off x="7566204" y="3123894"/>
            <a:ext cx="990657"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8B93A3"/>
                </a:solidFill>
                <a:latin typeface="Courier New" pitchFamily="34" charset="0"/>
                <a:ea typeface="Courier New" pitchFamily="34" charset="-122"/>
                <a:cs typeface="Courier New" pitchFamily="34" charset="-120"/>
              </a:rPr>
              <a:t>141,4</a:t>
            </a:r>
            <a:endParaRPr lang="en-US" sz="2400" dirty="0"/>
          </a:p>
        </p:txBody>
      </p:sp>
      <p:sp>
        <p:nvSpPr>
          <p:cNvPr id="31" name="Text 29"/>
          <p:cNvSpPr/>
          <p:nvPr/>
        </p:nvSpPr>
        <p:spPr>
          <a:xfrm>
            <a:off x="8728268" y="2913763"/>
            <a:ext cx="1173616"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ERROR</a:t>
            </a:r>
            <a:endParaRPr lang="en-US" sz="1275" dirty="0"/>
          </a:p>
        </p:txBody>
      </p:sp>
      <p:sp>
        <p:nvSpPr>
          <p:cNvPr id="32" name="Text 30"/>
          <p:cNvSpPr/>
          <p:nvPr/>
        </p:nvSpPr>
        <p:spPr>
          <a:xfrm>
            <a:off x="8728268" y="3123894"/>
            <a:ext cx="1173616"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F28B82"/>
                </a:solidFill>
                <a:latin typeface="Courier New" pitchFamily="34" charset="0"/>
                <a:ea typeface="Courier New" pitchFamily="34" charset="-122"/>
                <a:cs typeface="Courier New" pitchFamily="34" charset="-120"/>
              </a:rPr>
              <a:t>−568,6</a:t>
            </a:r>
            <a:endParaRPr lang="en-US" sz="2400" dirty="0"/>
          </a:p>
        </p:txBody>
      </p:sp>
      <p:sp>
        <p:nvSpPr>
          <p:cNvPr id="33" name="Shape 31"/>
          <p:cNvSpPr/>
          <p:nvPr/>
        </p:nvSpPr>
        <p:spPr>
          <a:xfrm>
            <a:off x="6769833" y="3662130"/>
            <a:ext cx="4748224" cy="9525"/>
          </a:xfrm>
          <a:prstGeom prst="rect">
            <a:avLst/>
          </a:prstGeom>
          <a:solidFill>
            <a:srgbClr val="232833"/>
          </a:solidFill>
          <a:ln/>
        </p:spPr>
      </p:sp>
      <p:sp>
        <p:nvSpPr>
          <p:cNvPr id="34" name="Text 32"/>
          <p:cNvSpPr/>
          <p:nvPr/>
        </p:nvSpPr>
        <p:spPr>
          <a:xfrm>
            <a:off x="6769833" y="3840826"/>
            <a:ext cx="4890671" cy="1019769"/>
          </a:xfrm>
          <a:prstGeom prst="rect">
            <a:avLst/>
          </a:prstGeom>
          <a:noFill/>
          <a:ln/>
        </p:spPr>
        <p:txBody>
          <a:bodyPr wrap="square" lIns="25400" tIns="25400" rIns="25400" bIns="25400" rtlCol="0" anchor="t">
            <a:normAutofit/>
          </a:bodyPr>
          <a:lstStyle/>
          <a:p>
            <a:pPr algn="l" indent="0" marL="0">
              <a:lnSpc>
                <a:spcPct val="135835"/>
              </a:lnSpc>
              <a:buNone/>
            </a:pPr>
            <a:r>
              <a:rPr lang="en-US" sz="1650" b="1" dirty="0">
                <a:solidFill>
                  <a:srgbClr val="E6E9EF"/>
                </a:solidFill>
                <a:latin typeface="Arial" pitchFamily="34" charset="0"/>
                <a:ea typeface="Arial" pitchFamily="34" charset="-122"/>
                <a:cs typeface="Arial" pitchFamily="34" charset="-120"/>
              </a:rPr>
              <a:t>¿Qué feature influyó? </a:t>
            </a:r>
            <a:pPr algn="l" indent="0" marL="0">
              <a:lnSpc>
                <a:spcPct val="135835"/>
              </a:lnSpc>
              <a:buNone/>
            </a:pPr>
            <a:r>
              <a:rPr lang="en-US" sz="1650" dirty="0">
                <a:solidFill>
                  <a:srgbClr val="C9D1DE"/>
                </a:solidFill>
                <a:latin typeface="Arial" pitchFamily="34" charset="0"/>
                <a:ea typeface="Arial" pitchFamily="34" charset="-122"/>
                <a:cs typeface="Arial" pitchFamily="34" charset="-120"/>
              </a:rPr>
              <a:t>lights = 20, el proxy de ocupación. El modelo la tenía delante y pesa solo 2,9 % de la importancia total.</a:t>
            </a:r>
            <a:endParaRPr lang="en-US" sz="1650" dirty="0"/>
          </a:p>
        </p:txBody>
      </p:sp>
      <p:sp>
        <p:nvSpPr>
          <p:cNvPr id="35" name="Text 33"/>
          <p:cNvSpPr/>
          <p:nvPr/>
        </p:nvSpPr>
        <p:spPr>
          <a:xfrm>
            <a:off x="6769833" y="4974885"/>
            <a:ext cx="4890671" cy="694987"/>
          </a:xfrm>
          <a:prstGeom prst="rect">
            <a:avLst/>
          </a:prstGeom>
          <a:noFill/>
          <a:ln/>
        </p:spPr>
        <p:txBody>
          <a:bodyPr wrap="square" lIns="25400" tIns="25400" rIns="25400" bIns="25400" rtlCol="0" anchor="t">
            <a:normAutofit/>
          </a:bodyPr>
          <a:lstStyle/>
          <a:p>
            <a:pPr algn="l" indent="0" marL="0">
              <a:lnSpc>
                <a:spcPct val="135835"/>
              </a:lnSpc>
              <a:buNone/>
            </a:pPr>
            <a:r>
              <a:rPr lang="en-US" sz="1650" b="1" dirty="0">
                <a:solidFill>
                  <a:srgbClr val="7BD992"/>
                </a:solidFill>
                <a:latin typeface="Arial" pitchFamily="34" charset="0"/>
                <a:ea typeface="Arial" pitchFamily="34" charset="-122"/>
                <a:cs typeface="Arial" pitchFamily="34" charset="-120"/>
              </a:rPr>
              <a:t>¿Sobreajustado? Tampoco. </a:t>
            </a:r>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Es subajuste de una relación minoritaria — el problema opuesto.</a:t>
            </a:r>
            <a:endParaRPr lang="en-US" sz="1650" dirty="0"/>
          </a:p>
        </p:txBody>
      </p:sp>
      <p:sp>
        <p:nvSpPr>
          <p:cNvPr id="36" name="Shape 34"/>
          <p:cNvSpPr/>
          <p:nvPr/>
        </p:nvSpPr>
        <p:spPr>
          <a:xfrm>
            <a:off x="12039537" y="1780796"/>
            <a:ext cx="5334010" cy="4449670"/>
          </a:xfrm>
          <a:prstGeom prst="roundRect">
            <a:avLst>
              <a:gd name="adj" fmla="val 2569"/>
            </a:avLst>
          </a:prstGeom>
          <a:solidFill>
            <a:srgbClr val="151920"/>
          </a:solidFill>
          <a:ln/>
        </p:spPr>
      </p:sp>
      <p:sp>
        <p:nvSpPr>
          <p:cNvPr id="37" name="Shape 35"/>
          <p:cNvSpPr/>
          <p:nvPr/>
        </p:nvSpPr>
        <p:spPr>
          <a:xfrm>
            <a:off x="12039537" y="6223220"/>
            <a:ext cx="5334010" cy="9525"/>
          </a:xfrm>
          <a:prstGeom prst="rect">
            <a:avLst/>
          </a:prstGeom>
          <a:solidFill>
            <a:srgbClr val="232833"/>
          </a:solidFill>
          <a:ln/>
        </p:spPr>
      </p:sp>
      <p:sp>
        <p:nvSpPr>
          <p:cNvPr id="38" name="Shape 36"/>
          <p:cNvSpPr/>
          <p:nvPr/>
        </p:nvSpPr>
        <p:spPr>
          <a:xfrm>
            <a:off x="12039537" y="1780796"/>
            <a:ext cx="5334010" cy="21738"/>
          </a:xfrm>
          <a:prstGeom prst="rect">
            <a:avLst/>
          </a:prstGeom>
          <a:solidFill>
            <a:srgbClr val="E8710A"/>
          </a:solidFill>
          <a:ln/>
        </p:spPr>
      </p:sp>
      <p:sp>
        <p:nvSpPr>
          <p:cNvPr id="39" name="Shape 37"/>
          <p:cNvSpPr/>
          <p:nvPr/>
        </p:nvSpPr>
        <p:spPr>
          <a:xfrm>
            <a:off x="12039537" y="1780796"/>
            <a:ext cx="9525" cy="4449670"/>
          </a:xfrm>
          <a:prstGeom prst="rect">
            <a:avLst/>
          </a:prstGeom>
          <a:solidFill>
            <a:srgbClr val="232833"/>
          </a:solidFill>
          <a:ln/>
        </p:spPr>
      </p:sp>
      <p:sp>
        <p:nvSpPr>
          <p:cNvPr id="40" name="Shape 38"/>
          <p:cNvSpPr/>
          <p:nvPr/>
        </p:nvSpPr>
        <p:spPr>
          <a:xfrm>
            <a:off x="17366302" y="1780796"/>
            <a:ext cx="9525" cy="4449670"/>
          </a:xfrm>
          <a:prstGeom prst="rect">
            <a:avLst/>
          </a:prstGeom>
          <a:solidFill>
            <a:srgbClr val="232833"/>
          </a:solidFill>
          <a:ln/>
        </p:spPr>
      </p:sp>
      <p:sp>
        <p:nvSpPr>
          <p:cNvPr id="41" name="Text 39"/>
          <p:cNvSpPr/>
          <p:nvPr/>
        </p:nvSpPr>
        <p:spPr>
          <a:xfrm>
            <a:off x="12332430" y="2069161"/>
            <a:ext cx="5223046" cy="262723"/>
          </a:xfrm>
          <a:prstGeom prst="rect">
            <a:avLst/>
          </a:prstGeom>
          <a:noFill/>
          <a:ln/>
        </p:spPr>
        <p:txBody>
          <a:bodyPr wrap="square" lIns="25400" tIns="25400" rIns="25400" bIns="25400" rtlCol="0" anchor="t">
            <a:normAutofit/>
          </a:bodyPr>
          <a:lstStyle/>
          <a:p>
            <a:pPr algn="l" indent="0" marL="0">
              <a:buNone/>
            </a:pPr>
            <a:r>
              <a:rPr lang="en-US" sz="1350" spc="75" kern="0" dirty="0">
                <a:solidFill>
                  <a:srgbClr val="E8710A"/>
                </a:solidFill>
                <a:latin typeface="Courier New" pitchFamily="34" charset="0"/>
                <a:ea typeface="Courier New" pitchFamily="34" charset="-122"/>
                <a:cs typeface="Courier New" pitchFamily="34" charset="-120"/>
              </a:rPr>
              <a:t>CASO C · LA FALSA ALARMA</a:t>
            </a:r>
            <a:endParaRPr lang="en-US" sz="1350" dirty="0"/>
          </a:p>
        </p:txBody>
      </p:sp>
      <p:sp>
        <p:nvSpPr>
          <p:cNvPr id="42" name="Text 40"/>
          <p:cNvSpPr/>
          <p:nvPr/>
        </p:nvSpPr>
        <p:spPr>
          <a:xfrm>
            <a:off x="12332430" y="2408021"/>
            <a:ext cx="5223046" cy="372431"/>
          </a:xfrm>
          <a:prstGeom prst="rect">
            <a:avLst/>
          </a:prstGeom>
          <a:noFill/>
          <a:ln/>
        </p:spPr>
        <p:txBody>
          <a:bodyPr wrap="square" lIns="25400" tIns="25400" rIns="25400" bIns="25400" rtlCol="0" anchor="t">
            <a:normAutofit/>
          </a:bodyPr>
          <a:lstStyle/>
          <a:p>
            <a:pPr algn="l" indent="0" marL="0">
              <a:lnSpc>
                <a:spcPct val="112537"/>
              </a:lnSpc>
              <a:buNone/>
            </a:pPr>
            <a:r>
              <a:rPr lang="en-US" sz="2025" b="1" dirty="0">
                <a:solidFill>
                  <a:srgbClr val="E6E9EF"/>
                </a:solidFill>
                <a:latin typeface="Arial" pitchFamily="34" charset="0"/>
                <a:ea typeface="Arial" pitchFamily="34" charset="-122"/>
                <a:cs typeface="Arial" pitchFamily="34" charset="-120"/>
              </a:rPr>
              <a:t>4-abr 15:20 · lunes</a:t>
            </a:r>
            <a:endParaRPr lang="en-US" sz="2025" dirty="0"/>
          </a:p>
        </p:txBody>
      </p:sp>
      <p:sp>
        <p:nvSpPr>
          <p:cNvPr id="43" name="Text 41"/>
          <p:cNvSpPr/>
          <p:nvPr/>
        </p:nvSpPr>
        <p:spPr>
          <a:xfrm>
            <a:off x="12332430" y="2913763"/>
            <a:ext cx="624965"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REAL</a:t>
            </a:r>
            <a:endParaRPr lang="en-US" sz="1275" dirty="0"/>
          </a:p>
        </p:txBody>
      </p:sp>
      <p:sp>
        <p:nvSpPr>
          <p:cNvPr id="44" name="Text 42"/>
          <p:cNvSpPr/>
          <p:nvPr/>
        </p:nvSpPr>
        <p:spPr>
          <a:xfrm>
            <a:off x="12332430" y="3123894"/>
            <a:ext cx="624965"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E6E9EF"/>
                </a:solidFill>
                <a:latin typeface="Courier New" pitchFamily="34" charset="0"/>
                <a:ea typeface="Courier New" pitchFamily="34" charset="-122"/>
                <a:cs typeface="Courier New" pitchFamily="34" charset="-120"/>
              </a:rPr>
              <a:t>100</a:t>
            </a:r>
            <a:endParaRPr lang="en-US" sz="2400" dirty="0"/>
          </a:p>
        </p:txBody>
      </p:sp>
      <p:sp>
        <p:nvSpPr>
          <p:cNvPr id="45" name="Text 43"/>
          <p:cNvSpPr/>
          <p:nvPr/>
        </p:nvSpPr>
        <p:spPr>
          <a:xfrm>
            <a:off x="13128801" y="2913763"/>
            <a:ext cx="990657"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PREDICHO</a:t>
            </a:r>
            <a:endParaRPr lang="en-US" sz="1275" dirty="0"/>
          </a:p>
        </p:txBody>
      </p:sp>
      <p:sp>
        <p:nvSpPr>
          <p:cNvPr id="46" name="Text 44"/>
          <p:cNvSpPr/>
          <p:nvPr/>
        </p:nvSpPr>
        <p:spPr>
          <a:xfrm>
            <a:off x="13128801" y="3123894"/>
            <a:ext cx="990657"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8B93A3"/>
                </a:solidFill>
                <a:latin typeface="Courier New" pitchFamily="34" charset="0"/>
                <a:ea typeface="Courier New" pitchFamily="34" charset="-122"/>
                <a:cs typeface="Courier New" pitchFamily="34" charset="-120"/>
              </a:rPr>
              <a:t>508,8</a:t>
            </a:r>
            <a:endParaRPr lang="en-US" sz="2400" dirty="0"/>
          </a:p>
        </p:txBody>
      </p:sp>
      <p:sp>
        <p:nvSpPr>
          <p:cNvPr id="47" name="Text 45"/>
          <p:cNvSpPr/>
          <p:nvPr/>
        </p:nvSpPr>
        <p:spPr>
          <a:xfrm>
            <a:off x="14290865" y="2913763"/>
            <a:ext cx="1173616" cy="248231"/>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ERROR</a:t>
            </a:r>
            <a:endParaRPr lang="en-US" sz="1275" dirty="0"/>
          </a:p>
        </p:txBody>
      </p:sp>
      <p:sp>
        <p:nvSpPr>
          <p:cNvPr id="48" name="Text 46"/>
          <p:cNvSpPr/>
          <p:nvPr/>
        </p:nvSpPr>
        <p:spPr>
          <a:xfrm>
            <a:off x="14290865" y="3123894"/>
            <a:ext cx="1173616" cy="385904"/>
          </a:xfrm>
          <a:prstGeom prst="rect">
            <a:avLst/>
          </a:prstGeom>
          <a:noFill/>
          <a:ln/>
        </p:spPr>
        <p:txBody>
          <a:bodyPr wrap="square" lIns="25400" tIns="25400" rIns="25400" bIns="25400" rtlCol="0" anchor="t">
            <a:normAutofit/>
          </a:bodyPr>
          <a:lstStyle/>
          <a:p>
            <a:pPr algn="l" indent="0" marL="0">
              <a:buNone/>
            </a:pPr>
            <a:r>
              <a:rPr lang="en-US" sz="2400" b="1" dirty="0">
                <a:solidFill>
                  <a:srgbClr val="FFB877"/>
                </a:solidFill>
                <a:latin typeface="Courier New" pitchFamily="34" charset="0"/>
                <a:ea typeface="Courier New" pitchFamily="34" charset="-122"/>
                <a:cs typeface="Courier New" pitchFamily="34" charset="-120"/>
              </a:rPr>
              <a:t>+408,8</a:t>
            </a:r>
            <a:endParaRPr lang="en-US" sz="2400" dirty="0"/>
          </a:p>
        </p:txBody>
      </p:sp>
      <p:sp>
        <p:nvSpPr>
          <p:cNvPr id="49" name="Shape 47"/>
          <p:cNvSpPr/>
          <p:nvPr/>
        </p:nvSpPr>
        <p:spPr>
          <a:xfrm>
            <a:off x="12332430" y="3662130"/>
            <a:ext cx="4748224" cy="9525"/>
          </a:xfrm>
          <a:prstGeom prst="rect">
            <a:avLst/>
          </a:prstGeom>
          <a:solidFill>
            <a:srgbClr val="232833"/>
          </a:solidFill>
          <a:ln/>
        </p:spPr>
      </p:sp>
      <p:sp>
        <p:nvSpPr>
          <p:cNvPr id="50" name="Text 48"/>
          <p:cNvSpPr/>
          <p:nvPr/>
        </p:nvSpPr>
        <p:spPr>
          <a:xfrm>
            <a:off x="12332430" y="3840826"/>
            <a:ext cx="4890671" cy="1019769"/>
          </a:xfrm>
          <a:prstGeom prst="rect">
            <a:avLst/>
          </a:prstGeom>
          <a:noFill/>
          <a:ln/>
        </p:spPr>
        <p:txBody>
          <a:bodyPr wrap="square" lIns="25400" tIns="25400" rIns="25400" bIns="25400" rtlCol="0" anchor="t">
            <a:normAutofit/>
          </a:bodyPr>
          <a:lstStyle/>
          <a:p>
            <a:pPr algn="l" indent="0" marL="0">
              <a:lnSpc>
                <a:spcPct val="135835"/>
              </a:lnSpc>
              <a:buNone/>
            </a:pPr>
            <a:r>
              <a:rPr lang="en-US" sz="1650" b="1" dirty="0">
                <a:solidFill>
                  <a:srgbClr val="E6E9EF"/>
                </a:solidFill>
                <a:latin typeface="Arial" pitchFamily="34" charset="0"/>
                <a:ea typeface="Arial" pitchFamily="34" charset="-122"/>
                <a:cs typeface="Arial" pitchFamily="34" charset="-120"/>
              </a:rPr>
              <a:t>¿Qué feature influyó? </a:t>
            </a:r>
            <a:pPr algn="l" indent="0" marL="0">
              <a:lnSpc>
                <a:spcPct val="135835"/>
              </a:lnSpc>
              <a:buNone/>
            </a:pPr>
            <a:r>
              <a:rPr lang="en-US" sz="1650" dirty="0">
                <a:solidFill>
                  <a:srgbClr val="C9D1DE"/>
                </a:solidFill>
                <a:latin typeface="Arial" pitchFamily="34" charset="0"/>
                <a:ea typeface="Arial" pitchFamily="34" charset="-122"/>
                <a:cs typeface="Arial" pitchFamily="34" charset="-120"/>
              </a:rPr>
              <a:t>T3 = 26,2 °C y la hora. El pico existía: llegó a 900 Wh veinte minutos después.</a:t>
            </a:r>
            <a:endParaRPr lang="en-US" sz="1650" dirty="0"/>
          </a:p>
        </p:txBody>
      </p:sp>
      <p:sp>
        <p:nvSpPr>
          <p:cNvPr id="51" name="Text 49"/>
          <p:cNvSpPr/>
          <p:nvPr/>
        </p:nvSpPr>
        <p:spPr>
          <a:xfrm>
            <a:off x="12332430" y="4974885"/>
            <a:ext cx="4890671" cy="694987"/>
          </a:xfrm>
          <a:prstGeom prst="rect">
            <a:avLst/>
          </a:prstGeom>
          <a:noFill/>
          <a:ln/>
        </p:spPr>
        <p:txBody>
          <a:bodyPr wrap="square" lIns="25400" tIns="25400" rIns="25400" bIns="25400" rtlCol="0" anchor="t">
            <a:normAutofit/>
          </a:bodyPr>
          <a:lstStyle/>
          <a:p>
            <a:pPr algn="l" indent="0" marL="0">
              <a:lnSpc>
                <a:spcPct val="135835"/>
              </a:lnSpc>
              <a:buNone/>
            </a:pPr>
            <a:r>
              <a:rPr lang="en-US" sz="1650" b="1" dirty="0">
                <a:solidFill>
                  <a:srgbClr val="FFB877"/>
                </a:solidFill>
                <a:latin typeface="Arial" pitchFamily="34" charset="0"/>
                <a:ea typeface="Arial" pitchFamily="34" charset="-122"/>
                <a:cs typeface="Arial" pitchFamily="34" charset="-120"/>
              </a:rPr>
              <a:t>¿Sobreajustado? Parcialmente. </a:t>
            </a:r>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Asociación válida aplicada con una precisión temporal que no tiene.</a:t>
            </a:r>
            <a:endParaRPr lang="en-US" sz="1650" dirty="0"/>
          </a:p>
        </p:txBody>
      </p:sp>
      <p:sp>
        <p:nvSpPr>
          <p:cNvPr id="52" name="Shape 50"/>
          <p:cNvSpPr/>
          <p:nvPr/>
        </p:nvSpPr>
        <p:spPr>
          <a:xfrm>
            <a:off x="1833782" y="6459052"/>
            <a:ext cx="14620213" cy="3294513"/>
          </a:xfrm>
          <a:prstGeom prst="roundRect">
            <a:avLst>
              <a:gd name="adj" fmla="val 3469"/>
            </a:avLst>
          </a:prstGeom>
          <a:solidFill>
            <a:srgbClr val="FFFFFF"/>
          </a:solidFill>
          <a:ln/>
        </p:spPr>
      </p:sp>
      <p:pic>
        <p:nvPicPr>
          <p:cNvPr id="53" name="Image 0" descr="preencoded.png">    </p:cNvPr>
          <p:cNvPicPr>
            <a:picLocks noChangeAspect="1"/>
          </p:cNvPicPr>
          <p:nvPr/>
        </p:nvPicPr>
        <p:blipFill>
          <a:blip r:embed="rId1"/>
          <a:stretch>
            <a:fillRect/>
          </a:stretch>
        </p:blipFill>
        <p:spPr>
          <a:xfrm>
            <a:off x="2043234" y="6206237"/>
            <a:ext cx="14201310" cy="38002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A73E8"/>
                </a:solidFill>
                <a:latin typeface="Courier New" pitchFamily="34" charset="0"/>
                <a:ea typeface="Courier New" pitchFamily="34" charset="-122"/>
                <a:cs typeface="Courier New" pitchFamily="34" charset="-120"/>
              </a:rPr>
              <a:t>PUNTO 2 · 2.4 PROPUESTA DE MEJORA — MEDIDA, NO AFIRMADA</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La variable que falta es «qué aparato está encendido»</a:t>
            </a:r>
            <a:endParaRPr lang="en-US" sz="4050" dirty="0"/>
          </a:p>
        </p:txBody>
      </p:sp>
      <p:sp>
        <p:nvSpPr>
          <p:cNvPr id="4" name="Text 2"/>
          <p:cNvSpPr/>
          <p:nvPr/>
        </p:nvSpPr>
        <p:spPr>
          <a:xfrm>
            <a:off x="914344" y="1704601"/>
            <a:ext cx="14716091" cy="780806"/>
          </a:xfrm>
          <a:prstGeom prst="rect">
            <a:avLst/>
          </a:prstGeom>
          <a:noFill/>
          <a:ln/>
        </p:spPr>
        <p:txBody>
          <a:bodyPr wrap="square" lIns="25400" tIns="25400" rIns="25400" bIns="25400" rtlCol="0" anchor="t">
            <a:normAutofit/>
          </a:bodyPr>
          <a:lstStyle/>
          <a:p>
            <a:pPr algn="l" indent="0" marL="0">
              <a:lnSpc>
                <a:spcPct val="131453"/>
              </a:lnSpc>
              <a:buNone/>
            </a:pPr>
            <a:r>
              <a:rPr lang="en-US" sz="1950" dirty="0">
                <a:solidFill>
                  <a:srgbClr val="8B93A3"/>
                </a:solidFill>
                <a:latin typeface="Arial" pitchFamily="34" charset="0"/>
                <a:ea typeface="Arial" pitchFamily="34" charset="-122"/>
                <a:cs typeface="Arial" pitchFamily="34" charset="-120"/>
              </a:rPr>
              <a:t>No hay forma de obtenerla del dataset, pero sí una aproximación: el propio consumo de los intervalos anteriores. Solo son legítimas bajo partición temporal — al predecir el futuro, el pasado ya se conoce.</a:t>
            </a:r>
            <a:endParaRPr lang="en-US" sz="1950" dirty="0"/>
          </a:p>
        </p:txBody>
      </p:sp>
      <p:sp>
        <p:nvSpPr>
          <p:cNvPr id="5" name="Shape 3"/>
          <p:cNvSpPr/>
          <p:nvPr/>
        </p:nvSpPr>
        <p:spPr>
          <a:xfrm>
            <a:off x="914344" y="3052794"/>
            <a:ext cx="5510177" cy="9525"/>
          </a:xfrm>
          <a:prstGeom prst="rect">
            <a:avLst/>
          </a:prstGeom>
          <a:solidFill>
            <a:srgbClr val="2C323E"/>
          </a:solidFill>
          <a:ln/>
        </p:spPr>
      </p:sp>
      <p:sp>
        <p:nvSpPr>
          <p:cNvPr id="6" name="Text 4"/>
          <p:cNvSpPr/>
          <p:nvPr/>
        </p:nvSpPr>
        <p:spPr>
          <a:xfrm>
            <a:off x="914344" y="2713934"/>
            <a:ext cx="5675482" cy="26266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RANDOM FOREST · TEMPORAL</a:t>
            </a:r>
            <a:endParaRPr lang="en-US" sz="1350" dirty="0"/>
          </a:p>
        </p:txBody>
      </p:sp>
      <p:sp>
        <p:nvSpPr>
          <p:cNvPr id="7" name="Shape 5"/>
          <p:cNvSpPr/>
          <p:nvPr/>
        </p:nvSpPr>
        <p:spPr>
          <a:xfrm>
            <a:off x="6710168" y="3052794"/>
            <a:ext cx="274326" cy="9525"/>
          </a:xfrm>
          <a:prstGeom prst="rect">
            <a:avLst/>
          </a:prstGeom>
          <a:solidFill>
            <a:srgbClr val="2C323E"/>
          </a:solidFill>
          <a:ln/>
        </p:spPr>
      </p:sp>
      <p:sp>
        <p:nvSpPr>
          <p:cNvPr id="8" name="Text 6"/>
          <p:cNvSpPr/>
          <p:nvPr/>
        </p:nvSpPr>
        <p:spPr>
          <a:xfrm>
            <a:off x="6633968" y="2713934"/>
            <a:ext cx="350526"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n</a:t>
            </a:r>
            <a:endParaRPr lang="en-US" sz="1350" dirty="0"/>
          </a:p>
        </p:txBody>
      </p:sp>
      <p:sp>
        <p:nvSpPr>
          <p:cNvPr id="9" name="Shape 7"/>
          <p:cNvSpPr/>
          <p:nvPr/>
        </p:nvSpPr>
        <p:spPr>
          <a:xfrm>
            <a:off x="7270141" y="3052794"/>
            <a:ext cx="822751" cy="9525"/>
          </a:xfrm>
          <a:prstGeom prst="rect">
            <a:avLst/>
          </a:prstGeom>
          <a:solidFill>
            <a:srgbClr val="2C323E"/>
          </a:solidFill>
          <a:ln/>
        </p:spPr>
      </p:sp>
      <p:sp>
        <p:nvSpPr>
          <p:cNvPr id="10" name="Text 8"/>
          <p:cNvSpPr/>
          <p:nvPr/>
        </p:nvSpPr>
        <p:spPr>
          <a:xfrm>
            <a:off x="7193941" y="2713934"/>
            <a:ext cx="898951"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R²</a:t>
            </a:r>
            <a:endParaRPr lang="en-US" sz="1350" dirty="0"/>
          </a:p>
        </p:txBody>
      </p:sp>
      <p:sp>
        <p:nvSpPr>
          <p:cNvPr id="11" name="Shape 9"/>
          <p:cNvSpPr/>
          <p:nvPr/>
        </p:nvSpPr>
        <p:spPr>
          <a:xfrm>
            <a:off x="8378539" y="3052794"/>
            <a:ext cx="822751" cy="9525"/>
          </a:xfrm>
          <a:prstGeom prst="rect">
            <a:avLst/>
          </a:prstGeom>
          <a:solidFill>
            <a:srgbClr val="2C323E"/>
          </a:solidFill>
          <a:ln/>
        </p:spPr>
      </p:sp>
      <p:sp>
        <p:nvSpPr>
          <p:cNvPr id="12" name="Text 10"/>
          <p:cNvSpPr/>
          <p:nvPr/>
        </p:nvSpPr>
        <p:spPr>
          <a:xfrm>
            <a:off x="8302339" y="2713934"/>
            <a:ext cx="898951"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MAE</a:t>
            </a:r>
            <a:endParaRPr lang="en-US" sz="1350" dirty="0"/>
          </a:p>
        </p:txBody>
      </p:sp>
      <p:sp>
        <p:nvSpPr>
          <p:cNvPr id="13" name="Shape 11"/>
          <p:cNvSpPr/>
          <p:nvPr/>
        </p:nvSpPr>
        <p:spPr>
          <a:xfrm>
            <a:off x="9486938" y="3052794"/>
            <a:ext cx="685644" cy="9525"/>
          </a:xfrm>
          <a:prstGeom prst="rect">
            <a:avLst/>
          </a:prstGeom>
          <a:solidFill>
            <a:srgbClr val="2C323E"/>
          </a:solidFill>
          <a:ln/>
        </p:spPr>
      </p:sp>
      <p:sp>
        <p:nvSpPr>
          <p:cNvPr id="14" name="Text 12"/>
          <p:cNvSpPr/>
          <p:nvPr/>
        </p:nvSpPr>
        <p:spPr>
          <a:xfrm>
            <a:off x="9410738" y="2713934"/>
            <a:ext cx="761844"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F1</a:t>
            </a:r>
            <a:endParaRPr lang="en-US" sz="1350" dirty="0"/>
          </a:p>
        </p:txBody>
      </p:sp>
      <p:sp>
        <p:nvSpPr>
          <p:cNvPr id="15" name="Shape 13"/>
          <p:cNvSpPr/>
          <p:nvPr/>
        </p:nvSpPr>
        <p:spPr>
          <a:xfrm>
            <a:off x="914344" y="3718965"/>
            <a:ext cx="5510177" cy="9525"/>
          </a:xfrm>
          <a:prstGeom prst="rect">
            <a:avLst/>
          </a:prstGeom>
          <a:solidFill>
            <a:srgbClr val="1C212A"/>
          </a:solidFill>
          <a:ln/>
        </p:spPr>
      </p:sp>
      <p:sp>
        <p:nvSpPr>
          <p:cNvPr id="16" name="Text 14"/>
          <p:cNvSpPr/>
          <p:nvPr/>
        </p:nvSpPr>
        <p:spPr>
          <a:xfrm>
            <a:off x="914344" y="3241014"/>
            <a:ext cx="5675482" cy="335075"/>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Base — 29 variables</a:t>
            </a:r>
            <a:endParaRPr lang="en-US" sz="1800" dirty="0"/>
          </a:p>
        </p:txBody>
      </p:sp>
      <p:sp>
        <p:nvSpPr>
          <p:cNvPr id="17" name="Shape 15"/>
          <p:cNvSpPr/>
          <p:nvPr/>
        </p:nvSpPr>
        <p:spPr>
          <a:xfrm>
            <a:off x="6710168" y="3718965"/>
            <a:ext cx="274326" cy="9525"/>
          </a:xfrm>
          <a:prstGeom prst="rect">
            <a:avLst/>
          </a:prstGeom>
          <a:solidFill>
            <a:srgbClr val="1C212A"/>
          </a:solidFill>
          <a:ln/>
        </p:spPr>
      </p:sp>
      <p:sp>
        <p:nvSpPr>
          <p:cNvPr id="18" name="Text 16"/>
          <p:cNvSpPr/>
          <p:nvPr/>
        </p:nvSpPr>
        <p:spPr>
          <a:xfrm>
            <a:off x="6633968" y="3241014"/>
            <a:ext cx="350526"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29</a:t>
            </a:r>
            <a:endParaRPr lang="en-US" sz="1800" dirty="0"/>
          </a:p>
        </p:txBody>
      </p:sp>
      <p:sp>
        <p:nvSpPr>
          <p:cNvPr id="19" name="Shape 17"/>
          <p:cNvSpPr/>
          <p:nvPr/>
        </p:nvSpPr>
        <p:spPr>
          <a:xfrm>
            <a:off x="7270141" y="3718965"/>
            <a:ext cx="822751" cy="9525"/>
          </a:xfrm>
          <a:prstGeom prst="rect">
            <a:avLst/>
          </a:prstGeom>
          <a:solidFill>
            <a:srgbClr val="1C212A"/>
          </a:solidFill>
          <a:ln/>
        </p:spPr>
      </p:sp>
      <p:sp>
        <p:nvSpPr>
          <p:cNvPr id="20" name="Text 18"/>
          <p:cNvSpPr/>
          <p:nvPr/>
        </p:nvSpPr>
        <p:spPr>
          <a:xfrm>
            <a:off x="7193941" y="3241014"/>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−4,582</a:t>
            </a:r>
            <a:endParaRPr lang="en-US" sz="1800" dirty="0"/>
          </a:p>
        </p:txBody>
      </p:sp>
      <p:sp>
        <p:nvSpPr>
          <p:cNvPr id="21" name="Shape 19"/>
          <p:cNvSpPr/>
          <p:nvPr/>
        </p:nvSpPr>
        <p:spPr>
          <a:xfrm>
            <a:off x="8378539" y="3718965"/>
            <a:ext cx="822751" cy="9525"/>
          </a:xfrm>
          <a:prstGeom prst="rect">
            <a:avLst/>
          </a:prstGeom>
          <a:solidFill>
            <a:srgbClr val="1C212A"/>
          </a:solidFill>
          <a:ln/>
        </p:spPr>
      </p:sp>
      <p:sp>
        <p:nvSpPr>
          <p:cNvPr id="22" name="Text 20"/>
          <p:cNvSpPr/>
          <p:nvPr/>
        </p:nvSpPr>
        <p:spPr>
          <a:xfrm>
            <a:off x="8302339" y="3241014"/>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175,77</a:t>
            </a:r>
            <a:endParaRPr lang="en-US" sz="1800" dirty="0"/>
          </a:p>
        </p:txBody>
      </p:sp>
      <p:sp>
        <p:nvSpPr>
          <p:cNvPr id="23" name="Shape 21"/>
          <p:cNvSpPr/>
          <p:nvPr/>
        </p:nvSpPr>
        <p:spPr>
          <a:xfrm>
            <a:off x="9486938" y="3718965"/>
            <a:ext cx="685644" cy="9525"/>
          </a:xfrm>
          <a:prstGeom prst="rect">
            <a:avLst/>
          </a:prstGeom>
          <a:solidFill>
            <a:srgbClr val="1C212A"/>
          </a:solidFill>
          <a:ln/>
        </p:spPr>
      </p:sp>
      <p:sp>
        <p:nvSpPr>
          <p:cNvPr id="24" name="Text 22"/>
          <p:cNvSpPr/>
          <p:nvPr/>
        </p:nvSpPr>
        <p:spPr>
          <a:xfrm>
            <a:off x="9410738" y="3241014"/>
            <a:ext cx="761844" cy="335075"/>
          </a:xfrm>
          <a:prstGeom prst="rect">
            <a:avLst/>
          </a:prstGeom>
          <a:noFill/>
          <a:ln/>
        </p:spPr>
        <p:txBody>
          <a:bodyPr wrap="squar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0,167</a:t>
            </a:r>
            <a:endParaRPr lang="en-US" sz="1800" dirty="0"/>
          </a:p>
        </p:txBody>
      </p:sp>
      <p:sp>
        <p:nvSpPr>
          <p:cNvPr id="25" name="Shape 23"/>
          <p:cNvSpPr/>
          <p:nvPr/>
        </p:nvSpPr>
        <p:spPr>
          <a:xfrm>
            <a:off x="914344" y="4385136"/>
            <a:ext cx="5510177" cy="9525"/>
          </a:xfrm>
          <a:prstGeom prst="rect">
            <a:avLst/>
          </a:prstGeom>
          <a:solidFill>
            <a:srgbClr val="1C212A"/>
          </a:solidFill>
          <a:ln/>
        </p:spPr>
      </p:sp>
      <p:sp>
        <p:nvSpPr>
          <p:cNvPr id="26" name="Text 24"/>
          <p:cNvSpPr/>
          <p:nvPr/>
        </p:nvSpPr>
        <p:spPr>
          <a:xfrm>
            <a:off x="914344" y="3907186"/>
            <a:ext cx="5675482" cy="335075"/>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 lag1 (hace 10 min)</a:t>
            </a:r>
            <a:endParaRPr lang="en-US" sz="1800" dirty="0"/>
          </a:p>
        </p:txBody>
      </p:sp>
      <p:sp>
        <p:nvSpPr>
          <p:cNvPr id="27" name="Shape 25"/>
          <p:cNvSpPr/>
          <p:nvPr/>
        </p:nvSpPr>
        <p:spPr>
          <a:xfrm>
            <a:off x="6710168" y="4385136"/>
            <a:ext cx="274326" cy="9525"/>
          </a:xfrm>
          <a:prstGeom prst="rect">
            <a:avLst/>
          </a:prstGeom>
          <a:solidFill>
            <a:srgbClr val="1C212A"/>
          </a:solidFill>
          <a:ln/>
        </p:spPr>
      </p:sp>
      <p:sp>
        <p:nvSpPr>
          <p:cNvPr id="28" name="Text 26"/>
          <p:cNvSpPr/>
          <p:nvPr/>
        </p:nvSpPr>
        <p:spPr>
          <a:xfrm>
            <a:off x="6633968" y="3907186"/>
            <a:ext cx="350526"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30</a:t>
            </a:r>
            <a:endParaRPr lang="en-US" sz="1800" dirty="0"/>
          </a:p>
        </p:txBody>
      </p:sp>
      <p:sp>
        <p:nvSpPr>
          <p:cNvPr id="29" name="Shape 27"/>
          <p:cNvSpPr/>
          <p:nvPr/>
        </p:nvSpPr>
        <p:spPr>
          <a:xfrm>
            <a:off x="7270141" y="4385136"/>
            <a:ext cx="822751" cy="9525"/>
          </a:xfrm>
          <a:prstGeom prst="rect">
            <a:avLst/>
          </a:prstGeom>
          <a:solidFill>
            <a:srgbClr val="1C212A"/>
          </a:solidFill>
          <a:ln/>
        </p:spPr>
      </p:sp>
      <p:sp>
        <p:nvSpPr>
          <p:cNvPr id="30" name="Text 28"/>
          <p:cNvSpPr/>
          <p:nvPr/>
        </p:nvSpPr>
        <p:spPr>
          <a:xfrm>
            <a:off x="7193941" y="3907186"/>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−0,716</a:t>
            </a:r>
            <a:endParaRPr lang="en-US" sz="1800" dirty="0"/>
          </a:p>
        </p:txBody>
      </p:sp>
      <p:sp>
        <p:nvSpPr>
          <p:cNvPr id="31" name="Shape 29"/>
          <p:cNvSpPr/>
          <p:nvPr/>
        </p:nvSpPr>
        <p:spPr>
          <a:xfrm>
            <a:off x="8378539" y="4385136"/>
            <a:ext cx="822751" cy="9525"/>
          </a:xfrm>
          <a:prstGeom prst="rect">
            <a:avLst/>
          </a:prstGeom>
          <a:solidFill>
            <a:srgbClr val="1C212A"/>
          </a:solidFill>
          <a:ln/>
        </p:spPr>
      </p:sp>
      <p:sp>
        <p:nvSpPr>
          <p:cNvPr id="32" name="Text 30"/>
          <p:cNvSpPr/>
          <p:nvPr/>
        </p:nvSpPr>
        <p:spPr>
          <a:xfrm>
            <a:off x="8302339" y="3907186"/>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86,81</a:t>
            </a:r>
            <a:endParaRPr lang="en-US" sz="1800" dirty="0"/>
          </a:p>
        </p:txBody>
      </p:sp>
      <p:sp>
        <p:nvSpPr>
          <p:cNvPr id="33" name="Shape 31"/>
          <p:cNvSpPr/>
          <p:nvPr/>
        </p:nvSpPr>
        <p:spPr>
          <a:xfrm>
            <a:off x="9486938" y="4385136"/>
            <a:ext cx="685644" cy="9525"/>
          </a:xfrm>
          <a:prstGeom prst="rect">
            <a:avLst/>
          </a:prstGeom>
          <a:solidFill>
            <a:srgbClr val="1C212A"/>
          </a:solidFill>
          <a:ln/>
        </p:spPr>
      </p:sp>
      <p:sp>
        <p:nvSpPr>
          <p:cNvPr id="34" name="Text 32"/>
          <p:cNvSpPr/>
          <p:nvPr/>
        </p:nvSpPr>
        <p:spPr>
          <a:xfrm>
            <a:off x="9410738" y="3907186"/>
            <a:ext cx="761844"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0,302</a:t>
            </a:r>
            <a:endParaRPr lang="en-US" sz="1800" dirty="0"/>
          </a:p>
        </p:txBody>
      </p:sp>
      <p:sp>
        <p:nvSpPr>
          <p:cNvPr id="35" name="Shape 33"/>
          <p:cNvSpPr/>
          <p:nvPr/>
        </p:nvSpPr>
        <p:spPr>
          <a:xfrm>
            <a:off x="914344" y="5051307"/>
            <a:ext cx="5510177" cy="9525"/>
          </a:xfrm>
          <a:prstGeom prst="rect">
            <a:avLst/>
          </a:prstGeom>
          <a:solidFill>
            <a:srgbClr val="1C212A"/>
          </a:solidFill>
          <a:ln/>
        </p:spPr>
      </p:sp>
      <p:sp>
        <p:nvSpPr>
          <p:cNvPr id="36" name="Text 34"/>
          <p:cNvSpPr/>
          <p:nvPr/>
        </p:nvSpPr>
        <p:spPr>
          <a:xfrm>
            <a:off x="914344" y="4573357"/>
            <a:ext cx="5675482" cy="335075"/>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 lag1..lag3 (media hora)</a:t>
            </a:r>
            <a:endParaRPr lang="en-US" sz="1800" dirty="0"/>
          </a:p>
        </p:txBody>
      </p:sp>
      <p:sp>
        <p:nvSpPr>
          <p:cNvPr id="37" name="Shape 35"/>
          <p:cNvSpPr/>
          <p:nvPr/>
        </p:nvSpPr>
        <p:spPr>
          <a:xfrm>
            <a:off x="6710168" y="5051307"/>
            <a:ext cx="274326" cy="9525"/>
          </a:xfrm>
          <a:prstGeom prst="rect">
            <a:avLst/>
          </a:prstGeom>
          <a:solidFill>
            <a:srgbClr val="1C212A"/>
          </a:solidFill>
          <a:ln/>
        </p:spPr>
      </p:sp>
      <p:sp>
        <p:nvSpPr>
          <p:cNvPr id="38" name="Text 36"/>
          <p:cNvSpPr/>
          <p:nvPr/>
        </p:nvSpPr>
        <p:spPr>
          <a:xfrm>
            <a:off x="6633968" y="4573357"/>
            <a:ext cx="350526"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32</a:t>
            </a:r>
            <a:endParaRPr lang="en-US" sz="1800" dirty="0"/>
          </a:p>
        </p:txBody>
      </p:sp>
      <p:sp>
        <p:nvSpPr>
          <p:cNvPr id="39" name="Shape 37"/>
          <p:cNvSpPr/>
          <p:nvPr/>
        </p:nvSpPr>
        <p:spPr>
          <a:xfrm>
            <a:off x="7270141" y="5051307"/>
            <a:ext cx="822751" cy="9525"/>
          </a:xfrm>
          <a:prstGeom prst="rect">
            <a:avLst/>
          </a:prstGeom>
          <a:solidFill>
            <a:srgbClr val="1C212A"/>
          </a:solidFill>
          <a:ln/>
        </p:spPr>
      </p:sp>
      <p:sp>
        <p:nvSpPr>
          <p:cNvPr id="40" name="Text 38"/>
          <p:cNvSpPr/>
          <p:nvPr/>
        </p:nvSpPr>
        <p:spPr>
          <a:xfrm>
            <a:off x="7193941" y="4573357"/>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−0,545</a:t>
            </a:r>
            <a:endParaRPr lang="en-US" sz="1800" dirty="0"/>
          </a:p>
        </p:txBody>
      </p:sp>
      <p:sp>
        <p:nvSpPr>
          <p:cNvPr id="41" name="Shape 39"/>
          <p:cNvSpPr/>
          <p:nvPr/>
        </p:nvSpPr>
        <p:spPr>
          <a:xfrm>
            <a:off x="8378539" y="5051307"/>
            <a:ext cx="822751" cy="9525"/>
          </a:xfrm>
          <a:prstGeom prst="rect">
            <a:avLst/>
          </a:prstGeom>
          <a:solidFill>
            <a:srgbClr val="1C212A"/>
          </a:solidFill>
          <a:ln/>
        </p:spPr>
      </p:sp>
      <p:sp>
        <p:nvSpPr>
          <p:cNvPr id="42" name="Text 40"/>
          <p:cNvSpPr/>
          <p:nvPr/>
        </p:nvSpPr>
        <p:spPr>
          <a:xfrm>
            <a:off x="8302339" y="4573357"/>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80,57</a:t>
            </a:r>
            <a:endParaRPr lang="en-US" sz="1800" dirty="0"/>
          </a:p>
        </p:txBody>
      </p:sp>
      <p:sp>
        <p:nvSpPr>
          <p:cNvPr id="43" name="Shape 41"/>
          <p:cNvSpPr/>
          <p:nvPr/>
        </p:nvSpPr>
        <p:spPr>
          <a:xfrm>
            <a:off x="9486938" y="5051307"/>
            <a:ext cx="685644" cy="9525"/>
          </a:xfrm>
          <a:prstGeom prst="rect">
            <a:avLst/>
          </a:prstGeom>
          <a:solidFill>
            <a:srgbClr val="1C212A"/>
          </a:solidFill>
          <a:ln/>
        </p:spPr>
      </p:sp>
      <p:sp>
        <p:nvSpPr>
          <p:cNvPr id="44" name="Text 42"/>
          <p:cNvSpPr/>
          <p:nvPr/>
        </p:nvSpPr>
        <p:spPr>
          <a:xfrm>
            <a:off x="9410738" y="4573357"/>
            <a:ext cx="761844" cy="33507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0,504</a:t>
            </a:r>
            <a:endParaRPr lang="en-US" sz="1800" dirty="0"/>
          </a:p>
        </p:txBody>
      </p:sp>
      <p:sp>
        <p:nvSpPr>
          <p:cNvPr id="45" name="Shape 43"/>
          <p:cNvSpPr/>
          <p:nvPr/>
        </p:nvSpPr>
        <p:spPr>
          <a:xfrm>
            <a:off x="914344" y="5058553"/>
            <a:ext cx="5510177" cy="666171"/>
          </a:xfrm>
          <a:prstGeom prst="rect">
            <a:avLst/>
          </a:prstGeom>
          <a:solidFill>
            <a:srgbClr val="1A2A1E"/>
          </a:solidFill>
          <a:ln/>
        </p:spPr>
      </p:sp>
      <p:sp>
        <p:nvSpPr>
          <p:cNvPr id="46" name="Shape 44"/>
          <p:cNvSpPr/>
          <p:nvPr/>
        </p:nvSpPr>
        <p:spPr>
          <a:xfrm>
            <a:off x="914344" y="5717478"/>
            <a:ext cx="5510177" cy="9525"/>
          </a:xfrm>
          <a:prstGeom prst="rect">
            <a:avLst/>
          </a:prstGeom>
          <a:solidFill>
            <a:srgbClr val="1C212A"/>
          </a:solidFill>
          <a:ln/>
        </p:spPr>
      </p:sp>
      <p:sp>
        <p:nvSpPr>
          <p:cNvPr id="47" name="Text 45"/>
          <p:cNvSpPr/>
          <p:nvPr/>
        </p:nvSpPr>
        <p:spPr>
          <a:xfrm>
            <a:off x="914344" y="5239528"/>
            <a:ext cx="5675482" cy="335075"/>
          </a:xfrm>
          <a:prstGeom prst="rect">
            <a:avLst/>
          </a:prstGeom>
          <a:noFill/>
          <a:ln/>
        </p:spPr>
        <p:txBody>
          <a:bodyPr wrap="square" lIns="25400" tIns="25400" rIns="25400" bIns="25400" rtlCol="0" anchor="t">
            <a:normAutofit/>
          </a:bodyPr>
          <a:lstStyle/>
          <a:p>
            <a:pPr algn="l" indent="0" marL="0">
              <a:buNone/>
            </a:pPr>
            <a:r>
              <a:rPr lang="en-US" sz="1800" dirty="0">
                <a:solidFill>
                  <a:srgbClr val="E6E9EF"/>
                </a:solidFill>
                <a:latin typeface="Arial" pitchFamily="34" charset="0"/>
                <a:ea typeface="Arial" pitchFamily="34" charset="-122"/>
                <a:cs typeface="Arial" pitchFamily="34" charset="-120"/>
              </a:rPr>
              <a:t>+ retardos completos</a:t>
            </a:r>
            <a:endParaRPr lang="en-US" sz="1800" dirty="0"/>
          </a:p>
        </p:txBody>
      </p:sp>
      <p:sp>
        <p:nvSpPr>
          <p:cNvPr id="48" name="Shape 46"/>
          <p:cNvSpPr/>
          <p:nvPr/>
        </p:nvSpPr>
        <p:spPr>
          <a:xfrm>
            <a:off x="6710168" y="5058553"/>
            <a:ext cx="274326" cy="666171"/>
          </a:xfrm>
          <a:prstGeom prst="rect">
            <a:avLst/>
          </a:prstGeom>
          <a:solidFill>
            <a:srgbClr val="1A2A1E"/>
          </a:solidFill>
          <a:ln/>
        </p:spPr>
      </p:sp>
      <p:sp>
        <p:nvSpPr>
          <p:cNvPr id="49" name="Shape 47"/>
          <p:cNvSpPr/>
          <p:nvPr/>
        </p:nvSpPr>
        <p:spPr>
          <a:xfrm>
            <a:off x="6710168" y="5717478"/>
            <a:ext cx="274326" cy="9525"/>
          </a:xfrm>
          <a:prstGeom prst="rect">
            <a:avLst/>
          </a:prstGeom>
          <a:solidFill>
            <a:srgbClr val="1C212A"/>
          </a:solidFill>
          <a:ln/>
        </p:spPr>
      </p:sp>
      <p:sp>
        <p:nvSpPr>
          <p:cNvPr id="50" name="Text 48"/>
          <p:cNvSpPr/>
          <p:nvPr/>
        </p:nvSpPr>
        <p:spPr>
          <a:xfrm>
            <a:off x="6633968" y="5239528"/>
            <a:ext cx="350526" cy="335075"/>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36</a:t>
            </a:r>
            <a:endParaRPr lang="en-US" sz="1800" dirty="0"/>
          </a:p>
        </p:txBody>
      </p:sp>
      <p:sp>
        <p:nvSpPr>
          <p:cNvPr id="51" name="Shape 49"/>
          <p:cNvSpPr/>
          <p:nvPr/>
        </p:nvSpPr>
        <p:spPr>
          <a:xfrm>
            <a:off x="7270141" y="5058553"/>
            <a:ext cx="822751" cy="666171"/>
          </a:xfrm>
          <a:prstGeom prst="rect">
            <a:avLst/>
          </a:prstGeom>
          <a:solidFill>
            <a:srgbClr val="1A2A1E"/>
          </a:solidFill>
          <a:ln/>
        </p:spPr>
      </p:sp>
      <p:sp>
        <p:nvSpPr>
          <p:cNvPr id="52" name="Shape 50"/>
          <p:cNvSpPr/>
          <p:nvPr/>
        </p:nvSpPr>
        <p:spPr>
          <a:xfrm>
            <a:off x="7270141" y="5717478"/>
            <a:ext cx="822751" cy="9525"/>
          </a:xfrm>
          <a:prstGeom prst="rect">
            <a:avLst/>
          </a:prstGeom>
          <a:solidFill>
            <a:srgbClr val="1C212A"/>
          </a:solidFill>
          <a:ln/>
        </p:spPr>
      </p:sp>
      <p:sp>
        <p:nvSpPr>
          <p:cNvPr id="53" name="Text 51"/>
          <p:cNvSpPr/>
          <p:nvPr/>
        </p:nvSpPr>
        <p:spPr>
          <a:xfrm>
            <a:off x="7193941" y="5239528"/>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−0,484</a:t>
            </a:r>
            <a:endParaRPr lang="en-US" sz="1800" dirty="0"/>
          </a:p>
        </p:txBody>
      </p:sp>
      <p:sp>
        <p:nvSpPr>
          <p:cNvPr id="54" name="Shape 52"/>
          <p:cNvSpPr/>
          <p:nvPr/>
        </p:nvSpPr>
        <p:spPr>
          <a:xfrm>
            <a:off x="8378539" y="5058553"/>
            <a:ext cx="822751" cy="666171"/>
          </a:xfrm>
          <a:prstGeom prst="rect">
            <a:avLst/>
          </a:prstGeom>
          <a:solidFill>
            <a:srgbClr val="1A2A1E"/>
          </a:solidFill>
          <a:ln/>
        </p:spPr>
      </p:sp>
      <p:sp>
        <p:nvSpPr>
          <p:cNvPr id="55" name="Shape 53"/>
          <p:cNvSpPr/>
          <p:nvPr/>
        </p:nvSpPr>
        <p:spPr>
          <a:xfrm>
            <a:off x="8378539" y="5717478"/>
            <a:ext cx="822751" cy="9525"/>
          </a:xfrm>
          <a:prstGeom prst="rect">
            <a:avLst/>
          </a:prstGeom>
          <a:solidFill>
            <a:srgbClr val="1C212A"/>
          </a:solidFill>
          <a:ln/>
        </p:spPr>
      </p:sp>
      <p:sp>
        <p:nvSpPr>
          <p:cNvPr id="56" name="Text 54"/>
          <p:cNvSpPr/>
          <p:nvPr/>
        </p:nvSpPr>
        <p:spPr>
          <a:xfrm>
            <a:off x="8302339" y="5239528"/>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76,20</a:t>
            </a:r>
            <a:endParaRPr lang="en-US" sz="1800" dirty="0"/>
          </a:p>
        </p:txBody>
      </p:sp>
      <p:sp>
        <p:nvSpPr>
          <p:cNvPr id="57" name="Shape 55"/>
          <p:cNvSpPr/>
          <p:nvPr/>
        </p:nvSpPr>
        <p:spPr>
          <a:xfrm>
            <a:off x="9486938" y="5058553"/>
            <a:ext cx="685644" cy="666171"/>
          </a:xfrm>
          <a:prstGeom prst="rect">
            <a:avLst/>
          </a:prstGeom>
          <a:solidFill>
            <a:srgbClr val="1A2A1E"/>
          </a:solidFill>
          <a:ln/>
        </p:spPr>
      </p:sp>
      <p:sp>
        <p:nvSpPr>
          <p:cNvPr id="58" name="Shape 56"/>
          <p:cNvSpPr/>
          <p:nvPr/>
        </p:nvSpPr>
        <p:spPr>
          <a:xfrm>
            <a:off x="9486938" y="5717478"/>
            <a:ext cx="685644" cy="9525"/>
          </a:xfrm>
          <a:prstGeom prst="rect">
            <a:avLst/>
          </a:prstGeom>
          <a:solidFill>
            <a:srgbClr val="1C212A"/>
          </a:solidFill>
          <a:ln/>
        </p:spPr>
      </p:sp>
      <p:sp>
        <p:nvSpPr>
          <p:cNvPr id="59" name="Text 57"/>
          <p:cNvSpPr/>
          <p:nvPr/>
        </p:nvSpPr>
        <p:spPr>
          <a:xfrm>
            <a:off x="9410738" y="5239528"/>
            <a:ext cx="761844" cy="335075"/>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0,580</a:t>
            </a:r>
            <a:endParaRPr lang="en-US" sz="1800" dirty="0"/>
          </a:p>
        </p:txBody>
      </p:sp>
      <p:sp>
        <p:nvSpPr>
          <p:cNvPr id="60" name="Text 58"/>
          <p:cNvSpPr/>
          <p:nvPr/>
        </p:nvSpPr>
        <p:spPr>
          <a:xfrm>
            <a:off x="914344" y="5905699"/>
            <a:ext cx="5675482" cy="335075"/>
          </a:xfrm>
          <a:prstGeom prst="rect">
            <a:avLst/>
          </a:prstGeom>
          <a:noFill/>
          <a:ln/>
        </p:spPr>
        <p:txBody>
          <a:bodyPr wrap="square" lIns="25400" tIns="25400" rIns="25400" bIns="25400" rtlCol="0" anchor="t">
            <a:normAutofit/>
          </a:bodyPr>
          <a:lstStyle/>
          <a:p>
            <a:pPr algn="l" indent="0" marL="0">
              <a:buNone/>
            </a:pPr>
            <a:r>
              <a:rPr lang="en-US" sz="1800" dirty="0">
                <a:solidFill>
                  <a:srgbClr val="6F7787"/>
                </a:solidFill>
                <a:latin typeface="Arial" pitchFamily="34" charset="0"/>
                <a:ea typeface="Arial" pitchFamily="34" charset="-122"/>
                <a:cs typeface="Arial" pitchFamily="34" charset="-120"/>
              </a:rPr>
              <a:t>Línea base — la media</a:t>
            </a:r>
            <a:endParaRPr lang="en-US" sz="1800" dirty="0"/>
          </a:p>
        </p:txBody>
      </p:sp>
      <p:sp>
        <p:nvSpPr>
          <p:cNvPr id="61" name="Text 59"/>
          <p:cNvSpPr/>
          <p:nvPr/>
        </p:nvSpPr>
        <p:spPr>
          <a:xfrm>
            <a:off x="6633968" y="5905699"/>
            <a:ext cx="350526" cy="335075"/>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a:t>
            </a:r>
            <a:endParaRPr lang="en-US" sz="1800" dirty="0"/>
          </a:p>
        </p:txBody>
      </p:sp>
      <p:sp>
        <p:nvSpPr>
          <p:cNvPr id="62" name="Text 60"/>
          <p:cNvSpPr/>
          <p:nvPr/>
        </p:nvSpPr>
        <p:spPr>
          <a:xfrm>
            <a:off x="7193941" y="5905699"/>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0,000</a:t>
            </a:r>
            <a:endParaRPr lang="en-US" sz="1800" dirty="0"/>
          </a:p>
        </p:txBody>
      </p:sp>
      <p:sp>
        <p:nvSpPr>
          <p:cNvPr id="63" name="Text 61"/>
          <p:cNvSpPr/>
          <p:nvPr/>
        </p:nvSpPr>
        <p:spPr>
          <a:xfrm>
            <a:off x="8302339" y="5905699"/>
            <a:ext cx="898951" cy="335075"/>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52,65</a:t>
            </a:r>
            <a:endParaRPr lang="en-US" sz="1800" dirty="0"/>
          </a:p>
        </p:txBody>
      </p:sp>
      <p:sp>
        <p:nvSpPr>
          <p:cNvPr id="64" name="Text 62"/>
          <p:cNvSpPr/>
          <p:nvPr/>
        </p:nvSpPr>
        <p:spPr>
          <a:xfrm>
            <a:off x="9410738" y="5905699"/>
            <a:ext cx="761844" cy="335075"/>
          </a:xfrm>
          <a:prstGeom prst="rect">
            <a:avLst/>
          </a:prstGeom>
          <a:noFill/>
          <a:ln/>
        </p:spPr>
        <p:txBody>
          <a:bodyPr wrap="square" lIns="25400" tIns="25400" rIns="25400" bIns="25400" rtlCol="0" anchor="t">
            <a:normAutofit/>
          </a:bodyPr>
          <a:lstStyle/>
          <a:p>
            <a:pPr algn="r" indent="0" marL="0">
              <a:buNone/>
            </a:pPr>
            <a:r>
              <a:rPr lang="en-US" sz="1800" dirty="0">
                <a:solidFill>
                  <a:srgbClr val="6F7787"/>
                </a:solidFill>
                <a:latin typeface="Courier New" pitchFamily="34" charset="0"/>
                <a:ea typeface="Courier New" pitchFamily="34" charset="-122"/>
                <a:cs typeface="Courier New" pitchFamily="34" charset="-120"/>
              </a:rPr>
              <a:t>—</a:t>
            </a:r>
            <a:endParaRPr lang="en-US" sz="1800" dirty="0"/>
          </a:p>
        </p:txBody>
      </p:sp>
      <p:sp>
        <p:nvSpPr>
          <p:cNvPr id="65" name="Shape 63"/>
          <p:cNvSpPr/>
          <p:nvPr/>
        </p:nvSpPr>
        <p:spPr>
          <a:xfrm>
            <a:off x="10515405" y="2713934"/>
            <a:ext cx="6858143" cy="1442050"/>
          </a:xfrm>
          <a:prstGeom prst="roundRect">
            <a:avLst>
              <a:gd name="adj" fmla="val 6605"/>
            </a:avLst>
          </a:prstGeom>
          <a:solidFill>
            <a:srgbClr val="1A2A1E"/>
          </a:solidFill>
          <a:ln w="7246">
            <a:solidFill>
              <a:srgbClr val="2C5233"/>
            </a:solidFill>
            <a:prstDash val="solid"/>
          </a:ln>
        </p:spPr>
      </p:sp>
      <p:sp>
        <p:nvSpPr>
          <p:cNvPr id="66" name="Text 64"/>
          <p:cNvSpPr/>
          <p:nvPr/>
        </p:nvSpPr>
        <p:spPr>
          <a:xfrm>
            <a:off x="10770257" y="2930632"/>
            <a:ext cx="6983283" cy="313445"/>
          </a:xfrm>
          <a:prstGeom prst="rect">
            <a:avLst/>
          </a:prstGeom>
          <a:noFill/>
          <a:ln/>
        </p:spPr>
        <p:txBody>
          <a:bodyPr wrap="square" lIns="25400" tIns="25400" rIns="25400" bIns="25400" rtlCol="0" anchor="t">
            <a:normAutofit/>
          </a:bodyPr>
          <a:lstStyle/>
          <a:p>
            <a:pPr algn="l" indent="0" marL="0">
              <a:buNone/>
            </a:pPr>
            <a:r>
              <a:rPr lang="en-US" sz="1875" b="1" dirty="0">
                <a:solidFill>
                  <a:srgbClr val="7BD992"/>
                </a:solidFill>
                <a:latin typeface="Arial" pitchFamily="34" charset="0"/>
                <a:ea typeface="Arial" pitchFamily="34" charset="-122"/>
                <a:cs typeface="Arial" pitchFamily="34" charset="-120"/>
              </a:rPr>
              <a:t>El clasificador se rescata</a:t>
            </a:r>
            <a:endParaRPr lang="en-US" sz="1875" dirty="0"/>
          </a:p>
        </p:txBody>
      </p:sp>
      <p:sp>
        <p:nvSpPr>
          <p:cNvPr id="67" name="Text 65"/>
          <p:cNvSpPr/>
          <p:nvPr/>
        </p:nvSpPr>
        <p:spPr>
          <a:xfrm>
            <a:off x="10770257" y="3282172"/>
            <a:ext cx="6538892" cy="695214"/>
          </a:xfrm>
          <a:prstGeom prst="rect">
            <a:avLst/>
          </a:prstGeom>
          <a:noFill/>
          <a:ln/>
        </p:spPr>
        <p:txBody>
          <a:bodyPr wrap="square" lIns="25400" tIns="25400" rIns="25400" bIns="25400" rtlCol="0" anchor="t">
            <a:normAutofit/>
          </a:bodyPr>
          <a:lstStyle/>
          <a:p>
            <a:pPr algn="l" indent="0" marL="0">
              <a:lnSpc>
                <a:spcPct val="133387"/>
              </a:lnSpc>
              <a:buNone/>
            </a:pPr>
            <a:r>
              <a:rPr lang="en-US" sz="1725" dirty="0">
                <a:solidFill>
                  <a:srgbClr val="C9D1DE"/>
                </a:solidFill>
                <a:latin typeface="Arial" pitchFamily="34" charset="0"/>
                <a:ea typeface="Arial" pitchFamily="34" charset="-122"/>
                <a:cs typeface="Arial" pitchFamily="34" charset="-120"/>
              </a:rPr>
              <a:t>F1 de 0,167 a 0,580 y recall de 0,176 a 0,571, sobre un mes que nunca vio.</a:t>
            </a:r>
            <a:endParaRPr lang="en-US" sz="1725" dirty="0"/>
          </a:p>
        </p:txBody>
      </p:sp>
      <p:sp>
        <p:nvSpPr>
          <p:cNvPr id="68" name="Shape 66"/>
          <p:cNvSpPr/>
          <p:nvPr/>
        </p:nvSpPr>
        <p:spPr>
          <a:xfrm>
            <a:off x="10515405" y="4327395"/>
            <a:ext cx="6858143" cy="1442050"/>
          </a:xfrm>
          <a:prstGeom prst="roundRect">
            <a:avLst>
              <a:gd name="adj" fmla="val 6605"/>
            </a:avLst>
          </a:prstGeom>
          <a:solidFill>
            <a:srgbClr val="1D1512"/>
          </a:solidFill>
          <a:ln w="7246">
            <a:solidFill>
              <a:srgbClr val="57301C"/>
            </a:solidFill>
            <a:prstDash val="solid"/>
          </a:ln>
        </p:spPr>
      </p:sp>
      <p:sp>
        <p:nvSpPr>
          <p:cNvPr id="69" name="Text 67"/>
          <p:cNvSpPr/>
          <p:nvPr/>
        </p:nvSpPr>
        <p:spPr>
          <a:xfrm>
            <a:off x="10770257" y="4544093"/>
            <a:ext cx="6983283" cy="313445"/>
          </a:xfrm>
          <a:prstGeom prst="rect">
            <a:avLst/>
          </a:prstGeom>
          <a:noFill/>
          <a:ln/>
        </p:spPr>
        <p:txBody>
          <a:bodyPr wrap="square" lIns="25400" tIns="25400" rIns="25400" bIns="25400" rtlCol="0" anchor="t">
            <a:normAutofit/>
          </a:bodyPr>
          <a:lstStyle/>
          <a:p>
            <a:pPr algn="l" indent="0" marL="0">
              <a:buNone/>
            </a:pPr>
            <a:r>
              <a:rPr lang="en-US" sz="1875" b="1" dirty="0">
                <a:solidFill>
                  <a:srgbClr val="FFB877"/>
                </a:solidFill>
                <a:latin typeface="Arial" pitchFamily="34" charset="0"/>
                <a:ea typeface="Arial" pitchFamily="34" charset="-122"/>
                <a:cs typeface="Arial" pitchFamily="34" charset="-120"/>
              </a:rPr>
              <a:t>El regresor no</a:t>
            </a:r>
            <a:endParaRPr lang="en-US" sz="1875" dirty="0"/>
          </a:p>
        </p:txBody>
      </p:sp>
      <p:sp>
        <p:nvSpPr>
          <p:cNvPr id="70" name="Text 68"/>
          <p:cNvSpPr/>
          <p:nvPr/>
        </p:nvSpPr>
        <p:spPr>
          <a:xfrm>
            <a:off x="10770257" y="4895633"/>
            <a:ext cx="6538892" cy="695214"/>
          </a:xfrm>
          <a:prstGeom prst="rect">
            <a:avLst/>
          </a:prstGeom>
          <a:noFill/>
          <a:ln/>
        </p:spPr>
        <p:txBody>
          <a:bodyPr wrap="square" lIns="25400" tIns="25400" rIns="25400" bIns="25400" rtlCol="0" anchor="t">
            <a:normAutofit/>
          </a:bodyPr>
          <a:lstStyle/>
          <a:p>
            <a:pPr algn="l" indent="0" marL="0">
              <a:lnSpc>
                <a:spcPct val="133387"/>
              </a:lnSpc>
              <a:buNone/>
            </a:pPr>
            <a:r>
              <a:rPr lang="en-US" sz="1725" dirty="0">
                <a:solidFill>
                  <a:srgbClr val="C9D1DE"/>
                </a:solidFill>
                <a:latin typeface="Arial" pitchFamily="34" charset="0"/>
                <a:ea typeface="Arial" pitchFamily="34" charset="-122"/>
                <a:cs typeface="Arial" pitchFamily="34" charset="-120"/>
              </a:rPr>
              <a:t>MAE baja un 57 %, pero sigue peor que la media y el R² sigue negativo.</a:t>
            </a:r>
            <a:endParaRPr lang="en-US" sz="1725" dirty="0"/>
          </a:p>
        </p:txBody>
      </p:sp>
      <p:sp>
        <p:nvSpPr>
          <p:cNvPr id="71" name="Text 69"/>
          <p:cNvSpPr/>
          <p:nvPr/>
        </p:nvSpPr>
        <p:spPr>
          <a:xfrm>
            <a:off x="10515405" y="5959876"/>
            <a:ext cx="7543957" cy="383300"/>
          </a:xfrm>
          <a:prstGeom prst="rect">
            <a:avLst/>
          </a:prstGeom>
          <a:noFill/>
          <a:ln/>
        </p:spPr>
        <p:txBody>
          <a:bodyPr wrap="square" lIns="25400" tIns="25400" rIns="25400" bIns="25400" rtlCol="0" anchor="t">
            <a:normAutofit/>
          </a:bodyPr>
          <a:lstStyle/>
          <a:p>
            <a:pPr algn="l" indent="0" marL="0">
              <a:lnSpc>
                <a:spcPct val="125400"/>
              </a:lnSpc>
              <a:buNone/>
            </a:pPr>
            <a:r>
              <a:rPr lang="en-US" sz="1875" dirty="0">
                <a:solidFill>
                  <a:srgbClr val="E6E9EF"/>
                </a:solidFill>
                <a:latin typeface="Arial" pitchFamily="34" charset="0"/>
                <a:ea typeface="Arial" pitchFamily="34" charset="-122"/>
                <a:cs typeface="Arial" pitchFamily="34" charset="-120"/>
              </a:rPr>
              <a:t>¿Y si el problema no son los retardos, sino el bosque?</a:t>
            </a:r>
            <a:endParaRPr lang="en-US" sz="1875" dirty="0"/>
          </a:p>
        </p:txBody>
      </p:sp>
      <p:sp>
        <p:nvSpPr>
          <p:cNvPr id="72" name="Shape 70"/>
          <p:cNvSpPr/>
          <p:nvPr/>
        </p:nvSpPr>
        <p:spPr>
          <a:xfrm>
            <a:off x="2709971" y="6612235"/>
            <a:ext cx="12867835" cy="3065134"/>
          </a:xfrm>
          <a:prstGeom prst="roundRect">
            <a:avLst>
              <a:gd name="adj" fmla="val 3729"/>
            </a:avLst>
          </a:prstGeom>
          <a:solidFill>
            <a:srgbClr val="FFFFFF"/>
          </a:solidFill>
          <a:ln/>
        </p:spPr>
      </p:sp>
      <p:pic>
        <p:nvPicPr>
          <p:cNvPr id="73" name="Image 0" descr="preencoded.png">    </p:cNvPr>
          <p:cNvPicPr>
            <a:picLocks noChangeAspect="1"/>
          </p:cNvPicPr>
          <p:nvPr/>
        </p:nvPicPr>
        <p:blipFill>
          <a:blip r:embed="rId1"/>
          <a:stretch>
            <a:fillRect/>
          </a:stretch>
        </p:blipFill>
        <p:spPr>
          <a:xfrm>
            <a:off x="2919424" y="6187557"/>
            <a:ext cx="12448931" cy="39146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A73E8"/>
                </a:solidFill>
                <a:latin typeface="Courier New" pitchFamily="34" charset="0"/>
                <a:ea typeface="Courier New" pitchFamily="34" charset="-122"/>
                <a:cs typeface="Courier New" pitchFamily="34" charset="-120"/>
              </a:rPr>
              <a:t>PUNTO 2 · 2.5 EL RESULTADO QUE REORDENA EL PROYECTO</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El mismo experimento, con el modelo que quedó último</a:t>
            </a:r>
            <a:endParaRPr lang="en-US" sz="4050" dirty="0"/>
          </a:p>
        </p:txBody>
      </p:sp>
      <p:sp>
        <p:nvSpPr>
          <p:cNvPr id="4" name="Shape 2"/>
          <p:cNvSpPr/>
          <p:nvPr/>
        </p:nvSpPr>
        <p:spPr>
          <a:xfrm>
            <a:off x="914344" y="3565668"/>
            <a:ext cx="3818936" cy="9525"/>
          </a:xfrm>
          <a:prstGeom prst="rect">
            <a:avLst/>
          </a:prstGeom>
          <a:solidFill>
            <a:srgbClr val="2C323E"/>
          </a:solidFill>
          <a:ln/>
        </p:spPr>
      </p:sp>
      <p:sp>
        <p:nvSpPr>
          <p:cNvPr id="5" name="Text 3"/>
          <p:cNvSpPr/>
          <p:nvPr/>
        </p:nvSpPr>
        <p:spPr>
          <a:xfrm>
            <a:off x="914344" y="3226809"/>
            <a:ext cx="3933504" cy="26266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TEMPORAL · 36 VARIABLES</a:t>
            </a:r>
            <a:endParaRPr lang="en-US" sz="1350" dirty="0"/>
          </a:p>
        </p:txBody>
      </p:sp>
      <p:sp>
        <p:nvSpPr>
          <p:cNvPr id="6" name="Shape 4"/>
          <p:cNvSpPr/>
          <p:nvPr/>
        </p:nvSpPr>
        <p:spPr>
          <a:xfrm>
            <a:off x="4980886" y="3565668"/>
            <a:ext cx="857169" cy="9525"/>
          </a:xfrm>
          <a:prstGeom prst="rect">
            <a:avLst/>
          </a:prstGeom>
          <a:solidFill>
            <a:srgbClr val="2C323E"/>
          </a:solidFill>
          <a:ln/>
        </p:spPr>
      </p:sp>
      <p:sp>
        <p:nvSpPr>
          <p:cNvPr id="7" name="Text 5"/>
          <p:cNvSpPr/>
          <p:nvPr/>
        </p:nvSpPr>
        <p:spPr>
          <a:xfrm>
            <a:off x="4904686" y="3226809"/>
            <a:ext cx="933369"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R²</a:t>
            </a:r>
            <a:endParaRPr lang="en-US" sz="1350" dirty="0"/>
          </a:p>
        </p:txBody>
      </p:sp>
      <p:sp>
        <p:nvSpPr>
          <p:cNvPr id="8" name="Shape 6"/>
          <p:cNvSpPr/>
          <p:nvPr/>
        </p:nvSpPr>
        <p:spPr>
          <a:xfrm>
            <a:off x="6085661" y="3565668"/>
            <a:ext cx="714402" cy="9525"/>
          </a:xfrm>
          <a:prstGeom prst="rect">
            <a:avLst/>
          </a:prstGeom>
          <a:solidFill>
            <a:srgbClr val="2C323E"/>
          </a:solidFill>
          <a:ln/>
        </p:spPr>
      </p:sp>
      <p:sp>
        <p:nvSpPr>
          <p:cNvPr id="9" name="Text 7"/>
          <p:cNvSpPr/>
          <p:nvPr/>
        </p:nvSpPr>
        <p:spPr>
          <a:xfrm>
            <a:off x="6009461" y="3226809"/>
            <a:ext cx="790602"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MAE</a:t>
            </a:r>
            <a:endParaRPr lang="en-US" sz="1350" dirty="0"/>
          </a:p>
        </p:txBody>
      </p:sp>
      <p:sp>
        <p:nvSpPr>
          <p:cNvPr id="10" name="Shape 8"/>
          <p:cNvSpPr/>
          <p:nvPr/>
        </p:nvSpPr>
        <p:spPr>
          <a:xfrm>
            <a:off x="7047669" y="3565668"/>
            <a:ext cx="857169" cy="9525"/>
          </a:xfrm>
          <a:prstGeom prst="rect">
            <a:avLst/>
          </a:prstGeom>
          <a:solidFill>
            <a:srgbClr val="2C323E"/>
          </a:solidFill>
          <a:ln/>
        </p:spPr>
      </p:sp>
      <p:sp>
        <p:nvSpPr>
          <p:cNvPr id="11" name="Text 9"/>
          <p:cNvSpPr/>
          <p:nvPr/>
        </p:nvSpPr>
        <p:spPr>
          <a:xfrm>
            <a:off x="6971469" y="3226809"/>
            <a:ext cx="933369"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SESGO</a:t>
            </a:r>
            <a:endParaRPr lang="en-US" sz="1350" dirty="0"/>
          </a:p>
        </p:txBody>
      </p:sp>
      <p:sp>
        <p:nvSpPr>
          <p:cNvPr id="12" name="Shape 10"/>
          <p:cNvSpPr/>
          <p:nvPr/>
        </p:nvSpPr>
        <p:spPr>
          <a:xfrm>
            <a:off x="914344" y="4303393"/>
            <a:ext cx="3818936" cy="9525"/>
          </a:xfrm>
          <a:prstGeom prst="rect">
            <a:avLst/>
          </a:prstGeom>
          <a:solidFill>
            <a:srgbClr val="1C212A"/>
          </a:solidFill>
          <a:ln/>
        </p:spPr>
      </p:sp>
      <p:sp>
        <p:nvSpPr>
          <p:cNvPr id="13" name="Text 11"/>
          <p:cNvSpPr/>
          <p:nvPr/>
        </p:nvSpPr>
        <p:spPr>
          <a:xfrm>
            <a:off x="914344" y="3782464"/>
            <a:ext cx="3933504"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Random Forest</a:t>
            </a:r>
            <a:endParaRPr lang="en-US" sz="1875" dirty="0"/>
          </a:p>
        </p:txBody>
      </p:sp>
      <p:sp>
        <p:nvSpPr>
          <p:cNvPr id="14" name="Shape 12"/>
          <p:cNvSpPr/>
          <p:nvPr/>
        </p:nvSpPr>
        <p:spPr>
          <a:xfrm>
            <a:off x="4980886" y="4303393"/>
            <a:ext cx="857169" cy="9525"/>
          </a:xfrm>
          <a:prstGeom prst="rect">
            <a:avLst/>
          </a:prstGeom>
          <a:solidFill>
            <a:srgbClr val="1C212A"/>
          </a:solidFill>
          <a:ln/>
        </p:spPr>
      </p:sp>
      <p:sp>
        <p:nvSpPr>
          <p:cNvPr id="15" name="Text 13"/>
          <p:cNvSpPr/>
          <p:nvPr/>
        </p:nvSpPr>
        <p:spPr>
          <a:xfrm>
            <a:off x="4904686" y="3782464"/>
            <a:ext cx="93336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−0,484</a:t>
            </a:r>
            <a:endParaRPr lang="en-US" sz="1875" dirty="0"/>
          </a:p>
        </p:txBody>
      </p:sp>
      <p:sp>
        <p:nvSpPr>
          <p:cNvPr id="16" name="Shape 14"/>
          <p:cNvSpPr/>
          <p:nvPr/>
        </p:nvSpPr>
        <p:spPr>
          <a:xfrm>
            <a:off x="6085661" y="4303393"/>
            <a:ext cx="714402" cy="9525"/>
          </a:xfrm>
          <a:prstGeom prst="rect">
            <a:avLst/>
          </a:prstGeom>
          <a:solidFill>
            <a:srgbClr val="1C212A"/>
          </a:solidFill>
          <a:ln/>
        </p:spPr>
      </p:sp>
      <p:sp>
        <p:nvSpPr>
          <p:cNvPr id="17" name="Text 15"/>
          <p:cNvSpPr/>
          <p:nvPr/>
        </p:nvSpPr>
        <p:spPr>
          <a:xfrm>
            <a:off x="6009461" y="3782464"/>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76,20</a:t>
            </a:r>
            <a:endParaRPr lang="en-US" sz="1875" dirty="0"/>
          </a:p>
        </p:txBody>
      </p:sp>
      <p:sp>
        <p:nvSpPr>
          <p:cNvPr id="18" name="Shape 16"/>
          <p:cNvSpPr/>
          <p:nvPr/>
        </p:nvSpPr>
        <p:spPr>
          <a:xfrm>
            <a:off x="7047669" y="4303393"/>
            <a:ext cx="857169" cy="9525"/>
          </a:xfrm>
          <a:prstGeom prst="rect">
            <a:avLst/>
          </a:prstGeom>
          <a:solidFill>
            <a:srgbClr val="1C212A"/>
          </a:solidFill>
          <a:ln/>
        </p:spPr>
      </p:sp>
      <p:sp>
        <p:nvSpPr>
          <p:cNvPr id="19" name="Text 17"/>
          <p:cNvSpPr/>
          <p:nvPr/>
        </p:nvSpPr>
        <p:spPr>
          <a:xfrm>
            <a:off x="6971469" y="3782464"/>
            <a:ext cx="93336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+63,85</a:t>
            </a:r>
            <a:endParaRPr lang="en-US" sz="1875" dirty="0"/>
          </a:p>
        </p:txBody>
      </p:sp>
      <p:sp>
        <p:nvSpPr>
          <p:cNvPr id="20" name="Shape 18"/>
          <p:cNvSpPr/>
          <p:nvPr/>
        </p:nvSpPr>
        <p:spPr>
          <a:xfrm>
            <a:off x="914344" y="4310639"/>
            <a:ext cx="3818936" cy="737724"/>
          </a:xfrm>
          <a:prstGeom prst="rect">
            <a:avLst/>
          </a:prstGeom>
          <a:solidFill>
            <a:srgbClr val="1A2A1E"/>
          </a:solidFill>
          <a:ln/>
        </p:spPr>
      </p:sp>
      <p:sp>
        <p:nvSpPr>
          <p:cNvPr id="21" name="Shape 19"/>
          <p:cNvSpPr/>
          <p:nvPr/>
        </p:nvSpPr>
        <p:spPr>
          <a:xfrm>
            <a:off x="914344" y="5041117"/>
            <a:ext cx="3818936" cy="9525"/>
          </a:xfrm>
          <a:prstGeom prst="rect">
            <a:avLst/>
          </a:prstGeom>
          <a:solidFill>
            <a:srgbClr val="1C212A"/>
          </a:solidFill>
          <a:ln/>
        </p:spPr>
      </p:sp>
      <p:sp>
        <p:nvSpPr>
          <p:cNvPr id="22" name="Text 20"/>
          <p:cNvSpPr/>
          <p:nvPr/>
        </p:nvSpPr>
        <p:spPr>
          <a:xfrm>
            <a:off x="914344" y="4520189"/>
            <a:ext cx="3933504" cy="349479"/>
          </a:xfrm>
          <a:prstGeom prst="rect">
            <a:avLst/>
          </a:prstGeom>
          <a:noFill/>
          <a:ln/>
        </p:spPr>
        <p:txBody>
          <a:bodyPr wrap="square" lIns="25400" tIns="25400" rIns="25400" bIns="25400" rtlCol="0" anchor="t">
            <a:normAutofit/>
          </a:bodyPr>
          <a:lstStyle/>
          <a:p>
            <a:pPr algn="l" indent="0" marL="0">
              <a:buNone/>
            </a:pPr>
            <a:r>
              <a:rPr lang="en-US" sz="1875" dirty="0">
                <a:solidFill>
                  <a:srgbClr val="E6E9EF"/>
                </a:solidFill>
                <a:latin typeface="Arial" pitchFamily="34" charset="0"/>
                <a:ea typeface="Arial" pitchFamily="34" charset="-122"/>
                <a:cs typeface="Arial" pitchFamily="34" charset="-120"/>
              </a:rPr>
              <a:t>Regresión Lineal</a:t>
            </a:r>
            <a:endParaRPr lang="en-US" sz="1875" dirty="0"/>
          </a:p>
        </p:txBody>
      </p:sp>
      <p:sp>
        <p:nvSpPr>
          <p:cNvPr id="23" name="Shape 21"/>
          <p:cNvSpPr/>
          <p:nvPr/>
        </p:nvSpPr>
        <p:spPr>
          <a:xfrm>
            <a:off x="4980886" y="4310639"/>
            <a:ext cx="857169" cy="737724"/>
          </a:xfrm>
          <a:prstGeom prst="rect">
            <a:avLst/>
          </a:prstGeom>
          <a:solidFill>
            <a:srgbClr val="1A2A1E"/>
          </a:solidFill>
          <a:ln/>
        </p:spPr>
      </p:sp>
      <p:sp>
        <p:nvSpPr>
          <p:cNvPr id="24" name="Shape 22"/>
          <p:cNvSpPr/>
          <p:nvPr/>
        </p:nvSpPr>
        <p:spPr>
          <a:xfrm>
            <a:off x="4980886" y="5041117"/>
            <a:ext cx="857169" cy="9525"/>
          </a:xfrm>
          <a:prstGeom prst="rect">
            <a:avLst/>
          </a:prstGeom>
          <a:solidFill>
            <a:srgbClr val="1C212A"/>
          </a:solidFill>
          <a:ln/>
        </p:spPr>
      </p:sp>
      <p:sp>
        <p:nvSpPr>
          <p:cNvPr id="25" name="Text 23"/>
          <p:cNvSpPr/>
          <p:nvPr/>
        </p:nvSpPr>
        <p:spPr>
          <a:xfrm>
            <a:off x="4904686" y="4520189"/>
            <a:ext cx="93336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+0,557</a:t>
            </a:r>
            <a:endParaRPr lang="en-US" sz="1875" dirty="0"/>
          </a:p>
        </p:txBody>
      </p:sp>
      <p:sp>
        <p:nvSpPr>
          <p:cNvPr id="26" name="Shape 24"/>
          <p:cNvSpPr/>
          <p:nvPr/>
        </p:nvSpPr>
        <p:spPr>
          <a:xfrm>
            <a:off x="6085661" y="4310639"/>
            <a:ext cx="714402" cy="737724"/>
          </a:xfrm>
          <a:prstGeom prst="rect">
            <a:avLst/>
          </a:prstGeom>
          <a:solidFill>
            <a:srgbClr val="1A2A1E"/>
          </a:solidFill>
          <a:ln/>
        </p:spPr>
      </p:sp>
      <p:sp>
        <p:nvSpPr>
          <p:cNvPr id="27" name="Shape 25"/>
          <p:cNvSpPr/>
          <p:nvPr/>
        </p:nvSpPr>
        <p:spPr>
          <a:xfrm>
            <a:off x="6085661" y="5041117"/>
            <a:ext cx="714402" cy="9525"/>
          </a:xfrm>
          <a:prstGeom prst="rect">
            <a:avLst/>
          </a:prstGeom>
          <a:solidFill>
            <a:srgbClr val="1C212A"/>
          </a:solidFill>
          <a:ln/>
        </p:spPr>
      </p:sp>
      <p:sp>
        <p:nvSpPr>
          <p:cNvPr id="28" name="Text 26"/>
          <p:cNvSpPr/>
          <p:nvPr/>
        </p:nvSpPr>
        <p:spPr>
          <a:xfrm>
            <a:off x="6009461" y="4520189"/>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28,17</a:t>
            </a:r>
            <a:endParaRPr lang="en-US" sz="1875" dirty="0"/>
          </a:p>
        </p:txBody>
      </p:sp>
      <p:sp>
        <p:nvSpPr>
          <p:cNvPr id="29" name="Shape 27"/>
          <p:cNvSpPr/>
          <p:nvPr/>
        </p:nvSpPr>
        <p:spPr>
          <a:xfrm>
            <a:off x="7047669" y="4310639"/>
            <a:ext cx="857169" cy="737724"/>
          </a:xfrm>
          <a:prstGeom prst="rect">
            <a:avLst/>
          </a:prstGeom>
          <a:solidFill>
            <a:srgbClr val="1A2A1E"/>
          </a:solidFill>
          <a:ln/>
        </p:spPr>
      </p:sp>
      <p:sp>
        <p:nvSpPr>
          <p:cNvPr id="30" name="Shape 28"/>
          <p:cNvSpPr/>
          <p:nvPr/>
        </p:nvSpPr>
        <p:spPr>
          <a:xfrm>
            <a:off x="7047669" y="5041117"/>
            <a:ext cx="857169" cy="9525"/>
          </a:xfrm>
          <a:prstGeom prst="rect">
            <a:avLst/>
          </a:prstGeom>
          <a:solidFill>
            <a:srgbClr val="1C212A"/>
          </a:solidFill>
          <a:ln/>
        </p:spPr>
      </p:sp>
      <p:sp>
        <p:nvSpPr>
          <p:cNvPr id="31" name="Text 29"/>
          <p:cNvSpPr/>
          <p:nvPr/>
        </p:nvSpPr>
        <p:spPr>
          <a:xfrm>
            <a:off x="6971469" y="4520189"/>
            <a:ext cx="93336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+0,46</a:t>
            </a:r>
            <a:endParaRPr lang="en-US" sz="1875" dirty="0"/>
          </a:p>
        </p:txBody>
      </p:sp>
      <p:sp>
        <p:nvSpPr>
          <p:cNvPr id="32" name="Text 30"/>
          <p:cNvSpPr/>
          <p:nvPr/>
        </p:nvSpPr>
        <p:spPr>
          <a:xfrm>
            <a:off x="914344" y="5257913"/>
            <a:ext cx="3933504" cy="349479"/>
          </a:xfrm>
          <a:prstGeom prst="rect">
            <a:avLst/>
          </a:prstGeom>
          <a:noFill/>
          <a:ln/>
        </p:spPr>
        <p:txBody>
          <a:bodyPr wrap="square" lIns="25400" tIns="25400" rIns="25400" bIns="25400" rtlCol="0" anchor="t">
            <a:normAutofit/>
          </a:bodyPr>
          <a:lstStyle/>
          <a:p>
            <a:pPr algn="l" indent="0" marL="0">
              <a:buNone/>
            </a:pPr>
            <a:r>
              <a:rPr lang="en-US" sz="1875" dirty="0">
                <a:solidFill>
                  <a:srgbClr val="6F7787"/>
                </a:solidFill>
                <a:latin typeface="Arial" pitchFamily="34" charset="0"/>
                <a:ea typeface="Arial" pitchFamily="34" charset="-122"/>
                <a:cs typeface="Arial" pitchFamily="34" charset="-120"/>
              </a:rPr>
              <a:t>Línea base — la media</a:t>
            </a:r>
            <a:endParaRPr lang="en-US" sz="1875" dirty="0"/>
          </a:p>
        </p:txBody>
      </p:sp>
      <p:sp>
        <p:nvSpPr>
          <p:cNvPr id="33" name="Text 31"/>
          <p:cNvSpPr/>
          <p:nvPr/>
        </p:nvSpPr>
        <p:spPr>
          <a:xfrm>
            <a:off x="4904686" y="5257913"/>
            <a:ext cx="93336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6F7787"/>
                </a:solidFill>
                <a:latin typeface="Courier New" pitchFamily="34" charset="0"/>
                <a:ea typeface="Courier New" pitchFamily="34" charset="-122"/>
                <a:cs typeface="Courier New" pitchFamily="34" charset="-120"/>
              </a:rPr>
              <a:t>0,000</a:t>
            </a:r>
            <a:endParaRPr lang="en-US" sz="1875" dirty="0"/>
          </a:p>
        </p:txBody>
      </p:sp>
      <p:sp>
        <p:nvSpPr>
          <p:cNvPr id="34" name="Text 32"/>
          <p:cNvSpPr/>
          <p:nvPr/>
        </p:nvSpPr>
        <p:spPr>
          <a:xfrm>
            <a:off x="6009461" y="5257913"/>
            <a:ext cx="790602" cy="349479"/>
          </a:xfrm>
          <a:prstGeom prst="rect">
            <a:avLst/>
          </a:prstGeom>
          <a:noFill/>
          <a:ln/>
        </p:spPr>
        <p:txBody>
          <a:bodyPr wrap="square" lIns="25400" tIns="25400" rIns="25400" bIns="25400" rtlCol="0" anchor="t">
            <a:normAutofit/>
          </a:bodyPr>
          <a:lstStyle/>
          <a:p>
            <a:pPr algn="r" indent="0" marL="0">
              <a:buNone/>
            </a:pPr>
            <a:r>
              <a:rPr lang="en-US" sz="1875" dirty="0">
                <a:solidFill>
                  <a:srgbClr val="6F7787"/>
                </a:solidFill>
                <a:latin typeface="Courier New" pitchFamily="34" charset="0"/>
                <a:ea typeface="Courier New" pitchFamily="34" charset="-122"/>
                <a:cs typeface="Courier New" pitchFamily="34" charset="-120"/>
              </a:rPr>
              <a:t>52,65</a:t>
            </a:r>
            <a:endParaRPr lang="en-US" sz="1875" dirty="0"/>
          </a:p>
        </p:txBody>
      </p:sp>
      <p:sp>
        <p:nvSpPr>
          <p:cNvPr id="35" name="Text 33"/>
          <p:cNvSpPr/>
          <p:nvPr/>
        </p:nvSpPr>
        <p:spPr>
          <a:xfrm>
            <a:off x="6971469" y="5257913"/>
            <a:ext cx="93336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6F7787"/>
                </a:solidFill>
                <a:latin typeface="Courier New" pitchFamily="34" charset="0"/>
                <a:ea typeface="Courier New" pitchFamily="34" charset="-122"/>
                <a:cs typeface="Courier New" pitchFamily="34" charset="-120"/>
              </a:rPr>
              <a:t>+1,75</a:t>
            </a:r>
            <a:endParaRPr lang="en-US" sz="1875" dirty="0"/>
          </a:p>
        </p:txBody>
      </p:sp>
      <p:sp>
        <p:nvSpPr>
          <p:cNvPr id="36" name="Shape 34"/>
          <p:cNvSpPr/>
          <p:nvPr/>
        </p:nvSpPr>
        <p:spPr>
          <a:xfrm>
            <a:off x="914344" y="6045469"/>
            <a:ext cx="6990494" cy="2280991"/>
          </a:xfrm>
          <a:prstGeom prst="roundRect">
            <a:avLst>
              <a:gd name="adj" fmla="val 5011"/>
            </a:avLst>
          </a:prstGeom>
          <a:solidFill>
            <a:srgbClr val="151920"/>
          </a:solidFill>
          <a:ln w="7246">
            <a:solidFill>
              <a:srgbClr val="232833"/>
            </a:solidFill>
            <a:prstDash val="solid"/>
          </a:ln>
        </p:spPr>
      </p:sp>
      <p:sp>
        <p:nvSpPr>
          <p:cNvPr id="37" name="Text 35"/>
          <p:cNvSpPr/>
          <p:nvPr/>
        </p:nvSpPr>
        <p:spPr>
          <a:xfrm>
            <a:off x="1207340" y="6300365"/>
            <a:ext cx="6614217" cy="1809299"/>
          </a:xfrm>
          <a:prstGeom prst="rect">
            <a:avLst/>
          </a:prstGeom>
          <a:noFill/>
          <a:ln/>
        </p:spPr>
        <p:txBody>
          <a:bodyPr wrap="square" lIns="25400" tIns="25400" rIns="25400" bIns="25400" rtlCol="0" anchor="t">
            <a:normAutofit/>
          </a:bodyPr>
          <a:lstStyle/>
          <a:p>
            <a:pPr algn="l" indent="0" marL="0">
              <a:lnSpc>
                <a:spcPct val="132164"/>
              </a:lnSpc>
              <a:buNone/>
            </a:pPr>
            <a:r>
              <a:rPr lang="en-US" sz="1800" b="1" dirty="0">
                <a:solidFill>
                  <a:srgbClr val="E6E9EF"/>
                </a:solidFill>
                <a:latin typeface="Arial" pitchFamily="34" charset="0"/>
                <a:ea typeface="Arial" pitchFamily="34" charset="-122"/>
                <a:cs typeface="Arial" pitchFamily="34" charset="-120"/>
              </a:rPr>
              <a:t>El mecanismo es la extrapolación. </a:t>
            </a:r>
            <a:pPr algn="l" indent="0" marL="0">
              <a:lnSpc>
                <a:spcPct val="132164"/>
              </a:lnSpc>
              <a:buNone/>
            </a:pPr>
            <a:r>
              <a:rPr lang="en-US" sz="1800" dirty="0">
                <a:solidFill>
                  <a:srgbClr val="C9D1DE"/>
                </a:solidFill>
                <a:highlight>
                  <a:srgbClr val="151920"/>
                </a:highlight>
                <a:latin typeface="Arial" pitchFamily="34" charset="0"/>
                <a:ea typeface="Arial" pitchFamily="34" charset="-122"/>
                <a:cs typeface="Arial" pitchFamily="34" charset="-120"/>
              </a:rPr>
              <a:t>El bosque promedia valores vistos en entrenamiento: sobre mayo predice 160 Wh de media cuando la realidad es 96. La lineal, dominada por lag1, no predice un nivel — predice un cambio respecto del nivel actual, y eso se traslada intacto a un régimen nuevo.</a:t>
            </a:r>
            <a:endParaRPr lang="en-US" sz="1800" dirty="0"/>
          </a:p>
        </p:txBody>
      </p:sp>
      <p:sp>
        <p:nvSpPr>
          <p:cNvPr id="38" name="Shape 36"/>
          <p:cNvSpPr/>
          <p:nvPr/>
        </p:nvSpPr>
        <p:spPr>
          <a:xfrm>
            <a:off x="8285815" y="3029810"/>
            <a:ext cx="9087733" cy="3269945"/>
          </a:xfrm>
          <a:prstGeom prst="roundRect">
            <a:avLst>
              <a:gd name="adj" fmla="val 3495"/>
            </a:avLst>
          </a:prstGeom>
          <a:solidFill>
            <a:srgbClr val="FFFFFF"/>
          </a:solidFill>
          <a:ln/>
        </p:spPr>
      </p:sp>
      <p:pic>
        <p:nvPicPr>
          <p:cNvPr id="39" name="Image 0" descr="preencoded.png">    </p:cNvPr>
          <p:cNvPicPr>
            <a:picLocks noChangeAspect="1"/>
          </p:cNvPicPr>
          <p:nvPr/>
        </p:nvPicPr>
        <p:blipFill>
          <a:blip r:embed="rId1"/>
          <a:stretch>
            <a:fillRect/>
          </a:stretch>
        </p:blipFill>
        <p:spPr>
          <a:xfrm>
            <a:off x="8533421" y="3239263"/>
            <a:ext cx="8592520" cy="2851040"/>
          </a:xfrm>
          <a:prstGeom prst="rect">
            <a:avLst/>
          </a:prstGeom>
        </p:spPr>
      </p:pic>
      <p:sp>
        <p:nvSpPr>
          <p:cNvPr id="40" name="Shape 37"/>
          <p:cNvSpPr/>
          <p:nvPr/>
        </p:nvSpPr>
        <p:spPr>
          <a:xfrm>
            <a:off x="8285815" y="6528341"/>
            <a:ext cx="9087733" cy="1995117"/>
          </a:xfrm>
          <a:custGeom>
            <a:avLst/>
            <a:gdLst/>
            <a:ahLst/>
            <a:cxnLst/>
            <a:rect l="l" t="t" r="r" b="b"/>
            <a:pathLst>
              <a:path w="9087733" h="1995117">
                <a:moveTo>
                  <a:pt x="0" y="0"/>
                </a:moveTo>
                <a:lnTo>
                  <a:pt x="8973433" y="0"/>
                </a:lnTo>
                <a:arcTo hR="114300" wR="114300" stAng="16200000" swAng="5400000"/>
                <a:lnTo>
                  <a:pt x="9087733" y="1880817"/>
                </a:lnTo>
                <a:arcTo hR="114300" wR="114300" stAng="0" swAng="5400000"/>
                <a:lnTo>
                  <a:pt x="0" y="1995117"/>
                </a:lnTo>
                <a:lnTo>
                  <a:pt x="0" y="0"/>
                </a:lnTo>
                <a:close/>
              </a:path>
            </a:pathLst>
          </a:custGeom>
          <a:solidFill>
            <a:srgbClr val="11141A"/>
          </a:solidFill>
          <a:ln/>
        </p:spPr>
      </p:sp>
      <p:sp>
        <p:nvSpPr>
          <p:cNvPr id="41" name="Shape 38"/>
          <p:cNvSpPr/>
          <p:nvPr/>
        </p:nvSpPr>
        <p:spPr>
          <a:xfrm>
            <a:off x="8285815" y="6528341"/>
            <a:ext cx="36230" cy="1995117"/>
          </a:xfrm>
          <a:prstGeom prst="rect">
            <a:avLst/>
          </a:prstGeom>
          <a:solidFill>
            <a:srgbClr val="7BD992"/>
          </a:solidFill>
          <a:ln/>
        </p:spPr>
      </p:sp>
      <p:sp>
        <p:nvSpPr>
          <p:cNvPr id="42" name="Text 39"/>
          <p:cNvSpPr/>
          <p:nvPr/>
        </p:nvSpPr>
        <p:spPr>
          <a:xfrm>
            <a:off x="8626844" y="6775991"/>
            <a:ext cx="8714536" cy="1537917"/>
          </a:xfrm>
          <a:prstGeom prst="rect">
            <a:avLst/>
          </a:prstGeom>
          <a:noFill/>
          <a:ln/>
        </p:spPr>
        <p:txBody>
          <a:bodyPr wrap="square" lIns="25400" tIns="25400" rIns="25400" bIns="25400" rtlCol="0" anchor="t">
            <a:normAutofit/>
          </a:bodyPr>
          <a:lstStyle/>
          <a:p>
            <a:pPr algn="l" indent="0" marL="0">
              <a:lnSpc>
                <a:spcPct val="131453"/>
              </a:lnSpc>
              <a:buNone/>
            </a:pPr>
            <a:r>
              <a:rPr lang="en-US" sz="1950" b="1" dirty="0">
                <a:solidFill>
                  <a:srgbClr val="E6E9EF"/>
                </a:solidFill>
                <a:latin typeface="Arial" pitchFamily="34" charset="0"/>
                <a:ea typeface="Arial" pitchFamily="34" charset="-122"/>
                <a:cs typeface="Arial" pitchFamily="34" charset="-120"/>
              </a:rPr>
              <a:t>Qué cambia en el diseño de Shiro. </a:t>
            </a:r>
            <a:pPr algn="l" indent="0" marL="0">
              <a:lnSpc>
                <a:spcPct val="131453"/>
              </a:lnSpc>
              <a:buNone/>
            </a:pPr>
            <a:r>
              <a:rPr lang="en-US" sz="1950" dirty="0">
                <a:solidFill>
                  <a:srgbClr val="C9D1DE"/>
                </a:solidFill>
                <a:highlight>
                  <a:srgbClr val="11141A"/>
                </a:highlight>
                <a:latin typeface="Arial" pitchFamily="34" charset="0"/>
                <a:ea typeface="Arial" pitchFamily="34" charset="-122"/>
                <a:cs typeface="Arial" pitchFamily="34" charset="-120"/>
              </a:rPr>
              <a:t>La función de transición se implementa con </a:t>
            </a:r>
            <a:pPr algn="l" indent="0" marL="0">
              <a:lnSpc>
                <a:spcPct val="131453"/>
              </a:lnSpc>
              <a:buNone/>
            </a:pPr>
            <a:r>
              <a:rPr lang="en-US" sz="1950" b="1" dirty="0">
                <a:solidFill>
                  <a:srgbClr val="7BD992"/>
                </a:solidFill>
                <a:latin typeface="Arial" pitchFamily="34" charset="0"/>
                <a:ea typeface="Arial" pitchFamily="34" charset="-122"/>
                <a:cs typeface="Arial" pitchFamily="34" charset="-120"/>
              </a:rPr>
              <a:t>regresión lineal sobre variables de retardo </a:t>
            </a:r>
            <a:pPr algn="l" indent="0" marL="0">
              <a:lnSpc>
                <a:spcPct val="131453"/>
              </a:lnSpc>
              <a:buNone/>
            </a:pPr>
            <a:r>
              <a:rPr lang="en-US" sz="1950" dirty="0">
                <a:solidFill>
                  <a:srgbClr val="C9D1DE"/>
                </a:solidFill>
                <a:highlight>
                  <a:srgbClr val="11141A"/>
                </a:highlight>
                <a:latin typeface="Arial" pitchFamily="34" charset="0"/>
                <a:ea typeface="Arial" pitchFamily="34" charset="-122"/>
                <a:cs typeface="Arial" pitchFamily="34" charset="-120"/>
              </a:rPr>
              <a:t>, no con Random Forest. Un simulador tiene que funcionar en condiciones que no estaban en los datos, y eso es justo lo que un bosque no sabe hacer.</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1A73E8"/>
                </a:solidFill>
                <a:latin typeface="Courier New" pitchFamily="34" charset="0"/>
                <a:ea typeface="Courier New" pitchFamily="34" charset="-122"/>
                <a:cs typeface="Courier New" pitchFamily="34" charset="-120"/>
              </a:rPr>
              <a:t>PUNTO 2 · 2.6 LAS CUATRO PREGUNTAS DEL ENUNCIADO</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Respuesta directa</a:t>
            </a:r>
            <a:endParaRPr lang="en-US" sz="4050" dirty="0"/>
          </a:p>
        </p:txBody>
      </p:sp>
      <p:sp>
        <p:nvSpPr>
          <p:cNvPr id="4" name="Shape 2"/>
          <p:cNvSpPr/>
          <p:nvPr/>
        </p:nvSpPr>
        <p:spPr>
          <a:xfrm>
            <a:off x="914344" y="1895033"/>
            <a:ext cx="8105799" cy="3770931"/>
          </a:xfrm>
          <a:prstGeom prst="roundRect">
            <a:avLst>
              <a:gd name="adj" fmla="val 3031"/>
            </a:avLst>
          </a:prstGeom>
          <a:solidFill>
            <a:srgbClr val="151920"/>
          </a:solidFill>
          <a:ln w="7246">
            <a:solidFill>
              <a:srgbClr val="232833"/>
            </a:solidFill>
            <a:prstDash val="solid"/>
          </a:ln>
        </p:spPr>
      </p:sp>
      <p:sp>
        <p:nvSpPr>
          <p:cNvPr id="5" name="Text 3"/>
          <p:cNvSpPr/>
          <p:nvPr/>
        </p:nvSpPr>
        <p:spPr>
          <a:xfrm>
            <a:off x="1245391" y="2187926"/>
            <a:ext cx="8188074" cy="385338"/>
          </a:xfrm>
          <a:prstGeom prst="rect">
            <a:avLst/>
          </a:prstGeom>
          <a:noFill/>
          <a:ln/>
        </p:spPr>
        <p:txBody>
          <a:bodyPr wrap="square" lIns="25400" tIns="25400" rIns="25400" bIns="25400" rtlCol="0" anchor="t">
            <a:normAutofit/>
          </a:bodyPr>
          <a:lstStyle/>
          <a:p>
            <a:pPr algn="l" indent="0" marL="0">
              <a:lnSpc>
                <a:spcPct val="116865"/>
              </a:lnSpc>
              <a:buNone/>
            </a:pPr>
            <a:r>
              <a:rPr lang="en-US" sz="2025" b="1" dirty="0">
                <a:solidFill>
                  <a:srgbClr val="7DB6FF"/>
                </a:solidFill>
                <a:latin typeface="Arial" pitchFamily="34" charset="0"/>
                <a:ea typeface="Arial" pitchFamily="34" charset="-122"/>
                <a:cs typeface="Arial" pitchFamily="34" charset="-120"/>
              </a:rPr>
              <a:t>¿En algún punto reentrenaron el modelo? ¿Por qué?</a:t>
            </a:r>
            <a:endParaRPr lang="en-US" sz="2025" dirty="0"/>
          </a:p>
        </p:txBody>
      </p:sp>
      <p:sp>
        <p:nvSpPr>
          <p:cNvPr id="6" name="Text 4"/>
          <p:cNvSpPr/>
          <p:nvPr/>
        </p:nvSpPr>
        <p:spPr>
          <a:xfrm>
            <a:off x="1245391" y="2687554"/>
            <a:ext cx="7667014" cy="1790705"/>
          </a:xfrm>
          <a:prstGeom prst="rect">
            <a:avLst/>
          </a:prstGeom>
          <a:noFill/>
          <a:ln/>
        </p:spPr>
        <p:txBody>
          <a:bodyPr wrap="square" lIns="25400" tIns="25400" rIns="25400" bIns="25400" rtlCol="0" anchor="t">
            <a:normAutofit/>
          </a:bodyPr>
          <a:lstStyle/>
          <a:p>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Tres veces por tres razones. (1) El árbol, tras ver R² train 1,000 y test 0,253. (2) Random Forest 16 veces — y el resultado invirtió la lección: subir min_samples_leaf de 1 a 20 hunde el R² de 0,567 a 0,395, porque el bagging se regulariza por promedio y no por poda. (3) Todo, bajo partición temporal con retardos.</a:t>
            </a:r>
            <a:endParaRPr lang="en-US" sz="1725" dirty="0"/>
          </a:p>
        </p:txBody>
      </p:sp>
      <p:sp>
        <p:nvSpPr>
          <p:cNvPr id="7" name="Shape 5"/>
          <p:cNvSpPr/>
          <p:nvPr/>
        </p:nvSpPr>
        <p:spPr>
          <a:xfrm>
            <a:off x="9267749" y="1895033"/>
            <a:ext cx="8105799" cy="3770931"/>
          </a:xfrm>
          <a:prstGeom prst="roundRect">
            <a:avLst>
              <a:gd name="adj" fmla="val 3031"/>
            </a:avLst>
          </a:prstGeom>
          <a:solidFill>
            <a:srgbClr val="151920"/>
          </a:solidFill>
          <a:ln w="7246">
            <a:solidFill>
              <a:srgbClr val="232833"/>
            </a:solidFill>
            <a:prstDash val="solid"/>
          </a:ln>
        </p:spPr>
      </p:sp>
      <p:sp>
        <p:nvSpPr>
          <p:cNvPr id="8" name="Text 6"/>
          <p:cNvSpPr/>
          <p:nvPr/>
        </p:nvSpPr>
        <p:spPr>
          <a:xfrm>
            <a:off x="9598796" y="2187926"/>
            <a:ext cx="8188074" cy="385338"/>
          </a:xfrm>
          <a:prstGeom prst="rect">
            <a:avLst/>
          </a:prstGeom>
          <a:noFill/>
          <a:ln/>
        </p:spPr>
        <p:txBody>
          <a:bodyPr wrap="square" lIns="25400" tIns="25400" rIns="25400" bIns="25400" rtlCol="0" anchor="t">
            <a:normAutofit/>
          </a:bodyPr>
          <a:lstStyle/>
          <a:p>
            <a:pPr algn="l" indent="0" marL="0">
              <a:lnSpc>
                <a:spcPct val="116865"/>
              </a:lnSpc>
              <a:buNone/>
            </a:pPr>
            <a:r>
              <a:rPr lang="en-US" sz="2025" b="1" dirty="0">
                <a:solidFill>
                  <a:srgbClr val="7DB6FF"/>
                </a:solidFill>
                <a:latin typeface="Arial" pitchFamily="34" charset="0"/>
                <a:ea typeface="Arial" pitchFamily="34" charset="-122"/>
                <a:cs typeface="Arial" pitchFamily="34" charset="-120"/>
              </a:rPr>
              <a:t>¿Hicieron ingeniería de variables? ¿Cuál funcionó mejor?</a:t>
            </a:r>
            <a:endParaRPr lang="en-US" sz="2025" dirty="0"/>
          </a:p>
        </p:txBody>
      </p:sp>
      <p:sp>
        <p:nvSpPr>
          <p:cNvPr id="9" name="Text 7"/>
          <p:cNvSpPr/>
          <p:nvPr/>
        </p:nvSpPr>
        <p:spPr>
          <a:xfrm>
            <a:off x="9598796" y="2687554"/>
            <a:ext cx="7667014" cy="1797951"/>
          </a:xfrm>
          <a:prstGeom prst="rect">
            <a:avLst/>
          </a:prstGeom>
          <a:noFill/>
          <a:ln/>
        </p:spPr>
        <p:txBody>
          <a:bodyPr wrap="square" lIns="25400" tIns="25400" rIns="25400" bIns="25400" rtlCol="0" anchor="t">
            <a:normAutofit/>
          </a:bodyPr>
          <a:lstStyle/>
          <a:p>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Tres rondas: temporales derivadas (hora pesa 15,2 % en el bosque y es la raíz del árbol), lights como proxy de ocupación (2,9 %) y los </a:t>
            </a:r>
            <a:pPr algn="l" indent="0" marL="0">
              <a:lnSpc>
                <a:spcPct val="142279"/>
              </a:lnSpc>
              <a:buNone/>
            </a:pPr>
            <a:r>
              <a:rPr lang="en-US" sz="1725" b="1" dirty="0">
                <a:solidFill>
                  <a:srgbClr val="E6E9EF"/>
                </a:solidFill>
                <a:latin typeface="Arial" pitchFamily="34" charset="0"/>
                <a:ea typeface="Arial" pitchFamily="34" charset="-122"/>
                <a:cs typeface="Arial" pitchFamily="34" charset="-120"/>
              </a:rPr>
              <a:t>retardos </a:t>
            </a:r>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 sin comparación. Ninguna búsqueda de hiperparámetros produjo una mejora remotamente parecida: el techo estaba en la información, no en el algoritmo.</a:t>
            </a:r>
            <a:endParaRPr lang="en-US" sz="1725" dirty="0"/>
          </a:p>
        </p:txBody>
      </p:sp>
      <p:sp>
        <p:nvSpPr>
          <p:cNvPr id="10" name="Shape 8"/>
          <p:cNvSpPr/>
          <p:nvPr/>
        </p:nvSpPr>
        <p:spPr>
          <a:xfrm>
            <a:off x="914344" y="5913570"/>
            <a:ext cx="8105799" cy="3763799"/>
          </a:xfrm>
          <a:prstGeom prst="roundRect">
            <a:avLst>
              <a:gd name="adj" fmla="val 3037"/>
            </a:avLst>
          </a:prstGeom>
          <a:solidFill>
            <a:srgbClr val="151920"/>
          </a:solidFill>
          <a:ln w="7246">
            <a:solidFill>
              <a:srgbClr val="232833"/>
            </a:solidFill>
            <a:prstDash val="solid"/>
          </a:ln>
        </p:spPr>
      </p:sp>
      <p:sp>
        <p:nvSpPr>
          <p:cNvPr id="11" name="Text 9"/>
          <p:cNvSpPr/>
          <p:nvPr/>
        </p:nvSpPr>
        <p:spPr>
          <a:xfrm>
            <a:off x="1245391" y="6206464"/>
            <a:ext cx="8188074" cy="385338"/>
          </a:xfrm>
          <a:prstGeom prst="rect">
            <a:avLst/>
          </a:prstGeom>
          <a:noFill/>
          <a:ln/>
        </p:spPr>
        <p:txBody>
          <a:bodyPr wrap="square" lIns="25400" tIns="25400" rIns="25400" bIns="25400" rtlCol="0" anchor="t">
            <a:normAutofit/>
          </a:bodyPr>
          <a:lstStyle/>
          <a:p>
            <a:pPr algn="l" indent="0" marL="0">
              <a:lnSpc>
                <a:spcPct val="116865"/>
              </a:lnSpc>
              <a:buNone/>
            </a:pPr>
            <a:r>
              <a:rPr lang="en-US" sz="2025" b="1" dirty="0">
                <a:solidFill>
                  <a:srgbClr val="7DB6FF"/>
                </a:solidFill>
                <a:latin typeface="Arial" pitchFamily="34" charset="0"/>
                <a:ea typeface="Arial" pitchFamily="34" charset="-122"/>
                <a:cs typeface="Arial" pitchFamily="34" charset="-120"/>
              </a:rPr>
              <a:t>¿Tuvieron que balancear clases? ¿Qué técnica?</a:t>
            </a:r>
            <a:endParaRPr lang="en-US" sz="2025" dirty="0"/>
          </a:p>
        </p:txBody>
      </p:sp>
      <p:sp>
        <p:nvSpPr>
          <p:cNvPr id="12" name="Text 10"/>
          <p:cNvSpPr/>
          <p:nvPr/>
        </p:nvSpPr>
        <p:spPr>
          <a:xfrm>
            <a:off x="1245391" y="6706092"/>
            <a:ext cx="7667014" cy="1790705"/>
          </a:xfrm>
          <a:prstGeom prst="rect">
            <a:avLst/>
          </a:prstGeom>
          <a:noFill/>
          <a:ln/>
        </p:spPr>
        <p:txBody>
          <a:bodyPr wrap="square" lIns="25400" tIns="25400" rIns="25400" bIns="25400" rtlCol="0" anchor="t">
            <a:normAutofit/>
          </a:bodyPr>
          <a:lstStyle/>
          <a:p>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Sí. Las anomalías son el 9,6 %. En el SVM el desbalance era fatal: 6 de 9 combinaciones colapsaron al clasificador trivial. Se aplicó </a:t>
            </a:r>
            <a:pPr algn="l" indent="0" marL="0">
              <a:lnSpc>
                <a:spcPct val="142279"/>
              </a:lnSpc>
              <a:buNone/>
            </a:pPr>
            <a:r>
              <a:rPr lang="en-US" sz="1725" dirty="0">
                <a:solidFill>
                  <a:srgbClr val="FFB877"/>
                </a:solidFill>
                <a:latin typeface="Courier New" pitchFamily="34" charset="0"/>
                <a:ea typeface="Courier New" pitchFamily="34" charset="-122"/>
                <a:cs typeface="Courier New" pitchFamily="34" charset="-120"/>
              </a:rPr>
              <a:t>class_weight='balanced' </a:t>
            </a:r>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 que pondera por el inverso de la frecuencia sin duplicar ni descartar filas. Recall de 0,285 a 0,662; precisión cae a 0,367.</a:t>
            </a:r>
            <a:endParaRPr lang="en-US" sz="1725" dirty="0"/>
          </a:p>
        </p:txBody>
      </p:sp>
      <p:sp>
        <p:nvSpPr>
          <p:cNvPr id="13" name="Shape 11"/>
          <p:cNvSpPr/>
          <p:nvPr/>
        </p:nvSpPr>
        <p:spPr>
          <a:xfrm>
            <a:off x="9267749" y="5913570"/>
            <a:ext cx="8105799" cy="3763799"/>
          </a:xfrm>
          <a:prstGeom prst="roundRect">
            <a:avLst>
              <a:gd name="adj" fmla="val 3037"/>
            </a:avLst>
          </a:prstGeom>
          <a:solidFill>
            <a:srgbClr val="151920"/>
          </a:solidFill>
          <a:ln w="7246">
            <a:solidFill>
              <a:srgbClr val="2C5233"/>
            </a:solidFill>
            <a:prstDash val="solid"/>
          </a:ln>
        </p:spPr>
      </p:sp>
      <p:sp>
        <p:nvSpPr>
          <p:cNvPr id="14" name="Text 12"/>
          <p:cNvSpPr/>
          <p:nvPr/>
        </p:nvSpPr>
        <p:spPr>
          <a:xfrm>
            <a:off x="9598796" y="6206464"/>
            <a:ext cx="8188074" cy="385338"/>
          </a:xfrm>
          <a:prstGeom prst="rect">
            <a:avLst/>
          </a:prstGeom>
          <a:noFill/>
          <a:ln/>
        </p:spPr>
        <p:txBody>
          <a:bodyPr wrap="square" lIns="25400" tIns="25400" rIns="25400" bIns="25400" rtlCol="0" anchor="t">
            <a:normAutofit/>
          </a:bodyPr>
          <a:lstStyle/>
          <a:p>
            <a:pPr algn="l" indent="0" marL="0">
              <a:lnSpc>
                <a:spcPct val="116865"/>
              </a:lnSpc>
              <a:buNone/>
            </a:pPr>
            <a:r>
              <a:rPr lang="en-US" sz="2025" b="1" dirty="0">
                <a:solidFill>
                  <a:srgbClr val="7BD992"/>
                </a:solidFill>
                <a:latin typeface="Arial" pitchFamily="34" charset="0"/>
                <a:ea typeface="Arial" pitchFamily="34" charset="-122"/>
                <a:cs typeface="Arial" pitchFamily="34" charset="-120"/>
              </a:rPr>
              <a:t>¿Qué los llevó a elegir su modelo final?</a:t>
            </a:r>
            <a:endParaRPr lang="en-US" sz="2025" dirty="0"/>
          </a:p>
        </p:txBody>
      </p:sp>
      <p:sp>
        <p:nvSpPr>
          <p:cNvPr id="15" name="Text 13"/>
          <p:cNvSpPr/>
          <p:nvPr/>
        </p:nvSpPr>
        <p:spPr>
          <a:xfrm>
            <a:off x="9598796" y="6706092"/>
            <a:ext cx="7667014" cy="1461922"/>
          </a:xfrm>
          <a:prstGeom prst="rect">
            <a:avLst/>
          </a:prstGeom>
          <a:noFill/>
          <a:ln/>
        </p:spPr>
        <p:txBody>
          <a:bodyPr wrap="square" lIns="25400" tIns="25400" rIns="25400" bIns="25400" rtlCol="0" anchor="t">
            <a:normAutofit/>
          </a:bodyPr>
          <a:lstStyle/>
          <a:p>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La pregunta esconde un supuesto que este parcial desmonta: </a:t>
            </a:r>
            <a:pPr algn="l" indent="0" marL="0">
              <a:lnSpc>
                <a:spcPct val="142279"/>
              </a:lnSpc>
              <a:buNone/>
            </a:pPr>
            <a:r>
              <a:rPr lang="en-US" sz="1725" b="1" dirty="0">
                <a:solidFill>
                  <a:srgbClr val="E6E9EF"/>
                </a:solidFill>
                <a:latin typeface="Arial" pitchFamily="34" charset="0"/>
                <a:ea typeface="Arial" pitchFamily="34" charset="-122"/>
                <a:cs typeface="Arial" pitchFamily="34" charset="-120"/>
              </a:rPr>
              <a:t>no hay un modelo final, hay dos. </a:t>
            </a:r>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Para </a:t>
            </a:r>
            <a:pPr algn="l" indent="0" marL="0">
              <a:lnSpc>
                <a:spcPct val="142279"/>
              </a:lnSpc>
              <a:buNone/>
            </a:pPr>
            <a:r>
              <a:rPr lang="en-US" sz="1725" i="1" dirty="0">
                <a:solidFill>
                  <a:srgbClr val="C9D1DE"/>
                </a:solidFill>
                <a:latin typeface="Arial" pitchFamily="34" charset="0"/>
                <a:ea typeface="Arial" pitchFamily="34" charset="-122"/>
                <a:cs typeface="Arial" pitchFamily="34" charset="-120"/>
              </a:rPr>
              <a:t>simular</a:t>
            </a:r>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 regresión lineal con retardos. Para </a:t>
            </a:r>
            <a:pPr algn="l" indent="0" marL="0">
              <a:lnSpc>
                <a:spcPct val="142279"/>
              </a:lnSpc>
              <a:buNone/>
            </a:pPr>
            <a:r>
              <a:rPr lang="en-US" sz="1725" i="1" dirty="0">
                <a:solidFill>
                  <a:srgbClr val="C9D1DE"/>
                </a:solidFill>
                <a:latin typeface="Arial" pitchFamily="34" charset="0"/>
                <a:ea typeface="Arial" pitchFamily="34" charset="-122"/>
                <a:cs typeface="Arial" pitchFamily="34" charset="-120"/>
              </a:rPr>
              <a:t>avisar </a:t>
            </a:r>
            <a:pPr algn="l" indent="0" marL="0">
              <a:lnSpc>
                <a:spcPct val="142279"/>
              </a:lnSpc>
              <a:buNone/>
            </a:pPr>
            <a:r>
              <a:rPr lang="en-US" sz="1725" dirty="0">
                <a:solidFill>
                  <a:srgbClr val="C9D1DE"/>
                </a:solidFill>
                <a:latin typeface="Arial" pitchFamily="34" charset="0"/>
                <a:ea typeface="Arial" pitchFamily="34" charset="-122"/>
                <a:cs typeface="Arial" pitchFamily="34" charset="-120"/>
              </a:rPr>
              <a:t>, Random Forest con retardos. Lo que llevó a esa elección no fue una métrica sino un criterio de validación: se decidió sobre partición temporal.</a:t>
            </a:r>
            <a:endParaRPr lang="en-US" sz="17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41A"/>
        </a:solidFill>
      </p:bgPr>
    </p:bg>
    <p:spTree>
      <p:nvGrpSpPr>
        <p:cNvPr id="1" name=""/>
        <p:cNvGrpSpPr/>
        <p:nvPr/>
      </p:nvGrpSpPr>
      <p:grpSpPr>
        <a:xfrm>
          <a:off x="0" y="0"/>
          <a:ext cx="0" cy="0"/>
          <a:chOff x="0" y="0"/>
          <a:chExt cx="0" cy="0"/>
        </a:xfrm>
      </p:grpSpPr>
      <p:sp>
        <p:nvSpPr>
          <p:cNvPr id="2" name="Text 0"/>
          <p:cNvSpPr/>
          <p:nvPr/>
        </p:nvSpPr>
        <p:spPr>
          <a:xfrm>
            <a:off x="1047714" y="3037736"/>
            <a:ext cx="3269525" cy="2068767"/>
          </a:xfrm>
          <a:prstGeom prst="rect">
            <a:avLst/>
          </a:prstGeom>
          <a:noFill/>
          <a:ln/>
        </p:spPr>
        <p:txBody>
          <a:bodyPr wrap="square" lIns="25400" tIns="25400" rIns="25400" bIns="25400" rtlCol="0" anchor="t">
            <a:normAutofit/>
          </a:bodyPr>
          <a:lstStyle/>
          <a:p>
            <a:pPr algn="l" indent="0" marL="0">
              <a:lnSpc>
                <a:spcPct val="72232"/>
              </a:lnSpc>
              <a:buNone/>
            </a:pPr>
            <a:r>
              <a:rPr lang="en-US" sz="19500" b="1" dirty="0">
                <a:solidFill>
                  <a:srgbClr val="E8710A"/>
                </a:solidFill>
                <a:latin typeface="Courier New" pitchFamily="34" charset="0"/>
                <a:ea typeface="Courier New" pitchFamily="34" charset="-122"/>
                <a:cs typeface="Courier New" pitchFamily="34" charset="-120"/>
              </a:rPr>
              <a:t>03</a:t>
            </a:r>
            <a:endParaRPr lang="en-US" sz="19500" dirty="0"/>
          </a:p>
        </p:txBody>
      </p:sp>
      <p:sp>
        <p:nvSpPr>
          <p:cNvPr id="3" name="Text 1"/>
          <p:cNvSpPr/>
          <p:nvPr/>
        </p:nvSpPr>
        <p:spPr>
          <a:xfrm>
            <a:off x="4477181" y="3170992"/>
            <a:ext cx="9810728" cy="1638088"/>
          </a:xfrm>
          <a:prstGeom prst="rect">
            <a:avLst/>
          </a:prstGeom>
          <a:noFill/>
          <a:ln/>
        </p:spPr>
        <p:txBody>
          <a:bodyPr wrap="square" lIns="25400" tIns="25400" rIns="25400" bIns="25400" rtlCol="0" anchor="t">
            <a:normAutofit/>
          </a:bodyPr>
          <a:lstStyle/>
          <a:p>
            <a:pPr algn="l" indent="0" marL="0">
              <a:lnSpc>
                <a:spcPct val="92017"/>
              </a:lnSpc>
              <a:buNone/>
            </a:pPr>
            <a:r>
              <a:rPr lang="en-US" sz="6000" b="1" spc="-150" kern="0" dirty="0">
                <a:solidFill>
                  <a:srgbClr val="E6E9EF"/>
                </a:solidFill>
                <a:latin typeface="Arial" pitchFamily="34" charset="0"/>
                <a:ea typeface="Arial" pitchFamily="34" charset="-122"/>
                <a:cs typeface="Arial" pitchFamily="34" charset="-120"/>
              </a:rPr>
              <a:t>Comparación ética y de impacto</a:t>
            </a:r>
            <a:endParaRPr lang="en-US" sz="6000" dirty="0"/>
          </a:p>
        </p:txBody>
      </p:sp>
      <p:sp>
        <p:nvSpPr>
          <p:cNvPr id="4" name="Text 2"/>
          <p:cNvSpPr/>
          <p:nvPr/>
        </p:nvSpPr>
        <p:spPr>
          <a:xfrm>
            <a:off x="4477181" y="5056628"/>
            <a:ext cx="9810728" cy="1324023"/>
          </a:xfrm>
          <a:prstGeom prst="rect">
            <a:avLst/>
          </a:prstGeom>
          <a:noFill/>
          <a:ln/>
        </p:spPr>
        <p:txBody>
          <a:bodyPr wrap="square" lIns="25400" tIns="25400" rIns="25400" bIns="25400" rtlCol="0" anchor="t">
            <a:normAutofit/>
          </a:bodyPr>
          <a:lstStyle/>
          <a:p>
            <a:pPr algn="l" indent="0" marL="0">
              <a:lnSpc>
                <a:spcPct val="131453"/>
              </a:lnSpc>
              <a:buNone/>
            </a:pPr>
            <a:r>
              <a:rPr lang="en-US" sz="2250" dirty="0">
                <a:solidFill>
                  <a:srgbClr val="9AA3B2"/>
                </a:solidFill>
                <a:latin typeface="Arial" pitchFamily="34" charset="0"/>
                <a:ea typeface="Arial" pitchFamily="34" charset="-122"/>
                <a:cs typeface="Arial" pitchFamily="34" charset="-120"/>
              </a:rPr>
              <a:t>Un sistema que recomienda cuándo usar la energía de una casa toca la factura de una familia real. Aquí se mide, donde se puede, aquello de lo que normalmente solo se habla.</a:t>
            </a:r>
            <a:endParaRPr lang="en-US" sz="2250" dirty="0"/>
          </a:p>
        </p:txBody>
      </p:sp>
      <p:sp>
        <p:nvSpPr>
          <p:cNvPr id="5" name="Shape 3"/>
          <p:cNvSpPr/>
          <p:nvPr/>
        </p:nvSpPr>
        <p:spPr>
          <a:xfrm>
            <a:off x="4477181" y="6723527"/>
            <a:ext cx="4283127" cy="525555"/>
          </a:xfrm>
          <a:prstGeom prst="roundRect">
            <a:avLst>
              <a:gd name="adj" fmla="val 50000"/>
            </a:avLst>
          </a:prstGeom>
          <a:solidFill>
            <a:srgbClr val="1D1512"/>
          </a:solidFill>
          <a:ln w="7246">
            <a:solidFill>
              <a:srgbClr val="57301C"/>
            </a:solidFill>
            <a:prstDash val="solid"/>
          </a:ln>
        </p:spPr>
      </p:sp>
      <p:sp>
        <p:nvSpPr>
          <p:cNvPr id="6" name="Text 4"/>
          <p:cNvSpPr/>
          <p:nvPr/>
        </p:nvSpPr>
        <p:spPr>
          <a:xfrm>
            <a:off x="4713027" y="6845073"/>
            <a:ext cx="3939929" cy="320563"/>
          </a:xfrm>
          <a:prstGeom prst="rect">
            <a:avLst/>
          </a:prstGeom>
          <a:noFill/>
          <a:ln/>
        </p:spPr>
        <p:txBody>
          <a:bodyPr wrap="square" lIns="25400" tIns="25400" rIns="25400" bIns="25400" rtlCol="0" anchor="t">
            <a:normAutofit/>
          </a:bodyPr>
          <a:lstStyle/>
          <a:p>
            <a:pPr algn="l" indent="0" marL="0">
              <a:buNone/>
            </a:pPr>
            <a:r>
              <a:rPr lang="en-US" sz="1725" dirty="0">
                <a:solidFill>
                  <a:srgbClr val="FFB877"/>
                </a:solidFill>
                <a:latin typeface="Courier New" pitchFamily="34" charset="0"/>
                <a:ea typeface="Courier New" pitchFamily="34" charset="-122"/>
                <a:cs typeface="Courier New" pitchFamily="34" charset="-120"/>
              </a:rPr>
              <a:t>Andrés Felipe Céspedes Rondón</a:t>
            </a:r>
            <a:endParaRPr lang="en-US" sz="17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E8710A"/>
                </a:solidFill>
                <a:latin typeface="Courier New" pitchFamily="34" charset="0"/>
                <a:ea typeface="Courier New" pitchFamily="34" charset="-122"/>
                <a:cs typeface="Courier New" pitchFamily="34" charset="-120"/>
              </a:rPr>
              <a:t>PUNTO 3 · 3.1 ¿QUÉ PASA SI EL MODELO FALLA EN ESTE SECTOR?</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El usuario es un mal verificador de su propio sistema</a:t>
            </a:r>
            <a:endParaRPr lang="en-US" sz="4050" dirty="0"/>
          </a:p>
        </p:txBody>
      </p:sp>
      <p:sp>
        <p:nvSpPr>
          <p:cNvPr id="4" name="Text 2"/>
          <p:cNvSpPr/>
          <p:nvPr/>
        </p:nvSpPr>
        <p:spPr>
          <a:xfrm>
            <a:off x="914344" y="1704601"/>
            <a:ext cx="14716091" cy="1195635"/>
          </a:xfrm>
          <a:prstGeom prst="rect">
            <a:avLst/>
          </a:prstGeom>
          <a:noFill/>
          <a:ln/>
        </p:spPr>
        <p:txBody>
          <a:bodyPr wrap="square" lIns="25400" tIns="25400" rIns="25400" bIns="25400" rtlCol="0" anchor="t">
            <a:normAutofit/>
          </a:bodyPr>
          <a:lstStyle/>
          <a:p>
            <a:pPr algn="l" indent="0" marL="0">
              <a:lnSpc>
                <a:spcPct val="129850"/>
              </a:lnSpc>
              <a:buNone/>
            </a:pPr>
            <a:r>
              <a:rPr lang="en-US" sz="2025" dirty="0">
                <a:solidFill>
                  <a:srgbClr val="8B93A3"/>
                </a:solidFill>
                <a:latin typeface="Arial" pitchFamily="34" charset="0"/>
                <a:ea typeface="Arial" pitchFamily="34" charset="-122"/>
                <a:cs typeface="Arial" pitchFamily="34" charset="-120"/>
              </a:rPr>
              <a:t>Un diagnóstico médico equivocado se descubre; un precio agrícola mal sugerido se contrasta ese mismo día. Una recomendación energética equivocada se manifiesta entre veinte y cincuenta días después, en una factura agregada que no dice qué la causó.</a:t>
            </a:r>
            <a:endParaRPr lang="en-US" sz="2025" dirty="0"/>
          </a:p>
        </p:txBody>
      </p:sp>
      <p:sp>
        <p:nvSpPr>
          <p:cNvPr id="5" name="Shape 3"/>
          <p:cNvSpPr/>
          <p:nvPr/>
        </p:nvSpPr>
        <p:spPr>
          <a:xfrm>
            <a:off x="914344" y="3600992"/>
            <a:ext cx="3908490" cy="9525"/>
          </a:xfrm>
          <a:prstGeom prst="rect">
            <a:avLst/>
          </a:prstGeom>
          <a:solidFill>
            <a:srgbClr val="2C323E"/>
          </a:solidFill>
          <a:ln/>
        </p:spPr>
      </p:sp>
      <p:sp>
        <p:nvSpPr>
          <p:cNvPr id="6" name="Text 4"/>
          <p:cNvSpPr/>
          <p:nvPr/>
        </p:nvSpPr>
        <p:spPr>
          <a:xfrm>
            <a:off x="914344" y="3243112"/>
            <a:ext cx="4025745" cy="26263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TIPO DE ERROR</a:t>
            </a:r>
            <a:endParaRPr lang="en-US" sz="1350" dirty="0"/>
          </a:p>
        </p:txBody>
      </p:sp>
      <p:sp>
        <p:nvSpPr>
          <p:cNvPr id="7" name="Shape 5"/>
          <p:cNvSpPr/>
          <p:nvPr/>
        </p:nvSpPr>
        <p:spPr>
          <a:xfrm>
            <a:off x="5108482" y="3600992"/>
            <a:ext cx="2571506" cy="9525"/>
          </a:xfrm>
          <a:prstGeom prst="rect">
            <a:avLst/>
          </a:prstGeom>
          <a:solidFill>
            <a:srgbClr val="2C323E"/>
          </a:solidFill>
          <a:ln/>
        </p:spPr>
      </p:sp>
      <p:sp>
        <p:nvSpPr>
          <p:cNvPr id="8" name="Text 6"/>
          <p:cNvSpPr/>
          <p:nvPr/>
        </p:nvSpPr>
        <p:spPr>
          <a:xfrm>
            <a:off x="5031337" y="3243112"/>
            <a:ext cx="2648652" cy="26263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RANDOM FOREST</a:t>
            </a:r>
            <a:endParaRPr lang="en-US" sz="1350" dirty="0"/>
          </a:p>
        </p:txBody>
      </p:sp>
      <p:sp>
        <p:nvSpPr>
          <p:cNvPr id="9" name="Shape 7"/>
          <p:cNvSpPr/>
          <p:nvPr/>
        </p:nvSpPr>
        <p:spPr>
          <a:xfrm>
            <a:off x="7965635" y="3600992"/>
            <a:ext cx="2857267" cy="9525"/>
          </a:xfrm>
          <a:prstGeom prst="rect">
            <a:avLst/>
          </a:prstGeom>
          <a:solidFill>
            <a:srgbClr val="2C323E"/>
          </a:solidFill>
          <a:ln/>
        </p:spPr>
      </p:sp>
      <p:sp>
        <p:nvSpPr>
          <p:cNvPr id="10" name="Text 8"/>
          <p:cNvSpPr/>
          <p:nvPr/>
        </p:nvSpPr>
        <p:spPr>
          <a:xfrm>
            <a:off x="7879917" y="3243112"/>
            <a:ext cx="2942985" cy="26263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SVM BALANCEADO</a:t>
            </a:r>
            <a:endParaRPr lang="en-US" sz="1350" dirty="0"/>
          </a:p>
        </p:txBody>
      </p:sp>
      <p:sp>
        <p:nvSpPr>
          <p:cNvPr id="11" name="Shape 9"/>
          <p:cNvSpPr/>
          <p:nvPr/>
        </p:nvSpPr>
        <p:spPr>
          <a:xfrm>
            <a:off x="11108550" y="3600992"/>
            <a:ext cx="5098179" cy="9525"/>
          </a:xfrm>
          <a:prstGeom prst="rect">
            <a:avLst/>
          </a:prstGeom>
          <a:solidFill>
            <a:srgbClr val="2C323E"/>
          </a:solidFill>
          <a:ln/>
        </p:spPr>
      </p:sp>
      <p:sp>
        <p:nvSpPr>
          <p:cNvPr id="12" name="Text 10"/>
          <p:cNvSpPr/>
          <p:nvPr/>
        </p:nvSpPr>
        <p:spPr>
          <a:xfrm>
            <a:off x="11108550" y="3243112"/>
            <a:ext cx="5251124" cy="26263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QUIÉN LO PAGA</a:t>
            </a:r>
            <a:endParaRPr lang="en-US" sz="1350" dirty="0"/>
          </a:p>
        </p:txBody>
      </p:sp>
      <p:sp>
        <p:nvSpPr>
          <p:cNvPr id="13" name="Shape 11"/>
          <p:cNvSpPr/>
          <p:nvPr/>
        </p:nvSpPr>
        <p:spPr>
          <a:xfrm>
            <a:off x="16492377" y="3600992"/>
            <a:ext cx="881171" cy="9525"/>
          </a:xfrm>
          <a:prstGeom prst="rect">
            <a:avLst/>
          </a:prstGeom>
          <a:solidFill>
            <a:srgbClr val="2C323E"/>
          </a:solidFill>
          <a:ln/>
        </p:spPr>
      </p:sp>
      <p:sp>
        <p:nvSpPr>
          <p:cNvPr id="14" name="Text 12"/>
          <p:cNvSpPr/>
          <p:nvPr/>
        </p:nvSpPr>
        <p:spPr>
          <a:xfrm>
            <a:off x="16416177" y="3243112"/>
            <a:ext cx="957371" cy="26263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GRAVEDAD</a:t>
            </a:r>
            <a:endParaRPr lang="en-US" sz="1350" dirty="0"/>
          </a:p>
        </p:txBody>
      </p:sp>
      <p:sp>
        <p:nvSpPr>
          <p:cNvPr id="15" name="Shape 13"/>
          <p:cNvSpPr/>
          <p:nvPr/>
        </p:nvSpPr>
        <p:spPr>
          <a:xfrm>
            <a:off x="914344" y="4766226"/>
            <a:ext cx="3908490" cy="9525"/>
          </a:xfrm>
          <a:prstGeom prst="rect">
            <a:avLst/>
          </a:prstGeom>
          <a:solidFill>
            <a:srgbClr val="1C212A"/>
          </a:solidFill>
          <a:ln/>
        </p:spPr>
      </p:sp>
      <p:sp>
        <p:nvSpPr>
          <p:cNvPr id="16" name="Text 14"/>
          <p:cNvSpPr/>
          <p:nvPr/>
        </p:nvSpPr>
        <p:spPr>
          <a:xfrm>
            <a:off x="914344" y="3863090"/>
            <a:ext cx="1607012" cy="349674"/>
          </a:xfrm>
          <a:prstGeom prst="rect">
            <a:avLst/>
          </a:prstGeom>
          <a:noFill/>
          <a:ln/>
        </p:spPr>
        <p:txBody>
          <a:bodyPr wrap="square" lIns="0" tIns="0" rIns="0" bIns="0" rtlCol="0" anchor="t">
            <a:normAutofit/>
          </a:bodyPr>
          <a:lstStyle/>
          <a:p>
            <a:pPr algn="l" indent="0" marL="0">
              <a:lnSpc>
                <a:spcPct val="121076"/>
              </a:lnSpc>
              <a:buNone/>
            </a:pPr>
            <a:r>
              <a:rPr lang="en-US" sz="1875" dirty="0">
                <a:solidFill>
                  <a:srgbClr val="C9D1DE"/>
                </a:solidFill>
                <a:latin typeface="Arial" pitchFamily="34" charset="0"/>
                <a:ea typeface="Arial" pitchFamily="34" charset="-122"/>
                <a:cs typeface="Arial" pitchFamily="34" charset="-120"/>
              </a:rPr>
              <a:t>Falso negativo</a:t>
            </a:r>
            <a:endParaRPr lang="en-US" sz="1875" dirty="0"/>
          </a:p>
        </p:txBody>
      </p:sp>
      <p:sp>
        <p:nvSpPr>
          <p:cNvPr id="17" name="Text 15"/>
          <p:cNvSpPr/>
          <p:nvPr/>
        </p:nvSpPr>
        <p:spPr>
          <a:xfrm>
            <a:off x="914344" y="4227197"/>
            <a:ext cx="4299340" cy="298953"/>
          </a:xfrm>
          <a:prstGeom prst="rect">
            <a:avLst/>
          </a:prstGeom>
          <a:noFill/>
          <a:ln/>
        </p:spPr>
        <p:txBody>
          <a:bodyPr wrap="square" lIns="25400" tIns="25400" rIns="25400" bIns="25400" rtlCol="0" anchor="t">
            <a:normAutofit/>
          </a:bodyPr>
          <a:lstStyle/>
          <a:p>
            <a:pPr algn="l" indent="0" marL="0">
              <a:buNone/>
            </a:pPr>
            <a:r>
              <a:rPr lang="en-US" sz="1575" dirty="0">
                <a:solidFill>
                  <a:srgbClr val="6F7787"/>
                </a:solidFill>
                <a:latin typeface="Arial" pitchFamily="34" charset="0"/>
                <a:ea typeface="Arial" pitchFamily="34" charset="-122"/>
                <a:cs typeface="Arial" pitchFamily="34" charset="-120"/>
              </a:rPr>
              <a:t>no avisa de un pico real</a:t>
            </a:r>
            <a:endParaRPr lang="en-US" sz="1575" dirty="0"/>
          </a:p>
        </p:txBody>
      </p:sp>
      <p:sp>
        <p:nvSpPr>
          <p:cNvPr id="18" name="Shape 16"/>
          <p:cNvSpPr/>
          <p:nvPr/>
        </p:nvSpPr>
        <p:spPr>
          <a:xfrm>
            <a:off x="5108482" y="4766226"/>
            <a:ext cx="2571506" cy="9525"/>
          </a:xfrm>
          <a:prstGeom prst="rect">
            <a:avLst/>
          </a:prstGeom>
          <a:solidFill>
            <a:srgbClr val="1C212A"/>
          </a:solidFill>
          <a:ln/>
        </p:spPr>
      </p:sp>
      <p:sp>
        <p:nvSpPr>
          <p:cNvPr id="19" name="Text 17"/>
          <p:cNvSpPr/>
          <p:nvPr/>
        </p:nvSpPr>
        <p:spPr>
          <a:xfrm>
            <a:off x="5031337" y="3855888"/>
            <a:ext cx="2648652" cy="700787"/>
          </a:xfrm>
          <a:prstGeom prst="rect">
            <a:avLst/>
          </a:prstGeom>
          <a:noFill/>
          <a:ln/>
        </p:spPr>
        <p:txBody>
          <a:bodyPr wrap="square" lIns="25400" tIns="25400" rIns="25400" bIns="25400" rtlCol="0" anchor="t">
            <a:normAutofit/>
          </a:bodyPr>
          <a:lstStyle/>
          <a:p>
            <a:pPr algn="r" indent="0" marL="0">
              <a:buNone/>
            </a:pPr>
            <a:r>
              <a:rPr lang="en-US" sz="1875" dirty="0">
                <a:solidFill>
                  <a:srgbClr val="FFB877"/>
                </a:solidFill>
                <a:latin typeface="Courier New" pitchFamily="34" charset="0"/>
                <a:ea typeface="Courier New" pitchFamily="34" charset="-122"/>
                <a:cs typeface="Courier New" pitchFamily="34" charset="-120"/>
              </a:rPr>
              <a:t>181 / 379 · 48 %</a:t>
            </a:r>
            <a:endParaRPr lang="en-US" sz="1875" dirty="0"/>
          </a:p>
        </p:txBody>
      </p:sp>
      <p:sp>
        <p:nvSpPr>
          <p:cNvPr id="20" name="Shape 18"/>
          <p:cNvSpPr/>
          <p:nvPr/>
        </p:nvSpPr>
        <p:spPr>
          <a:xfrm>
            <a:off x="7965635" y="4766226"/>
            <a:ext cx="2857267" cy="9525"/>
          </a:xfrm>
          <a:prstGeom prst="rect">
            <a:avLst/>
          </a:prstGeom>
          <a:solidFill>
            <a:srgbClr val="1C212A"/>
          </a:solidFill>
          <a:ln/>
        </p:spPr>
      </p:sp>
      <p:sp>
        <p:nvSpPr>
          <p:cNvPr id="21" name="Text 19"/>
          <p:cNvSpPr/>
          <p:nvPr/>
        </p:nvSpPr>
        <p:spPr>
          <a:xfrm>
            <a:off x="7879917" y="3855888"/>
            <a:ext cx="2942985" cy="700787"/>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128 / 379 · 34 %</a:t>
            </a:r>
            <a:endParaRPr lang="en-US" sz="1875" dirty="0"/>
          </a:p>
        </p:txBody>
      </p:sp>
      <p:sp>
        <p:nvSpPr>
          <p:cNvPr id="22" name="Shape 20"/>
          <p:cNvSpPr/>
          <p:nvPr/>
        </p:nvSpPr>
        <p:spPr>
          <a:xfrm>
            <a:off x="11108550" y="4766226"/>
            <a:ext cx="5098179" cy="9525"/>
          </a:xfrm>
          <a:prstGeom prst="rect">
            <a:avLst/>
          </a:prstGeom>
          <a:solidFill>
            <a:srgbClr val="1C212A"/>
          </a:solidFill>
          <a:ln/>
        </p:spPr>
      </p:sp>
      <p:sp>
        <p:nvSpPr>
          <p:cNvPr id="23" name="Text 21"/>
          <p:cNvSpPr/>
          <p:nvPr/>
        </p:nvSpPr>
        <p:spPr>
          <a:xfrm>
            <a:off x="11108550" y="3855888"/>
            <a:ext cx="5251124" cy="700787"/>
          </a:xfrm>
          <a:prstGeom prst="rect">
            <a:avLst/>
          </a:prstGeom>
          <a:noFill/>
          <a:ln/>
        </p:spPr>
        <p:txBody>
          <a:bodyPr wrap="square" lIns="25400" tIns="25400" rIns="25400" bIns="25400" rtlCol="0" anchor="t">
            <a:normAutofit/>
          </a:bodyPr>
          <a:lstStyle/>
          <a:p>
            <a:pPr algn="l" indent="0" marL="0">
              <a:lnSpc>
                <a:spcPct val="123637"/>
              </a:lnSpc>
              <a:buNone/>
            </a:pPr>
            <a:r>
              <a:rPr lang="en-US" sz="1800" dirty="0">
                <a:solidFill>
                  <a:srgbClr val="8B93A3"/>
                </a:solidFill>
                <a:latin typeface="Arial" pitchFamily="34" charset="0"/>
                <a:ea typeface="Arial" pitchFamily="34" charset="-122"/>
                <a:cs typeface="Arial" pitchFamily="34" charset="-120"/>
              </a:rPr>
              <a:t>La familia, en la factura del mes siguiente. Recuperable: la persona ve el recibo.</a:t>
            </a:r>
            <a:endParaRPr lang="en-US" sz="1800" dirty="0"/>
          </a:p>
        </p:txBody>
      </p:sp>
      <p:sp>
        <p:nvSpPr>
          <p:cNvPr id="24" name="Shape 22"/>
          <p:cNvSpPr/>
          <p:nvPr/>
        </p:nvSpPr>
        <p:spPr>
          <a:xfrm>
            <a:off x="16492377" y="4766226"/>
            <a:ext cx="881171" cy="9525"/>
          </a:xfrm>
          <a:prstGeom prst="rect">
            <a:avLst/>
          </a:prstGeom>
          <a:solidFill>
            <a:srgbClr val="1C212A"/>
          </a:solidFill>
          <a:ln/>
        </p:spPr>
      </p:sp>
      <p:sp>
        <p:nvSpPr>
          <p:cNvPr id="25" name="Shape 23"/>
          <p:cNvSpPr/>
          <p:nvPr/>
        </p:nvSpPr>
        <p:spPr>
          <a:xfrm>
            <a:off x="16492490" y="3801047"/>
            <a:ext cx="881058" cy="370447"/>
          </a:xfrm>
          <a:prstGeom prst="roundRect">
            <a:avLst>
              <a:gd name="adj" fmla="val 50000"/>
            </a:avLst>
          </a:prstGeom>
          <a:solidFill>
            <a:srgbClr val="1D1512"/>
          </a:solidFill>
          <a:ln w="7246">
            <a:solidFill>
              <a:srgbClr val="57301C"/>
            </a:solidFill>
            <a:prstDash val="solid"/>
          </a:ln>
        </p:spPr>
      </p:sp>
      <p:sp>
        <p:nvSpPr>
          <p:cNvPr id="26" name="Text 24"/>
          <p:cNvSpPr/>
          <p:nvPr/>
        </p:nvSpPr>
        <p:spPr>
          <a:xfrm>
            <a:off x="16556886" y="3855918"/>
            <a:ext cx="676066" cy="298805"/>
          </a:xfrm>
          <a:prstGeom prst="rect">
            <a:avLst/>
          </a:prstGeom>
          <a:noFill/>
          <a:ln/>
        </p:spPr>
        <p:txBody>
          <a:bodyPr wrap="square" lIns="25400" tIns="25400" rIns="25400" bIns="25400" rtlCol="0" anchor="t">
            <a:normAutofit/>
          </a:bodyPr>
          <a:lstStyle/>
          <a:p>
            <a:pPr algn="r" indent="0" marL="0">
              <a:buNone/>
            </a:pPr>
            <a:r>
              <a:rPr lang="en-US" sz="1575" dirty="0">
                <a:solidFill>
                  <a:srgbClr val="FFB877"/>
                </a:solidFill>
                <a:latin typeface="Courier New" pitchFamily="34" charset="0"/>
                <a:ea typeface="Courier New" pitchFamily="34" charset="-122"/>
                <a:cs typeface="Courier New" pitchFamily="34" charset="-120"/>
              </a:rPr>
              <a:t>MEDIA</a:t>
            </a:r>
            <a:endParaRPr lang="en-US" sz="1575" dirty="0"/>
          </a:p>
        </p:txBody>
      </p:sp>
      <p:sp>
        <p:nvSpPr>
          <p:cNvPr id="27" name="Shape 25"/>
          <p:cNvSpPr/>
          <p:nvPr/>
        </p:nvSpPr>
        <p:spPr>
          <a:xfrm>
            <a:off x="914344" y="5931459"/>
            <a:ext cx="3908490" cy="9525"/>
          </a:xfrm>
          <a:prstGeom prst="rect">
            <a:avLst/>
          </a:prstGeom>
          <a:solidFill>
            <a:srgbClr val="1C212A"/>
          </a:solidFill>
          <a:ln/>
        </p:spPr>
      </p:sp>
      <p:sp>
        <p:nvSpPr>
          <p:cNvPr id="28" name="Text 26"/>
          <p:cNvSpPr/>
          <p:nvPr/>
        </p:nvSpPr>
        <p:spPr>
          <a:xfrm>
            <a:off x="914344" y="5028324"/>
            <a:ext cx="1535799" cy="349674"/>
          </a:xfrm>
          <a:prstGeom prst="rect">
            <a:avLst/>
          </a:prstGeom>
          <a:noFill/>
          <a:ln/>
        </p:spPr>
        <p:txBody>
          <a:bodyPr wrap="square" lIns="0" tIns="0" rIns="0" bIns="0" rtlCol="0" anchor="t">
            <a:normAutofit/>
          </a:bodyPr>
          <a:lstStyle/>
          <a:p>
            <a:pPr algn="l" indent="0" marL="0">
              <a:lnSpc>
                <a:spcPct val="121076"/>
              </a:lnSpc>
              <a:buNone/>
            </a:pPr>
            <a:r>
              <a:rPr lang="en-US" sz="1875" dirty="0">
                <a:solidFill>
                  <a:srgbClr val="C9D1DE"/>
                </a:solidFill>
                <a:latin typeface="Arial" pitchFamily="34" charset="0"/>
                <a:ea typeface="Arial" pitchFamily="34" charset="-122"/>
                <a:cs typeface="Arial" pitchFamily="34" charset="-120"/>
              </a:rPr>
              <a:t>Falso positivo</a:t>
            </a:r>
            <a:endParaRPr lang="en-US" sz="1875" dirty="0"/>
          </a:p>
        </p:txBody>
      </p:sp>
      <p:sp>
        <p:nvSpPr>
          <p:cNvPr id="29" name="Text 27"/>
          <p:cNvSpPr/>
          <p:nvPr/>
        </p:nvSpPr>
        <p:spPr>
          <a:xfrm>
            <a:off x="914344" y="5392431"/>
            <a:ext cx="4299340" cy="298953"/>
          </a:xfrm>
          <a:prstGeom prst="rect">
            <a:avLst/>
          </a:prstGeom>
          <a:noFill/>
          <a:ln/>
        </p:spPr>
        <p:txBody>
          <a:bodyPr wrap="square" lIns="25400" tIns="25400" rIns="25400" bIns="25400" rtlCol="0" anchor="t">
            <a:normAutofit/>
          </a:bodyPr>
          <a:lstStyle/>
          <a:p>
            <a:pPr algn="l" indent="0" marL="0">
              <a:buNone/>
            </a:pPr>
            <a:r>
              <a:rPr lang="en-US" sz="1575" dirty="0">
                <a:solidFill>
                  <a:srgbClr val="6F7787"/>
                </a:solidFill>
                <a:latin typeface="Arial" pitchFamily="34" charset="0"/>
                <a:ea typeface="Arial" pitchFamily="34" charset="-122"/>
                <a:cs typeface="Arial" pitchFamily="34" charset="-120"/>
              </a:rPr>
              <a:t>avisa sin que pase nada</a:t>
            </a:r>
            <a:endParaRPr lang="en-US" sz="1575" dirty="0"/>
          </a:p>
        </p:txBody>
      </p:sp>
      <p:sp>
        <p:nvSpPr>
          <p:cNvPr id="30" name="Shape 28"/>
          <p:cNvSpPr/>
          <p:nvPr/>
        </p:nvSpPr>
        <p:spPr>
          <a:xfrm>
            <a:off x="5108482" y="5931459"/>
            <a:ext cx="2571506" cy="9525"/>
          </a:xfrm>
          <a:prstGeom prst="rect">
            <a:avLst/>
          </a:prstGeom>
          <a:solidFill>
            <a:srgbClr val="1C212A"/>
          </a:solidFill>
          <a:ln/>
        </p:spPr>
      </p:sp>
      <p:sp>
        <p:nvSpPr>
          <p:cNvPr id="31" name="Text 29"/>
          <p:cNvSpPr/>
          <p:nvPr/>
        </p:nvSpPr>
        <p:spPr>
          <a:xfrm>
            <a:off x="5031337" y="5021121"/>
            <a:ext cx="2648652" cy="700787"/>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40 / 3.568 · 1,1 %</a:t>
            </a:r>
            <a:endParaRPr lang="en-US" sz="1875" dirty="0"/>
          </a:p>
        </p:txBody>
      </p:sp>
      <p:sp>
        <p:nvSpPr>
          <p:cNvPr id="32" name="Shape 30"/>
          <p:cNvSpPr/>
          <p:nvPr/>
        </p:nvSpPr>
        <p:spPr>
          <a:xfrm>
            <a:off x="7965635" y="5931459"/>
            <a:ext cx="2857267" cy="9525"/>
          </a:xfrm>
          <a:prstGeom prst="rect">
            <a:avLst/>
          </a:prstGeom>
          <a:solidFill>
            <a:srgbClr val="1C212A"/>
          </a:solidFill>
          <a:ln/>
        </p:spPr>
      </p:sp>
      <p:sp>
        <p:nvSpPr>
          <p:cNvPr id="33" name="Text 31"/>
          <p:cNvSpPr/>
          <p:nvPr/>
        </p:nvSpPr>
        <p:spPr>
          <a:xfrm>
            <a:off x="7879917" y="5021121"/>
            <a:ext cx="2942985" cy="700787"/>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433 / 3.568 · 12,1 %</a:t>
            </a:r>
            <a:endParaRPr lang="en-US" sz="1875" dirty="0"/>
          </a:p>
        </p:txBody>
      </p:sp>
      <p:sp>
        <p:nvSpPr>
          <p:cNvPr id="34" name="Shape 32"/>
          <p:cNvSpPr/>
          <p:nvPr/>
        </p:nvSpPr>
        <p:spPr>
          <a:xfrm>
            <a:off x="11108550" y="5931459"/>
            <a:ext cx="5098179" cy="9525"/>
          </a:xfrm>
          <a:prstGeom prst="rect">
            <a:avLst/>
          </a:prstGeom>
          <a:solidFill>
            <a:srgbClr val="1C212A"/>
          </a:solidFill>
          <a:ln/>
        </p:spPr>
      </p:sp>
      <p:sp>
        <p:nvSpPr>
          <p:cNvPr id="35" name="Text 33"/>
          <p:cNvSpPr/>
          <p:nvPr/>
        </p:nvSpPr>
        <p:spPr>
          <a:xfrm>
            <a:off x="11108550" y="5021121"/>
            <a:ext cx="5251124" cy="700787"/>
          </a:xfrm>
          <a:prstGeom prst="rect">
            <a:avLst/>
          </a:prstGeom>
          <a:noFill/>
          <a:ln/>
        </p:spPr>
        <p:txBody>
          <a:bodyPr wrap="square" lIns="25400" tIns="25400" rIns="25400" bIns="25400" rtlCol="0" anchor="t">
            <a:normAutofit/>
          </a:bodyPr>
          <a:lstStyle/>
          <a:p>
            <a:pPr algn="l" indent="0" marL="0">
              <a:lnSpc>
                <a:spcPct val="123637"/>
              </a:lnSpc>
              <a:buNone/>
            </a:pPr>
            <a:r>
              <a:rPr lang="en-US" sz="1800" dirty="0">
                <a:solidFill>
                  <a:srgbClr val="8B93A3"/>
                </a:solidFill>
                <a:latin typeface="Arial" pitchFamily="34" charset="0"/>
                <a:ea typeface="Arial" pitchFamily="34" charset="-122"/>
                <a:cs typeface="Arial" pitchFamily="34" charset="-120"/>
              </a:rPr>
              <a:t>La confianza en el sistema. No recuperable: si molesta, se desinstala.</a:t>
            </a:r>
            <a:endParaRPr lang="en-US" sz="1800" dirty="0"/>
          </a:p>
        </p:txBody>
      </p:sp>
      <p:sp>
        <p:nvSpPr>
          <p:cNvPr id="36" name="Shape 34"/>
          <p:cNvSpPr/>
          <p:nvPr/>
        </p:nvSpPr>
        <p:spPr>
          <a:xfrm>
            <a:off x="16492377" y="5931459"/>
            <a:ext cx="881171" cy="9525"/>
          </a:xfrm>
          <a:prstGeom prst="rect">
            <a:avLst/>
          </a:prstGeom>
          <a:solidFill>
            <a:srgbClr val="1C212A"/>
          </a:solidFill>
          <a:ln/>
        </p:spPr>
      </p:sp>
      <p:sp>
        <p:nvSpPr>
          <p:cNvPr id="37" name="Shape 35"/>
          <p:cNvSpPr/>
          <p:nvPr/>
        </p:nvSpPr>
        <p:spPr>
          <a:xfrm>
            <a:off x="16612500" y="4966281"/>
            <a:ext cx="761047" cy="370447"/>
          </a:xfrm>
          <a:prstGeom prst="roundRect">
            <a:avLst>
              <a:gd name="adj" fmla="val 50000"/>
            </a:avLst>
          </a:prstGeom>
          <a:solidFill>
            <a:srgbClr val="1D1413"/>
          </a:solidFill>
          <a:ln w="7246">
            <a:solidFill>
              <a:srgbClr val="4A2622"/>
            </a:solidFill>
            <a:prstDash val="solid"/>
          </a:ln>
        </p:spPr>
      </p:sp>
      <p:sp>
        <p:nvSpPr>
          <p:cNvPr id="38" name="Text 36"/>
          <p:cNvSpPr/>
          <p:nvPr/>
        </p:nvSpPr>
        <p:spPr>
          <a:xfrm>
            <a:off x="16676896" y="5021151"/>
            <a:ext cx="556055" cy="298805"/>
          </a:xfrm>
          <a:prstGeom prst="rect">
            <a:avLst/>
          </a:prstGeom>
          <a:noFill/>
          <a:ln/>
        </p:spPr>
        <p:txBody>
          <a:bodyPr wrap="square" lIns="25400" tIns="25400" rIns="25400" bIns="25400" rtlCol="0" anchor="t">
            <a:normAutofit/>
          </a:bodyPr>
          <a:lstStyle/>
          <a:p>
            <a:pPr algn="r" indent="0" marL="0">
              <a:buNone/>
            </a:pPr>
            <a:r>
              <a:rPr lang="en-US" sz="1575" dirty="0">
                <a:solidFill>
                  <a:srgbClr val="F28B82"/>
                </a:solidFill>
                <a:latin typeface="Courier New" pitchFamily="34" charset="0"/>
                <a:ea typeface="Courier New" pitchFamily="34" charset="-122"/>
                <a:cs typeface="Courier New" pitchFamily="34" charset="-120"/>
              </a:rPr>
              <a:t>ALTA</a:t>
            </a:r>
            <a:endParaRPr lang="en-US" sz="1575" dirty="0"/>
          </a:p>
        </p:txBody>
      </p:sp>
      <p:sp>
        <p:nvSpPr>
          <p:cNvPr id="39" name="Text 37"/>
          <p:cNvSpPr/>
          <p:nvPr/>
        </p:nvSpPr>
        <p:spPr>
          <a:xfrm>
            <a:off x="914344" y="6186355"/>
            <a:ext cx="4025745" cy="700787"/>
          </a:xfrm>
          <a:prstGeom prst="rect">
            <a:avLst/>
          </a:prstGeom>
          <a:noFill/>
          <a:ln/>
        </p:spPr>
        <p:txBody>
          <a:bodyPr wrap="square" lIns="25400" tIns="25400" rIns="25400" bIns="25400" rtlCol="0" anchor="t">
            <a:normAutofit/>
          </a:bodyPr>
          <a:lstStyle/>
          <a:p>
            <a:pPr algn="l" indent="0" marL="0">
              <a:lnSpc>
                <a:spcPct val="121076"/>
              </a:lnSpc>
              <a:buNone/>
            </a:pPr>
            <a:r>
              <a:rPr lang="en-US" sz="1875" dirty="0">
                <a:solidFill>
                  <a:srgbClr val="C9D1DE"/>
                </a:solidFill>
                <a:latin typeface="Arial" pitchFamily="34" charset="0"/>
                <a:ea typeface="Arial" pitchFamily="34" charset="-122"/>
                <a:cs typeface="Arial" pitchFamily="34" charset="-120"/>
              </a:rPr>
              <a:t>Ahorro simulado que no existe</a:t>
            </a:r>
            <a:endParaRPr lang="en-US" sz="1875" dirty="0"/>
          </a:p>
        </p:txBody>
      </p:sp>
      <p:sp>
        <p:nvSpPr>
          <p:cNvPr id="40" name="Text 38"/>
          <p:cNvSpPr/>
          <p:nvPr/>
        </p:nvSpPr>
        <p:spPr>
          <a:xfrm>
            <a:off x="5031337" y="6186355"/>
            <a:ext cx="2648652" cy="700787"/>
          </a:xfrm>
          <a:prstGeom prst="rect">
            <a:avLst/>
          </a:prstGeom>
          <a:noFill/>
          <a:ln/>
        </p:spPr>
        <p:txBody>
          <a:bodyPr wrap="square" lIns="25400" tIns="25400" rIns="25400" bIns="25400" rtlCol="0" anchor="t">
            <a:normAutofit/>
          </a:bodyPr>
          <a:lstStyle/>
          <a:p>
            <a:pPr algn="r" indent="0" marL="0">
              <a:buNone/>
            </a:pPr>
            <a:r>
              <a:rPr lang="en-US" sz="1875" dirty="0">
                <a:solidFill>
                  <a:srgbClr val="F28B82"/>
                </a:solidFill>
                <a:latin typeface="Courier New" pitchFamily="34" charset="0"/>
                <a:ea typeface="Courier New" pitchFamily="34" charset="-122"/>
                <a:cs typeface="Courier New" pitchFamily="34" charset="-120"/>
              </a:rPr>
              <a:t>sesgo −40,6 Wh</a:t>
            </a:r>
            <a:endParaRPr lang="en-US" sz="1875" dirty="0"/>
          </a:p>
        </p:txBody>
      </p:sp>
      <p:sp>
        <p:nvSpPr>
          <p:cNvPr id="41" name="Text 39"/>
          <p:cNvSpPr/>
          <p:nvPr/>
        </p:nvSpPr>
        <p:spPr>
          <a:xfrm>
            <a:off x="7879917" y="6186355"/>
            <a:ext cx="2942985" cy="700787"/>
          </a:xfrm>
          <a:prstGeom prst="rect">
            <a:avLst/>
          </a:prstGeom>
          <a:noFill/>
          <a:ln/>
        </p:spPr>
        <p:txBody>
          <a:bodyPr wrap="square" lIns="25400" tIns="25400" rIns="25400" bIns="25400" rtlCol="0" anchor="t">
            <a:normAutofit/>
          </a:bodyPr>
          <a:lstStyle/>
          <a:p>
            <a:pPr algn="r" indent="0" marL="0">
              <a:buNone/>
            </a:pPr>
            <a:r>
              <a:rPr lang="en-US" sz="1875" dirty="0">
                <a:solidFill>
                  <a:srgbClr val="6F7787"/>
                </a:solidFill>
                <a:latin typeface="Courier New" pitchFamily="34" charset="0"/>
                <a:ea typeface="Courier New" pitchFamily="34" charset="-122"/>
                <a:cs typeface="Courier New" pitchFamily="34" charset="-120"/>
              </a:rPr>
              <a:t>—</a:t>
            </a:r>
            <a:endParaRPr lang="en-US" sz="1875" dirty="0"/>
          </a:p>
        </p:txBody>
      </p:sp>
      <p:sp>
        <p:nvSpPr>
          <p:cNvPr id="42" name="Text 40"/>
          <p:cNvSpPr/>
          <p:nvPr/>
        </p:nvSpPr>
        <p:spPr>
          <a:xfrm>
            <a:off x="11108550" y="6186355"/>
            <a:ext cx="5251124" cy="700787"/>
          </a:xfrm>
          <a:prstGeom prst="rect">
            <a:avLst/>
          </a:prstGeom>
          <a:noFill/>
          <a:ln/>
        </p:spPr>
        <p:txBody>
          <a:bodyPr wrap="square" lIns="25400" tIns="25400" rIns="25400" bIns="25400" rtlCol="0" anchor="t">
            <a:normAutofit/>
          </a:bodyPr>
          <a:lstStyle/>
          <a:p>
            <a:pPr algn="l" indent="0" marL="0">
              <a:lnSpc>
                <a:spcPct val="123637"/>
              </a:lnSpc>
              <a:buNone/>
            </a:pPr>
            <a:r>
              <a:rPr lang="en-US" sz="1800" dirty="0">
                <a:solidFill>
                  <a:srgbClr val="8B93A3"/>
                </a:solidFill>
                <a:latin typeface="Arial" pitchFamily="34" charset="0"/>
                <a:ea typeface="Arial" pitchFamily="34" charset="-122"/>
                <a:cs typeface="Arial" pitchFamily="34" charset="-120"/>
              </a:rPr>
              <a:t>Quien tome una decisión económica confiando en la cifra.</a:t>
            </a:r>
            <a:endParaRPr lang="en-US" sz="1800" dirty="0"/>
          </a:p>
        </p:txBody>
      </p:sp>
      <p:sp>
        <p:nvSpPr>
          <p:cNvPr id="43" name="Shape 41"/>
          <p:cNvSpPr/>
          <p:nvPr/>
        </p:nvSpPr>
        <p:spPr>
          <a:xfrm>
            <a:off x="16612500" y="6131514"/>
            <a:ext cx="761047" cy="370447"/>
          </a:xfrm>
          <a:prstGeom prst="roundRect">
            <a:avLst>
              <a:gd name="adj" fmla="val 50000"/>
            </a:avLst>
          </a:prstGeom>
          <a:solidFill>
            <a:srgbClr val="1D1413"/>
          </a:solidFill>
          <a:ln w="7246">
            <a:solidFill>
              <a:srgbClr val="4A2622"/>
            </a:solidFill>
            <a:prstDash val="solid"/>
          </a:ln>
        </p:spPr>
      </p:sp>
      <p:sp>
        <p:nvSpPr>
          <p:cNvPr id="44" name="Text 42"/>
          <p:cNvSpPr/>
          <p:nvPr/>
        </p:nvSpPr>
        <p:spPr>
          <a:xfrm>
            <a:off x="16676896" y="6186385"/>
            <a:ext cx="556055" cy="298805"/>
          </a:xfrm>
          <a:prstGeom prst="rect">
            <a:avLst/>
          </a:prstGeom>
          <a:noFill/>
          <a:ln/>
        </p:spPr>
        <p:txBody>
          <a:bodyPr wrap="square" lIns="25400" tIns="25400" rIns="25400" bIns="25400" rtlCol="0" anchor="t">
            <a:normAutofit/>
          </a:bodyPr>
          <a:lstStyle/>
          <a:p>
            <a:pPr algn="r" indent="0" marL="0">
              <a:buNone/>
            </a:pPr>
            <a:r>
              <a:rPr lang="en-US" sz="1575" dirty="0">
                <a:solidFill>
                  <a:srgbClr val="F28B82"/>
                </a:solidFill>
                <a:latin typeface="Courier New" pitchFamily="34" charset="0"/>
                <a:ea typeface="Courier New" pitchFamily="34" charset="-122"/>
                <a:cs typeface="Courier New" pitchFamily="34" charset="-120"/>
              </a:rPr>
              <a:t>ALTA</a:t>
            </a:r>
            <a:endParaRPr lang="en-US" sz="1575" dirty="0"/>
          </a:p>
        </p:txBody>
      </p:sp>
      <p:sp>
        <p:nvSpPr>
          <p:cNvPr id="45" name="Text 43"/>
          <p:cNvSpPr/>
          <p:nvPr/>
        </p:nvSpPr>
        <p:spPr>
          <a:xfrm>
            <a:off x="914344" y="8955948"/>
            <a:ext cx="16952980" cy="759521"/>
          </a:xfrm>
          <a:prstGeom prst="rect">
            <a:avLst/>
          </a:prstGeom>
          <a:noFill/>
          <a:ln/>
        </p:spPr>
        <p:txBody>
          <a:bodyPr wrap="square" lIns="25400" tIns="25400" rIns="25400" bIns="25400" rtlCol="0" anchor="t">
            <a:normAutofit/>
          </a:bodyPr>
          <a:lstStyle/>
          <a:p>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Hay una razón medida para no maximizar el recall: una anomalía perdida es recuperable, pero demasiadas falsas alarmas destruyen la confianza. La respuesta correcta no es un modelo, sino </a:t>
            </a:r>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un umbral que la persona controle</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E8710A"/>
                </a:solidFill>
                <a:latin typeface="Courier New" pitchFamily="34" charset="0"/>
                <a:ea typeface="Courier New" pitchFamily="34" charset="-122"/>
                <a:cs typeface="Courier New" pitchFamily="34" charset="-120"/>
              </a:rPr>
              <a:t>PUNTO 3 · 3.2 EL SESGO DE REPRESENTATIVIDAD, MEDIDO</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El umbral se descalibra solo en cuatro meses</a:t>
            </a:r>
            <a:endParaRPr lang="en-US" sz="4050" dirty="0"/>
          </a:p>
        </p:txBody>
      </p:sp>
      <p:sp>
        <p:nvSpPr>
          <p:cNvPr id="4" name="Shape 2"/>
          <p:cNvSpPr/>
          <p:nvPr/>
        </p:nvSpPr>
        <p:spPr>
          <a:xfrm>
            <a:off x="914344" y="3374444"/>
            <a:ext cx="3778857" cy="9525"/>
          </a:xfrm>
          <a:prstGeom prst="rect">
            <a:avLst/>
          </a:prstGeom>
          <a:solidFill>
            <a:srgbClr val="2C323E"/>
          </a:solidFill>
          <a:ln/>
        </p:spPr>
      </p:sp>
      <p:sp>
        <p:nvSpPr>
          <p:cNvPr id="5" name="Text 3"/>
          <p:cNvSpPr/>
          <p:nvPr/>
        </p:nvSpPr>
        <p:spPr>
          <a:xfrm>
            <a:off x="914344" y="3035584"/>
            <a:ext cx="3892222" cy="26266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MES</a:t>
            </a:r>
            <a:endParaRPr lang="en-US" sz="1350" dirty="0"/>
          </a:p>
        </p:txBody>
      </p:sp>
      <p:sp>
        <p:nvSpPr>
          <p:cNvPr id="6" name="Shape 4"/>
          <p:cNvSpPr/>
          <p:nvPr/>
        </p:nvSpPr>
        <p:spPr>
          <a:xfrm>
            <a:off x="4940807" y="3374444"/>
            <a:ext cx="822977" cy="9525"/>
          </a:xfrm>
          <a:prstGeom prst="rect">
            <a:avLst/>
          </a:prstGeom>
          <a:solidFill>
            <a:srgbClr val="2C323E"/>
          </a:solidFill>
          <a:ln/>
        </p:spPr>
      </p:sp>
      <p:sp>
        <p:nvSpPr>
          <p:cNvPr id="7" name="Text 5"/>
          <p:cNvSpPr/>
          <p:nvPr/>
        </p:nvSpPr>
        <p:spPr>
          <a:xfrm>
            <a:off x="4864607" y="3035584"/>
            <a:ext cx="899177"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P90 (Wh)</a:t>
            </a:r>
            <a:endParaRPr lang="en-US" sz="1350" dirty="0"/>
          </a:p>
        </p:txBody>
      </p:sp>
      <p:sp>
        <p:nvSpPr>
          <p:cNvPr id="8" name="Shape 6"/>
          <p:cNvSpPr/>
          <p:nvPr/>
        </p:nvSpPr>
        <p:spPr>
          <a:xfrm>
            <a:off x="6011390" y="3374444"/>
            <a:ext cx="720063" cy="9525"/>
          </a:xfrm>
          <a:prstGeom prst="rect">
            <a:avLst/>
          </a:prstGeom>
          <a:solidFill>
            <a:srgbClr val="2C323E"/>
          </a:solidFill>
          <a:ln/>
        </p:spPr>
      </p:sp>
      <p:sp>
        <p:nvSpPr>
          <p:cNvPr id="9" name="Text 7"/>
          <p:cNvSpPr/>
          <p:nvPr/>
        </p:nvSpPr>
        <p:spPr>
          <a:xfrm>
            <a:off x="5935190" y="3035584"/>
            <a:ext cx="796263"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ANÓM. %</a:t>
            </a:r>
            <a:endParaRPr lang="en-US" sz="1350" dirty="0"/>
          </a:p>
        </p:txBody>
      </p:sp>
      <p:sp>
        <p:nvSpPr>
          <p:cNvPr id="10" name="Shape 8"/>
          <p:cNvSpPr/>
          <p:nvPr/>
        </p:nvSpPr>
        <p:spPr>
          <a:xfrm>
            <a:off x="6979059" y="3374444"/>
            <a:ext cx="925779" cy="9525"/>
          </a:xfrm>
          <a:prstGeom prst="rect">
            <a:avLst/>
          </a:prstGeom>
          <a:solidFill>
            <a:srgbClr val="2C323E"/>
          </a:solidFill>
          <a:ln/>
        </p:spPr>
      </p:sp>
      <p:sp>
        <p:nvSpPr>
          <p:cNvPr id="11" name="Text 9"/>
          <p:cNvSpPr/>
          <p:nvPr/>
        </p:nvSpPr>
        <p:spPr>
          <a:xfrm>
            <a:off x="6902859" y="3035584"/>
            <a:ext cx="1001979"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T EXT. °C</a:t>
            </a:r>
            <a:endParaRPr lang="en-US" sz="1350" dirty="0"/>
          </a:p>
        </p:txBody>
      </p:sp>
      <p:sp>
        <p:nvSpPr>
          <p:cNvPr id="12" name="Shape 10"/>
          <p:cNvSpPr/>
          <p:nvPr/>
        </p:nvSpPr>
        <p:spPr>
          <a:xfrm>
            <a:off x="914344" y="4112169"/>
            <a:ext cx="3778857" cy="9525"/>
          </a:xfrm>
          <a:prstGeom prst="rect">
            <a:avLst/>
          </a:prstGeom>
          <a:solidFill>
            <a:srgbClr val="1C212A"/>
          </a:solidFill>
          <a:ln/>
        </p:spPr>
      </p:sp>
      <p:sp>
        <p:nvSpPr>
          <p:cNvPr id="13" name="Text 11"/>
          <p:cNvSpPr/>
          <p:nvPr/>
        </p:nvSpPr>
        <p:spPr>
          <a:xfrm>
            <a:off x="914344" y="3591240"/>
            <a:ext cx="3892222"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Enero</a:t>
            </a:r>
            <a:endParaRPr lang="en-US" sz="1875" dirty="0"/>
          </a:p>
        </p:txBody>
      </p:sp>
      <p:sp>
        <p:nvSpPr>
          <p:cNvPr id="14" name="Shape 12"/>
          <p:cNvSpPr/>
          <p:nvPr/>
        </p:nvSpPr>
        <p:spPr>
          <a:xfrm>
            <a:off x="4940807" y="4112169"/>
            <a:ext cx="822977" cy="9525"/>
          </a:xfrm>
          <a:prstGeom prst="rect">
            <a:avLst/>
          </a:prstGeom>
          <a:solidFill>
            <a:srgbClr val="1C212A"/>
          </a:solidFill>
          <a:ln/>
        </p:spPr>
      </p:sp>
      <p:sp>
        <p:nvSpPr>
          <p:cNvPr id="15" name="Text 13"/>
          <p:cNvSpPr/>
          <p:nvPr/>
        </p:nvSpPr>
        <p:spPr>
          <a:xfrm>
            <a:off x="4864607" y="3591240"/>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250</a:t>
            </a:r>
            <a:endParaRPr lang="en-US" sz="1875" dirty="0"/>
          </a:p>
        </p:txBody>
      </p:sp>
      <p:sp>
        <p:nvSpPr>
          <p:cNvPr id="16" name="Shape 14"/>
          <p:cNvSpPr/>
          <p:nvPr/>
        </p:nvSpPr>
        <p:spPr>
          <a:xfrm>
            <a:off x="6011390" y="4112169"/>
            <a:ext cx="720063" cy="9525"/>
          </a:xfrm>
          <a:prstGeom prst="rect">
            <a:avLst/>
          </a:prstGeom>
          <a:solidFill>
            <a:srgbClr val="1C212A"/>
          </a:solidFill>
          <a:ln/>
        </p:spPr>
      </p:sp>
      <p:sp>
        <p:nvSpPr>
          <p:cNvPr id="17" name="Text 15"/>
          <p:cNvSpPr/>
          <p:nvPr/>
        </p:nvSpPr>
        <p:spPr>
          <a:xfrm>
            <a:off x="5935190" y="3591240"/>
            <a:ext cx="796263"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11,50</a:t>
            </a:r>
            <a:endParaRPr lang="en-US" sz="1875" dirty="0"/>
          </a:p>
        </p:txBody>
      </p:sp>
      <p:sp>
        <p:nvSpPr>
          <p:cNvPr id="18" name="Shape 16"/>
          <p:cNvSpPr/>
          <p:nvPr/>
        </p:nvSpPr>
        <p:spPr>
          <a:xfrm>
            <a:off x="6979059" y="4112169"/>
            <a:ext cx="925779" cy="9525"/>
          </a:xfrm>
          <a:prstGeom prst="rect">
            <a:avLst/>
          </a:prstGeom>
          <a:solidFill>
            <a:srgbClr val="1C212A"/>
          </a:solidFill>
          <a:ln/>
        </p:spPr>
      </p:sp>
      <p:sp>
        <p:nvSpPr>
          <p:cNvPr id="19" name="Text 17"/>
          <p:cNvSpPr/>
          <p:nvPr/>
        </p:nvSpPr>
        <p:spPr>
          <a:xfrm>
            <a:off x="6902859" y="3591240"/>
            <a:ext cx="100197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4,13</a:t>
            </a:r>
            <a:endParaRPr lang="en-US" sz="1875" dirty="0"/>
          </a:p>
        </p:txBody>
      </p:sp>
      <p:sp>
        <p:nvSpPr>
          <p:cNvPr id="20" name="Shape 18"/>
          <p:cNvSpPr/>
          <p:nvPr/>
        </p:nvSpPr>
        <p:spPr>
          <a:xfrm>
            <a:off x="914344" y="4849893"/>
            <a:ext cx="3778857" cy="9525"/>
          </a:xfrm>
          <a:prstGeom prst="rect">
            <a:avLst/>
          </a:prstGeom>
          <a:solidFill>
            <a:srgbClr val="1C212A"/>
          </a:solidFill>
          <a:ln/>
        </p:spPr>
      </p:sp>
      <p:sp>
        <p:nvSpPr>
          <p:cNvPr id="21" name="Text 19"/>
          <p:cNvSpPr/>
          <p:nvPr/>
        </p:nvSpPr>
        <p:spPr>
          <a:xfrm>
            <a:off x="914344" y="4328965"/>
            <a:ext cx="3892222"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Febrero</a:t>
            </a:r>
            <a:endParaRPr lang="en-US" sz="1875" dirty="0"/>
          </a:p>
        </p:txBody>
      </p:sp>
      <p:sp>
        <p:nvSpPr>
          <p:cNvPr id="22" name="Shape 20"/>
          <p:cNvSpPr/>
          <p:nvPr/>
        </p:nvSpPr>
        <p:spPr>
          <a:xfrm>
            <a:off x="4940807" y="4849893"/>
            <a:ext cx="822977" cy="9525"/>
          </a:xfrm>
          <a:prstGeom prst="rect">
            <a:avLst/>
          </a:prstGeom>
          <a:solidFill>
            <a:srgbClr val="1C212A"/>
          </a:solidFill>
          <a:ln/>
        </p:spPr>
      </p:sp>
      <p:sp>
        <p:nvSpPr>
          <p:cNvPr id="23" name="Text 21"/>
          <p:cNvSpPr/>
          <p:nvPr/>
        </p:nvSpPr>
        <p:spPr>
          <a:xfrm>
            <a:off x="4864607" y="4328965"/>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7BD992"/>
                </a:solidFill>
                <a:latin typeface="Courier New" pitchFamily="34" charset="0"/>
                <a:ea typeface="Courier New" pitchFamily="34" charset="-122"/>
                <a:cs typeface="Courier New" pitchFamily="34" charset="-120"/>
              </a:rPr>
              <a:t>230</a:t>
            </a:r>
            <a:endParaRPr lang="en-US" sz="1875" dirty="0"/>
          </a:p>
        </p:txBody>
      </p:sp>
      <p:sp>
        <p:nvSpPr>
          <p:cNvPr id="24" name="Shape 22"/>
          <p:cNvSpPr/>
          <p:nvPr/>
        </p:nvSpPr>
        <p:spPr>
          <a:xfrm>
            <a:off x="6011390" y="4849893"/>
            <a:ext cx="720063" cy="9525"/>
          </a:xfrm>
          <a:prstGeom prst="rect">
            <a:avLst/>
          </a:prstGeom>
          <a:solidFill>
            <a:srgbClr val="1C212A"/>
          </a:solidFill>
          <a:ln/>
        </p:spPr>
      </p:sp>
      <p:sp>
        <p:nvSpPr>
          <p:cNvPr id="25" name="Text 23"/>
          <p:cNvSpPr/>
          <p:nvPr/>
        </p:nvSpPr>
        <p:spPr>
          <a:xfrm>
            <a:off x="5935190" y="4328965"/>
            <a:ext cx="796263"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11,16</a:t>
            </a:r>
            <a:endParaRPr lang="en-US" sz="1875" dirty="0"/>
          </a:p>
        </p:txBody>
      </p:sp>
      <p:sp>
        <p:nvSpPr>
          <p:cNvPr id="26" name="Shape 24"/>
          <p:cNvSpPr/>
          <p:nvPr/>
        </p:nvSpPr>
        <p:spPr>
          <a:xfrm>
            <a:off x="6979059" y="4849893"/>
            <a:ext cx="925779" cy="9525"/>
          </a:xfrm>
          <a:prstGeom prst="rect">
            <a:avLst/>
          </a:prstGeom>
          <a:solidFill>
            <a:srgbClr val="1C212A"/>
          </a:solidFill>
          <a:ln/>
        </p:spPr>
      </p:sp>
      <p:sp>
        <p:nvSpPr>
          <p:cNvPr id="27" name="Text 25"/>
          <p:cNvSpPr/>
          <p:nvPr/>
        </p:nvSpPr>
        <p:spPr>
          <a:xfrm>
            <a:off x="6902859" y="4328965"/>
            <a:ext cx="100197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4,82</a:t>
            </a:r>
            <a:endParaRPr lang="en-US" sz="1875" dirty="0"/>
          </a:p>
        </p:txBody>
      </p:sp>
      <p:sp>
        <p:nvSpPr>
          <p:cNvPr id="28" name="Shape 26"/>
          <p:cNvSpPr/>
          <p:nvPr/>
        </p:nvSpPr>
        <p:spPr>
          <a:xfrm>
            <a:off x="914344" y="5587618"/>
            <a:ext cx="3778857" cy="9525"/>
          </a:xfrm>
          <a:prstGeom prst="rect">
            <a:avLst/>
          </a:prstGeom>
          <a:solidFill>
            <a:srgbClr val="1C212A"/>
          </a:solidFill>
          <a:ln/>
        </p:spPr>
      </p:sp>
      <p:sp>
        <p:nvSpPr>
          <p:cNvPr id="29" name="Text 27"/>
          <p:cNvSpPr/>
          <p:nvPr/>
        </p:nvSpPr>
        <p:spPr>
          <a:xfrm>
            <a:off x="914344" y="5066689"/>
            <a:ext cx="3892222"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Marzo</a:t>
            </a:r>
            <a:endParaRPr lang="en-US" sz="1875" dirty="0"/>
          </a:p>
        </p:txBody>
      </p:sp>
      <p:sp>
        <p:nvSpPr>
          <p:cNvPr id="30" name="Shape 28"/>
          <p:cNvSpPr/>
          <p:nvPr/>
        </p:nvSpPr>
        <p:spPr>
          <a:xfrm>
            <a:off x="4940807" y="5587618"/>
            <a:ext cx="822977" cy="9525"/>
          </a:xfrm>
          <a:prstGeom prst="rect">
            <a:avLst/>
          </a:prstGeom>
          <a:solidFill>
            <a:srgbClr val="1C212A"/>
          </a:solidFill>
          <a:ln/>
        </p:spPr>
      </p:sp>
      <p:sp>
        <p:nvSpPr>
          <p:cNvPr id="31" name="Text 29"/>
          <p:cNvSpPr/>
          <p:nvPr/>
        </p:nvSpPr>
        <p:spPr>
          <a:xfrm>
            <a:off x="4864607" y="5066689"/>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E8710A"/>
                </a:solidFill>
                <a:latin typeface="Courier New" pitchFamily="34" charset="0"/>
                <a:ea typeface="Courier New" pitchFamily="34" charset="-122"/>
                <a:cs typeface="Courier New" pitchFamily="34" charset="-120"/>
              </a:rPr>
              <a:t>180</a:t>
            </a:r>
            <a:endParaRPr lang="en-US" sz="1875" dirty="0"/>
          </a:p>
        </p:txBody>
      </p:sp>
      <p:sp>
        <p:nvSpPr>
          <p:cNvPr id="32" name="Shape 30"/>
          <p:cNvSpPr/>
          <p:nvPr/>
        </p:nvSpPr>
        <p:spPr>
          <a:xfrm>
            <a:off x="6011390" y="5587618"/>
            <a:ext cx="720063" cy="9525"/>
          </a:xfrm>
          <a:prstGeom prst="rect">
            <a:avLst/>
          </a:prstGeom>
          <a:solidFill>
            <a:srgbClr val="1C212A"/>
          </a:solidFill>
          <a:ln/>
        </p:spPr>
      </p:sp>
      <p:sp>
        <p:nvSpPr>
          <p:cNvPr id="33" name="Text 31"/>
          <p:cNvSpPr/>
          <p:nvPr/>
        </p:nvSpPr>
        <p:spPr>
          <a:xfrm>
            <a:off x="5935190" y="5066689"/>
            <a:ext cx="796263"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9,25</a:t>
            </a:r>
            <a:endParaRPr lang="en-US" sz="1875" dirty="0"/>
          </a:p>
        </p:txBody>
      </p:sp>
      <p:sp>
        <p:nvSpPr>
          <p:cNvPr id="34" name="Shape 32"/>
          <p:cNvSpPr/>
          <p:nvPr/>
        </p:nvSpPr>
        <p:spPr>
          <a:xfrm>
            <a:off x="6979059" y="5587618"/>
            <a:ext cx="925779" cy="9525"/>
          </a:xfrm>
          <a:prstGeom prst="rect">
            <a:avLst/>
          </a:prstGeom>
          <a:solidFill>
            <a:srgbClr val="1C212A"/>
          </a:solidFill>
          <a:ln/>
        </p:spPr>
      </p:sp>
      <p:sp>
        <p:nvSpPr>
          <p:cNvPr id="35" name="Text 33"/>
          <p:cNvSpPr/>
          <p:nvPr/>
        </p:nvSpPr>
        <p:spPr>
          <a:xfrm>
            <a:off x="6902859" y="5066689"/>
            <a:ext cx="100197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5,44</a:t>
            </a:r>
            <a:endParaRPr lang="en-US" sz="1875" dirty="0"/>
          </a:p>
        </p:txBody>
      </p:sp>
      <p:sp>
        <p:nvSpPr>
          <p:cNvPr id="36" name="Shape 34"/>
          <p:cNvSpPr/>
          <p:nvPr/>
        </p:nvSpPr>
        <p:spPr>
          <a:xfrm>
            <a:off x="914344" y="6325342"/>
            <a:ext cx="3778857" cy="9525"/>
          </a:xfrm>
          <a:prstGeom prst="rect">
            <a:avLst/>
          </a:prstGeom>
          <a:solidFill>
            <a:srgbClr val="1C212A"/>
          </a:solidFill>
          <a:ln/>
        </p:spPr>
      </p:sp>
      <p:sp>
        <p:nvSpPr>
          <p:cNvPr id="37" name="Text 35"/>
          <p:cNvSpPr/>
          <p:nvPr/>
        </p:nvSpPr>
        <p:spPr>
          <a:xfrm>
            <a:off x="914344" y="5804414"/>
            <a:ext cx="3892222"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Abril</a:t>
            </a:r>
            <a:endParaRPr lang="en-US" sz="1875" dirty="0"/>
          </a:p>
        </p:txBody>
      </p:sp>
      <p:sp>
        <p:nvSpPr>
          <p:cNvPr id="38" name="Shape 36"/>
          <p:cNvSpPr/>
          <p:nvPr/>
        </p:nvSpPr>
        <p:spPr>
          <a:xfrm>
            <a:off x="4940807" y="6325342"/>
            <a:ext cx="822977" cy="9525"/>
          </a:xfrm>
          <a:prstGeom prst="rect">
            <a:avLst/>
          </a:prstGeom>
          <a:solidFill>
            <a:srgbClr val="1C212A"/>
          </a:solidFill>
          <a:ln/>
        </p:spPr>
      </p:sp>
      <p:sp>
        <p:nvSpPr>
          <p:cNvPr id="39" name="Text 37"/>
          <p:cNvSpPr/>
          <p:nvPr/>
        </p:nvSpPr>
        <p:spPr>
          <a:xfrm>
            <a:off x="4864607" y="5804414"/>
            <a:ext cx="899177" cy="349479"/>
          </a:xfrm>
          <a:prstGeom prst="rect">
            <a:avLst/>
          </a:prstGeom>
          <a:noFill/>
          <a:ln/>
        </p:spPr>
        <p:txBody>
          <a:bodyPr wrap="square" lIns="25400" tIns="25400" rIns="25400" bIns="25400" rtlCol="0" anchor="t">
            <a:normAutofit/>
          </a:bodyPr>
          <a:lstStyle/>
          <a:p>
            <a:pPr algn="r" indent="0" marL="0">
              <a:buNone/>
            </a:pPr>
            <a:r>
              <a:rPr lang="en-US" sz="1875" dirty="0">
                <a:solidFill>
                  <a:srgbClr val="E8710A"/>
                </a:solidFill>
                <a:latin typeface="Courier New" pitchFamily="34" charset="0"/>
                <a:ea typeface="Courier New" pitchFamily="34" charset="-122"/>
                <a:cs typeface="Courier New" pitchFamily="34" charset="-120"/>
              </a:rPr>
              <a:t>190</a:t>
            </a:r>
            <a:endParaRPr lang="en-US" sz="1875" dirty="0"/>
          </a:p>
        </p:txBody>
      </p:sp>
      <p:sp>
        <p:nvSpPr>
          <p:cNvPr id="40" name="Shape 38"/>
          <p:cNvSpPr/>
          <p:nvPr/>
        </p:nvSpPr>
        <p:spPr>
          <a:xfrm>
            <a:off x="6011390" y="6325342"/>
            <a:ext cx="720063" cy="9525"/>
          </a:xfrm>
          <a:prstGeom prst="rect">
            <a:avLst/>
          </a:prstGeom>
          <a:solidFill>
            <a:srgbClr val="1C212A"/>
          </a:solidFill>
          <a:ln/>
        </p:spPr>
      </p:sp>
      <p:sp>
        <p:nvSpPr>
          <p:cNvPr id="41" name="Text 39"/>
          <p:cNvSpPr/>
          <p:nvPr/>
        </p:nvSpPr>
        <p:spPr>
          <a:xfrm>
            <a:off x="5935190" y="5804414"/>
            <a:ext cx="796263"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9,42</a:t>
            </a:r>
            <a:endParaRPr lang="en-US" sz="1875" dirty="0"/>
          </a:p>
        </p:txBody>
      </p:sp>
      <p:sp>
        <p:nvSpPr>
          <p:cNvPr id="42" name="Shape 40"/>
          <p:cNvSpPr/>
          <p:nvPr/>
        </p:nvSpPr>
        <p:spPr>
          <a:xfrm>
            <a:off x="6979059" y="6325342"/>
            <a:ext cx="925779" cy="9525"/>
          </a:xfrm>
          <a:prstGeom prst="rect">
            <a:avLst/>
          </a:prstGeom>
          <a:solidFill>
            <a:srgbClr val="1C212A"/>
          </a:solidFill>
          <a:ln/>
        </p:spPr>
      </p:sp>
      <p:sp>
        <p:nvSpPr>
          <p:cNvPr id="43" name="Text 41"/>
          <p:cNvSpPr/>
          <p:nvPr/>
        </p:nvSpPr>
        <p:spPr>
          <a:xfrm>
            <a:off x="6902859" y="5804414"/>
            <a:ext cx="100197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8,51</a:t>
            </a:r>
            <a:endParaRPr lang="en-US" sz="1875" dirty="0"/>
          </a:p>
        </p:txBody>
      </p:sp>
      <p:sp>
        <p:nvSpPr>
          <p:cNvPr id="44" name="Text 42"/>
          <p:cNvSpPr/>
          <p:nvPr/>
        </p:nvSpPr>
        <p:spPr>
          <a:xfrm>
            <a:off x="914344" y="6542138"/>
            <a:ext cx="3892222" cy="349479"/>
          </a:xfrm>
          <a:prstGeom prst="rect">
            <a:avLst/>
          </a:prstGeom>
          <a:noFill/>
          <a:ln/>
        </p:spPr>
        <p:txBody>
          <a:bodyPr wrap="square" lIns="25400" tIns="25400" rIns="25400" bIns="25400" rtlCol="0" anchor="t">
            <a:normAutofit/>
          </a:bodyPr>
          <a:lstStyle/>
          <a:p>
            <a:pPr algn="l" indent="0" marL="0">
              <a:buNone/>
            </a:pPr>
            <a:r>
              <a:rPr lang="en-US" sz="1875" dirty="0">
                <a:solidFill>
                  <a:srgbClr val="C9D1DE"/>
                </a:solidFill>
                <a:latin typeface="Arial" pitchFamily="34" charset="0"/>
                <a:ea typeface="Arial" pitchFamily="34" charset="-122"/>
                <a:cs typeface="Arial" pitchFamily="34" charset="-120"/>
              </a:rPr>
              <a:t>Mayo</a:t>
            </a:r>
            <a:endParaRPr lang="en-US" sz="1875" dirty="0"/>
          </a:p>
        </p:txBody>
      </p:sp>
      <p:sp>
        <p:nvSpPr>
          <p:cNvPr id="45" name="Text 43"/>
          <p:cNvSpPr/>
          <p:nvPr/>
        </p:nvSpPr>
        <p:spPr>
          <a:xfrm>
            <a:off x="4864607" y="6542138"/>
            <a:ext cx="899177" cy="349479"/>
          </a:xfrm>
          <a:prstGeom prst="rect">
            <a:avLst/>
          </a:prstGeom>
          <a:noFill/>
          <a:ln/>
        </p:spPr>
        <p:txBody>
          <a:bodyPr wrap="square" lIns="25400" tIns="25400" rIns="25400" bIns="25400" rtlCol="0" anchor="t">
            <a:normAutofit/>
          </a:bodyPr>
          <a:lstStyle/>
          <a:p>
            <a:pPr algn="r" indent="0" marL="0">
              <a:buNone/>
            </a:pPr>
            <a:r>
              <a:rPr lang="en-US" sz="1875" b="1" dirty="0">
                <a:solidFill>
                  <a:srgbClr val="F28B82"/>
                </a:solidFill>
                <a:latin typeface="Courier New" pitchFamily="34" charset="0"/>
                <a:ea typeface="Courier New" pitchFamily="34" charset="-122"/>
                <a:cs typeface="Courier New" pitchFamily="34" charset="-120"/>
              </a:rPr>
              <a:t>150</a:t>
            </a:r>
            <a:endParaRPr lang="en-US" sz="1875" dirty="0"/>
          </a:p>
        </p:txBody>
      </p:sp>
      <p:sp>
        <p:nvSpPr>
          <p:cNvPr id="46" name="Text 44"/>
          <p:cNvSpPr/>
          <p:nvPr/>
        </p:nvSpPr>
        <p:spPr>
          <a:xfrm>
            <a:off x="5935190" y="6542138"/>
            <a:ext cx="796263"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7,63</a:t>
            </a:r>
            <a:endParaRPr lang="en-US" sz="1875" dirty="0"/>
          </a:p>
        </p:txBody>
      </p:sp>
      <p:sp>
        <p:nvSpPr>
          <p:cNvPr id="47" name="Text 45"/>
          <p:cNvSpPr/>
          <p:nvPr/>
        </p:nvSpPr>
        <p:spPr>
          <a:xfrm>
            <a:off x="6902859" y="6542138"/>
            <a:ext cx="1001979" cy="349479"/>
          </a:xfrm>
          <a:prstGeom prst="rect">
            <a:avLst/>
          </a:prstGeom>
          <a:noFill/>
          <a:ln/>
        </p:spPr>
        <p:txBody>
          <a:bodyPr wrap="square" lIns="25400" tIns="25400" rIns="25400" bIns="25400" rtlCol="0" anchor="t">
            <a:normAutofit/>
          </a:bodyPr>
          <a:lstStyle/>
          <a:p>
            <a:pPr algn="r" indent="0" marL="0">
              <a:buNone/>
            </a:pPr>
            <a:r>
              <a:rPr lang="en-US" sz="1875" dirty="0">
                <a:solidFill>
                  <a:srgbClr val="8B93A3"/>
                </a:solidFill>
                <a:latin typeface="Courier New" pitchFamily="34" charset="0"/>
                <a:ea typeface="Courier New" pitchFamily="34" charset="-122"/>
                <a:cs typeface="Courier New" pitchFamily="34" charset="-120"/>
              </a:rPr>
              <a:t>13,76</a:t>
            </a:r>
            <a:endParaRPr lang="en-US" sz="1875" dirty="0"/>
          </a:p>
        </p:txBody>
      </p:sp>
      <p:sp>
        <p:nvSpPr>
          <p:cNvPr id="48" name="Shape 46"/>
          <p:cNvSpPr/>
          <p:nvPr/>
        </p:nvSpPr>
        <p:spPr>
          <a:xfrm>
            <a:off x="8285815" y="3141782"/>
            <a:ext cx="9087733" cy="3033999"/>
          </a:xfrm>
          <a:prstGeom prst="roundRect">
            <a:avLst>
              <a:gd name="adj" fmla="val 3767"/>
            </a:avLst>
          </a:prstGeom>
          <a:solidFill>
            <a:srgbClr val="FFFFFF"/>
          </a:solidFill>
          <a:ln/>
        </p:spPr>
      </p:sp>
      <p:pic>
        <p:nvPicPr>
          <p:cNvPr id="49" name="Image 0" descr="preencoded.png">    </p:cNvPr>
          <p:cNvPicPr>
            <a:picLocks noChangeAspect="1"/>
          </p:cNvPicPr>
          <p:nvPr/>
        </p:nvPicPr>
        <p:blipFill>
          <a:blip r:embed="rId1"/>
          <a:stretch>
            <a:fillRect/>
          </a:stretch>
        </p:blipFill>
        <p:spPr>
          <a:xfrm>
            <a:off x="8533421" y="3351235"/>
            <a:ext cx="8592520" cy="2615095"/>
          </a:xfrm>
          <a:prstGeom prst="rect">
            <a:avLst/>
          </a:prstGeom>
        </p:spPr>
      </p:pic>
      <p:sp>
        <p:nvSpPr>
          <p:cNvPr id="50" name="Text 47"/>
          <p:cNvSpPr/>
          <p:nvPr/>
        </p:nvSpPr>
        <p:spPr>
          <a:xfrm>
            <a:off x="8285815" y="6328172"/>
            <a:ext cx="9360365" cy="666683"/>
          </a:xfrm>
          <a:prstGeom prst="rect">
            <a:avLst/>
          </a:prstGeom>
          <a:noFill/>
          <a:ln/>
        </p:spPr>
        <p:txBody>
          <a:bodyPr wrap="square" lIns="25400" tIns="25400" rIns="25400" bIns="25400" rtlCol="0" anchor="t">
            <a:normAutofit/>
          </a:bodyPr>
          <a:lstStyle/>
          <a:p>
            <a:pPr algn="l" indent="0" marL="0">
              <a:lnSpc>
                <a:spcPct val="131453"/>
              </a:lnSpc>
              <a:buNone/>
            </a:pPr>
            <a:r>
              <a:rPr lang="en-US" sz="1650" dirty="0">
                <a:solidFill>
                  <a:srgbClr val="6F7787"/>
                </a:solidFill>
                <a:latin typeface="Courier New" pitchFamily="34" charset="0"/>
                <a:ea typeface="Courier New" pitchFamily="34" charset="-122"/>
                <a:cs typeface="Courier New" pitchFamily="34" charset="-120"/>
              </a:rPr>
              <a:t>Figura 8 · el umbral fijo de 200 Wh queda por encima del percentil 90 real desde marzo.</a:t>
            </a:r>
            <a:endParaRPr lang="en-US" sz="1650" dirty="0"/>
          </a:p>
        </p:txBody>
      </p:sp>
      <p:sp>
        <p:nvSpPr>
          <p:cNvPr id="51" name="Shape 48"/>
          <p:cNvSpPr/>
          <p:nvPr/>
        </p:nvSpPr>
        <p:spPr>
          <a:xfrm>
            <a:off x="914344" y="8432204"/>
            <a:ext cx="16459203" cy="1245165"/>
          </a:xfrm>
          <a:custGeom>
            <a:avLst/>
            <a:gdLst/>
            <a:ahLst/>
            <a:cxnLst/>
            <a:rect l="l" t="t" r="r" b="b"/>
            <a:pathLst>
              <a:path w="16459203" h="1245165">
                <a:moveTo>
                  <a:pt x="0" y="0"/>
                </a:moveTo>
                <a:lnTo>
                  <a:pt x="16344903" y="0"/>
                </a:lnTo>
                <a:arcTo hR="114300" wR="114300" stAng="16200000" swAng="5400000"/>
                <a:lnTo>
                  <a:pt x="16459203" y="1130865"/>
                </a:lnTo>
                <a:arcTo hR="114300" wR="114300" stAng="0" swAng="5400000"/>
                <a:lnTo>
                  <a:pt x="0" y="1245165"/>
                </a:lnTo>
                <a:lnTo>
                  <a:pt x="0" y="0"/>
                </a:lnTo>
                <a:close/>
              </a:path>
            </a:pathLst>
          </a:custGeom>
          <a:solidFill>
            <a:srgbClr val="11141A"/>
          </a:solidFill>
          <a:ln/>
        </p:spPr>
      </p:sp>
      <p:sp>
        <p:nvSpPr>
          <p:cNvPr id="52" name="Shape 49"/>
          <p:cNvSpPr/>
          <p:nvPr/>
        </p:nvSpPr>
        <p:spPr>
          <a:xfrm>
            <a:off x="914344" y="8432204"/>
            <a:ext cx="36230" cy="1245165"/>
          </a:xfrm>
          <a:prstGeom prst="rect">
            <a:avLst/>
          </a:prstGeom>
          <a:solidFill>
            <a:srgbClr val="E8710A"/>
          </a:solidFill>
          <a:ln/>
        </p:spPr>
      </p:sp>
      <p:sp>
        <p:nvSpPr>
          <p:cNvPr id="53" name="Text 50"/>
          <p:cNvSpPr/>
          <p:nvPr/>
        </p:nvSpPr>
        <p:spPr>
          <a:xfrm>
            <a:off x="1274423" y="8679854"/>
            <a:ext cx="16269050" cy="787965"/>
          </a:xfrm>
          <a:prstGeom prst="rect">
            <a:avLst/>
          </a:prstGeom>
          <a:noFill/>
          <a:ln/>
        </p:spPr>
        <p:txBody>
          <a:bodyPr wrap="square" lIns="25400" tIns="25400" rIns="25400" bIns="25400" rtlCol="0" anchor="t">
            <a:normAutofit/>
          </a:bodyPr>
          <a:lstStyle/>
          <a:p>
            <a:pPr algn="l" indent="0" marL="0">
              <a:lnSpc>
                <a:spcPct val="131453"/>
              </a:lnSpc>
              <a:buNone/>
            </a:pPr>
            <a:r>
              <a:rPr lang="en-US" sz="1950" dirty="0">
                <a:solidFill>
                  <a:srgbClr val="C9D1DE"/>
                </a:solidFill>
                <a:highlight>
                  <a:srgbClr val="11141A"/>
                </a:highlight>
                <a:latin typeface="Arial" pitchFamily="34" charset="0"/>
                <a:ea typeface="Arial" pitchFamily="34" charset="-122"/>
                <a:cs typeface="Arial" pitchFamily="34" charset="-120"/>
              </a:rPr>
              <a:t>Lo que el sistema sigue llamando «normal» ya es, en mayo, consumo alto. </a:t>
            </a:r>
            <a:pPr algn="l" indent="0" marL="0">
              <a:lnSpc>
                <a:spcPct val="131453"/>
              </a:lnSpc>
              <a:buNone/>
            </a:pPr>
            <a:r>
              <a:rPr lang="en-US" sz="1950" b="1" dirty="0">
                <a:solidFill>
                  <a:srgbClr val="FFB877"/>
                </a:solidFill>
                <a:latin typeface="Arial" pitchFamily="34" charset="0"/>
                <a:ea typeface="Arial" pitchFamily="34" charset="-122"/>
                <a:cs typeface="Arial" pitchFamily="34" charset="-120"/>
              </a:rPr>
              <a:t>No solo envejece el modelo: envejece la definición de anomalía </a:t>
            </a:r>
            <a:pPr algn="l" indent="0" marL="0">
              <a:lnSpc>
                <a:spcPct val="131453"/>
              </a:lnSpc>
              <a:buNone/>
            </a:pPr>
            <a:r>
              <a:rPr lang="en-US" sz="1950" dirty="0">
                <a:solidFill>
                  <a:srgbClr val="C9D1DE"/>
                </a:solidFill>
                <a:highlight>
                  <a:srgbClr val="11141A"/>
                </a:highlight>
                <a:latin typeface="Arial" pitchFamily="34" charset="0"/>
                <a:ea typeface="Arial" pitchFamily="34" charset="-122"/>
                <a:cs typeface="Arial" pitchFamily="34" charset="-120"/>
              </a:rPr>
              <a:t>— y el dataset ni siquiera llega al verano.</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E8710A"/>
                </a:solidFill>
                <a:latin typeface="Courier New" pitchFamily="34" charset="0"/>
                <a:ea typeface="Courier New" pitchFamily="34" charset="-122"/>
                <a:cs typeface="Courier New" pitchFamily="34" charset="-120"/>
              </a:rPr>
              <a:t>PUNTO 3 · 3.3 Y 3.4 · ¿A QUIÉN AFECTA? ¿SE PUEDE EXPLICAR?</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La brecha existe, pero medirla la cambia</a:t>
            </a:r>
            <a:endParaRPr lang="en-US" sz="4050" dirty="0"/>
          </a:p>
        </p:txBody>
      </p:sp>
      <p:sp>
        <p:nvSpPr>
          <p:cNvPr id="4" name="Shape 2"/>
          <p:cNvSpPr/>
          <p:nvPr/>
        </p:nvSpPr>
        <p:spPr>
          <a:xfrm>
            <a:off x="914344" y="1837971"/>
            <a:ext cx="8650941" cy="7839398"/>
          </a:xfrm>
          <a:prstGeom prst="roundRect">
            <a:avLst>
              <a:gd name="adj" fmla="val 1458"/>
            </a:avLst>
          </a:prstGeom>
          <a:solidFill>
            <a:srgbClr val="151920"/>
          </a:solidFill>
          <a:ln w="7246">
            <a:solidFill>
              <a:srgbClr val="232833"/>
            </a:solidFill>
            <a:prstDash val="solid"/>
          </a:ln>
        </p:spPr>
      </p:sp>
      <p:sp>
        <p:nvSpPr>
          <p:cNvPr id="5" name="Text 3"/>
          <p:cNvSpPr/>
          <p:nvPr/>
        </p:nvSpPr>
        <p:spPr>
          <a:xfrm>
            <a:off x="1226371" y="2111844"/>
            <a:ext cx="8829575" cy="248231"/>
          </a:xfrm>
          <a:prstGeom prst="rect">
            <a:avLst/>
          </a:prstGeom>
          <a:noFill/>
          <a:ln/>
        </p:spPr>
        <p:txBody>
          <a:bodyPr wrap="square" lIns="25400" tIns="25400" rIns="25400" bIns="25400" rtlCol="0" anchor="t">
            <a:normAutofit/>
          </a:bodyPr>
          <a:lstStyle/>
          <a:p>
            <a:pPr algn="l" indent="0" marL="0">
              <a:buNone/>
            </a:pPr>
            <a:r>
              <a:rPr lang="en-US" sz="1275" spc="83" kern="0" dirty="0">
                <a:solidFill>
                  <a:srgbClr val="6F7787"/>
                </a:solidFill>
                <a:latin typeface="Courier New" pitchFamily="34" charset="0"/>
                <a:ea typeface="Courier New" pitchFamily="34" charset="-122"/>
                <a:cs typeface="Courier New" pitchFamily="34" charset="-120"/>
              </a:rPr>
              <a:t>EXCLUSIÓN POR ASIMETRÍA DE DATOS</a:t>
            </a:r>
            <a:endParaRPr lang="en-US" sz="1275" dirty="0"/>
          </a:p>
        </p:txBody>
      </p:sp>
      <p:sp>
        <p:nvSpPr>
          <p:cNvPr id="6" name="Text 4"/>
          <p:cNvSpPr/>
          <p:nvPr/>
        </p:nvSpPr>
        <p:spPr>
          <a:xfrm>
            <a:off x="1226371" y="2474366"/>
            <a:ext cx="8267693" cy="1455129"/>
          </a:xfrm>
          <a:prstGeom prst="rect">
            <a:avLst/>
          </a:prstGeom>
          <a:noFill/>
          <a:ln/>
        </p:spPr>
        <p:txBody>
          <a:bodyPr wrap="square" lIns="25400" tIns="25400" rIns="25400" bIns="25400" rtlCol="0" anchor="t">
            <a:normAutofit/>
          </a:bodyPr>
          <a:lstStyle/>
          <a:p>
            <a:pPr algn="l" indent="0" marL="0">
              <a:lnSpc>
                <a:spcPct val="132164"/>
              </a:lnSpc>
              <a:buNone/>
            </a:pPr>
            <a:r>
              <a:rPr lang="en-US" sz="1800" dirty="0">
                <a:solidFill>
                  <a:srgbClr val="C9D1DE"/>
                </a:solidFill>
                <a:latin typeface="Arial" pitchFamily="34" charset="0"/>
                <a:ea typeface="Arial" pitchFamily="34" charset="-122"/>
                <a:cs typeface="Arial" pitchFamily="34" charset="-120"/>
              </a:rPr>
              <a:t>Los sensores interiores concentran el </a:t>
            </a:r>
            <a:pPr algn="l" indent="0" marL="0">
              <a:lnSpc>
                <a:spcPct val="132164"/>
              </a:lnSpc>
              <a:buNone/>
            </a:pPr>
            <a:r>
              <a:rPr lang="en-US" sz="1800" b="1" dirty="0">
                <a:solidFill>
                  <a:srgbClr val="E6E9EF"/>
                </a:solidFill>
                <a:latin typeface="Arial" pitchFamily="34" charset="0"/>
                <a:ea typeface="Arial" pitchFamily="34" charset="-122"/>
                <a:cs typeface="Arial" pitchFamily="34" charset="-120"/>
              </a:rPr>
              <a:t>60,7 % </a:t>
            </a:r>
            <a:pPr algn="l" indent="0" marL="0">
              <a:lnSpc>
                <a:spcPct val="132164"/>
              </a:lnSpc>
              <a:buNone/>
            </a:pPr>
            <a:r>
              <a:rPr lang="en-US" sz="1800" dirty="0">
                <a:solidFill>
                  <a:srgbClr val="C9D1DE"/>
                </a:solidFill>
                <a:latin typeface="Arial" pitchFamily="34" charset="0"/>
                <a:ea typeface="Arial" pitchFamily="34" charset="-122"/>
                <a:cs typeface="Arial" pitchFamily="34" charset="-120"/>
              </a:rPr>
              <a:t>de la importancia del modelo. La lectura inmediata sería que un hogar con menos instrumentación recibe recomendaciones mucho peores. Antes de firmar esa conclusión, la medimos: se reentrenó todo sin los 18 sensores interiores y sin clima salvo T_out.</a:t>
            </a:r>
            <a:endParaRPr lang="en-US" sz="1800" dirty="0"/>
          </a:p>
        </p:txBody>
      </p:sp>
      <p:sp>
        <p:nvSpPr>
          <p:cNvPr id="7" name="Shape 5"/>
          <p:cNvSpPr/>
          <p:nvPr/>
        </p:nvSpPr>
        <p:spPr>
          <a:xfrm>
            <a:off x="1226371" y="4463369"/>
            <a:ext cx="5158524" cy="9525"/>
          </a:xfrm>
          <a:prstGeom prst="rect">
            <a:avLst/>
          </a:prstGeom>
          <a:solidFill>
            <a:srgbClr val="2C323E"/>
          </a:solidFill>
          <a:ln/>
        </p:spPr>
      </p:sp>
      <p:sp>
        <p:nvSpPr>
          <p:cNvPr id="8" name="Text 6"/>
          <p:cNvSpPr/>
          <p:nvPr/>
        </p:nvSpPr>
        <p:spPr>
          <a:xfrm>
            <a:off x="1226371" y="4139001"/>
            <a:ext cx="5313279" cy="248168"/>
          </a:xfrm>
          <a:prstGeom prst="rect">
            <a:avLst/>
          </a:prstGeom>
          <a:noFill/>
          <a:ln/>
        </p:spPr>
        <p:txBody>
          <a:bodyPr wrap="square" lIns="25400" tIns="25400" rIns="25400" bIns="25400" rtlCol="0" anchor="t">
            <a:normAutofit/>
          </a:bodyPr>
          <a:lstStyle/>
          <a:p>
            <a:pPr algn="l" indent="0" marL="0">
              <a:buNone/>
            </a:pPr>
            <a:r>
              <a:rPr lang="en-US" sz="1275" dirty="0">
                <a:solidFill>
                  <a:srgbClr val="6F7787"/>
                </a:solidFill>
                <a:latin typeface="Courier New" pitchFamily="34" charset="0"/>
                <a:ea typeface="Courier New" pitchFamily="34" charset="-122"/>
                <a:cs typeface="Courier New" pitchFamily="34" charset="-120"/>
              </a:rPr>
              <a:t>CONFIGURACIÓN</a:t>
            </a:r>
            <a:endParaRPr lang="en-US" sz="1275" dirty="0"/>
          </a:p>
        </p:txBody>
      </p:sp>
      <p:sp>
        <p:nvSpPr>
          <p:cNvPr id="9" name="Shape 7"/>
          <p:cNvSpPr/>
          <p:nvPr/>
        </p:nvSpPr>
        <p:spPr>
          <a:xfrm>
            <a:off x="6613480" y="4463369"/>
            <a:ext cx="388562" cy="9525"/>
          </a:xfrm>
          <a:prstGeom prst="rect">
            <a:avLst/>
          </a:prstGeom>
          <a:solidFill>
            <a:srgbClr val="2C323E"/>
          </a:solidFill>
          <a:ln/>
        </p:spPr>
      </p:sp>
      <p:sp>
        <p:nvSpPr>
          <p:cNvPr id="10" name="Text 8"/>
          <p:cNvSpPr/>
          <p:nvPr/>
        </p:nvSpPr>
        <p:spPr>
          <a:xfrm>
            <a:off x="6537280" y="4139001"/>
            <a:ext cx="464762" cy="248168"/>
          </a:xfrm>
          <a:prstGeom prst="rect">
            <a:avLst/>
          </a:prstGeom>
          <a:noFill/>
          <a:ln/>
        </p:spPr>
        <p:txBody>
          <a:bodyPr wrap="square" lIns="25400" tIns="25400" rIns="25400" bIns="25400" rtlCol="0" anchor="t">
            <a:normAutofit/>
          </a:bodyPr>
          <a:lstStyle/>
          <a:p>
            <a:pPr algn="r" indent="0" marL="0">
              <a:buNone/>
            </a:pPr>
            <a:r>
              <a:rPr lang="en-US" sz="1275" dirty="0">
                <a:solidFill>
                  <a:srgbClr val="6F7787"/>
                </a:solidFill>
                <a:latin typeface="Courier New" pitchFamily="34" charset="0"/>
                <a:ea typeface="Courier New" pitchFamily="34" charset="-122"/>
                <a:cs typeface="Courier New" pitchFamily="34" charset="-120"/>
              </a:rPr>
              <a:t>VARS</a:t>
            </a:r>
            <a:endParaRPr lang="en-US" sz="1275" dirty="0"/>
          </a:p>
        </p:txBody>
      </p:sp>
      <p:sp>
        <p:nvSpPr>
          <p:cNvPr id="11" name="Shape 9"/>
          <p:cNvSpPr/>
          <p:nvPr/>
        </p:nvSpPr>
        <p:spPr>
          <a:xfrm>
            <a:off x="7230628" y="4463369"/>
            <a:ext cx="971292" cy="9525"/>
          </a:xfrm>
          <a:prstGeom prst="rect">
            <a:avLst/>
          </a:prstGeom>
          <a:solidFill>
            <a:srgbClr val="2C323E"/>
          </a:solidFill>
          <a:ln/>
        </p:spPr>
      </p:sp>
      <p:sp>
        <p:nvSpPr>
          <p:cNvPr id="12" name="Text 10"/>
          <p:cNvSpPr/>
          <p:nvPr/>
        </p:nvSpPr>
        <p:spPr>
          <a:xfrm>
            <a:off x="7154428" y="4139001"/>
            <a:ext cx="1047492" cy="248168"/>
          </a:xfrm>
          <a:prstGeom prst="rect">
            <a:avLst/>
          </a:prstGeom>
          <a:noFill/>
          <a:ln/>
        </p:spPr>
        <p:txBody>
          <a:bodyPr wrap="square" lIns="25400" tIns="25400" rIns="25400" bIns="25400" rtlCol="0" anchor="t">
            <a:normAutofit/>
          </a:bodyPr>
          <a:lstStyle/>
          <a:p>
            <a:pPr algn="r" indent="0" marL="0">
              <a:buNone/>
            </a:pPr>
            <a:r>
              <a:rPr lang="en-US" sz="1275" dirty="0">
                <a:solidFill>
                  <a:srgbClr val="6F7787"/>
                </a:solidFill>
                <a:latin typeface="Courier New" pitchFamily="34" charset="0"/>
                <a:ea typeface="Courier New" pitchFamily="34" charset="-122"/>
                <a:cs typeface="Courier New" pitchFamily="34" charset="-120"/>
              </a:rPr>
              <a:t>DETECTADOS</a:t>
            </a:r>
            <a:endParaRPr lang="en-US" sz="1275" dirty="0"/>
          </a:p>
        </p:txBody>
      </p:sp>
      <p:sp>
        <p:nvSpPr>
          <p:cNvPr id="13" name="Shape 11"/>
          <p:cNvSpPr/>
          <p:nvPr/>
        </p:nvSpPr>
        <p:spPr>
          <a:xfrm>
            <a:off x="8430506" y="4463369"/>
            <a:ext cx="822751" cy="9525"/>
          </a:xfrm>
          <a:prstGeom prst="rect">
            <a:avLst/>
          </a:prstGeom>
          <a:solidFill>
            <a:srgbClr val="2C323E"/>
          </a:solidFill>
          <a:ln/>
        </p:spPr>
      </p:sp>
      <p:sp>
        <p:nvSpPr>
          <p:cNvPr id="14" name="Text 12"/>
          <p:cNvSpPr/>
          <p:nvPr/>
        </p:nvSpPr>
        <p:spPr>
          <a:xfrm>
            <a:off x="8354306" y="4139001"/>
            <a:ext cx="898951" cy="248168"/>
          </a:xfrm>
          <a:prstGeom prst="rect">
            <a:avLst/>
          </a:prstGeom>
          <a:noFill/>
          <a:ln/>
        </p:spPr>
        <p:txBody>
          <a:bodyPr wrap="square" lIns="25400" tIns="25400" rIns="25400" bIns="25400" rtlCol="0" anchor="t">
            <a:normAutofit/>
          </a:bodyPr>
          <a:lstStyle/>
          <a:p>
            <a:pPr algn="r" indent="0" marL="0">
              <a:buNone/>
            </a:pPr>
            <a:r>
              <a:rPr lang="en-US" sz="1275" dirty="0">
                <a:solidFill>
                  <a:srgbClr val="6F7787"/>
                </a:solidFill>
                <a:latin typeface="Courier New" pitchFamily="34" charset="0"/>
                <a:ea typeface="Courier New" pitchFamily="34" charset="-122"/>
                <a:cs typeface="Courier New" pitchFamily="34" charset="-120"/>
              </a:rPr>
              <a:t>R² SIM.</a:t>
            </a:r>
            <a:endParaRPr lang="en-US" sz="1275" dirty="0"/>
          </a:p>
        </p:txBody>
      </p:sp>
      <p:sp>
        <p:nvSpPr>
          <p:cNvPr id="15" name="Shape 13"/>
          <p:cNvSpPr/>
          <p:nvPr/>
        </p:nvSpPr>
        <p:spPr>
          <a:xfrm>
            <a:off x="1226371" y="5110520"/>
            <a:ext cx="5158524" cy="9525"/>
          </a:xfrm>
          <a:prstGeom prst="rect">
            <a:avLst/>
          </a:prstGeom>
          <a:solidFill>
            <a:srgbClr val="1C212A"/>
          </a:solidFill>
          <a:ln/>
        </p:spPr>
      </p:sp>
      <p:sp>
        <p:nvSpPr>
          <p:cNvPr id="16" name="Text 14"/>
          <p:cNvSpPr/>
          <p:nvPr/>
        </p:nvSpPr>
        <p:spPr>
          <a:xfrm>
            <a:off x="1226371" y="4642065"/>
            <a:ext cx="5313279" cy="335105"/>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Hogar instrumentado</a:t>
            </a:r>
            <a:endParaRPr lang="en-US" sz="1800" dirty="0"/>
          </a:p>
        </p:txBody>
      </p:sp>
      <p:sp>
        <p:nvSpPr>
          <p:cNvPr id="17" name="Shape 15"/>
          <p:cNvSpPr/>
          <p:nvPr/>
        </p:nvSpPr>
        <p:spPr>
          <a:xfrm>
            <a:off x="6613480" y="5110520"/>
            <a:ext cx="388562" cy="9525"/>
          </a:xfrm>
          <a:prstGeom prst="rect">
            <a:avLst/>
          </a:prstGeom>
          <a:solidFill>
            <a:srgbClr val="1C212A"/>
          </a:solidFill>
          <a:ln/>
        </p:spPr>
      </p:sp>
      <p:sp>
        <p:nvSpPr>
          <p:cNvPr id="18" name="Text 16"/>
          <p:cNvSpPr/>
          <p:nvPr/>
        </p:nvSpPr>
        <p:spPr>
          <a:xfrm>
            <a:off x="6537280" y="4642065"/>
            <a:ext cx="464762" cy="33510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36</a:t>
            </a:r>
            <a:endParaRPr lang="en-US" sz="1800" dirty="0"/>
          </a:p>
        </p:txBody>
      </p:sp>
      <p:sp>
        <p:nvSpPr>
          <p:cNvPr id="19" name="Shape 17"/>
          <p:cNvSpPr/>
          <p:nvPr/>
        </p:nvSpPr>
        <p:spPr>
          <a:xfrm>
            <a:off x="7230628" y="5110520"/>
            <a:ext cx="971292" cy="9525"/>
          </a:xfrm>
          <a:prstGeom prst="rect">
            <a:avLst/>
          </a:prstGeom>
          <a:solidFill>
            <a:srgbClr val="1C212A"/>
          </a:solidFill>
          <a:ln/>
        </p:spPr>
      </p:sp>
      <p:sp>
        <p:nvSpPr>
          <p:cNvPr id="20" name="Text 18"/>
          <p:cNvSpPr/>
          <p:nvPr/>
        </p:nvSpPr>
        <p:spPr>
          <a:xfrm>
            <a:off x="7154428" y="4642065"/>
            <a:ext cx="1047492" cy="335105"/>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86,9 %</a:t>
            </a:r>
            <a:endParaRPr lang="en-US" sz="1800" dirty="0"/>
          </a:p>
        </p:txBody>
      </p:sp>
      <p:sp>
        <p:nvSpPr>
          <p:cNvPr id="21" name="Shape 19"/>
          <p:cNvSpPr/>
          <p:nvPr/>
        </p:nvSpPr>
        <p:spPr>
          <a:xfrm>
            <a:off x="8430506" y="5110520"/>
            <a:ext cx="822751" cy="9525"/>
          </a:xfrm>
          <a:prstGeom prst="rect">
            <a:avLst/>
          </a:prstGeom>
          <a:solidFill>
            <a:srgbClr val="1C212A"/>
          </a:solidFill>
          <a:ln/>
        </p:spPr>
      </p:sp>
      <p:sp>
        <p:nvSpPr>
          <p:cNvPr id="22" name="Text 20"/>
          <p:cNvSpPr/>
          <p:nvPr/>
        </p:nvSpPr>
        <p:spPr>
          <a:xfrm>
            <a:off x="8354306" y="4642065"/>
            <a:ext cx="898951" cy="335105"/>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+0,557</a:t>
            </a:r>
            <a:endParaRPr lang="en-US" sz="1800" dirty="0"/>
          </a:p>
        </p:txBody>
      </p:sp>
      <p:sp>
        <p:nvSpPr>
          <p:cNvPr id="23" name="Text 21"/>
          <p:cNvSpPr/>
          <p:nvPr/>
        </p:nvSpPr>
        <p:spPr>
          <a:xfrm>
            <a:off x="1226371" y="5289216"/>
            <a:ext cx="5313279" cy="335105"/>
          </a:xfrm>
          <a:prstGeom prst="rect">
            <a:avLst/>
          </a:prstGeom>
          <a:noFill/>
          <a:ln/>
        </p:spPr>
        <p:txBody>
          <a:bodyPr wrap="square" lIns="25400" tIns="25400" rIns="25400" bIns="25400" rtlCol="0" anchor="t">
            <a:normAutofit/>
          </a:bodyPr>
          <a:lstStyle/>
          <a:p>
            <a:pPr algn="l" indent="0" marL="0">
              <a:buNone/>
            </a:pPr>
            <a:r>
              <a:rPr lang="en-US" sz="1800" dirty="0">
                <a:solidFill>
                  <a:srgbClr val="C9D1DE"/>
                </a:solidFill>
                <a:latin typeface="Arial" pitchFamily="34" charset="0"/>
                <a:ea typeface="Arial" pitchFamily="34" charset="-122"/>
                <a:cs typeface="Arial" pitchFamily="34" charset="-120"/>
              </a:rPr>
              <a:t>Hogar con pocos sensores</a:t>
            </a:r>
            <a:endParaRPr lang="en-US" sz="1800" dirty="0"/>
          </a:p>
        </p:txBody>
      </p:sp>
      <p:sp>
        <p:nvSpPr>
          <p:cNvPr id="24" name="Text 22"/>
          <p:cNvSpPr/>
          <p:nvPr/>
        </p:nvSpPr>
        <p:spPr>
          <a:xfrm>
            <a:off x="6537280" y="5289216"/>
            <a:ext cx="464762" cy="335105"/>
          </a:xfrm>
          <a:prstGeom prst="rect">
            <a:avLst/>
          </a:prstGeom>
          <a:noFill/>
          <a:ln/>
        </p:spPr>
        <p:txBody>
          <a:bodyPr wrap="squar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13</a:t>
            </a:r>
            <a:endParaRPr lang="en-US" sz="1800" dirty="0"/>
          </a:p>
        </p:txBody>
      </p:sp>
      <p:sp>
        <p:nvSpPr>
          <p:cNvPr id="25" name="Text 23"/>
          <p:cNvSpPr/>
          <p:nvPr/>
        </p:nvSpPr>
        <p:spPr>
          <a:xfrm>
            <a:off x="7154428" y="5289216"/>
            <a:ext cx="1047492" cy="335105"/>
          </a:xfrm>
          <a:prstGeom prst="rect">
            <a:avLst/>
          </a:prstGeom>
          <a:noFill/>
          <a:ln/>
        </p:spPr>
        <p:txBody>
          <a:bodyPr wrap="squar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77,4 %</a:t>
            </a:r>
            <a:endParaRPr lang="en-US" sz="1800" dirty="0"/>
          </a:p>
        </p:txBody>
      </p:sp>
      <p:sp>
        <p:nvSpPr>
          <p:cNvPr id="26" name="Text 24"/>
          <p:cNvSpPr/>
          <p:nvPr/>
        </p:nvSpPr>
        <p:spPr>
          <a:xfrm>
            <a:off x="8354306" y="5289216"/>
            <a:ext cx="898951" cy="335105"/>
          </a:xfrm>
          <a:prstGeom prst="rect">
            <a:avLst/>
          </a:prstGeom>
          <a:noFill/>
          <a:ln/>
        </p:spPr>
        <p:txBody>
          <a:bodyPr wrap="squar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+0,560</a:t>
            </a:r>
            <a:endParaRPr lang="en-US" sz="1800" dirty="0"/>
          </a:p>
        </p:txBody>
      </p:sp>
      <p:sp>
        <p:nvSpPr>
          <p:cNvPr id="27" name="Text 25"/>
          <p:cNvSpPr/>
          <p:nvPr/>
        </p:nvSpPr>
        <p:spPr>
          <a:xfrm>
            <a:off x="1226371" y="8067629"/>
            <a:ext cx="8267693" cy="1373967"/>
          </a:xfrm>
          <a:prstGeom prst="rect">
            <a:avLst/>
          </a:prstGeom>
          <a:noFill/>
          <a:ln/>
        </p:spPr>
        <p:txBody>
          <a:bodyPr wrap="square" lIns="25400" tIns="25400" rIns="25400" bIns="25400" rtlCol="0" anchor="t">
            <a:normAutofit/>
          </a:bodyPr>
          <a:lstStyle/>
          <a:p>
            <a:pPr algn="l" indent="0" marL="0">
              <a:lnSpc>
                <a:spcPct val="133387"/>
              </a:lnSpc>
              <a:buNone/>
            </a:pPr>
            <a:r>
              <a:rPr lang="en-US" sz="1725" dirty="0">
                <a:solidFill>
                  <a:srgbClr val="C9D1DE"/>
                </a:solidFill>
                <a:latin typeface="Arial" pitchFamily="34" charset="0"/>
                <a:ea typeface="Arial" pitchFamily="34" charset="-122"/>
                <a:cs typeface="Arial" pitchFamily="34" charset="-120"/>
              </a:rPr>
              <a:t>La cobertura baja 9,5 puntos, pero </a:t>
            </a:r>
            <a:pPr algn="l" indent="0" marL="0">
              <a:lnSpc>
                <a:spcPct val="133387"/>
              </a:lnSpc>
              <a:buNone/>
            </a:pPr>
            <a:r>
              <a:rPr lang="en-US" sz="1725" b="1" dirty="0">
                <a:solidFill>
                  <a:srgbClr val="7BD992"/>
                </a:solidFill>
                <a:latin typeface="Arial" pitchFamily="34" charset="0"/>
                <a:ea typeface="Arial" pitchFamily="34" charset="-122"/>
                <a:cs typeface="Arial" pitchFamily="34" charset="-120"/>
              </a:rPr>
              <a:t>el simulador no se degrada en absoluto </a:t>
            </a:r>
            <a:pPr algn="l" indent="0" marL="0">
              <a:lnSpc>
                <a:spcPct val="133387"/>
              </a:lnSpc>
              <a:buNone/>
            </a:pPr>
            <a:r>
              <a:rPr lang="en-US" sz="1725" dirty="0">
                <a:solidFill>
                  <a:srgbClr val="C9D1DE"/>
                </a:solidFill>
                <a:latin typeface="Arial" pitchFamily="34" charset="0"/>
                <a:ea typeface="Arial" pitchFamily="34" charset="-122"/>
                <a:cs typeface="Arial" pitchFamily="34" charset="-120"/>
              </a:rPr>
              <a:t>: el consumo reciente ya contenía casi toda la información que las temperaturas interiores aportaban. Ese 60,7 % mide cuánto </a:t>
            </a:r>
            <a:pPr algn="l" indent="0" marL="0">
              <a:lnSpc>
                <a:spcPct val="133387"/>
              </a:lnSpc>
              <a:buNone/>
            </a:pPr>
            <a:r>
              <a:rPr lang="en-US" sz="1725" i="1" dirty="0">
                <a:solidFill>
                  <a:srgbClr val="C9D1DE"/>
                </a:solidFill>
                <a:latin typeface="Arial" pitchFamily="34" charset="0"/>
                <a:ea typeface="Arial" pitchFamily="34" charset="-122"/>
                <a:cs typeface="Arial" pitchFamily="34" charset="-120"/>
              </a:rPr>
              <a:t>usa </a:t>
            </a:r>
            <a:pPr algn="l" indent="0" marL="0">
              <a:lnSpc>
                <a:spcPct val="133387"/>
              </a:lnSpc>
              <a:buNone/>
            </a:pPr>
            <a:r>
              <a:rPr lang="en-US" sz="1725" dirty="0">
                <a:solidFill>
                  <a:srgbClr val="C9D1DE"/>
                </a:solidFill>
                <a:latin typeface="Arial" pitchFamily="34" charset="0"/>
                <a:ea typeface="Arial" pitchFamily="34" charset="-122"/>
                <a:cs typeface="Arial" pitchFamily="34" charset="-120"/>
              </a:rPr>
              <a:t>el bosque esas variables, no cuánto </a:t>
            </a:r>
            <a:pPr algn="l" indent="0" marL="0">
              <a:lnSpc>
                <a:spcPct val="133387"/>
              </a:lnSpc>
              <a:buNone/>
            </a:pPr>
            <a:r>
              <a:rPr lang="en-US" sz="1725" i="1" dirty="0">
                <a:solidFill>
                  <a:srgbClr val="C9D1DE"/>
                </a:solidFill>
                <a:latin typeface="Arial" pitchFamily="34" charset="0"/>
                <a:ea typeface="Arial" pitchFamily="34" charset="-122"/>
                <a:cs typeface="Arial" pitchFamily="34" charset="-120"/>
              </a:rPr>
              <a:t>necesita </a:t>
            </a:r>
            <a:pPr algn="l" indent="0" marL="0">
              <a:lnSpc>
                <a:spcPct val="133387"/>
              </a:lnSpc>
              <a:buNone/>
            </a:pPr>
            <a:r>
              <a:rPr lang="en-US" sz="1725" dirty="0">
                <a:solidFill>
                  <a:srgbClr val="C9D1DE"/>
                </a:solidFill>
                <a:latin typeface="Arial" pitchFamily="34" charset="0"/>
                <a:ea typeface="Arial" pitchFamily="34" charset="-122"/>
                <a:cs typeface="Arial" pitchFamily="34" charset="-120"/>
              </a:rPr>
              <a:t>de ellas.</a:t>
            </a:r>
            <a:endParaRPr lang="en-US" sz="1725" dirty="0"/>
          </a:p>
        </p:txBody>
      </p:sp>
      <p:sp>
        <p:nvSpPr>
          <p:cNvPr id="28" name="Shape 26"/>
          <p:cNvSpPr/>
          <p:nvPr/>
        </p:nvSpPr>
        <p:spPr>
          <a:xfrm>
            <a:off x="9850931" y="1837971"/>
            <a:ext cx="7522502" cy="3034226"/>
          </a:xfrm>
          <a:prstGeom prst="roundRect">
            <a:avLst>
              <a:gd name="adj" fmla="val 3767"/>
            </a:avLst>
          </a:prstGeom>
          <a:solidFill>
            <a:srgbClr val="151920"/>
          </a:solidFill>
          <a:ln w="7246">
            <a:solidFill>
              <a:srgbClr val="232833"/>
            </a:solidFill>
            <a:prstDash val="solid"/>
          </a:ln>
        </p:spPr>
      </p:sp>
      <p:sp>
        <p:nvSpPr>
          <p:cNvPr id="29" name="Text 27"/>
          <p:cNvSpPr/>
          <p:nvPr/>
        </p:nvSpPr>
        <p:spPr>
          <a:xfrm>
            <a:off x="10124804" y="2073803"/>
            <a:ext cx="7672233" cy="248231"/>
          </a:xfrm>
          <a:prstGeom prst="rect">
            <a:avLst/>
          </a:prstGeom>
          <a:noFill/>
          <a:ln/>
        </p:spPr>
        <p:txBody>
          <a:bodyPr wrap="square" lIns="25400" tIns="25400" rIns="25400" bIns="25400" rtlCol="0" anchor="t">
            <a:normAutofit/>
          </a:bodyPr>
          <a:lstStyle/>
          <a:p>
            <a:pPr algn="l" indent="0" marL="0">
              <a:buNone/>
            </a:pPr>
            <a:r>
              <a:rPr lang="en-US" sz="1275" spc="83" kern="0" dirty="0">
                <a:solidFill>
                  <a:srgbClr val="6F7787"/>
                </a:solidFill>
                <a:latin typeface="Courier New" pitchFamily="34" charset="0"/>
                <a:ea typeface="Courier New" pitchFamily="34" charset="-122"/>
                <a:cs typeface="Courier New" pitchFamily="34" charset="-120"/>
              </a:rPr>
              <a:t>SESGO DE REPRESENTATIVIDAD</a:t>
            </a:r>
            <a:endParaRPr lang="en-US" sz="1275" dirty="0"/>
          </a:p>
        </p:txBody>
      </p:sp>
      <p:sp>
        <p:nvSpPr>
          <p:cNvPr id="30" name="Text 28"/>
          <p:cNvSpPr/>
          <p:nvPr/>
        </p:nvSpPr>
        <p:spPr>
          <a:xfrm>
            <a:off x="10124804" y="2398171"/>
            <a:ext cx="7184000" cy="1005316"/>
          </a:xfrm>
          <a:prstGeom prst="rect">
            <a:avLst/>
          </a:prstGeom>
          <a:noFill/>
          <a:ln/>
        </p:spPr>
        <p:txBody>
          <a:bodyPr wrap="square" lIns="25400" tIns="25400" rIns="25400" bIns="25400" rtlCol="0" anchor="t">
            <a:normAutofit/>
          </a:bodyPr>
          <a:lstStyle/>
          <a:p>
            <a:pPr algn="l" indent="0" marL="0">
              <a:lnSpc>
                <a:spcPct val="128940"/>
              </a:lnSpc>
              <a:buNone/>
            </a:pPr>
            <a:r>
              <a:rPr lang="en-US" sz="1725" dirty="0">
                <a:solidFill>
                  <a:srgbClr val="C9D1DE"/>
                </a:solidFill>
                <a:latin typeface="Arial" pitchFamily="34" charset="0"/>
                <a:ea typeface="Arial" pitchFamily="34" charset="-122"/>
                <a:cs typeface="Arial" pitchFamily="34" charset="-120"/>
              </a:rPr>
              <a:t>Todo lo que este proyecto sabe viene de </a:t>
            </a:r>
            <a:pPr algn="l" indent="0" marL="0">
              <a:lnSpc>
                <a:spcPct val="128940"/>
              </a:lnSpc>
              <a:buNone/>
            </a:pPr>
            <a:r>
              <a:rPr lang="en-US" sz="1725" b="1" dirty="0">
                <a:solidFill>
                  <a:srgbClr val="E6E9EF"/>
                </a:solidFill>
                <a:latin typeface="Arial" pitchFamily="34" charset="0"/>
                <a:ea typeface="Arial" pitchFamily="34" charset="-122"/>
                <a:cs typeface="Arial" pitchFamily="34" charset="-120"/>
              </a:rPr>
              <a:t>una vivienda de Bélgica durante 137 días </a:t>
            </a:r>
            <a:pPr algn="l" indent="0" marL="0">
              <a:lnSpc>
                <a:spcPct val="128940"/>
              </a:lnSpc>
              <a:buNone/>
            </a:pPr>
            <a:r>
              <a:rPr lang="en-US" sz="1725" dirty="0">
                <a:solidFill>
                  <a:srgbClr val="C9D1DE"/>
                </a:solidFill>
                <a:latin typeface="Arial" pitchFamily="34" charset="0"/>
                <a:ea typeface="Arial" pitchFamily="34" charset="-122"/>
                <a:cs typeface="Arial" pitchFamily="34" charset="-120"/>
              </a:rPr>
              <a:t>. El modelo ni siquiera generaliza al quinto mes de la misma casa.</a:t>
            </a:r>
            <a:endParaRPr lang="en-US" sz="1725" dirty="0"/>
          </a:p>
        </p:txBody>
      </p:sp>
      <p:sp>
        <p:nvSpPr>
          <p:cNvPr id="31" name="Text 29"/>
          <p:cNvSpPr/>
          <p:nvPr/>
        </p:nvSpPr>
        <p:spPr>
          <a:xfrm>
            <a:off x="10124804" y="3479623"/>
            <a:ext cx="7184000" cy="956633"/>
          </a:xfrm>
          <a:prstGeom prst="rect">
            <a:avLst/>
          </a:prstGeom>
          <a:noFill/>
          <a:ln/>
        </p:spPr>
        <p:txBody>
          <a:bodyPr wrap="square" lIns="25400" tIns="25400" rIns="25400" bIns="25400" rtlCol="0" anchor="t">
            <a:normAutofit/>
          </a:bodyPr>
          <a:lstStyle/>
          <a:p>
            <a:pPr algn="l" indent="0" marL="0">
              <a:lnSpc>
                <a:spcPct val="127072"/>
              </a:lnSpc>
              <a:buNone/>
            </a:pPr>
            <a:r>
              <a:rPr lang="en-US" sz="1650" b="1" dirty="0">
                <a:solidFill>
                  <a:srgbClr val="FFB877"/>
                </a:solidFill>
                <a:latin typeface="Arial" pitchFamily="34" charset="0"/>
                <a:ea typeface="Arial" pitchFamily="34" charset="-122"/>
                <a:cs typeface="Arial" pitchFamily="34" charset="-120"/>
              </a:rPr>
              <a:t>Mitigación: </a:t>
            </a:r>
            <a:pPr algn="l" indent="0" marL="0">
              <a:lnSpc>
                <a:spcPct val="127072"/>
              </a:lnSpc>
              <a:buNone/>
            </a:pPr>
            <a:r>
              <a:rPr lang="en-US" sz="1650" dirty="0">
                <a:solidFill>
                  <a:srgbClr val="8B93A3"/>
                </a:solidFill>
                <a:latin typeface="Arial" pitchFamily="34" charset="0"/>
                <a:ea typeface="Arial" pitchFamily="34" charset="-122"/>
                <a:cs typeface="Arial" pitchFamily="34" charset="-120"/>
              </a:rPr>
              <a:t>incorporar UCI Household (#235) para medir la caída al cambiar de vivienda, y presentar toda cifra de ahorro como simulada — nunca como promesa.</a:t>
            </a:r>
            <a:endParaRPr lang="en-US" sz="1650" dirty="0"/>
          </a:p>
        </p:txBody>
      </p:sp>
      <p:sp>
        <p:nvSpPr>
          <p:cNvPr id="32" name="Shape 30"/>
          <p:cNvSpPr/>
          <p:nvPr/>
        </p:nvSpPr>
        <p:spPr>
          <a:xfrm>
            <a:off x="9850931" y="5024587"/>
            <a:ext cx="7522502" cy="3034226"/>
          </a:xfrm>
          <a:prstGeom prst="roundRect">
            <a:avLst>
              <a:gd name="adj" fmla="val 3767"/>
            </a:avLst>
          </a:prstGeom>
          <a:solidFill>
            <a:srgbClr val="151920"/>
          </a:solidFill>
          <a:ln w="7246">
            <a:solidFill>
              <a:srgbClr val="232833"/>
            </a:solidFill>
            <a:prstDash val="solid"/>
          </a:ln>
        </p:spPr>
      </p:sp>
      <p:sp>
        <p:nvSpPr>
          <p:cNvPr id="33" name="Text 31"/>
          <p:cNvSpPr/>
          <p:nvPr/>
        </p:nvSpPr>
        <p:spPr>
          <a:xfrm>
            <a:off x="10124804" y="5260420"/>
            <a:ext cx="7672233" cy="248231"/>
          </a:xfrm>
          <a:prstGeom prst="rect">
            <a:avLst/>
          </a:prstGeom>
          <a:noFill/>
          <a:ln/>
        </p:spPr>
        <p:txBody>
          <a:bodyPr wrap="square" lIns="25400" tIns="25400" rIns="25400" bIns="25400" rtlCol="0" anchor="t">
            <a:normAutofit/>
          </a:bodyPr>
          <a:lstStyle/>
          <a:p>
            <a:pPr algn="l" indent="0" marL="0">
              <a:buNone/>
            </a:pPr>
            <a:r>
              <a:rPr lang="en-US" sz="1275" spc="83" kern="0" dirty="0">
                <a:solidFill>
                  <a:srgbClr val="6F7787"/>
                </a:solidFill>
                <a:latin typeface="Courier New" pitchFamily="34" charset="0"/>
                <a:ea typeface="Courier New" pitchFamily="34" charset="-122"/>
                <a:cs typeface="Courier New" pitchFamily="34" charset="-120"/>
              </a:rPr>
              <a:t>¿SE PUEDE EXPLICAR LA DECISIÓN?</a:t>
            </a:r>
            <a:endParaRPr lang="en-US" sz="1275" dirty="0"/>
          </a:p>
        </p:txBody>
      </p:sp>
      <p:sp>
        <p:nvSpPr>
          <p:cNvPr id="34" name="Text 32"/>
          <p:cNvSpPr/>
          <p:nvPr/>
        </p:nvSpPr>
        <p:spPr>
          <a:xfrm>
            <a:off x="10124804" y="5584787"/>
            <a:ext cx="7184000" cy="990824"/>
          </a:xfrm>
          <a:prstGeom prst="rect">
            <a:avLst/>
          </a:prstGeom>
          <a:noFill/>
          <a:ln/>
        </p:spPr>
        <p:txBody>
          <a:bodyPr wrap="square" lIns="25400" tIns="25400" rIns="25400" bIns="25400" rtlCol="0" anchor="t">
            <a:normAutofit/>
          </a:bodyPr>
          <a:lstStyle/>
          <a:p>
            <a:pPr algn="l" indent="0" marL="0">
              <a:lnSpc>
                <a:spcPct val="128940"/>
              </a:lnSpc>
              <a:buNone/>
            </a:pPr>
            <a:r>
              <a:rPr lang="en-US" sz="1725" dirty="0">
                <a:solidFill>
                  <a:srgbClr val="C9D1DE"/>
                </a:solidFill>
                <a:latin typeface="Arial" pitchFamily="34" charset="0"/>
                <a:ea typeface="Arial" pitchFamily="34" charset="-122"/>
                <a:cs typeface="Arial" pitchFamily="34" charset="-120"/>
              </a:rPr>
              <a:t>Random Forest son 200 árboles promediados: nadie puede decir por qué sugirió lo que sugirió. Y T1–T9 están correlacionadas: decir «fue el sensor 8» sería inventarse una explicación.</a:t>
            </a:r>
            <a:endParaRPr lang="en-US" sz="1725" dirty="0"/>
          </a:p>
        </p:txBody>
      </p:sp>
      <p:sp>
        <p:nvSpPr>
          <p:cNvPr id="35" name="Text 33"/>
          <p:cNvSpPr/>
          <p:nvPr/>
        </p:nvSpPr>
        <p:spPr>
          <a:xfrm>
            <a:off x="10124804" y="6651748"/>
            <a:ext cx="7184000" cy="652870"/>
          </a:xfrm>
          <a:prstGeom prst="rect">
            <a:avLst/>
          </a:prstGeom>
          <a:noFill/>
          <a:ln/>
        </p:spPr>
        <p:txBody>
          <a:bodyPr wrap="square" lIns="25400" tIns="25400" rIns="25400" bIns="25400" rtlCol="0" anchor="t">
            <a:normAutofit/>
          </a:bodyPr>
          <a:lstStyle/>
          <a:p>
            <a:pPr algn="l" indent="0" marL="0">
              <a:lnSpc>
                <a:spcPct val="127072"/>
              </a:lnSpc>
              <a:buNone/>
            </a:pPr>
            <a:r>
              <a:rPr lang="en-US" sz="1650" b="1" dirty="0">
                <a:solidFill>
                  <a:srgbClr val="7BD992"/>
                </a:solidFill>
                <a:latin typeface="Arial" pitchFamily="34" charset="0"/>
                <a:ea typeface="Arial" pitchFamily="34" charset="-122"/>
                <a:cs typeface="Arial" pitchFamily="34" charset="-120"/>
              </a:rPr>
              <a:t>Mitigación: </a:t>
            </a:r>
            <a:pPr algn="l" indent="0" marL="0">
              <a:lnSpc>
                <a:spcPct val="127072"/>
              </a:lnSpc>
              <a:buNone/>
            </a:pPr>
            <a:r>
              <a:rPr lang="en-US" sz="1650" dirty="0">
                <a:solidFill>
                  <a:srgbClr val="8B93A3"/>
                </a:solidFill>
                <a:latin typeface="Arial" pitchFamily="34" charset="0"/>
                <a:ea typeface="Arial" pitchFamily="34" charset="-122"/>
                <a:cs typeface="Arial" pitchFamily="34" charset="-120"/>
              </a:rPr>
              <a:t>mantener el árbol en producción como capa de explicación. El bosque decide; el árbol responde «por qué».</a:t>
            </a:r>
            <a:endParaRPr lang="en-US" sz="1650" dirty="0"/>
          </a:p>
        </p:txBody>
      </p:sp>
      <p:sp>
        <p:nvSpPr>
          <p:cNvPr id="36" name="Shape 34"/>
          <p:cNvSpPr/>
          <p:nvPr/>
        </p:nvSpPr>
        <p:spPr>
          <a:xfrm>
            <a:off x="9850931" y="8211204"/>
            <a:ext cx="7522502" cy="1466165"/>
          </a:xfrm>
          <a:prstGeom prst="roundRect">
            <a:avLst>
              <a:gd name="adj" fmla="val 7796"/>
            </a:avLst>
          </a:prstGeom>
          <a:solidFill>
            <a:srgbClr val="1A2A1E"/>
          </a:solidFill>
          <a:ln w="7246">
            <a:solidFill>
              <a:srgbClr val="2C5233"/>
            </a:solidFill>
            <a:prstDash val="solid"/>
          </a:ln>
        </p:spPr>
      </p:sp>
      <p:sp>
        <p:nvSpPr>
          <p:cNvPr id="37" name="Text 35"/>
          <p:cNvSpPr/>
          <p:nvPr/>
        </p:nvSpPr>
        <p:spPr>
          <a:xfrm>
            <a:off x="10124804" y="8427902"/>
            <a:ext cx="7672233" cy="359524"/>
          </a:xfrm>
          <a:prstGeom prst="rect">
            <a:avLst/>
          </a:prstGeom>
          <a:noFill/>
          <a:ln/>
        </p:spPr>
        <p:txBody>
          <a:bodyPr wrap="square" lIns="25400" tIns="25400" rIns="25400" bIns="25400" rtlCol="0" anchor="t">
            <a:normAutofit/>
          </a:bodyPr>
          <a:lstStyle/>
          <a:p>
            <a:pPr algn="l" indent="0" marL="0">
              <a:lnSpc>
                <a:spcPct val="116751"/>
              </a:lnSpc>
              <a:buNone/>
            </a:pPr>
            <a:r>
              <a:rPr lang="en-US" sz="1875" b="1" dirty="0">
                <a:solidFill>
                  <a:srgbClr val="7BD992"/>
                </a:solidFill>
                <a:latin typeface="Arial" pitchFamily="34" charset="0"/>
                <a:ea typeface="Arial" pitchFamily="34" charset="-122"/>
                <a:cs typeface="Arial" pitchFamily="34" charset="-120"/>
              </a:rPr>
              <a:t>¿Quién responde si el modelo falla?</a:t>
            </a:r>
            <a:endParaRPr lang="en-US" sz="1875" dirty="0"/>
          </a:p>
        </p:txBody>
      </p:sp>
      <p:sp>
        <p:nvSpPr>
          <p:cNvPr id="38" name="Text 36"/>
          <p:cNvSpPr/>
          <p:nvPr/>
        </p:nvSpPr>
        <p:spPr>
          <a:xfrm>
            <a:off x="10124804" y="8825522"/>
            <a:ext cx="7184000" cy="673250"/>
          </a:xfrm>
          <a:prstGeom prst="rect">
            <a:avLst/>
          </a:prstGeom>
          <a:noFill/>
          <a:ln/>
        </p:spPr>
        <p:txBody>
          <a:bodyPr wrap="square" lIns="25400" tIns="25400" rIns="25400" bIns="25400" rtlCol="0" anchor="t">
            <a:normAutofit/>
          </a:bodyPr>
          <a:lstStyle/>
          <a:p>
            <a:pPr algn="l" indent="0" marL="0">
              <a:lnSpc>
                <a:spcPct val="128940"/>
              </a:lnSpc>
              <a:buNone/>
            </a:pPr>
            <a:r>
              <a:rPr lang="en-US" sz="1725" dirty="0">
                <a:solidFill>
                  <a:srgbClr val="C9D1DE"/>
                </a:solidFill>
                <a:latin typeface="Arial" pitchFamily="34" charset="0"/>
                <a:ea typeface="Arial" pitchFamily="34" charset="-122"/>
                <a:cs typeface="Arial" pitchFamily="34" charset="-120"/>
              </a:rPr>
              <a:t>El agente propone y la persona aprueba. Ninguna acción modifica el estado de la casa sin confirmación humana.</a:t>
            </a:r>
            <a:endParaRPr lang="en-US" sz="17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41A"/>
        </a:solidFill>
      </p:bgPr>
    </p:bg>
    <p:spTree>
      <p:nvGrpSpPr>
        <p:cNvPr id="1" name=""/>
        <p:cNvGrpSpPr/>
        <p:nvPr/>
      </p:nvGrpSpPr>
      <p:grpSpPr>
        <a:xfrm>
          <a:off x="0" y="0"/>
          <a:ext cx="0" cy="0"/>
          <a:chOff x="0" y="0"/>
          <a:chExt cx="0" cy="0"/>
        </a:xfrm>
      </p:grpSpPr>
      <p:sp>
        <p:nvSpPr>
          <p:cNvPr id="2" name="Text 0"/>
          <p:cNvSpPr/>
          <p:nvPr/>
        </p:nvSpPr>
        <p:spPr>
          <a:xfrm>
            <a:off x="1047714" y="3252056"/>
            <a:ext cx="3269525" cy="2068767"/>
          </a:xfrm>
          <a:prstGeom prst="rect">
            <a:avLst/>
          </a:prstGeom>
          <a:noFill/>
          <a:ln/>
        </p:spPr>
        <p:txBody>
          <a:bodyPr wrap="square" lIns="25400" tIns="25400" rIns="25400" bIns="25400" rtlCol="0" anchor="t">
            <a:normAutofit/>
          </a:bodyPr>
          <a:lstStyle/>
          <a:p>
            <a:pPr algn="l" indent="0" marL="0">
              <a:lnSpc>
                <a:spcPct val="72232"/>
              </a:lnSpc>
              <a:buNone/>
            </a:pPr>
            <a:r>
              <a:rPr lang="en-US" sz="19500" b="1" dirty="0">
                <a:solidFill>
                  <a:srgbClr val="7BD992"/>
                </a:solidFill>
                <a:latin typeface="Courier New" pitchFamily="34" charset="0"/>
                <a:ea typeface="Courier New" pitchFamily="34" charset="-122"/>
                <a:cs typeface="Courier New" pitchFamily="34" charset="-120"/>
              </a:rPr>
              <a:t>04</a:t>
            </a:r>
            <a:endParaRPr lang="en-US" sz="19500" dirty="0"/>
          </a:p>
        </p:txBody>
      </p:sp>
      <p:sp>
        <p:nvSpPr>
          <p:cNvPr id="3" name="Text 1"/>
          <p:cNvSpPr/>
          <p:nvPr/>
        </p:nvSpPr>
        <p:spPr>
          <a:xfrm>
            <a:off x="4477181" y="3385313"/>
            <a:ext cx="9810728" cy="1638088"/>
          </a:xfrm>
          <a:prstGeom prst="rect">
            <a:avLst/>
          </a:prstGeom>
          <a:noFill/>
          <a:ln/>
        </p:spPr>
        <p:txBody>
          <a:bodyPr wrap="square" lIns="25400" tIns="25400" rIns="25400" bIns="25400" rtlCol="0" anchor="t">
            <a:normAutofit/>
          </a:bodyPr>
          <a:lstStyle/>
          <a:p>
            <a:pPr algn="l" indent="0" marL="0">
              <a:lnSpc>
                <a:spcPct val="92017"/>
              </a:lnSpc>
              <a:buNone/>
            </a:pPr>
            <a:r>
              <a:rPr lang="en-US" sz="6000" b="1" spc="-150" kern="0" dirty="0">
                <a:solidFill>
                  <a:srgbClr val="E6E9EF"/>
                </a:solidFill>
                <a:latin typeface="Arial" pitchFamily="34" charset="0"/>
                <a:ea typeface="Arial" pitchFamily="34" charset="-122"/>
                <a:cs typeface="Arial" pitchFamily="34" charset="-120"/>
              </a:rPr>
              <a:t>Simulación de decisión automatizada</a:t>
            </a:r>
            <a:endParaRPr lang="en-US" sz="6000" dirty="0"/>
          </a:p>
        </p:txBody>
      </p:sp>
      <p:sp>
        <p:nvSpPr>
          <p:cNvPr id="4" name="Text 2"/>
          <p:cNvSpPr/>
          <p:nvPr/>
        </p:nvSpPr>
        <p:spPr>
          <a:xfrm>
            <a:off x="4477181" y="5270949"/>
            <a:ext cx="9810728" cy="895382"/>
          </a:xfrm>
          <a:prstGeom prst="rect">
            <a:avLst/>
          </a:prstGeom>
          <a:noFill/>
          <a:ln/>
        </p:spPr>
        <p:txBody>
          <a:bodyPr wrap="square" lIns="25400" tIns="25400" rIns="25400" bIns="25400" rtlCol="0" anchor="t">
            <a:normAutofit/>
          </a:bodyPr>
          <a:lstStyle/>
          <a:p>
            <a:pPr algn="l" indent="0" marL="0">
              <a:lnSpc>
                <a:spcPct val="131453"/>
              </a:lnSpc>
              <a:buNone/>
            </a:pPr>
            <a:r>
              <a:rPr lang="en-US" sz="2250" dirty="0">
                <a:solidFill>
                  <a:srgbClr val="9AA3B2"/>
                </a:solidFill>
                <a:latin typeface="Arial" pitchFamily="34" charset="0"/>
                <a:ea typeface="Arial" pitchFamily="34" charset="-122"/>
                <a:cs typeface="Arial" pitchFamily="34" charset="-120"/>
              </a:rPr>
              <a:t>El lazo del módulo iot-bridge: cómo una predicción se convierte en algo que una persona ve, aprueba o rechaza.</a:t>
            </a:r>
            <a:endParaRPr lang="en-US" sz="2250" dirty="0"/>
          </a:p>
        </p:txBody>
      </p:sp>
      <p:sp>
        <p:nvSpPr>
          <p:cNvPr id="5" name="Shape 3"/>
          <p:cNvSpPr/>
          <p:nvPr/>
        </p:nvSpPr>
        <p:spPr>
          <a:xfrm>
            <a:off x="4477181" y="6509207"/>
            <a:ext cx="1786004" cy="525555"/>
          </a:xfrm>
          <a:prstGeom prst="roundRect">
            <a:avLst>
              <a:gd name="adj" fmla="val 50000"/>
            </a:avLst>
          </a:prstGeom>
          <a:solidFill>
            <a:srgbClr val="1A2A1E"/>
          </a:solidFill>
          <a:ln w="7246">
            <a:solidFill>
              <a:srgbClr val="2C5233"/>
            </a:solidFill>
            <a:prstDash val="solid"/>
          </a:ln>
        </p:spPr>
      </p:sp>
      <p:sp>
        <p:nvSpPr>
          <p:cNvPr id="6" name="Text 4"/>
          <p:cNvSpPr/>
          <p:nvPr/>
        </p:nvSpPr>
        <p:spPr>
          <a:xfrm>
            <a:off x="4713027" y="6630753"/>
            <a:ext cx="1390512" cy="320563"/>
          </a:xfrm>
          <a:prstGeom prst="rect">
            <a:avLst/>
          </a:prstGeom>
          <a:noFill/>
          <a:ln/>
        </p:spPr>
        <p:txBody>
          <a:bodyPr wrap="square" lIns="25400" tIns="25400" rIns="25400" bIns="25400" rtlCol="0" anchor="t">
            <a:normAutofit/>
          </a:bodyPr>
          <a:lstStyle/>
          <a:p>
            <a:pPr algn="l" indent="0" marL="0">
              <a:buNone/>
            </a:pPr>
            <a:r>
              <a:rPr lang="en-US" sz="1725" dirty="0">
                <a:solidFill>
                  <a:srgbClr val="7BD992"/>
                </a:solidFill>
                <a:latin typeface="Courier New" pitchFamily="34" charset="0"/>
                <a:ea typeface="Courier New" pitchFamily="34" charset="-122"/>
                <a:cs typeface="Courier New" pitchFamily="34" charset="-120"/>
              </a:rPr>
              <a:t>Alex Duran</a:t>
            </a:r>
            <a:endParaRPr lang="en-US" sz="17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7BD992"/>
                </a:solidFill>
                <a:latin typeface="Courier New" pitchFamily="34" charset="0"/>
                <a:ea typeface="Courier New" pitchFamily="34" charset="-122"/>
                <a:cs typeface="Courier New" pitchFamily="34" charset="-120"/>
              </a:rPr>
              <a:t>PUNTO 4 · 4.1 DISEÑO DEL FLUJO DE DECISIÓN</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La lógica del sistema, en tres reglas</a:t>
            </a:r>
            <a:endParaRPr lang="en-US" sz="4050" dirty="0"/>
          </a:p>
        </p:txBody>
      </p:sp>
      <p:sp>
        <p:nvSpPr>
          <p:cNvPr id="4" name="Shape 2"/>
          <p:cNvSpPr/>
          <p:nvPr/>
        </p:nvSpPr>
        <p:spPr>
          <a:xfrm>
            <a:off x="914344" y="2782091"/>
            <a:ext cx="16459203" cy="2047423"/>
          </a:xfrm>
          <a:custGeom>
            <a:avLst/>
            <a:gdLst/>
            <a:ahLst/>
            <a:cxnLst/>
            <a:rect l="l" t="t" r="r" b="b"/>
            <a:pathLst>
              <a:path w="16459203" h="2047423">
                <a:moveTo>
                  <a:pt x="0" y="0"/>
                </a:moveTo>
                <a:lnTo>
                  <a:pt x="16344903" y="0"/>
                </a:lnTo>
                <a:arcTo hR="114300" wR="114300" stAng="16200000" swAng="5400000"/>
                <a:lnTo>
                  <a:pt x="16459203" y="1933123"/>
                </a:lnTo>
                <a:arcTo hR="114300" wR="114300" stAng="0" swAng="5400000"/>
                <a:lnTo>
                  <a:pt x="0" y="2047423"/>
                </a:lnTo>
                <a:lnTo>
                  <a:pt x="0" y="0"/>
                </a:lnTo>
                <a:close/>
              </a:path>
            </a:pathLst>
          </a:custGeom>
          <a:solidFill>
            <a:srgbClr val="151920"/>
          </a:solidFill>
          <a:ln/>
        </p:spPr>
      </p:sp>
      <p:sp>
        <p:nvSpPr>
          <p:cNvPr id="5" name="Shape 3"/>
          <p:cNvSpPr/>
          <p:nvPr/>
        </p:nvSpPr>
        <p:spPr>
          <a:xfrm>
            <a:off x="914344" y="4822268"/>
            <a:ext cx="16459203" cy="9525"/>
          </a:xfrm>
          <a:prstGeom prst="rect">
            <a:avLst/>
          </a:prstGeom>
          <a:solidFill>
            <a:srgbClr val="232833"/>
          </a:solidFill>
          <a:ln/>
        </p:spPr>
      </p:sp>
      <p:sp>
        <p:nvSpPr>
          <p:cNvPr id="6" name="Shape 4"/>
          <p:cNvSpPr/>
          <p:nvPr/>
        </p:nvSpPr>
        <p:spPr>
          <a:xfrm>
            <a:off x="914344" y="2782091"/>
            <a:ext cx="16459203" cy="9525"/>
          </a:xfrm>
          <a:prstGeom prst="rect">
            <a:avLst/>
          </a:prstGeom>
          <a:solidFill>
            <a:srgbClr val="232833"/>
          </a:solidFill>
          <a:ln/>
        </p:spPr>
      </p:sp>
      <p:sp>
        <p:nvSpPr>
          <p:cNvPr id="7" name="Shape 5"/>
          <p:cNvSpPr/>
          <p:nvPr/>
        </p:nvSpPr>
        <p:spPr>
          <a:xfrm>
            <a:off x="914344" y="2782091"/>
            <a:ext cx="36230" cy="2047423"/>
          </a:xfrm>
          <a:prstGeom prst="rect">
            <a:avLst/>
          </a:prstGeom>
          <a:solidFill>
            <a:srgbClr val="E8710A"/>
          </a:solidFill>
          <a:ln/>
        </p:spPr>
      </p:sp>
      <p:sp>
        <p:nvSpPr>
          <p:cNvPr id="8" name="Shape 6"/>
          <p:cNvSpPr/>
          <p:nvPr/>
        </p:nvSpPr>
        <p:spPr>
          <a:xfrm>
            <a:off x="17366301" y="2782091"/>
            <a:ext cx="9525" cy="2047423"/>
          </a:xfrm>
          <a:prstGeom prst="rect">
            <a:avLst/>
          </a:prstGeom>
          <a:solidFill>
            <a:srgbClr val="232833"/>
          </a:solidFill>
          <a:ln/>
        </p:spPr>
      </p:sp>
      <p:sp>
        <p:nvSpPr>
          <p:cNvPr id="9" name="Text 7"/>
          <p:cNvSpPr/>
          <p:nvPr/>
        </p:nvSpPr>
        <p:spPr>
          <a:xfrm>
            <a:off x="1331550" y="3094118"/>
            <a:ext cx="16123388" cy="449645"/>
          </a:xfrm>
          <a:prstGeom prst="rect">
            <a:avLst/>
          </a:prstGeom>
          <a:noFill/>
          <a:ln/>
        </p:spPr>
        <p:txBody>
          <a:bodyPr wrap="square" lIns="25400" tIns="25400" rIns="25400" bIns="25400" rtlCol="0" anchor="t">
            <a:normAutofit/>
          </a:bodyPr>
          <a:lstStyle/>
          <a:p>
            <a:pPr algn="l" indent="0" marL="0">
              <a:lnSpc>
                <a:spcPct val="138507"/>
              </a:lnSpc>
              <a:buNone/>
            </a:pPr>
            <a:r>
              <a:rPr lang="en-US" sz="2025" dirty="0">
                <a:solidFill>
                  <a:srgbClr val="E8710A"/>
                </a:solidFill>
                <a:latin typeface="Courier New" pitchFamily="34" charset="0"/>
                <a:ea typeface="Courier New" pitchFamily="34" charset="-122"/>
                <a:cs typeface="Courier New" pitchFamily="34" charset="-120"/>
              </a:rPr>
              <a:t>SI </a:t>
            </a:r>
            <a:pPr algn="l" indent="0" marL="0">
              <a:lnSpc>
                <a:spcPct val="138507"/>
              </a:lnSpc>
              <a:buNone/>
            </a:pPr>
            <a:r>
              <a:rPr lang="en-US" sz="2025" dirty="0">
                <a:solidFill>
                  <a:srgbClr val="C9D1DE"/>
                </a:solidFill>
                <a:latin typeface="Courier New" pitchFamily="34" charset="0"/>
                <a:ea typeface="Courier New" pitchFamily="34" charset="-122"/>
                <a:cs typeface="Courier New" pitchFamily="34" charset="-120"/>
              </a:rPr>
              <a:t>p(anomalía) ≥ umbral_del_usuario </a:t>
            </a:r>
            <a:pPr algn="l" indent="0" marL="0">
              <a:lnSpc>
                <a:spcPct val="138507"/>
              </a:lnSpc>
              <a:buNone/>
            </a:pPr>
            <a:r>
              <a:rPr lang="en-US" sz="2025" dirty="0">
                <a:solidFill>
                  <a:srgbClr val="E8710A"/>
                </a:solidFill>
                <a:latin typeface="Courier New" pitchFamily="34" charset="0"/>
                <a:ea typeface="Courier New" pitchFamily="34" charset="-122"/>
                <a:cs typeface="Courier New" pitchFamily="34" charset="-120"/>
              </a:rPr>
              <a:t>Y </a:t>
            </a:r>
            <a:pPr algn="l" indent="0" marL="0">
              <a:lnSpc>
                <a:spcPct val="138507"/>
              </a:lnSpc>
              <a:buNone/>
            </a:pPr>
            <a:r>
              <a:rPr lang="en-US" sz="2025" dirty="0">
                <a:solidFill>
                  <a:srgbClr val="C9D1DE"/>
                </a:solidFill>
                <a:latin typeface="Courier New" pitchFamily="34" charset="0"/>
                <a:ea typeface="Courier New" pitchFamily="34" charset="-122"/>
                <a:cs typeface="Courier New" pitchFamily="34" charset="-120"/>
              </a:rPr>
              <a:t>el consumo estimado supera el percentil configurado</a:t>
            </a:r>
            <a:endParaRPr lang="en-US" sz="2025" dirty="0"/>
          </a:p>
        </p:txBody>
      </p:sp>
      <p:sp>
        <p:nvSpPr>
          <p:cNvPr id="10" name="Text 8"/>
          <p:cNvSpPr/>
          <p:nvPr/>
        </p:nvSpPr>
        <p:spPr>
          <a:xfrm>
            <a:off x="1331550" y="3600879"/>
            <a:ext cx="16123388" cy="478629"/>
          </a:xfrm>
          <a:prstGeom prst="rect">
            <a:avLst/>
          </a:prstGeom>
          <a:noFill/>
          <a:ln/>
        </p:spPr>
        <p:txBody>
          <a:bodyPr wrap="square" lIns="25400" tIns="25400" rIns="25400" bIns="25400" rtlCol="0" anchor="t">
            <a:normAutofit/>
          </a:bodyPr>
          <a:lstStyle/>
          <a:p>
            <a:pPr algn="l" indent="0" marL="0">
              <a:lnSpc>
                <a:spcPct val="138507"/>
              </a:lnSpc>
              <a:buNone/>
            </a:pPr>
            <a:r>
              <a:rPr lang="en-US" sz="2025" dirty="0">
                <a:solidFill>
                  <a:srgbClr val="E8710A"/>
                </a:solidFill>
                <a:latin typeface="Courier New" pitchFamily="34" charset="0"/>
                <a:ea typeface="Courier New" pitchFamily="34" charset="-122"/>
                <a:cs typeface="Courier New" pitchFamily="34" charset="-120"/>
              </a:rPr>
              <a:t>ENTONCES </a:t>
            </a:r>
            <a:pPr algn="l" indent="0" marL="0">
              <a:lnSpc>
                <a:spcPct val="138507"/>
              </a:lnSpc>
              <a:buNone/>
            </a:pPr>
            <a:r>
              <a:rPr lang="en-US" sz="2025" dirty="0">
                <a:solidFill>
                  <a:srgbClr val="E6E9EF"/>
                </a:solidFill>
                <a:latin typeface="Courier New" pitchFamily="34" charset="0"/>
                <a:ea typeface="Courier New" pitchFamily="34" charset="-122"/>
                <a:cs typeface="Courier New" pitchFamily="34" charset="-120"/>
              </a:rPr>
              <a:t>notificar, explicar con la regla del árbol y </a:t>
            </a:r>
            <a:pPr algn="l" indent="0" marL="0">
              <a:lnSpc>
                <a:spcPct val="138507"/>
              </a:lnSpc>
              <a:buNone/>
            </a:pPr>
            <a:r>
              <a:rPr lang="en-US" sz="2025" b="1" dirty="0">
                <a:solidFill>
                  <a:srgbClr val="E6E9EF"/>
                </a:solidFill>
                <a:latin typeface="Courier New" pitchFamily="34" charset="0"/>
                <a:ea typeface="Courier New" pitchFamily="34" charset="-122"/>
                <a:cs typeface="Courier New" pitchFamily="34" charset="-120"/>
              </a:rPr>
              <a:t>proponer </a:t>
            </a:r>
            <a:pPr algn="l" indent="0" marL="0">
              <a:lnSpc>
                <a:spcPct val="138507"/>
              </a:lnSpc>
              <a:buNone/>
            </a:pPr>
            <a:r>
              <a:rPr lang="en-US" sz="2025" dirty="0">
                <a:solidFill>
                  <a:srgbClr val="E6E9EF"/>
                </a:solidFill>
                <a:latin typeface="Courier New" pitchFamily="34" charset="0"/>
                <a:ea typeface="Courier New" pitchFamily="34" charset="-122"/>
                <a:cs typeface="Courier New" pitchFamily="34" charset="-120"/>
              </a:rPr>
              <a:t>una acción diferible</a:t>
            </a:r>
            <a:endParaRPr lang="en-US" sz="2025" dirty="0"/>
          </a:p>
        </p:txBody>
      </p:sp>
      <p:sp>
        <p:nvSpPr>
          <p:cNvPr id="11" name="Text 9"/>
          <p:cNvSpPr/>
          <p:nvPr/>
        </p:nvSpPr>
        <p:spPr>
          <a:xfrm>
            <a:off x="1331550" y="4174665"/>
            <a:ext cx="17219152" cy="380922"/>
          </a:xfrm>
          <a:prstGeom prst="rect">
            <a:avLst/>
          </a:prstGeom>
          <a:noFill/>
          <a:ln/>
        </p:spPr>
        <p:txBody>
          <a:bodyPr wrap="square" lIns="25400" tIns="25400" rIns="25400" bIns="25400" rtlCol="0" anchor="t">
            <a:normAutofit/>
          </a:bodyPr>
          <a:lstStyle/>
          <a:p>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La acción NO se ejecuta hasta que la persona la apruebe.</a:t>
            </a:r>
            <a:endParaRPr lang="en-US" sz="1800" dirty="0"/>
          </a:p>
        </p:txBody>
      </p:sp>
      <p:sp>
        <p:nvSpPr>
          <p:cNvPr id="12" name="Shape 10"/>
          <p:cNvSpPr/>
          <p:nvPr/>
        </p:nvSpPr>
        <p:spPr>
          <a:xfrm>
            <a:off x="914344" y="5058100"/>
            <a:ext cx="16459203" cy="1542361"/>
          </a:xfrm>
          <a:custGeom>
            <a:avLst/>
            <a:gdLst/>
            <a:ahLst/>
            <a:cxnLst/>
            <a:rect l="l" t="t" r="r" b="b"/>
            <a:pathLst>
              <a:path w="16459203" h="1542361">
                <a:moveTo>
                  <a:pt x="0" y="0"/>
                </a:moveTo>
                <a:lnTo>
                  <a:pt x="16344903" y="0"/>
                </a:lnTo>
                <a:arcTo hR="114300" wR="114300" stAng="16200000" swAng="5400000"/>
                <a:lnTo>
                  <a:pt x="16459203" y="1428061"/>
                </a:lnTo>
                <a:arcTo hR="114300" wR="114300" stAng="0" swAng="5400000"/>
                <a:lnTo>
                  <a:pt x="0" y="1542361"/>
                </a:lnTo>
                <a:lnTo>
                  <a:pt x="0" y="0"/>
                </a:lnTo>
                <a:close/>
              </a:path>
            </a:pathLst>
          </a:custGeom>
          <a:solidFill>
            <a:srgbClr val="151920"/>
          </a:solidFill>
          <a:ln/>
        </p:spPr>
      </p:sp>
      <p:sp>
        <p:nvSpPr>
          <p:cNvPr id="13" name="Shape 11"/>
          <p:cNvSpPr/>
          <p:nvPr/>
        </p:nvSpPr>
        <p:spPr>
          <a:xfrm>
            <a:off x="914344" y="6593215"/>
            <a:ext cx="16459203" cy="9525"/>
          </a:xfrm>
          <a:prstGeom prst="rect">
            <a:avLst/>
          </a:prstGeom>
          <a:solidFill>
            <a:srgbClr val="232833"/>
          </a:solidFill>
          <a:ln/>
        </p:spPr>
      </p:sp>
      <p:sp>
        <p:nvSpPr>
          <p:cNvPr id="14" name="Shape 12"/>
          <p:cNvSpPr/>
          <p:nvPr/>
        </p:nvSpPr>
        <p:spPr>
          <a:xfrm>
            <a:off x="914344" y="5058100"/>
            <a:ext cx="16459203" cy="9525"/>
          </a:xfrm>
          <a:prstGeom prst="rect">
            <a:avLst/>
          </a:prstGeom>
          <a:solidFill>
            <a:srgbClr val="232833"/>
          </a:solidFill>
          <a:ln/>
        </p:spPr>
      </p:sp>
      <p:sp>
        <p:nvSpPr>
          <p:cNvPr id="15" name="Shape 13"/>
          <p:cNvSpPr/>
          <p:nvPr/>
        </p:nvSpPr>
        <p:spPr>
          <a:xfrm>
            <a:off x="914344" y="5058100"/>
            <a:ext cx="36230" cy="1542361"/>
          </a:xfrm>
          <a:prstGeom prst="rect">
            <a:avLst/>
          </a:prstGeom>
          <a:solidFill>
            <a:srgbClr val="188038"/>
          </a:solidFill>
          <a:ln/>
        </p:spPr>
      </p:sp>
      <p:sp>
        <p:nvSpPr>
          <p:cNvPr id="16" name="Shape 14"/>
          <p:cNvSpPr/>
          <p:nvPr/>
        </p:nvSpPr>
        <p:spPr>
          <a:xfrm>
            <a:off x="17366301" y="5058100"/>
            <a:ext cx="9525" cy="1542361"/>
          </a:xfrm>
          <a:prstGeom prst="rect">
            <a:avLst/>
          </a:prstGeom>
          <a:solidFill>
            <a:srgbClr val="232833"/>
          </a:solidFill>
          <a:ln/>
        </p:spPr>
      </p:sp>
      <p:sp>
        <p:nvSpPr>
          <p:cNvPr id="17" name="Text 15"/>
          <p:cNvSpPr/>
          <p:nvPr/>
        </p:nvSpPr>
        <p:spPr>
          <a:xfrm>
            <a:off x="1331550" y="5370127"/>
            <a:ext cx="16123388" cy="449645"/>
          </a:xfrm>
          <a:prstGeom prst="rect">
            <a:avLst/>
          </a:prstGeom>
          <a:noFill/>
          <a:ln/>
        </p:spPr>
        <p:txBody>
          <a:bodyPr wrap="square" lIns="25400" tIns="25400" rIns="25400" bIns="25400" rtlCol="0" anchor="t">
            <a:normAutofit/>
          </a:bodyPr>
          <a:lstStyle/>
          <a:p>
            <a:pPr algn="l" indent="0" marL="0">
              <a:lnSpc>
                <a:spcPct val="138507"/>
              </a:lnSpc>
              <a:buNone/>
            </a:pPr>
            <a:r>
              <a:rPr lang="en-US" sz="2025" dirty="0">
                <a:solidFill>
                  <a:srgbClr val="7BD992"/>
                </a:solidFill>
                <a:latin typeface="Courier New" pitchFamily="34" charset="0"/>
                <a:ea typeface="Courier New" pitchFamily="34" charset="-122"/>
                <a:cs typeface="Courier New" pitchFamily="34" charset="-120"/>
              </a:rPr>
              <a:t>SI </a:t>
            </a:r>
            <a:pPr algn="l" indent="0" marL="0">
              <a:lnSpc>
                <a:spcPct val="138507"/>
              </a:lnSpc>
              <a:buNone/>
            </a:pPr>
            <a:r>
              <a:rPr lang="en-US" sz="2025" dirty="0">
                <a:solidFill>
                  <a:srgbClr val="C9D1DE"/>
                </a:solidFill>
                <a:latin typeface="Courier New" pitchFamily="34" charset="0"/>
                <a:ea typeface="Courier New" pitchFamily="34" charset="-122"/>
                <a:cs typeface="Courier New" pitchFamily="34" charset="-120"/>
              </a:rPr>
              <a:t>p(anomalía) &lt; umbral_del_usuario</a:t>
            </a:r>
            <a:endParaRPr lang="en-US" sz="2025" dirty="0"/>
          </a:p>
        </p:txBody>
      </p:sp>
      <p:sp>
        <p:nvSpPr>
          <p:cNvPr id="18" name="Text 16"/>
          <p:cNvSpPr/>
          <p:nvPr/>
        </p:nvSpPr>
        <p:spPr>
          <a:xfrm>
            <a:off x="1331550" y="5876888"/>
            <a:ext cx="16123388" cy="449645"/>
          </a:xfrm>
          <a:prstGeom prst="rect">
            <a:avLst/>
          </a:prstGeom>
          <a:noFill/>
          <a:ln/>
        </p:spPr>
        <p:txBody>
          <a:bodyPr wrap="square" lIns="25400" tIns="25400" rIns="25400" bIns="25400" rtlCol="0" anchor="t">
            <a:normAutofit/>
          </a:bodyPr>
          <a:lstStyle/>
          <a:p>
            <a:pPr algn="l" indent="0" marL="0">
              <a:lnSpc>
                <a:spcPct val="138507"/>
              </a:lnSpc>
              <a:buNone/>
            </a:pPr>
            <a:r>
              <a:rPr lang="en-US" sz="2025" dirty="0">
                <a:solidFill>
                  <a:srgbClr val="7BD992"/>
                </a:solidFill>
                <a:latin typeface="Courier New" pitchFamily="34" charset="0"/>
                <a:ea typeface="Courier New" pitchFamily="34" charset="-122"/>
                <a:cs typeface="Courier New" pitchFamily="34" charset="-120"/>
              </a:rPr>
              <a:t>ENTONCES </a:t>
            </a:r>
            <a:pPr algn="l" indent="0" marL="0">
              <a:lnSpc>
                <a:spcPct val="138507"/>
              </a:lnSpc>
              <a:buNone/>
            </a:pPr>
            <a:r>
              <a:rPr lang="en-US" sz="2025" dirty="0">
                <a:solidFill>
                  <a:srgbClr val="E6E9EF"/>
                </a:solidFill>
                <a:latin typeface="Courier New" pitchFamily="34" charset="0"/>
                <a:ea typeface="Courier New" pitchFamily="34" charset="-122"/>
                <a:cs typeface="Courier New" pitchFamily="34" charset="-120"/>
              </a:rPr>
              <a:t>registrar en el histórico sin molestar</a:t>
            </a:r>
            <a:endParaRPr lang="en-US" sz="2025" dirty="0"/>
          </a:p>
        </p:txBody>
      </p:sp>
      <p:sp>
        <p:nvSpPr>
          <p:cNvPr id="19" name="Shape 17"/>
          <p:cNvSpPr/>
          <p:nvPr/>
        </p:nvSpPr>
        <p:spPr>
          <a:xfrm>
            <a:off x="914344" y="6829046"/>
            <a:ext cx="16459203" cy="2018440"/>
          </a:xfrm>
          <a:custGeom>
            <a:avLst/>
            <a:gdLst/>
            <a:ahLst/>
            <a:cxnLst/>
            <a:rect l="l" t="t" r="r" b="b"/>
            <a:pathLst>
              <a:path w="16459203" h="2018440">
                <a:moveTo>
                  <a:pt x="0" y="0"/>
                </a:moveTo>
                <a:lnTo>
                  <a:pt x="16344903" y="0"/>
                </a:lnTo>
                <a:arcTo hR="114300" wR="114300" stAng="16200000" swAng="5400000"/>
                <a:lnTo>
                  <a:pt x="16459203" y="1904140"/>
                </a:lnTo>
                <a:arcTo hR="114300" wR="114300" stAng="0" swAng="5400000"/>
                <a:lnTo>
                  <a:pt x="0" y="2018440"/>
                </a:lnTo>
                <a:lnTo>
                  <a:pt x="0" y="0"/>
                </a:lnTo>
                <a:close/>
              </a:path>
            </a:pathLst>
          </a:custGeom>
          <a:solidFill>
            <a:srgbClr val="151920"/>
          </a:solidFill>
          <a:ln/>
        </p:spPr>
      </p:sp>
      <p:sp>
        <p:nvSpPr>
          <p:cNvPr id="20" name="Shape 18"/>
          <p:cNvSpPr/>
          <p:nvPr/>
        </p:nvSpPr>
        <p:spPr>
          <a:xfrm>
            <a:off x="914344" y="8840240"/>
            <a:ext cx="16459203" cy="9525"/>
          </a:xfrm>
          <a:prstGeom prst="rect">
            <a:avLst/>
          </a:prstGeom>
          <a:solidFill>
            <a:srgbClr val="232833"/>
          </a:solidFill>
          <a:ln/>
        </p:spPr>
      </p:sp>
      <p:sp>
        <p:nvSpPr>
          <p:cNvPr id="21" name="Shape 19"/>
          <p:cNvSpPr/>
          <p:nvPr/>
        </p:nvSpPr>
        <p:spPr>
          <a:xfrm>
            <a:off x="914344" y="6829046"/>
            <a:ext cx="16459203" cy="9525"/>
          </a:xfrm>
          <a:prstGeom prst="rect">
            <a:avLst/>
          </a:prstGeom>
          <a:solidFill>
            <a:srgbClr val="232833"/>
          </a:solidFill>
          <a:ln/>
        </p:spPr>
      </p:sp>
      <p:sp>
        <p:nvSpPr>
          <p:cNvPr id="22" name="Shape 20"/>
          <p:cNvSpPr/>
          <p:nvPr/>
        </p:nvSpPr>
        <p:spPr>
          <a:xfrm>
            <a:off x="914344" y="6829046"/>
            <a:ext cx="36230" cy="2018440"/>
          </a:xfrm>
          <a:prstGeom prst="rect">
            <a:avLst/>
          </a:prstGeom>
          <a:solidFill>
            <a:srgbClr val="1A73E8"/>
          </a:solidFill>
          <a:ln/>
        </p:spPr>
      </p:sp>
      <p:sp>
        <p:nvSpPr>
          <p:cNvPr id="23" name="Shape 21"/>
          <p:cNvSpPr/>
          <p:nvPr/>
        </p:nvSpPr>
        <p:spPr>
          <a:xfrm>
            <a:off x="17366301" y="6829046"/>
            <a:ext cx="9525" cy="2018440"/>
          </a:xfrm>
          <a:prstGeom prst="rect">
            <a:avLst/>
          </a:prstGeom>
          <a:solidFill>
            <a:srgbClr val="232833"/>
          </a:solidFill>
          <a:ln/>
        </p:spPr>
      </p:sp>
      <p:sp>
        <p:nvSpPr>
          <p:cNvPr id="24" name="Text 22"/>
          <p:cNvSpPr/>
          <p:nvPr/>
        </p:nvSpPr>
        <p:spPr>
          <a:xfrm>
            <a:off x="1331550" y="7141073"/>
            <a:ext cx="16123388" cy="449645"/>
          </a:xfrm>
          <a:prstGeom prst="rect">
            <a:avLst/>
          </a:prstGeom>
          <a:noFill/>
          <a:ln/>
        </p:spPr>
        <p:txBody>
          <a:bodyPr wrap="square" lIns="25400" tIns="25400" rIns="25400" bIns="25400" rtlCol="0" anchor="t">
            <a:normAutofit/>
          </a:bodyPr>
          <a:lstStyle/>
          <a:p>
            <a:pPr algn="l" indent="0" marL="0">
              <a:lnSpc>
                <a:spcPct val="138507"/>
              </a:lnSpc>
              <a:buNone/>
            </a:pPr>
            <a:r>
              <a:rPr lang="en-US" sz="2025" dirty="0">
                <a:solidFill>
                  <a:srgbClr val="7DB6FF"/>
                </a:solidFill>
                <a:latin typeface="Courier New" pitchFamily="34" charset="0"/>
                <a:ea typeface="Courier New" pitchFamily="34" charset="-122"/>
                <a:cs typeface="Courier New" pitchFamily="34" charset="-120"/>
              </a:rPr>
              <a:t>SI </a:t>
            </a:r>
            <a:pPr algn="l" indent="0" marL="0">
              <a:lnSpc>
                <a:spcPct val="138507"/>
              </a:lnSpc>
              <a:buNone/>
            </a:pPr>
            <a:r>
              <a:rPr lang="en-US" sz="2025" dirty="0">
                <a:solidFill>
                  <a:srgbClr val="C9D1DE"/>
                </a:solidFill>
                <a:latin typeface="Courier New" pitchFamily="34" charset="0"/>
                <a:ea typeface="Courier New" pitchFamily="34" charset="-122"/>
                <a:cs typeface="Courier New" pitchFamily="34" charset="-120"/>
              </a:rPr>
              <a:t>el modelo lleva más de 30 días sin reentrenar </a:t>
            </a:r>
            <a:pPr algn="l" indent="0" marL="0">
              <a:lnSpc>
                <a:spcPct val="138507"/>
              </a:lnSpc>
              <a:buNone/>
            </a:pPr>
            <a:r>
              <a:rPr lang="en-US" sz="2025" dirty="0">
                <a:solidFill>
                  <a:srgbClr val="7DB6FF"/>
                </a:solidFill>
                <a:latin typeface="Courier New" pitchFamily="34" charset="0"/>
                <a:ea typeface="Courier New" pitchFamily="34" charset="-122"/>
                <a:cs typeface="Courier New" pitchFamily="34" charset="-120"/>
              </a:rPr>
              <a:t>O </a:t>
            </a:r>
            <a:pPr algn="l" indent="0" marL="0">
              <a:lnSpc>
                <a:spcPct val="138507"/>
              </a:lnSpc>
              <a:buNone/>
            </a:pPr>
            <a:r>
              <a:rPr lang="en-US" sz="2025" dirty="0">
                <a:solidFill>
                  <a:srgbClr val="C9D1DE"/>
                </a:solidFill>
                <a:latin typeface="Courier New" pitchFamily="34" charset="0"/>
                <a:ea typeface="Courier New" pitchFamily="34" charset="-122"/>
                <a:cs typeface="Courier New" pitchFamily="34" charset="-120"/>
              </a:rPr>
              <a:t>el mes actual no estaba representado</a:t>
            </a:r>
            <a:endParaRPr lang="en-US" sz="2025" dirty="0"/>
          </a:p>
        </p:txBody>
      </p:sp>
      <p:sp>
        <p:nvSpPr>
          <p:cNvPr id="25" name="Text 23"/>
          <p:cNvSpPr/>
          <p:nvPr/>
        </p:nvSpPr>
        <p:spPr>
          <a:xfrm>
            <a:off x="1331550" y="7647834"/>
            <a:ext cx="16123388" cy="449645"/>
          </a:xfrm>
          <a:prstGeom prst="rect">
            <a:avLst/>
          </a:prstGeom>
          <a:noFill/>
          <a:ln/>
        </p:spPr>
        <p:txBody>
          <a:bodyPr wrap="square" lIns="25400" tIns="25400" rIns="25400" bIns="25400" rtlCol="0" anchor="t">
            <a:normAutofit/>
          </a:bodyPr>
          <a:lstStyle/>
          <a:p>
            <a:pPr algn="l" indent="0" marL="0">
              <a:lnSpc>
                <a:spcPct val="138507"/>
              </a:lnSpc>
              <a:buNone/>
            </a:pPr>
            <a:r>
              <a:rPr lang="en-US" sz="2025" dirty="0">
                <a:solidFill>
                  <a:srgbClr val="7DB6FF"/>
                </a:solidFill>
                <a:latin typeface="Courier New" pitchFamily="34" charset="0"/>
                <a:ea typeface="Courier New" pitchFamily="34" charset="-122"/>
                <a:cs typeface="Courier New" pitchFamily="34" charset="-120"/>
              </a:rPr>
              <a:t>ENTONCES </a:t>
            </a:r>
            <a:pPr algn="l" indent="0" marL="0">
              <a:lnSpc>
                <a:spcPct val="138507"/>
              </a:lnSpc>
              <a:buNone/>
            </a:pPr>
            <a:r>
              <a:rPr lang="en-US" sz="2025" dirty="0">
                <a:solidFill>
                  <a:srgbClr val="E6E9EF"/>
                </a:solidFill>
                <a:latin typeface="Courier New" pitchFamily="34" charset="0"/>
                <a:ea typeface="Courier New" pitchFamily="34" charset="-122"/>
                <a:cs typeface="Courier New" pitchFamily="34" charset="-120"/>
              </a:rPr>
              <a:t>mostrar con aviso de baja confianza y no proponer acción automática</a:t>
            </a:r>
            <a:endParaRPr lang="en-US" sz="2025" dirty="0"/>
          </a:p>
        </p:txBody>
      </p:sp>
      <p:sp>
        <p:nvSpPr>
          <p:cNvPr id="26" name="Text 24"/>
          <p:cNvSpPr/>
          <p:nvPr/>
        </p:nvSpPr>
        <p:spPr>
          <a:xfrm>
            <a:off x="1331550" y="8192637"/>
            <a:ext cx="17219152" cy="380922"/>
          </a:xfrm>
          <a:prstGeom prst="rect">
            <a:avLst/>
          </a:prstGeom>
          <a:noFill/>
          <a:ln/>
        </p:spPr>
        <p:txBody>
          <a:bodyPr wrap="square" lIns="25400" tIns="25400" rIns="25400" bIns="25400" rtlCol="0" anchor="t">
            <a:normAutofit/>
          </a:bodyPr>
          <a:lstStyle/>
          <a:p>
            <a:pPr algn="l" indent="0" marL="0">
              <a:lnSpc>
                <a:spcPct val="127901"/>
              </a:lnSpc>
              <a:buNone/>
            </a:pPr>
            <a:r>
              <a:rPr lang="en-US" sz="1800" dirty="0">
                <a:solidFill>
                  <a:srgbClr val="8B93A3"/>
                </a:solidFill>
                <a:latin typeface="Arial" pitchFamily="34" charset="0"/>
                <a:ea typeface="Arial" pitchFamily="34" charset="-122"/>
                <a:cs typeface="Arial" pitchFamily="34" charset="-120"/>
              </a:rPr>
              <a:t>No es un adorno: sale directamente de la sección 3.2, donde el umbral se descalibra en cuatro meses.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7BD992"/>
                </a:solidFill>
                <a:latin typeface="Courier New" pitchFamily="34" charset="0"/>
                <a:ea typeface="Courier New" pitchFamily="34" charset="-122"/>
                <a:cs typeface="Courier New" pitchFamily="34" charset="-120"/>
              </a:rPr>
              <a:t>PUNTO 4 · 4.2 ¿DÓNDE PONER EL UMBRAL?</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Lo que una persona experimenta son episodios, no lecturas</a:t>
            </a:r>
            <a:endParaRPr lang="en-US" sz="4050" dirty="0"/>
          </a:p>
        </p:txBody>
      </p:sp>
      <p:sp>
        <p:nvSpPr>
          <p:cNvPr id="4" name="Text 2"/>
          <p:cNvSpPr/>
          <p:nvPr/>
        </p:nvSpPr>
        <p:spPr>
          <a:xfrm>
            <a:off x="914344" y="1666447"/>
            <a:ext cx="15304759" cy="728500"/>
          </a:xfrm>
          <a:prstGeom prst="rect">
            <a:avLst/>
          </a:prstGeom>
          <a:noFill/>
          <a:ln/>
        </p:spPr>
        <p:txBody>
          <a:bodyPr wrap="square" lIns="25400" tIns="25400" rIns="25400" bIns="25400" rtlCol="0" anchor="t">
            <a:normAutofit/>
          </a:bodyPr>
          <a:lstStyle/>
          <a:p>
            <a:pPr algn="l" indent="0" marL="0">
              <a:lnSpc>
                <a:spcPct val="125400"/>
              </a:lnSpc>
              <a:buNone/>
            </a:pPr>
            <a:r>
              <a:rPr lang="en-US" sz="1875" dirty="0">
                <a:solidFill>
                  <a:srgbClr val="8B93A3"/>
                </a:solidFill>
                <a:latin typeface="Arial" pitchFamily="34" charset="0"/>
                <a:ea typeface="Arial" pitchFamily="34" charset="-122"/>
                <a:cs typeface="Arial" pitchFamily="34" charset="-120"/>
              </a:rPr>
              <a:t>27,4 días continuos de partición temporal con retardos, agrupando en un episodio las alertas separadas por menos de 30 minutos. 84 episodios reales, 3,1 por día.</a:t>
            </a:r>
            <a:endParaRPr lang="en-US" sz="1875" dirty="0"/>
          </a:p>
        </p:txBody>
      </p:sp>
      <p:sp>
        <p:nvSpPr>
          <p:cNvPr id="5" name="Shape 3"/>
          <p:cNvSpPr/>
          <p:nvPr/>
        </p:nvSpPr>
        <p:spPr>
          <a:xfrm>
            <a:off x="914344" y="2943312"/>
            <a:ext cx="10260552" cy="9525"/>
          </a:xfrm>
          <a:prstGeom prst="rect">
            <a:avLst/>
          </a:prstGeom>
          <a:solidFill>
            <a:srgbClr val="2C323E"/>
          </a:solidFill>
          <a:ln/>
        </p:spPr>
      </p:sp>
      <p:sp>
        <p:nvSpPr>
          <p:cNvPr id="6" name="Text 4"/>
          <p:cNvSpPr/>
          <p:nvPr/>
        </p:nvSpPr>
        <p:spPr>
          <a:xfrm>
            <a:off x="914344" y="2604453"/>
            <a:ext cx="10568368" cy="26266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UMBRAL</a:t>
            </a:r>
            <a:endParaRPr lang="en-US" sz="1350" dirty="0"/>
          </a:p>
        </p:txBody>
      </p:sp>
      <p:sp>
        <p:nvSpPr>
          <p:cNvPr id="7" name="Shape 5"/>
          <p:cNvSpPr/>
          <p:nvPr/>
        </p:nvSpPr>
        <p:spPr>
          <a:xfrm>
            <a:off x="11841633" y="2943312"/>
            <a:ext cx="1131495" cy="9525"/>
          </a:xfrm>
          <a:prstGeom prst="rect">
            <a:avLst/>
          </a:prstGeom>
          <a:solidFill>
            <a:srgbClr val="2C323E"/>
          </a:solidFill>
          <a:ln/>
        </p:spPr>
      </p:sp>
      <p:sp>
        <p:nvSpPr>
          <p:cNvPr id="8" name="Text 6"/>
          <p:cNvSpPr/>
          <p:nvPr/>
        </p:nvSpPr>
        <p:spPr>
          <a:xfrm>
            <a:off x="11765433" y="2604453"/>
            <a:ext cx="1207695"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ALERTAS/DÍA</a:t>
            </a:r>
            <a:endParaRPr lang="en-US" sz="1350" dirty="0"/>
          </a:p>
        </p:txBody>
      </p:sp>
      <p:sp>
        <p:nvSpPr>
          <p:cNvPr id="9" name="Shape 7"/>
          <p:cNvSpPr/>
          <p:nvPr/>
        </p:nvSpPr>
        <p:spPr>
          <a:xfrm>
            <a:off x="13639864" y="2943312"/>
            <a:ext cx="1028693" cy="9525"/>
          </a:xfrm>
          <a:prstGeom prst="rect">
            <a:avLst/>
          </a:prstGeom>
          <a:solidFill>
            <a:srgbClr val="2C323E"/>
          </a:solidFill>
          <a:ln/>
        </p:spPr>
      </p:sp>
      <p:sp>
        <p:nvSpPr>
          <p:cNvPr id="10" name="Text 8"/>
          <p:cNvSpPr/>
          <p:nvPr/>
        </p:nvSpPr>
        <p:spPr>
          <a:xfrm>
            <a:off x="13563664" y="2604453"/>
            <a:ext cx="1104893"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DETECTADOS</a:t>
            </a:r>
            <a:endParaRPr lang="en-US" sz="1350" dirty="0"/>
          </a:p>
        </p:txBody>
      </p:sp>
      <p:sp>
        <p:nvSpPr>
          <p:cNvPr id="11" name="Shape 9"/>
          <p:cNvSpPr/>
          <p:nvPr/>
        </p:nvSpPr>
        <p:spPr>
          <a:xfrm>
            <a:off x="15335295" y="2943312"/>
            <a:ext cx="822864" cy="9525"/>
          </a:xfrm>
          <a:prstGeom prst="rect">
            <a:avLst/>
          </a:prstGeom>
          <a:solidFill>
            <a:srgbClr val="2C323E"/>
          </a:solidFill>
          <a:ln/>
        </p:spPr>
      </p:sp>
      <p:sp>
        <p:nvSpPr>
          <p:cNvPr id="12" name="Text 10"/>
          <p:cNvSpPr/>
          <p:nvPr/>
        </p:nvSpPr>
        <p:spPr>
          <a:xfrm>
            <a:off x="15259095" y="2604453"/>
            <a:ext cx="899064"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FALSAS</a:t>
            </a:r>
            <a:endParaRPr lang="en-US" sz="1350" dirty="0"/>
          </a:p>
        </p:txBody>
      </p:sp>
      <p:sp>
        <p:nvSpPr>
          <p:cNvPr id="13" name="Shape 11"/>
          <p:cNvSpPr/>
          <p:nvPr/>
        </p:nvSpPr>
        <p:spPr>
          <a:xfrm>
            <a:off x="16824896" y="2943312"/>
            <a:ext cx="548651" cy="9525"/>
          </a:xfrm>
          <a:prstGeom prst="rect">
            <a:avLst/>
          </a:prstGeom>
          <a:solidFill>
            <a:srgbClr val="2C323E"/>
          </a:solidFill>
          <a:ln/>
        </p:spPr>
      </p:sp>
      <p:sp>
        <p:nvSpPr>
          <p:cNvPr id="14" name="Text 12"/>
          <p:cNvSpPr/>
          <p:nvPr/>
        </p:nvSpPr>
        <p:spPr>
          <a:xfrm>
            <a:off x="16748696" y="2604453"/>
            <a:ext cx="624851" cy="26266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F1</a:t>
            </a:r>
            <a:endParaRPr lang="en-US" sz="1350" dirty="0"/>
          </a:p>
        </p:txBody>
      </p:sp>
      <p:sp>
        <p:nvSpPr>
          <p:cNvPr id="15" name="Shape 13"/>
          <p:cNvSpPr/>
          <p:nvPr/>
        </p:nvSpPr>
        <p:spPr>
          <a:xfrm>
            <a:off x="914344" y="3457093"/>
            <a:ext cx="10260552" cy="9525"/>
          </a:xfrm>
          <a:prstGeom prst="rect">
            <a:avLst/>
          </a:prstGeom>
          <a:solidFill>
            <a:srgbClr val="1C212A"/>
          </a:solidFill>
          <a:ln/>
        </p:spPr>
      </p:sp>
      <p:sp>
        <p:nvSpPr>
          <p:cNvPr id="16" name="Text 14"/>
          <p:cNvSpPr/>
          <p:nvPr/>
        </p:nvSpPr>
        <p:spPr>
          <a:xfrm>
            <a:off x="914344" y="3055333"/>
            <a:ext cx="10568368" cy="33508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0,20</a:t>
            </a:r>
            <a:endParaRPr lang="en-US" sz="1800" dirty="0"/>
          </a:p>
        </p:txBody>
      </p:sp>
      <p:sp>
        <p:nvSpPr>
          <p:cNvPr id="17" name="Shape 15"/>
          <p:cNvSpPr/>
          <p:nvPr/>
        </p:nvSpPr>
        <p:spPr>
          <a:xfrm>
            <a:off x="11841633" y="3457093"/>
            <a:ext cx="1131495" cy="9525"/>
          </a:xfrm>
          <a:prstGeom prst="rect">
            <a:avLst/>
          </a:prstGeom>
          <a:solidFill>
            <a:srgbClr val="1C212A"/>
          </a:solidFill>
          <a:ln/>
        </p:spPr>
      </p:sp>
      <p:sp>
        <p:nvSpPr>
          <p:cNvPr id="18" name="Text 16"/>
          <p:cNvSpPr/>
          <p:nvPr/>
        </p:nvSpPr>
        <p:spPr>
          <a:xfrm>
            <a:off x="11765433" y="3055333"/>
            <a:ext cx="1207695"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2,70</a:t>
            </a:r>
            <a:endParaRPr lang="en-US" sz="1800" dirty="0"/>
          </a:p>
        </p:txBody>
      </p:sp>
      <p:sp>
        <p:nvSpPr>
          <p:cNvPr id="19" name="Shape 17"/>
          <p:cNvSpPr/>
          <p:nvPr/>
        </p:nvSpPr>
        <p:spPr>
          <a:xfrm>
            <a:off x="13639864" y="3457093"/>
            <a:ext cx="1028693" cy="9525"/>
          </a:xfrm>
          <a:prstGeom prst="rect">
            <a:avLst/>
          </a:prstGeom>
          <a:solidFill>
            <a:srgbClr val="1C212A"/>
          </a:solidFill>
          <a:ln/>
        </p:spPr>
      </p:sp>
      <p:sp>
        <p:nvSpPr>
          <p:cNvPr id="20" name="Text 18"/>
          <p:cNvSpPr/>
          <p:nvPr/>
        </p:nvSpPr>
        <p:spPr>
          <a:xfrm>
            <a:off x="13563664" y="3055333"/>
            <a:ext cx="1104893"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97,6 %</a:t>
            </a:r>
            <a:endParaRPr lang="en-US" sz="1800" dirty="0"/>
          </a:p>
        </p:txBody>
      </p:sp>
      <p:sp>
        <p:nvSpPr>
          <p:cNvPr id="21" name="Shape 19"/>
          <p:cNvSpPr/>
          <p:nvPr/>
        </p:nvSpPr>
        <p:spPr>
          <a:xfrm>
            <a:off x="15335295" y="3457093"/>
            <a:ext cx="822864" cy="9525"/>
          </a:xfrm>
          <a:prstGeom prst="rect">
            <a:avLst/>
          </a:prstGeom>
          <a:solidFill>
            <a:srgbClr val="1C212A"/>
          </a:solidFill>
          <a:ln/>
        </p:spPr>
      </p:sp>
      <p:sp>
        <p:nvSpPr>
          <p:cNvPr id="22" name="Text 20"/>
          <p:cNvSpPr/>
          <p:nvPr/>
        </p:nvSpPr>
        <p:spPr>
          <a:xfrm>
            <a:off x="15259095" y="3055333"/>
            <a:ext cx="899064" cy="335085"/>
          </a:xfrm>
          <a:prstGeom prst="rect">
            <a:avLst/>
          </a:prstGeom>
          <a:noFill/>
          <a:ln/>
        </p:spPr>
        <p:txBody>
          <a:bodyPr wrap="non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52,7 %</a:t>
            </a:r>
            <a:endParaRPr lang="en-US" sz="1800" dirty="0"/>
          </a:p>
        </p:txBody>
      </p:sp>
      <p:sp>
        <p:nvSpPr>
          <p:cNvPr id="23" name="Shape 21"/>
          <p:cNvSpPr/>
          <p:nvPr/>
        </p:nvSpPr>
        <p:spPr>
          <a:xfrm>
            <a:off x="16824896" y="3457093"/>
            <a:ext cx="548651" cy="9525"/>
          </a:xfrm>
          <a:prstGeom prst="rect">
            <a:avLst/>
          </a:prstGeom>
          <a:solidFill>
            <a:srgbClr val="1C212A"/>
          </a:solidFill>
          <a:ln/>
        </p:spPr>
      </p:sp>
      <p:sp>
        <p:nvSpPr>
          <p:cNvPr id="24" name="Text 22"/>
          <p:cNvSpPr/>
          <p:nvPr/>
        </p:nvSpPr>
        <p:spPr>
          <a:xfrm>
            <a:off x="16748696" y="3055333"/>
            <a:ext cx="624851"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0,28</a:t>
            </a:r>
            <a:endParaRPr lang="en-US" sz="1800" dirty="0"/>
          </a:p>
        </p:txBody>
      </p:sp>
      <p:sp>
        <p:nvSpPr>
          <p:cNvPr id="25" name="Shape 23"/>
          <p:cNvSpPr/>
          <p:nvPr/>
        </p:nvSpPr>
        <p:spPr>
          <a:xfrm>
            <a:off x="914344" y="3970873"/>
            <a:ext cx="10260552" cy="9525"/>
          </a:xfrm>
          <a:prstGeom prst="rect">
            <a:avLst/>
          </a:prstGeom>
          <a:solidFill>
            <a:srgbClr val="1C212A"/>
          </a:solidFill>
          <a:ln/>
        </p:spPr>
      </p:sp>
      <p:sp>
        <p:nvSpPr>
          <p:cNvPr id="26" name="Text 24"/>
          <p:cNvSpPr/>
          <p:nvPr/>
        </p:nvSpPr>
        <p:spPr>
          <a:xfrm>
            <a:off x="914344" y="3569114"/>
            <a:ext cx="10568368" cy="33508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0,30</a:t>
            </a:r>
            <a:endParaRPr lang="en-US" sz="1800" dirty="0"/>
          </a:p>
        </p:txBody>
      </p:sp>
      <p:sp>
        <p:nvSpPr>
          <p:cNvPr id="27" name="Shape 25"/>
          <p:cNvSpPr/>
          <p:nvPr/>
        </p:nvSpPr>
        <p:spPr>
          <a:xfrm>
            <a:off x="11841633" y="3970873"/>
            <a:ext cx="1131495" cy="9525"/>
          </a:xfrm>
          <a:prstGeom prst="rect">
            <a:avLst/>
          </a:prstGeom>
          <a:solidFill>
            <a:srgbClr val="1C212A"/>
          </a:solidFill>
          <a:ln/>
        </p:spPr>
      </p:sp>
      <p:sp>
        <p:nvSpPr>
          <p:cNvPr id="28" name="Text 26"/>
          <p:cNvSpPr/>
          <p:nvPr/>
        </p:nvSpPr>
        <p:spPr>
          <a:xfrm>
            <a:off x="11765433" y="3569114"/>
            <a:ext cx="1207695"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2,92</a:t>
            </a:r>
            <a:endParaRPr lang="en-US" sz="1800" dirty="0"/>
          </a:p>
        </p:txBody>
      </p:sp>
      <p:sp>
        <p:nvSpPr>
          <p:cNvPr id="29" name="Shape 27"/>
          <p:cNvSpPr/>
          <p:nvPr/>
        </p:nvSpPr>
        <p:spPr>
          <a:xfrm>
            <a:off x="13639864" y="3970873"/>
            <a:ext cx="1028693" cy="9525"/>
          </a:xfrm>
          <a:prstGeom prst="rect">
            <a:avLst/>
          </a:prstGeom>
          <a:solidFill>
            <a:srgbClr val="1C212A"/>
          </a:solidFill>
          <a:ln/>
        </p:spPr>
      </p:sp>
      <p:sp>
        <p:nvSpPr>
          <p:cNvPr id="30" name="Text 28"/>
          <p:cNvSpPr/>
          <p:nvPr/>
        </p:nvSpPr>
        <p:spPr>
          <a:xfrm>
            <a:off x="13563664" y="3569114"/>
            <a:ext cx="1104893"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91,7 %</a:t>
            </a:r>
            <a:endParaRPr lang="en-US" sz="1800" dirty="0"/>
          </a:p>
        </p:txBody>
      </p:sp>
      <p:sp>
        <p:nvSpPr>
          <p:cNvPr id="31" name="Shape 29"/>
          <p:cNvSpPr/>
          <p:nvPr/>
        </p:nvSpPr>
        <p:spPr>
          <a:xfrm>
            <a:off x="15335295" y="3970873"/>
            <a:ext cx="822864" cy="9525"/>
          </a:xfrm>
          <a:prstGeom prst="rect">
            <a:avLst/>
          </a:prstGeom>
          <a:solidFill>
            <a:srgbClr val="1C212A"/>
          </a:solidFill>
          <a:ln/>
        </p:spPr>
      </p:sp>
      <p:sp>
        <p:nvSpPr>
          <p:cNvPr id="32" name="Text 30"/>
          <p:cNvSpPr/>
          <p:nvPr/>
        </p:nvSpPr>
        <p:spPr>
          <a:xfrm>
            <a:off x="15259095" y="3569114"/>
            <a:ext cx="899064" cy="335085"/>
          </a:xfrm>
          <a:prstGeom prst="rect">
            <a:avLst/>
          </a:prstGeom>
          <a:noFill/>
          <a:ln/>
        </p:spPr>
        <p:txBody>
          <a:bodyPr wrap="non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43,8 %</a:t>
            </a:r>
            <a:endParaRPr lang="en-US" sz="1800" dirty="0"/>
          </a:p>
        </p:txBody>
      </p:sp>
      <p:sp>
        <p:nvSpPr>
          <p:cNvPr id="33" name="Shape 31"/>
          <p:cNvSpPr/>
          <p:nvPr/>
        </p:nvSpPr>
        <p:spPr>
          <a:xfrm>
            <a:off x="16824896" y="3970873"/>
            <a:ext cx="548651" cy="9525"/>
          </a:xfrm>
          <a:prstGeom prst="rect">
            <a:avLst/>
          </a:prstGeom>
          <a:solidFill>
            <a:srgbClr val="1C212A"/>
          </a:solidFill>
          <a:ln/>
        </p:spPr>
      </p:sp>
      <p:sp>
        <p:nvSpPr>
          <p:cNvPr id="34" name="Text 32"/>
          <p:cNvSpPr/>
          <p:nvPr/>
        </p:nvSpPr>
        <p:spPr>
          <a:xfrm>
            <a:off x="16748696" y="3569114"/>
            <a:ext cx="624851"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0,35</a:t>
            </a:r>
            <a:endParaRPr lang="en-US" sz="1800" dirty="0"/>
          </a:p>
        </p:txBody>
      </p:sp>
      <p:sp>
        <p:nvSpPr>
          <p:cNvPr id="35" name="Shape 33"/>
          <p:cNvSpPr/>
          <p:nvPr/>
        </p:nvSpPr>
        <p:spPr>
          <a:xfrm>
            <a:off x="914344" y="3978119"/>
            <a:ext cx="10260552" cy="470305"/>
          </a:xfrm>
          <a:prstGeom prst="rect">
            <a:avLst/>
          </a:prstGeom>
          <a:solidFill>
            <a:srgbClr val="1A2A1E"/>
          </a:solidFill>
          <a:ln/>
        </p:spPr>
      </p:sp>
      <p:sp>
        <p:nvSpPr>
          <p:cNvPr id="36" name="Shape 34"/>
          <p:cNvSpPr/>
          <p:nvPr/>
        </p:nvSpPr>
        <p:spPr>
          <a:xfrm>
            <a:off x="914344" y="4441178"/>
            <a:ext cx="10260552" cy="9525"/>
          </a:xfrm>
          <a:prstGeom prst="rect">
            <a:avLst/>
          </a:prstGeom>
          <a:solidFill>
            <a:srgbClr val="1C212A"/>
          </a:solidFill>
          <a:ln/>
        </p:spPr>
      </p:sp>
      <p:sp>
        <p:nvSpPr>
          <p:cNvPr id="37" name="Text 35"/>
          <p:cNvSpPr/>
          <p:nvPr/>
        </p:nvSpPr>
        <p:spPr>
          <a:xfrm>
            <a:off x="914344" y="4082894"/>
            <a:ext cx="10568368" cy="291609"/>
          </a:xfrm>
          <a:prstGeom prst="rect">
            <a:avLst/>
          </a:prstGeom>
          <a:noFill/>
          <a:ln/>
        </p:spPr>
        <p:txBody>
          <a:bodyPr wrap="square" lIns="25400" tIns="25400" rIns="25400" bIns="25400" rtlCol="0" anchor="t">
            <a:normAutofit/>
          </a:bodyPr>
          <a:lstStyle/>
          <a:p>
            <a:pPr algn="l" indent="0" marL="0">
              <a:buNone/>
            </a:pPr>
            <a:r>
              <a:rPr lang="en-US" sz="1800" b="1" dirty="0">
                <a:solidFill>
                  <a:srgbClr val="E6E9EF"/>
                </a:solidFill>
                <a:latin typeface="Courier New" pitchFamily="34" charset="0"/>
                <a:ea typeface="Courier New" pitchFamily="34" charset="-122"/>
                <a:cs typeface="Courier New" pitchFamily="34" charset="-120"/>
              </a:rPr>
              <a:t>0,40 ← propuesto</a:t>
            </a:r>
            <a:endParaRPr lang="en-US" sz="1800" dirty="0"/>
          </a:p>
        </p:txBody>
      </p:sp>
      <p:sp>
        <p:nvSpPr>
          <p:cNvPr id="38" name="Shape 36"/>
          <p:cNvSpPr/>
          <p:nvPr/>
        </p:nvSpPr>
        <p:spPr>
          <a:xfrm>
            <a:off x="11841633" y="3978119"/>
            <a:ext cx="1131495" cy="470305"/>
          </a:xfrm>
          <a:prstGeom prst="rect">
            <a:avLst/>
          </a:prstGeom>
          <a:solidFill>
            <a:srgbClr val="1A2A1E"/>
          </a:solidFill>
          <a:ln/>
        </p:spPr>
      </p:sp>
      <p:sp>
        <p:nvSpPr>
          <p:cNvPr id="39" name="Shape 37"/>
          <p:cNvSpPr/>
          <p:nvPr/>
        </p:nvSpPr>
        <p:spPr>
          <a:xfrm>
            <a:off x="11841633" y="4441178"/>
            <a:ext cx="1131495" cy="9525"/>
          </a:xfrm>
          <a:prstGeom prst="rect">
            <a:avLst/>
          </a:prstGeom>
          <a:solidFill>
            <a:srgbClr val="1C212A"/>
          </a:solidFill>
          <a:ln/>
        </p:spPr>
      </p:sp>
      <p:sp>
        <p:nvSpPr>
          <p:cNvPr id="40" name="Text 38"/>
          <p:cNvSpPr/>
          <p:nvPr/>
        </p:nvSpPr>
        <p:spPr>
          <a:xfrm>
            <a:off x="11765433" y="4082894"/>
            <a:ext cx="1207695" cy="291609"/>
          </a:xfrm>
          <a:prstGeom prst="rect">
            <a:avLst/>
          </a:prstGeom>
          <a:noFill/>
          <a:ln/>
        </p:spPr>
        <p:txBody>
          <a:bodyPr wrap="none" lIns="25400" tIns="25400" rIns="25400" bIns="25400" rtlCol="0" anchor="t">
            <a:normAutofit/>
          </a:bodyPr>
          <a:lstStyle/>
          <a:p>
            <a:pPr algn="r" indent="0" marL="0">
              <a:buNone/>
            </a:pPr>
            <a:r>
              <a:rPr lang="en-US" sz="1800" b="1" dirty="0">
                <a:solidFill>
                  <a:srgbClr val="7BD992"/>
                </a:solidFill>
                <a:latin typeface="Courier New" pitchFamily="34" charset="0"/>
                <a:ea typeface="Courier New" pitchFamily="34" charset="-122"/>
                <a:cs typeface="Courier New" pitchFamily="34" charset="-120"/>
              </a:rPr>
              <a:t>3,03</a:t>
            </a:r>
            <a:endParaRPr lang="en-US" sz="1800" dirty="0"/>
          </a:p>
        </p:txBody>
      </p:sp>
      <p:sp>
        <p:nvSpPr>
          <p:cNvPr id="41" name="Shape 39"/>
          <p:cNvSpPr/>
          <p:nvPr/>
        </p:nvSpPr>
        <p:spPr>
          <a:xfrm>
            <a:off x="13639864" y="3978119"/>
            <a:ext cx="1028693" cy="470305"/>
          </a:xfrm>
          <a:prstGeom prst="rect">
            <a:avLst/>
          </a:prstGeom>
          <a:solidFill>
            <a:srgbClr val="1A2A1E"/>
          </a:solidFill>
          <a:ln/>
        </p:spPr>
      </p:sp>
      <p:sp>
        <p:nvSpPr>
          <p:cNvPr id="42" name="Shape 40"/>
          <p:cNvSpPr/>
          <p:nvPr/>
        </p:nvSpPr>
        <p:spPr>
          <a:xfrm>
            <a:off x="13639864" y="4441178"/>
            <a:ext cx="1028693" cy="9525"/>
          </a:xfrm>
          <a:prstGeom prst="rect">
            <a:avLst/>
          </a:prstGeom>
          <a:solidFill>
            <a:srgbClr val="1C212A"/>
          </a:solidFill>
          <a:ln/>
        </p:spPr>
      </p:sp>
      <p:sp>
        <p:nvSpPr>
          <p:cNvPr id="43" name="Text 41"/>
          <p:cNvSpPr/>
          <p:nvPr/>
        </p:nvSpPr>
        <p:spPr>
          <a:xfrm>
            <a:off x="13563664" y="4082894"/>
            <a:ext cx="1104893" cy="291609"/>
          </a:xfrm>
          <a:prstGeom prst="rect">
            <a:avLst/>
          </a:prstGeom>
          <a:noFill/>
          <a:ln/>
        </p:spPr>
        <p:txBody>
          <a:bodyPr wrap="none" lIns="25400" tIns="25400" rIns="25400" bIns="25400" rtlCol="0" anchor="t">
            <a:normAutofit/>
          </a:bodyPr>
          <a:lstStyle/>
          <a:p>
            <a:pPr algn="r" indent="0" marL="0">
              <a:buNone/>
            </a:pPr>
            <a:r>
              <a:rPr lang="en-US" sz="1800" b="1" dirty="0">
                <a:solidFill>
                  <a:srgbClr val="7BD992"/>
                </a:solidFill>
                <a:latin typeface="Courier New" pitchFamily="34" charset="0"/>
                <a:ea typeface="Courier New" pitchFamily="34" charset="-122"/>
                <a:cs typeface="Courier New" pitchFamily="34" charset="-120"/>
              </a:rPr>
              <a:t>86,9 %</a:t>
            </a:r>
            <a:endParaRPr lang="en-US" sz="1800" dirty="0"/>
          </a:p>
        </p:txBody>
      </p:sp>
      <p:sp>
        <p:nvSpPr>
          <p:cNvPr id="44" name="Shape 42"/>
          <p:cNvSpPr/>
          <p:nvPr/>
        </p:nvSpPr>
        <p:spPr>
          <a:xfrm>
            <a:off x="15335295" y="3978119"/>
            <a:ext cx="822864" cy="470305"/>
          </a:xfrm>
          <a:prstGeom prst="rect">
            <a:avLst/>
          </a:prstGeom>
          <a:solidFill>
            <a:srgbClr val="1A2A1E"/>
          </a:solidFill>
          <a:ln/>
        </p:spPr>
      </p:sp>
      <p:sp>
        <p:nvSpPr>
          <p:cNvPr id="45" name="Shape 43"/>
          <p:cNvSpPr/>
          <p:nvPr/>
        </p:nvSpPr>
        <p:spPr>
          <a:xfrm>
            <a:off x="15335295" y="4441178"/>
            <a:ext cx="822864" cy="9525"/>
          </a:xfrm>
          <a:prstGeom prst="rect">
            <a:avLst/>
          </a:prstGeom>
          <a:solidFill>
            <a:srgbClr val="1C212A"/>
          </a:solidFill>
          <a:ln/>
        </p:spPr>
      </p:sp>
      <p:sp>
        <p:nvSpPr>
          <p:cNvPr id="46" name="Text 44"/>
          <p:cNvSpPr/>
          <p:nvPr/>
        </p:nvSpPr>
        <p:spPr>
          <a:xfrm>
            <a:off x="15259095" y="4082894"/>
            <a:ext cx="899064" cy="291609"/>
          </a:xfrm>
          <a:prstGeom prst="rect">
            <a:avLst/>
          </a:prstGeom>
          <a:noFill/>
          <a:ln/>
        </p:spPr>
        <p:txBody>
          <a:bodyPr wrap="none" lIns="25400" tIns="25400" rIns="25400" bIns="25400" rtlCol="0" anchor="t">
            <a:normAutofit/>
          </a:bodyPr>
          <a:lstStyle/>
          <a:p>
            <a:pPr algn="r" indent="0" marL="0">
              <a:buNone/>
            </a:pPr>
            <a:r>
              <a:rPr lang="en-US" sz="1800" b="1" dirty="0">
                <a:solidFill>
                  <a:srgbClr val="FFB877"/>
                </a:solidFill>
                <a:latin typeface="Courier New" pitchFamily="34" charset="0"/>
                <a:ea typeface="Courier New" pitchFamily="34" charset="-122"/>
                <a:cs typeface="Courier New" pitchFamily="34" charset="-120"/>
              </a:rPr>
              <a:t>37,3 %</a:t>
            </a:r>
            <a:endParaRPr lang="en-US" sz="1800" dirty="0"/>
          </a:p>
        </p:txBody>
      </p:sp>
      <p:sp>
        <p:nvSpPr>
          <p:cNvPr id="47" name="Shape 45"/>
          <p:cNvSpPr/>
          <p:nvPr/>
        </p:nvSpPr>
        <p:spPr>
          <a:xfrm>
            <a:off x="16824896" y="3978119"/>
            <a:ext cx="548651" cy="470305"/>
          </a:xfrm>
          <a:prstGeom prst="rect">
            <a:avLst/>
          </a:prstGeom>
          <a:solidFill>
            <a:srgbClr val="1A2A1E"/>
          </a:solidFill>
          <a:ln/>
        </p:spPr>
      </p:sp>
      <p:sp>
        <p:nvSpPr>
          <p:cNvPr id="48" name="Shape 46"/>
          <p:cNvSpPr/>
          <p:nvPr/>
        </p:nvSpPr>
        <p:spPr>
          <a:xfrm>
            <a:off x="16824896" y="4441178"/>
            <a:ext cx="548651" cy="9525"/>
          </a:xfrm>
          <a:prstGeom prst="rect">
            <a:avLst/>
          </a:prstGeom>
          <a:solidFill>
            <a:srgbClr val="1C212A"/>
          </a:solidFill>
          <a:ln/>
        </p:spPr>
      </p:sp>
      <p:sp>
        <p:nvSpPr>
          <p:cNvPr id="49" name="Text 47"/>
          <p:cNvSpPr/>
          <p:nvPr/>
        </p:nvSpPr>
        <p:spPr>
          <a:xfrm>
            <a:off x="16748696" y="4082894"/>
            <a:ext cx="624851" cy="291609"/>
          </a:xfrm>
          <a:prstGeom prst="rect">
            <a:avLst/>
          </a:prstGeom>
          <a:noFill/>
          <a:ln/>
        </p:spPr>
        <p:txBody>
          <a:bodyPr wrap="none" lIns="25400" tIns="25400" rIns="25400" bIns="25400" rtlCol="0" anchor="t">
            <a:normAutofit/>
          </a:bodyPr>
          <a:lstStyle/>
          <a:p>
            <a:pPr algn="r" indent="0" marL="0">
              <a:buNone/>
            </a:pPr>
            <a:r>
              <a:rPr lang="en-US" sz="1800" b="1" dirty="0">
                <a:solidFill>
                  <a:srgbClr val="7BD992"/>
                </a:solidFill>
                <a:latin typeface="Courier New" pitchFamily="34" charset="0"/>
                <a:ea typeface="Courier New" pitchFamily="34" charset="-122"/>
                <a:cs typeface="Courier New" pitchFamily="34" charset="-120"/>
              </a:rPr>
              <a:t>0,47</a:t>
            </a:r>
            <a:endParaRPr lang="en-US" sz="1800" dirty="0"/>
          </a:p>
        </p:txBody>
      </p:sp>
      <p:sp>
        <p:nvSpPr>
          <p:cNvPr id="50" name="Shape 48"/>
          <p:cNvSpPr/>
          <p:nvPr/>
        </p:nvSpPr>
        <p:spPr>
          <a:xfrm>
            <a:off x="914344" y="4954959"/>
            <a:ext cx="10260552" cy="9525"/>
          </a:xfrm>
          <a:prstGeom prst="rect">
            <a:avLst/>
          </a:prstGeom>
          <a:solidFill>
            <a:srgbClr val="1C212A"/>
          </a:solidFill>
          <a:ln/>
        </p:spPr>
      </p:sp>
      <p:sp>
        <p:nvSpPr>
          <p:cNvPr id="51" name="Text 49"/>
          <p:cNvSpPr/>
          <p:nvPr/>
        </p:nvSpPr>
        <p:spPr>
          <a:xfrm>
            <a:off x="914344" y="4553199"/>
            <a:ext cx="10568368" cy="33508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0,50 (por defecto)</a:t>
            </a:r>
            <a:endParaRPr lang="en-US" sz="1800" dirty="0"/>
          </a:p>
        </p:txBody>
      </p:sp>
      <p:sp>
        <p:nvSpPr>
          <p:cNvPr id="52" name="Shape 50"/>
          <p:cNvSpPr/>
          <p:nvPr/>
        </p:nvSpPr>
        <p:spPr>
          <a:xfrm>
            <a:off x="11841633" y="4954959"/>
            <a:ext cx="1131495" cy="9525"/>
          </a:xfrm>
          <a:prstGeom prst="rect">
            <a:avLst/>
          </a:prstGeom>
          <a:solidFill>
            <a:srgbClr val="1C212A"/>
          </a:solidFill>
          <a:ln/>
        </p:spPr>
      </p:sp>
      <p:sp>
        <p:nvSpPr>
          <p:cNvPr id="53" name="Text 51"/>
          <p:cNvSpPr/>
          <p:nvPr/>
        </p:nvSpPr>
        <p:spPr>
          <a:xfrm>
            <a:off x="11765433" y="4553199"/>
            <a:ext cx="1207695" cy="335085"/>
          </a:xfrm>
          <a:prstGeom prst="rect">
            <a:avLst/>
          </a:prstGeom>
          <a:noFill/>
          <a:ln/>
        </p:spPr>
        <p:txBody>
          <a:bodyPr wrap="non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3,83</a:t>
            </a:r>
            <a:endParaRPr lang="en-US" sz="1800" dirty="0"/>
          </a:p>
        </p:txBody>
      </p:sp>
      <p:sp>
        <p:nvSpPr>
          <p:cNvPr id="54" name="Shape 52"/>
          <p:cNvSpPr/>
          <p:nvPr/>
        </p:nvSpPr>
        <p:spPr>
          <a:xfrm>
            <a:off x="13639864" y="4954959"/>
            <a:ext cx="1028693" cy="9525"/>
          </a:xfrm>
          <a:prstGeom prst="rect">
            <a:avLst/>
          </a:prstGeom>
          <a:solidFill>
            <a:srgbClr val="1C212A"/>
          </a:solidFill>
          <a:ln/>
        </p:spPr>
      </p:sp>
      <p:sp>
        <p:nvSpPr>
          <p:cNvPr id="55" name="Text 53"/>
          <p:cNvSpPr/>
          <p:nvPr/>
        </p:nvSpPr>
        <p:spPr>
          <a:xfrm>
            <a:off x="13563664" y="4553199"/>
            <a:ext cx="1104893" cy="335085"/>
          </a:xfrm>
          <a:prstGeom prst="rect">
            <a:avLst/>
          </a:prstGeom>
          <a:noFill/>
          <a:ln/>
        </p:spPr>
        <p:txBody>
          <a:bodyPr wrap="non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75,0 %</a:t>
            </a:r>
            <a:endParaRPr lang="en-US" sz="1800" dirty="0"/>
          </a:p>
        </p:txBody>
      </p:sp>
      <p:sp>
        <p:nvSpPr>
          <p:cNvPr id="56" name="Shape 54"/>
          <p:cNvSpPr/>
          <p:nvPr/>
        </p:nvSpPr>
        <p:spPr>
          <a:xfrm>
            <a:off x="15335295" y="4954959"/>
            <a:ext cx="822864" cy="9525"/>
          </a:xfrm>
          <a:prstGeom prst="rect">
            <a:avLst/>
          </a:prstGeom>
          <a:solidFill>
            <a:srgbClr val="1C212A"/>
          </a:solidFill>
          <a:ln/>
        </p:spPr>
      </p:sp>
      <p:sp>
        <p:nvSpPr>
          <p:cNvPr id="57" name="Text 55"/>
          <p:cNvSpPr/>
          <p:nvPr/>
        </p:nvSpPr>
        <p:spPr>
          <a:xfrm>
            <a:off x="15259095" y="4553199"/>
            <a:ext cx="899064" cy="335085"/>
          </a:xfrm>
          <a:prstGeom prst="rect">
            <a:avLst/>
          </a:prstGeom>
          <a:noFill/>
          <a:ln/>
        </p:spPr>
        <p:txBody>
          <a:bodyPr wrap="none" lIns="25400" tIns="25400" rIns="25400" bIns="25400" rtlCol="0" anchor="t">
            <a:normAutofit/>
          </a:bodyPr>
          <a:lstStyle/>
          <a:p>
            <a:pPr algn="r" indent="0" marL="0">
              <a:buNone/>
            </a:pPr>
            <a:r>
              <a:rPr lang="en-US" sz="1800" dirty="0">
                <a:solidFill>
                  <a:srgbClr val="FFB877"/>
                </a:solidFill>
                <a:latin typeface="Courier New" pitchFamily="34" charset="0"/>
                <a:ea typeface="Courier New" pitchFamily="34" charset="-122"/>
                <a:cs typeface="Courier New" pitchFamily="34" charset="-120"/>
              </a:rPr>
              <a:t>38,1 %</a:t>
            </a:r>
            <a:endParaRPr lang="en-US" sz="1800" dirty="0"/>
          </a:p>
        </p:txBody>
      </p:sp>
      <p:sp>
        <p:nvSpPr>
          <p:cNvPr id="58" name="Shape 56"/>
          <p:cNvSpPr/>
          <p:nvPr/>
        </p:nvSpPr>
        <p:spPr>
          <a:xfrm>
            <a:off x="16824896" y="4954959"/>
            <a:ext cx="548651" cy="9525"/>
          </a:xfrm>
          <a:prstGeom prst="rect">
            <a:avLst/>
          </a:prstGeom>
          <a:solidFill>
            <a:srgbClr val="1C212A"/>
          </a:solidFill>
          <a:ln/>
        </p:spPr>
      </p:sp>
      <p:sp>
        <p:nvSpPr>
          <p:cNvPr id="59" name="Text 57"/>
          <p:cNvSpPr/>
          <p:nvPr/>
        </p:nvSpPr>
        <p:spPr>
          <a:xfrm>
            <a:off x="16748696" y="4553199"/>
            <a:ext cx="624851"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0,57</a:t>
            </a:r>
            <a:endParaRPr lang="en-US" sz="1800" dirty="0"/>
          </a:p>
        </p:txBody>
      </p:sp>
      <p:sp>
        <p:nvSpPr>
          <p:cNvPr id="60" name="Shape 58"/>
          <p:cNvSpPr/>
          <p:nvPr/>
        </p:nvSpPr>
        <p:spPr>
          <a:xfrm>
            <a:off x="914344" y="5468739"/>
            <a:ext cx="10260552" cy="9525"/>
          </a:xfrm>
          <a:prstGeom prst="rect">
            <a:avLst/>
          </a:prstGeom>
          <a:solidFill>
            <a:srgbClr val="1C212A"/>
          </a:solidFill>
          <a:ln/>
        </p:spPr>
      </p:sp>
      <p:sp>
        <p:nvSpPr>
          <p:cNvPr id="61" name="Text 59"/>
          <p:cNvSpPr/>
          <p:nvPr/>
        </p:nvSpPr>
        <p:spPr>
          <a:xfrm>
            <a:off x="914344" y="5066980"/>
            <a:ext cx="10568368" cy="33508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0,60</a:t>
            </a:r>
            <a:endParaRPr lang="en-US" sz="1800" dirty="0"/>
          </a:p>
        </p:txBody>
      </p:sp>
      <p:sp>
        <p:nvSpPr>
          <p:cNvPr id="62" name="Shape 60"/>
          <p:cNvSpPr/>
          <p:nvPr/>
        </p:nvSpPr>
        <p:spPr>
          <a:xfrm>
            <a:off x="11841633" y="5468739"/>
            <a:ext cx="1131495" cy="9525"/>
          </a:xfrm>
          <a:prstGeom prst="rect">
            <a:avLst/>
          </a:prstGeom>
          <a:solidFill>
            <a:srgbClr val="1C212A"/>
          </a:solidFill>
          <a:ln/>
        </p:spPr>
      </p:sp>
      <p:sp>
        <p:nvSpPr>
          <p:cNvPr id="63" name="Text 61"/>
          <p:cNvSpPr/>
          <p:nvPr/>
        </p:nvSpPr>
        <p:spPr>
          <a:xfrm>
            <a:off x="11765433" y="5066980"/>
            <a:ext cx="1207695"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2,01</a:t>
            </a:r>
            <a:endParaRPr lang="en-US" sz="1800" dirty="0"/>
          </a:p>
        </p:txBody>
      </p:sp>
      <p:sp>
        <p:nvSpPr>
          <p:cNvPr id="64" name="Shape 62"/>
          <p:cNvSpPr/>
          <p:nvPr/>
        </p:nvSpPr>
        <p:spPr>
          <a:xfrm>
            <a:off x="13639864" y="5468739"/>
            <a:ext cx="1028693" cy="9525"/>
          </a:xfrm>
          <a:prstGeom prst="rect">
            <a:avLst/>
          </a:prstGeom>
          <a:solidFill>
            <a:srgbClr val="1C212A"/>
          </a:solidFill>
          <a:ln/>
        </p:spPr>
      </p:sp>
      <p:sp>
        <p:nvSpPr>
          <p:cNvPr id="65" name="Text 63"/>
          <p:cNvSpPr/>
          <p:nvPr/>
        </p:nvSpPr>
        <p:spPr>
          <a:xfrm>
            <a:off x="13563664" y="5066980"/>
            <a:ext cx="1104893" cy="335085"/>
          </a:xfrm>
          <a:prstGeom prst="rect">
            <a:avLst/>
          </a:prstGeom>
          <a:noFill/>
          <a:ln/>
        </p:spPr>
        <p:txBody>
          <a:bodyPr wrap="non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45,2 %</a:t>
            </a:r>
            <a:endParaRPr lang="en-US" sz="1800" dirty="0"/>
          </a:p>
        </p:txBody>
      </p:sp>
      <p:sp>
        <p:nvSpPr>
          <p:cNvPr id="66" name="Shape 64"/>
          <p:cNvSpPr/>
          <p:nvPr/>
        </p:nvSpPr>
        <p:spPr>
          <a:xfrm>
            <a:off x="15335295" y="5468739"/>
            <a:ext cx="822864" cy="9525"/>
          </a:xfrm>
          <a:prstGeom prst="rect">
            <a:avLst/>
          </a:prstGeom>
          <a:solidFill>
            <a:srgbClr val="1C212A"/>
          </a:solidFill>
          <a:ln/>
        </p:spPr>
      </p:sp>
      <p:sp>
        <p:nvSpPr>
          <p:cNvPr id="67" name="Text 65"/>
          <p:cNvSpPr/>
          <p:nvPr/>
        </p:nvSpPr>
        <p:spPr>
          <a:xfrm>
            <a:off x="15259095" y="5066980"/>
            <a:ext cx="899064" cy="335085"/>
          </a:xfrm>
          <a:prstGeom prst="rect">
            <a:avLst/>
          </a:prstGeom>
          <a:noFill/>
          <a:ln/>
        </p:spPr>
        <p:txBody>
          <a:bodyPr wrap="non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20,0 %</a:t>
            </a:r>
            <a:endParaRPr lang="en-US" sz="1800" dirty="0"/>
          </a:p>
        </p:txBody>
      </p:sp>
      <p:sp>
        <p:nvSpPr>
          <p:cNvPr id="68" name="Shape 66"/>
          <p:cNvSpPr/>
          <p:nvPr/>
        </p:nvSpPr>
        <p:spPr>
          <a:xfrm>
            <a:off x="16824896" y="5468739"/>
            <a:ext cx="548651" cy="9525"/>
          </a:xfrm>
          <a:prstGeom prst="rect">
            <a:avLst/>
          </a:prstGeom>
          <a:solidFill>
            <a:srgbClr val="1C212A"/>
          </a:solidFill>
          <a:ln/>
        </p:spPr>
      </p:sp>
      <p:sp>
        <p:nvSpPr>
          <p:cNvPr id="69" name="Text 67"/>
          <p:cNvSpPr/>
          <p:nvPr/>
        </p:nvSpPr>
        <p:spPr>
          <a:xfrm>
            <a:off x="16748696" y="5066980"/>
            <a:ext cx="624851"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0,40</a:t>
            </a:r>
            <a:endParaRPr lang="en-US" sz="1800" dirty="0"/>
          </a:p>
        </p:txBody>
      </p:sp>
      <p:sp>
        <p:nvSpPr>
          <p:cNvPr id="70" name="Text 68"/>
          <p:cNvSpPr/>
          <p:nvPr/>
        </p:nvSpPr>
        <p:spPr>
          <a:xfrm>
            <a:off x="914344" y="5580761"/>
            <a:ext cx="10568368" cy="33508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0,70</a:t>
            </a:r>
            <a:endParaRPr lang="en-US" sz="1800" dirty="0"/>
          </a:p>
        </p:txBody>
      </p:sp>
      <p:sp>
        <p:nvSpPr>
          <p:cNvPr id="71" name="Text 69"/>
          <p:cNvSpPr/>
          <p:nvPr/>
        </p:nvSpPr>
        <p:spPr>
          <a:xfrm>
            <a:off x="11765433" y="5580761"/>
            <a:ext cx="1207695"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0,40</a:t>
            </a:r>
            <a:endParaRPr lang="en-US" sz="1800" dirty="0"/>
          </a:p>
        </p:txBody>
      </p:sp>
      <p:sp>
        <p:nvSpPr>
          <p:cNvPr id="72" name="Text 70"/>
          <p:cNvSpPr/>
          <p:nvPr/>
        </p:nvSpPr>
        <p:spPr>
          <a:xfrm>
            <a:off x="13563664" y="5580761"/>
            <a:ext cx="1104893" cy="335085"/>
          </a:xfrm>
          <a:prstGeom prst="rect">
            <a:avLst/>
          </a:prstGeom>
          <a:noFill/>
          <a:ln/>
        </p:spPr>
        <p:txBody>
          <a:bodyPr wrap="none" lIns="25400" tIns="25400" rIns="25400" bIns="25400" rtlCol="0" anchor="t">
            <a:normAutofit/>
          </a:bodyPr>
          <a:lstStyle/>
          <a:p>
            <a:pPr algn="r" indent="0" marL="0">
              <a:buNone/>
            </a:pPr>
            <a:r>
              <a:rPr lang="en-US" sz="1800" dirty="0">
                <a:solidFill>
                  <a:srgbClr val="F28B82"/>
                </a:solidFill>
                <a:latin typeface="Courier New" pitchFamily="34" charset="0"/>
                <a:ea typeface="Courier New" pitchFamily="34" charset="-122"/>
                <a:cs typeface="Courier New" pitchFamily="34" charset="-120"/>
              </a:rPr>
              <a:t>11,9 %</a:t>
            </a:r>
            <a:endParaRPr lang="en-US" sz="1800" dirty="0"/>
          </a:p>
        </p:txBody>
      </p:sp>
      <p:sp>
        <p:nvSpPr>
          <p:cNvPr id="73" name="Text 71"/>
          <p:cNvSpPr/>
          <p:nvPr/>
        </p:nvSpPr>
        <p:spPr>
          <a:xfrm>
            <a:off x="15259095" y="5580761"/>
            <a:ext cx="899064" cy="335085"/>
          </a:xfrm>
          <a:prstGeom prst="rect">
            <a:avLst/>
          </a:prstGeom>
          <a:noFill/>
          <a:ln/>
        </p:spPr>
        <p:txBody>
          <a:bodyPr wrap="none" lIns="25400" tIns="25400" rIns="25400" bIns="25400" rtlCol="0" anchor="t">
            <a:normAutofit/>
          </a:bodyPr>
          <a:lstStyle/>
          <a:p>
            <a:pPr algn="r" indent="0" marL="0">
              <a:buNone/>
            </a:pPr>
            <a:r>
              <a:rPr lang="en-US" sz="1800" dirty="0">
                <a:solidFill>
                  <a:srgbClr val="7BD992"/>
                </a:solidFill>
                <a:latin typeface="Courier New" pitchFamily="34" charset="0"/>
                <a:ea typeface="Courier New" pitchFamily="34" charset="-122"/>
                <a:cs typeface="Courier New" pitchFamily="34" charset="-120"/>
              </a:rPr>
              <a:t>0,0 %</a:t>
            </a:r>
            <a:endParaRPr lang="en-US" sz="1800" dirty="0"/>
          </a:p>
        </p:txBody>
      </p:sp>
      <p:sp>
        <p:nvSpPr>
          <p:cNvPr id="74" name="Text 72"/>
          <p:cNvSpPr/>
          <p:nvPr/>
        </p:nvSpPr>
        <p:spPr>
          <a:xfrm>
            <a:off x="16748696" y="5580761"/>
            <a:ext cx="624851" cy="335085"/>
          </a:xfrm>
          <a:prstGeom prst="rect">
            <a:avLst/>
          </a:prstGeom>
          <a:noFill/>
          <a:ln/>
        </p:spPr>
        <p:txBody>
          <a:bodyPr wrap="none" lIns="25400" tIns="25400" rIns="25400" bIns="25400" rtlCol="0" anchor="t">
            <a:normAutofit/>
          </a:bodyPr>
          <a:lstStyle/>
          <a:p>
            <a:pPr algn="r" indent="0" marL="0">
              <a:buNone/>
            </a:pPr>
            <a:r>
              <a:rPr lang="en-US" sz="1800" dirty="0">
                <a:solidFill>
                  <a:srgbClr val="8B93A3"/>
                </a:solidFill>
                <a:latin typeface="Courier New" pitchFamily="34" charset="0"/>
                <a:ea typeface="Courier New" pitchFamily="34" charset="-122"/>
                <a:cs typeface="Courier New" pitchFamily="34" charset="-120"/>
              </a:rPr>
              <a:t>0,15</a:t>
            </a:r>
            <a:endParaRPr lang="en-US" sz="1800" dirty="0"/>
          </a:p>
        </p:txBody>
      </p:sp>
      <p:sp>
        <p:nvSpPr>
          <p:cNvPr id="75" name="Shape 73"/>
          <p:cNvSpPr/>
          <p:nvPr/>
        </p:nvSpPr>
        <p:spPr>
          <a:xfrm>
            <a:off x="2690837" y="6191972"/>
            <a:ext cx="12906103" cy="2121128"/>
          </a:xfrm>
          <a:prstGeom prst="roundRect">
            <a:avLst>
              <a:gd name="adj" fmla="val 5389"/>
            </a:avLst>
          </a:prstGeom>
          <a:solidFill>
            <a:srgbClr val="FFFFFF"/>
          </a:solidFill>
          <a:ln/>
        </p:spPr>
      </p:sp>
      <p:pic>
        <p:nvPicPr>
          <p:cNvPr id="76" name="Image 0" descr="preencoded.png">    </p:cNvPr>
          <p:cNvPicPr>
            <a:picLocks noChangeAspect="1"/>
          </p:cNvPicPr>
          <p:nvPr/>
        </p:nvPicPr>
        <p:blipFill>
          <a:blip r:embed="rId1"/>
          <a:stretch>
            <a:fillRect/>
          </a:stretch>
        </p:blipFill>
        <p:spPr>
          <a:xfrm>
            <a:off x="2900290" y="5238116"/>
            <a:ext cx="12487198" cy="4028954"/>
          </a:xfrm>
          <a:prstGeom prst="rect">
            <a:avLst/>
          </a:prstGeom>
        </p:spPr>
      </p:pic>
      <p:sp>
        <p:nvSpPr>
          <p:cNvPr id="77" name="Shape 74"/>
          <p:cNvSpPr/>
          <p:nvPr/>
        </p:nvSpPr>
        <p:spPr>
          <a:xfrm>
            <a:off x="914344" y="8522552"/>
            <a:ext cx="16459203" cy="1154817"/>
          </a:xfrm>
          <a:custGeom>
            <a:avLst/>
            <a:gdLst/>
            <a:ahLst/>
            <a:cxnLst/>
            <a:rect l="l" t="t" r="r" b="b"/>
            <a:pathLst>
              <a:path w="16459203" h="1154817">
                <a:moveTo>
                  <a:pt x="0" y="0"/>
                </a:moveTo>
                <a:lnTo>
                  <a:pt x="16344903" y="0"/>
                </a:lnTo>
                <a:arcTo hR="114300" wR="114300" stAng="16200000" swAng="5400000"/>
                <a:lnTo>
                  <a:pt x="16459203" y="1040517"/>
                </a:lnTo>
                <a:arcTo hR="114300" wR="114300" stAng="0" swAng="5400000"/>
                <a:lnTo>
                  <a:pt x="0" y="1154817"/>
                </a:lnTo>
                <a:lnTo>
                  <a:pt x="0" y="0"/>
                </a:lnTo>
                <a:close/>
              </a:path>
            </a:pathLst>
          </a:custGeom>
          <a:solidFill>
            <a:srgbClr val="11141A"/>
          </a:solidFill>
          <a:ln/>
        </p:spPr>
      </p:sp>
      <p:sp>
        <p:nvSpPr>
          <p:cNvPr id="78" name="Shape 75"/>
          <p:cNvSpPr/>
          <p:nvPr/>
        </p:nvSpPr>
        <p:spPr>
          <a:xfrm>
            <a:off x="914344" y="8522552"/>
            <a:ext cx="36230" cy="1154817"/>
          </a:xfrm>
          <a:prstGeom prst="rect">
            <a:avLst/>
          </a:prstGeom>
          <a:solidFill>
            <a:srgbClr val="7BD992"/>
          </a:solidFill>
          <a:ln/>
        </p:spPr>
      </p:sp>
      <p:sp>
        <p:nvSpPr>
          <p:cNvPr id="79" name="Text 76"/>
          <p:cNvSpPr/>
          <p:nvPr/>
        </p:nvSpPr>
        <p:spPr>
          <a:xfrm>
            <a:off x="1255373" y="8751152"/>
            <a:ext cx="16307150" cy="735717"/>
          </a:xfrm>
          <a:prstGeom prst="rect">
            <a:avLst/>
          </a:prstGeom>
          <a:noFill/>
          <a:ln/>
        </p:spPr>
        <p:txBody>
          <a:bodyPr wrap="square" lIns="25400" tIns="25400" rIns="25400" bIns="25400" rtlCol="0" anchor="t">
            <a:normAutofit/>
          </a:bodyPr>
          <a:lstStyle/>
          <a:p>
            <a:pPr algn="l" indent="0" marL="0">
              <a:lnSpc>
                <a:spcPct val="125400"/>
              </a:lnSpc>
              <a:buNone/>
            </a:pPr>
            <a:r>
              <a:rPr lang="en-US" sz="1875" dirty="0">
                <a:solidFill>
                  <a:srgbClr val="C9D1DE"/>
                </a:solidFill>
                <a:highlight>
                  <a:srgbClr val="11141A"/>
                </a:highlight>
                <a:latin typeface="Arial" pitchFamily="34" charset="0"/>
                <a:ea typeface="Arial" pitchFamily="34" charset="-122"/>
                <a:cs typeface="Arial" pitchFamily="34" charset="-120"/>
              </a:rPr>
              <a:t>Con 0,40 el sistema envía </a:t>
            </a:r>
            <a:pPr algn="l" indent="0" marL="0">
              <a:lnSpc>
                <a:spcPct val="125400"/>
              </a:lnSpc>
              <a:buNone/>
            </a:pPr>
            <a:r>
              <a:rPr lang="en-US" sz="1875" b="1" dirty="0">
                <a:solidFill>
                  <a:srgbClr val="E6E9EF"/>
                </a:solidFill>
                <a:latin typeface="Arial" pitchFamily="34" charset="0"/>
                <a:ea typeface="Arial" pitchFamily="34" charset="-122"/>
                <a:cs typeface="Arial" pitchFamily="34" charset="-120"/>
              </a:rPr>
              <a:t>3,0 notificaciones al día frente a 3,1 episodios reales </a:t>
            </a:r>
            <a:pPr algn="l" indent="0" marL="0">
              <a:lnSpc>
                <a:spcPct val="125400"/>
              </a:lnSpc>
              <a:buNone/>
            </a:pPr>
            <a:r>
              <a:rPr lang="en-US" sz="1875" dirty="0">
                <a:solidFill>
                  <a:srgbClr val="C9D1DE"/>
                </a:solidFill>
                <a:highlight>
                  <a:srgbClr val="11141A"/>
                </a:highlight>
                <a:latin typeface="Arial" pitchFamily="34" charset="0"/>
                <a:ea typeface="Arial" pitchFamily="34" charset="-122"/>
                <a:cs typeface="Arial" pitchFamily="34" charset="-120"/>
              </a:rPr>
              <a:t>: la frecuencia del aviso coincide con la del fenómeno. Las alertas no crecen de forma monótona al bajar el umbral — con umbrales bajos las lecturas positivas se funden en episodios más largos y menos numerosos.</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7BD992"/>
                </a:solidFill>
                <a:latin typeface="Courier New" pitchFamily="34" charset="0"/>
                <a:ea typeface="Courier New" pitchFamily="34" charset="-122"/>
                <a:cs typeface="Courier New" pitchFamily="34" charset="-120"/>
              </a:rPr>
              <a:t>PUNTO 4 · POR QUÉ EL MODELO ELEGIDO NO ES EL DE MEJOR F1</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El mejor clasificador por métrica es el peor producto</a:t>
            </a:r>
            <a:endParaRPr lang="en-US" sz="4050" dirty="0"/>
          </a:p>
        </p:txBody>
      </p:sp>
      <p:sp>
        <p:nvSpPr>
          <p:cNvPr id="4" name="Shape 2"/>
          <p:cNvSpPr/>
          <p:nvPr/>
        </p:nvSpPr>
        <p:spPr>
          <a:xfrm>
            <a:off x="914344" y="2348242"/>
            <a:ext cx="10584467" cy="9525"/>
          </a:xfrm>
          <a:prstGeom prst="rect">
            <a:avLst/>
          </a:prstGeom>
          <a:solidFill>
            <a:srgbClr val="2C323E"/>
          </a:solidFill>
          <a:ln/>
        </p:spPr>
      </p:sp>
      <p:sp>
        <p:nvSpPr>
          <p:cNvPr id="5" name="Text 3"/>
          <p:cNvSpPr/>
          <p:nvPr/>
        </p:nvSpPr>
        <p:spPr>
          <a:xfrm>
            <a:off x="914344" y="1990362"/>
            <a:ext cx="10902001" cy="262630"/>
          </a:xfrm>
          <a:prstGeom prst="rect">
            <a:avLst/>
          </a:prstGeom>
          <a:noFill/>
          <a:ln/>
        </p:spPr>
        <p:txBody>
          <a:bodyPr wrap="square" lIns="25400" tIns="25400" rIns="25400" bIns="25400" rtlCol="0" anchor="t">
            <a:normAutofit/>
          </a:bodyPr>
          <a:lstStyle/>
          <a:p>
            <a:pPr algn="l" indent="0" marL="0">
              <a:buNone/>
            </a:pPr>
            <a:r>
              <a:rPr lang="en-US" sz="1350" dirty="0">
                <a:solidFill>
                  <a:srgbClr val="6F7787"/>
                </a:solidFill>
                <a:latin typeface="Courier New" pitchFamily="34" charset="0"/>
                <a:ea typeface="Courier New" pitchFamily="34" charset="-122"/>
                <a:cs typeface="Courier New" pitchFamily="34" charset="-120"/>
              </a:rPr>
              <a:t>CON ~2,7–3,0 ALERTAS POR DÍA</a:t>
            </a:r>
            <a:endParaRPr lang="en-US" sz="1350" dirty="0"/>
          </a:p>
        </p:txBody>
      </p:sp>
      <p:sp>
        <p:nvSpPr>
          <p:cNvPr id="6" name="Shape 4"/>
          <p:cNvSpPr/>
          <p:nvPr/>
        </p:nvSpPr>
        <p:spPr>
          <a:xfrm>
            <a:off x="11879786" y="2348242"/>
            <a:ext cx="1851557" cy="9525"/>
          </a:xfrm>
          <a:prstGeom prst="rect">
            <a:avLst/>
          </a:prstGeom>
          <a:solidFill>
            <a:srgbClr val="2C323E"/>
          </a:solidFill>
          <a:ln/>
        </p:spPr>
      </p:sp>
      <p:sp>
        <p:nvSpPr>
          <p:cNvPr id="7" name="Text 5"/>
          <p:cNvSpPr/>
          <p:nvPr/>
        </p:nvSpPr>
        <p:spPr>
          <a:xfrm>
            <a:off x="11803586" y="1990362"/>
            <a:ext cx="1927757" cy="26263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EVENTOS DETECTADOS</a:t>
            </a:r>
            <a:endParaRPr lang="en-US" sz="1350" dirty="0"/>
          </a:p>
        </p:txBody>
      </p:sp>
      <p:sp>
        <p:nvSpPr>
          <p:cNvPr id="8" name="Shape 6"/>
          <p:cNvSpPr/>
          <p:nvPr/>
        </p:nvSpPr>
        <p:spPr>
          <a:xfrm>
            <a:off x="14112321" y="2348242"/>
            <a:ext cx="1440125" cy="9525"/>
          </a:xfrm>
          <a:prstGeom prst="rect">
            <a:avLst/>
          </a:prstGeom>
          <a:solidFill>
            <a:srgbClr val="2C323E"/>
          </a:solidFill>
          <a:ln/>
        </p:spPr>
      </p:sp>
      <p:sp>
        <p:nvSpPr>
          <p:cNvPr id="9" name="Text 7"/>
          <p:cNvSpPr/>
          <p:nvPr/>
        </p:nvSpPr>
        <p:spPr>
          <a:xfrm>
            <a:off x="14036121" y="1990362"/>
            <a:ext cx="1516325" cy="26263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ALERTAS FALSAS</a:t>
            </a:r>
            <a:endParaRPr lang="en-US" sz="1350" dirty="0"/>
          </a:p>
        </p:txBody>
      </p:sp>
      <p:sp>
        <p:nvSpPr>
          <p:cNvPr id="10" name="Shape 8"/>
          <p:cNvSpPr/>
          <p:nvPr/>
        </p:nvSpPr>
        <p:spPr>
          <a:xfrm>
            <a:off x="15933423" y="2348242"/>
            <a:ext cx="1440125" cy="9525"/>
          </a:xfrm>
          <a:prstGeom prst="rect">
            <a:avLst/>
          </a:prstGeom>
          <a:solidFill>
            <a:srgbClr val="2C323E"/>
          </a:solidFill>
          <a:ln/>
        </p:spPr>
      </p:sp>
      <p:sp>
        <p:nvSpPr>
          <p:cNvPr id="11" name="Text 9"/>
          <p:cNvSpPr/>
          <p:nvPr/>
        </p:nvSpPr>
        <p:spPr>
          <a:xfrm>
            <a:off x="15857223" y="1990362"/>
            <a:ext cx="1516325" cy="262630"/>
          </a:xfrm>
          <a:prstGeom prst="rect">
            <a:avLst/>
          </a:prstGeom>
          <a:noFill/>
          <a:ln/>
        </p:spPr>
        <p:txBody>
          <a:bodyPr wrap="square" lIns="25400" tIns="25400" rIns="25400" bIns="25400" rtlCol="0" anchor="t">
            <a:normAutofit/>
          </a:bodyPr>
          <a:lstStyle/>
          <a:p>
            <a:pPr algn="r" indent="0" marL="0">
              <a:buNone/>
            </a:pPr>
            <a:r>
              <a:rPr lang="en-US" sz="1350" dirty="0">
                <a:solidFill>
                  <a:srgbClr val="6F7787"/>
                </a:solidFill>
                <a:latin typeface="Courier New" pitchFamily="34" charset="0"/>
                <a:ea typeface="Courier New" pitchFamily="34" charset="-122"/>
                <a:cs typeface="Courier New" pitchFamily="34" charset="-120"/>
              </a:rPr>
              <a:t>F1 POR LECTURA</a:t>
            </a:r>
            <a:endParaRPr lang="en-US" sz="1350" dirty="0"/>
          </a:p>
        </p:txBody>
      </p:sp>
      <p:sp>
        <p:nvSpPr>
          <p:cNvPr id="12" name="Shape 10"/>
          <p:cNvSpPr/>
          <p:nvPr/>
        </p:nvSpPr>
        <p:spPr>
          <a:xfrm>
            <a:off x="914344" y="2355488"/>
            <a:ext cx="10584467" cy="995181"/>
          </a:xfrm>
          <a:prstGeom prst="rect">
            <a:avLst/>
          </a:prstGeom>
          <a:solidFill>
            <a:srgbClr val="1A2A1E"/>
          </a:solidFill>
          <a:ln/>
        </p:spPr>
      </p:sp>
      <p:sp>
        <p:nvSpPr>
          <p:cNvPr id="13" name="Shape 11"/>
          <p:cNvSpPr/>
          <p:nvPr/>
        </p:nvSpPr>
        <p:spPr>
          <a:xfrm>
            <a:off x="914344" y="3343423"/>
            <a:ext cx="10584467" cy="9525"/>
          </a:xfrm>
          <a:prstGeom prst="rect">
            <a:avLst/>
          </a:prstGeom>
          <a:solidFill>
            <a:srgbClr val="1C212A"/>
          </a:solidFill>
          <a:ln/>
        </p:spPr>
      </p:sp>
      <p:sp>
        <p:nvSpPr>
          <p:cNvPr id="14" name="Text 12"/>
          <p:cNvSpPr/>
          <p:nvPr/>
        </p:nvSpPr>
        <p:spPr>
          <a:xfrm>
            <a:off x="914344" y="2641238"/>
            <a:ext cx="10902001" cy="454535"/>
          </a:xfrm>
          <a:prstGeom prst="rect">
            <a:avLst/>
          </a:prstGeom>
          <a:noFill/>
          <a:ln/>
        </p:spPr>
        <p:txBody>
          <a:bodyPr wrap="square" lIns="25400" tIns="25400" rIns="25400" bIns="25400" rtlCol="0" anchor="t">
            <a:normAutofit/>
          </a:bodyPr>
          <a:lstStyle/>
          <a:p>
            <a:pPr algn="l" indent="0" marL="0">
              <a:buNone/>
            </a:pPr>
            <a:r>
              <a:rPr lang="en-US" sz="2250" dirty="0">
                <a:solidFill>
                  <a:srgbClr val="E6E9EF"/>
                </a:solidFill>
                <a:latin typeface="Arial" pitchFamily="34" charset="0"/>
                <a:ea typeface="Arial" pitchFamily="34" charset="-122"/>
                <a:cs typeface="Arial" pitchFamily="34" charset="-120"/>
              </a:rPr>
              <a:t>Random Forest · umbral 0,40</a:t>
            </a:r>
            <a:endParaRPr lang="en-US" sz="2250" dirty="0"/>
          </a:p>
        </p:txBody>
      </p:sp>
      <p:sp>
        <p:nvSpPr>
          <p:cNvPr id="15" name="Shape 13"/>
          <p:cNvSpPr/>
          <p:nvPr/>
        </p:nvSpPr>
        <p:spPr>
          <a:xfrm>
            <a:off x="11879786" y="2355488"/>
            <a:ext cx="1851557" cy="995181"/>
          </a:xfrm>
          <a:prstGeom prst="rect">
            <a:avLst/>
          </a:prstGeom>
          <a:solidFill>
            <a:srgbClr val="1A2A1E"/>
          </a:solidFill>
          <a:ln/>
        </p:spPr>
      </p:sp>
      <p:sp>
        <p:nvSpPr>
          <p:cNvPr id="16" name="Shape 14"/>
          <p:cNvSpPr/>
          <p:nvPr/>
        </p:nvSpPr>
        <p:spPr>
          <a:xfrm>
            <a:off x="11879786" y="3343423"/>
            <a:ext cx="1851557" cy="9525"/>
          </a:xfrm>
          <a:prstGeom prst="rect">
            <a:avLst/>
          </a:prstGeom>
          <a:solidFill>
            <a:srgbClr val="1C212A"/>
          </a:solidFill>
          <a:ln/>
        </p:spPr>
      </p:sp>
      <p:sp>
        <p:nvSpPr>
          <p:cNvPr id="17" name="Text 15"/>
          <p:cNvSpPr/>
          <p:nvPr/>
        </p:nvSpPr>
        <p:spPr>
          <a:xfrm>
            <a:off x="11803586" y="2603138"/>
            <a:ext cx="1927757" cy="530735"/>
          </a:xfrm>
          <a:prstGeom prst="rect">
            <a:avLst/>
          </a:prstGeom>
          <a:noFill/>
          <a:ln/>
        </p:spPr>
        <p:txBody>
          <a:bodyPr wrap="square" lIns="25400" tIns="25400" rIns="25400" bIns="25400" rtlCol="0" anchor="t">
            <a:normAutofit/>
          </a:bodyPr>
          <a:lstStyle/>
          <a:p>
            <a:pPr algn="r" indent="0" marL="0">
              <a:buNone/>
            </a:pPr>
            <a:r>
              <a:rPr lang="en-US" sz="3000" b="1" dirty="0">
                <a:solidFill>
                  <a:srgbClr val="7BD992"/>
                </a:solidFill>
                <a:latin typeface="Courier New" pitchFamily="34" charset="0"/>
                <a:ea typeface="Courier New" pitchFamily="34" charset="-122"/>
                <a:cs typeface="Courier New" pitchFamily="34" charset="-120"/>
              </a:rPr>
              <a:t>86,9 %</a:t>
            </a:r>
            <a:endParaRPr lang="en-US" sz="3000" dirty="0"/>
          </a:p>
        </p:txBody>
      </p:sp>
      <p:sp>
        <p:nvSpPr>
          <p:cNvPr id="18" name="Shape 16"/>
          <p:cNvSpPr/>
          <p:nvPr/>
        </p:nvSpPr>
        <p:spPr>
          <a:xfrm>
            <a:off x="14112321" y="2355488"/>
            <a:ext cx="1440125" cy="995181"/>
          </a:xfrm>
          <a:prstGeom prst="rect">
            <a:avLst/>
          </a:prstGeom>
          <a:solidFill>
            <a:srgbClr val="1A2A1E"/>
          </a:solidFill>
          <a:ln/>
        </p:spPr>
      </p:sp>
      <p:sp>
        <p:nvSpPr>
          <p:cNvPr id="19" name="Shape 17"/>
          <p:cNvSpPr/>
          <p:nvPr/>
        </p:nvSpPr>
        <p:spPr>
          <a:xfrm>
            <a:off x="14112321" y="3343423"/>
            <a:ext cx="1440125" cy="9525"/>
          </a:xfrm>
          <a:prstGeom prst="rect">
            <a:avLst/>
          </a:prstGeom>
          <a:solidFill>
            <a:srgbClr val="1C212A"/>
          </a:solidFill>
          <a:ln/>
        </p:spPr>
      </p:sp>
      <p:sp>
        <p:nvSpPr>
          <p:cNvPr id="20" name="Text 18"/>
          <p:cNvSpPr/>
          <p:nvPr/>
        </p:nvSpPr>
        <p:spPr>
          <a:xfrm>
            <a:off x="14036121" y="2603138"/>
            <a:ext cx="1516325" cy="530735"/>
          </a:xfrm>
          <a:prstGeom prst="rect">
            <a:avLst/>
          </a:prstGeom>
          <a:noFill/>
          <a:ln/>
        </p:spPr>
        <p:txBody>
          <a:bodyPr wrap="square" lIns="25400" tIns="25400" rIns="25400" bIns="25400" rtlCol="0" anchor="t">
            <a:normAutofit/>
          </a:bodyPr>
          <a:lstStyle/>
          <a:p>
            <a:pPr algn="r" indent="0" marL="0">
              <a:buNone/>
            </a:pPr>
            <a:r>
              <a:rPr lang="en-US" sz="3000" dirty="0">
                <a:solidFill>
                  <a:srgbClr val="FFB877"/>
                </a:solidFill>
                <a:latin typeface="Courier New" pitchFamily="34" charset="0"/>
                <a:ea typeface="Courier New" pitchFamily="34" charset="-122"/>
                <a:cs typeface="Courier New" pitchFamily="34" charset="-120"/>
              </a:rPr>
              <a:t>37,3 %</a:t>
            </a:r>
            <a:endParaRPr lang="en-US" sz="3000" dirty="0"/>
          </a:p>
        </p:txBody>
      </p:sp>
      <p:sp>
        <p:nvSpPr>
          <p:cNvPr id="21" name="Shape 19"/>
          <p:cNvSpPr/>
          <p:nvPr/>
        </p:nvSpPr>
        <p:spPr>
          <a:xfrm>
            <a:off x="15933423" y="2355488"/>
            <a:ext cx="1440125" cy="995181"/>
          </a:xfrm>
          <a:prstGeom prst="rect">
            <a:avLst/>
          </a:prstGeom>
          <a:solidFill>
            <a:srgbClr val="1A2A1E"/>
          </a:solidFill>
          <a:ln/>
        </p:spPr>
      </p:sp>
      <p:sp>
        <p:nvSpPr>
          <p:cNvPr id="22" name="Shape 20"/>
          <p:cNvSpPr/>
          <p:nvPr/>
        </p:nvSpPr>
        <p:spPr>
          <a:xfrm>
            <a:off x="15933423" y="3343423"/>
            <a:ext cx="1440125" cy="9525"/>
          </a:xfrm>
          <a:prstGeom prst="rect">
            <a:avLst/>
          </a:prstGeom>
          <a:solidFill>
            <a:srgbClr val="1C212A"/>
          </a:solidFill>
          <a:ln/>
        </p:spPr>
      </p:sp>
      <p:sp>
        <p:nvSpPr>
          <p:cNvPr id="23" name="Text 21"/>
          <p:cNvSpPr/>
          <p:nvPr/>
        </p:nvSpPr>
        <p:spPr>
          <a:xfrm>
            <a:off x="15857223" y="2603138"/>
            <a:ext cx="1516325" cy="530735"/>
          </a:xfrm>
          <a:prstGeom prst="rect">
            <a:avLst/>
          </a:prstGeom>
          <a:noFill/>
          <a:ln/>
        </p:spPr>
        <p:txBody>
          <a:bodyPr wrap="square" lIns="25400" tIns="25400" rIns="25400" bIns="25400" rtlCol="0" anchor="t">
            <a:normAutofit/>
          </a:bodyPr>
          <a:lstStyle/>
          <a:p>
            <a:pPr algn="r" indent="0" marL="0">
              <a:buNone/>
            </a:pPr>
            <a:r>
              <a:rPr lang="en-US" sz="3000" dirty="0">
                <a:solidFill>
                  <a:srgbClr val="8B93A3"/>
                </a:solidFill>
                <a:latin typeface="Courier New" pitchFamily="34" charset="0"/>
                <a:ea typeface="Courier New" pitchFamily="34" charset="-122"/>
                <a:cs typeface="Courier New" pitchFamily="34" charset="-120"/>
              </a:rPr>
              <a:t>0,473</a:t>
            </a:r>
            <a:endParaRPr lang="en-US" sz="3000" dirty="0"/>
          </a:p>
        </p:txBody>
      </p:sp>
      <p:sp>
        <p:nvSpPr>
          <p:cNvPr id="24" name="Text 22"/>
          <p:cNvSpPr/>
          <p:nvPr/>
        </p:nvSpPr>
        <p:spPr>
          <a:xfrm>
            <a:off x="914344" y="3636418"/>
            <a:ext cx="10902001" cy="454535"/>
          </a:xfrm>
          <a:prstGeom prst="rect">
            <a:avLst/>
          </a:prstGeom>
          <a:noFill/>
          <a:ln/>
        </p:spPr>
        <p:txBody>
          <a:bodyPr wrap="square" lIns="25400" tIns="25400" rIns="25400" bIns="25400" rtlCol="0" anchor="t">
            <a:normAutofit/>
          </a:bodyPr>
          <a:lstStyle/>
          <a:p>
            <a:pPr algn="l" indent="0" marL="0">
              <a:buNone/>
            </a:pPr>
            <a:r>
              <a:rPr lang="en-US" sz="2250" dirty="0">
                <a:solidFill>
                  <a:srgbClr val="C9D1DE"/>
                </a:solidFill>
                <a:latin typeface="Arial" pitchFamily="34" charset="0"/>
                <a:ea typeface="Arial" pitchFamily="34" charset="-122"/>
                <a:cs typeface="Arial" pitchFamily="34" charset="-120"/>
              </a:rPr>
              <a:t>Regresión Logística · umbral 0,20</a:t>
            </a:r>
            <a:endParaRPr lang="en-US" sz="2250" dirty="0"/>
          </a:p>
        </p:txBody>
      </p:sp>
      <p:sp>
        <p:nvSpPr>
          <p:cNvPr id="25" name="Text 23"/>
          <p:cNvSpPr/>
          <p:nvPr/>
        </p:nvSpPr>
        <p:spPr>
          <a:xfrm>
            <a:off x="11803586" y="3598318"/>
            <a:ext cx="1927757" cy="530735"/>
          </a:xfrm>
          <a:prstGeom prst="rect">
            <a:avLst/>
          </a:prstGeom>
          <a:noFill/>
          <a:ln/>
        </p:spPr>
        <p:txBody>
          <a:bodyPr wrap="square" lIns="25400" tIns="25400" rIns="25400" bIns="25400" rtlCol="0" anchor="t">
            <a:normAutofit/>
          </a:bodyPr>
          <a:lstStyle/>
          <a:p>
            <a:pPr algn="r" indent="0" marL="0">
              <a:buNone/>
            </a:pPr>
            <a:r>
              <a:rPr lang="en-US" sz="3000" dirty="0">
                <a:solidFill>
                  <a:srgbClr val="F28B82"/>
                </a:solidFill>
                <a:latin typeface="Courier New" pitchFamily="34" charset="0"/>
                <a:ea typeface="Courier New" pitchFamily="34" charset="-122"/>
                <a:cs typeface="Courier New" pitchFamily="34" charset="-120"/>
              </a:rPr>
              <a:t>70,2 %</a:t>
            </a:r>
            <a:endParaRPr lang="en-US" sz="3000" dirty="0"/>
          </a:p>
        </p:txBody>
      </p:sp>
      <p:sp>
        <p:nvSpPr>
          <p:cNvPr id="26" name="Text 24"/>
          <p:cNvSpPr/>
          <p:nvPr/>
        </p:nvSpPr>
        <p:spPr>
          <a:xfrm>
            <a:off x="14036121" y="3598318"/>
            <a:ext cx="1516325" cy="530735"/>
          </a:xfrm>
          <a:prstGeom prst="rect">
            <a:avLst/>
          </a:prstGeom>
          <a:noFill/>
          <a:ln/>
        </p:spPr>
        <p:txBody>
          <a:bodyPr wrap="square" lIns="25400" tIns="25400" rIns="25400" bIns="25400" rtlCol="0" anchor="t">
            <a:normAutofit/>
          </a:bodyPr>
          <a:lstStyle/>
          <a:p>
            <a:pPr algn="r" indent="0" marL="0">
              <a:buNone/>
            </a:pPr>
            <a:r>
              <a:rPr lang="en-US" sz="3000" dirty="0">
                <a:solidFill>
                  <a:srgbClr val="8B93A3"/>
                </a:solidFill>
                <a:latin typeface="Courier New" pitchFamily="34" charset="0"/>
                <a:ea typeface="Courier New" pitchFamily="34" charset="-122"/>
                <a:cs typeface="Courier New" pitchFamily="34" charset="-120"/>
              </a:rPr>
              <a:t>32,4 %</a:t>
            </a:r>
            <a:endParaRPr lang="en-US" sz="3000" dirty="0"/>
          </a:p>
        </p:txBody>
      </p:sp>
      <p:sp>
        <p:nvSpPr>
          <p:cNvPr id="27" name="Text 25"/>
          <p:cNvSpPr/>
          <p:nvPr/>
        </p:nvSpPr>
        <p:spPr>
          <a:xfrm>
            <a:off x="15857223" y="3598318"/>
            <a:ext cx="1516325" cy="530735"/>
          </a:xfrm>
          <a:prstGeom prst="rect">
            <a:avLst/>
          </a:prstGeom>
          <a:noFill/>
          <a:ln/>
        </p:spPr>
        <p:txBody>
          <a:bodyPr wrap="square" lIns="25400" tIns="25400" rIns="25400" bIns="25400" rtlCol="0" anchor="t">
            <a:normAutofit/>
          </a:bodyPr>
          <a:lstStyle/>
          <a:p>
            <a:pPr algn="r" indent="0" marL="0">
              <a:buNone/>
            </a:pPr>
            <a:r>
              <a:rPr lang="en-US" sz="3000" b="1" dirty="0">
                <a:solidFill>
                  <a:srgbClr val="7DB6FF"/>
                </a:solidFill>
                <a:latin typeface="Courier New" pitchFamily="34" charset="0"/>
                <a:ea typeface="Courier New" pitchFamily="34" charset="-122"/>
                <a:cs typeface="Courier New" pitchFamily="34" charset="-120"/>
              </a:rPr>
              <a:t>0,651</a:t>
            </a:r>
            <a:endParaRPr lang="en-US" sz="3000" dirty="0"/>
          </a:p>
        </p:txBody>
      </p:sp>
      <p:sp>
        <p:nvSpPr>
          <p:cNvPr id="28" name="Shape 26"/>
          <p:cNvSpPr/>
          <p:nvPr/>
        </p:nvSpPr>
        <p:spPr>
          <a:xfrm>
            <a:off x="914344" y="7549562"/>
            <a:ext cx="8086778" cy="2127807"/>
          </a:xfrm>
          <a:prstGeom prst="roundRect">
            <a:avLst>
              <a:gd name="adj" fmla="val 5372"/>
            </a:avLst>
          </a:prstGeom>
          <a:solidFill>
            <a:srgbClr val="151920"/>
          </a:solidFill>
          <a:ln w="7246">
            <a:solidFill>
              <a:srgbClr val="232833"/>
            </a:solidFill>
            <a:prstDash val="solid"/>
          </a:ln>
        </p:spPr>
      </p:sp>
      <p:sp>
        <p:nvSpPr>
          <p:cNvPr id="29" name="Text 27"/>
          <p:cNvSpPr/>
          <p:nvPr/>
        </p:nvSpPr>
        <p:spPr>
          <a:xfrm>
            <a:off x="1245440" y="7842558"/>
            <a:ext cx="7667189" cy="1579916"/>
          </a:xfrm>
          <a:prstGeom prst="rect">
            <a:avLst/>
          </a:prstGeom>
          <a:noFill/>
          <a:ln/>
        </p:spPr>
        <p:txBody>
          <a:bodyPr wrap="square" lIns="25400" tIns="25400" rIns="25400" bIns="25400" rtlCol="0" anchor="t">
            <a:normAutofit/>
          </a:bodyPr>
          <a:lstStyle/>
          <a:p>
            <a:pPr algn="l" indent="0" marL="0">
              <a:lnSpc>
                <a:spcPct val="135835"/>
              </a:lnSpc>
              <a:buNone/>
            </a:pPr>
            <a:r>
              <a:rPr lang="en-US" sz="1950" dirty="0">
                <a:solidFill>
                  <a:srgbClr val="C9D1DE"/>
                </a:solidFill>
                <a:highlight>
                  <a:srgbClr val="151920"/>
                </a:highlight>
                <a:latin typeface="Arial" pitchFamily="34" charset="0"/>
                <a:ea typeface="Arial" pitchFamily="34" charset="-122"/>
                <a:cs typeface="Arial" pitchFamily="34" charset="-120"/>
              </a:rPr>
              <a:t>Con el mismo presupuesto de notificaciones, Random Forest avisa de </a:t>
            </a:r>
            <a:pPr algn="l" indent="0" marL="0">
              <a:lnSpc>
                <a:spcPct val="135835"/>
              </a:lnSpc>
              <a:buNone/>
            </a:pPr>
            <a:r>
              <a:rPr lang="en-US" sz="1950" b="1" dirty="0">
                <a:solidFill>
                  <a:srgbClr val="7BD992"/>
                </a:solidFill>
                <a:latin typeface="Arial" pitchFamily="34" charset="0"/>
                <a:ea typeface="Arial" pitchFamily="34" charset="-122"/>
                <a:cs typeface="Arial" pitchFamily="34" charset="-120"/>
              </a:rPr>
              <a:t>17 puntos porcentuales más </a:t>
            </a:r>
            <a:pPr algn="l" indent="0" marL="0">
              <a:lnSpc>
                <a:spcPct val="135835"/>
              </a:lnSpc>
              <a:buNone/>
            </a:pPr>
            <a:r>
              <a:rPr lang="en-US" sz="1950" dirty="0">
                <a:solidFill>
                  <a:srgbClr val="C9D1DE"/>
                </a:solidFill>
                <a:highlight>
                  <a:srgbClr val="151920"/>
                </a:highlight>
                <a:latin typeface="Arial" pitchFamily="34" charset="0"/>
                <a:ea typeface="Arial" pitchFamily="34" charset="-122"/>
                <a:cs typeface="Arial" pitchFamily="34" charset="-120"/>
              </a:rPr>
              <a:t>de eventos reales. La logística reparte su confianza de forma más plana dentro de cada episodio: acierta más lecturas sueltas, pero se le escapan episodios enteros.</a:t>
            </a:r>
            <a:endParaRPr lang="en-US" sz="1950" dirty="0"/>
          </a:p>
        </p:txBody>
      </p:sp>
      <p:sp>
        <p:nvSpPr>
          <p:cNvPr id="30" name="Shape 28"/>
          <p:cNvSpPr/>
          <p:nvPr/>
        </p:nvSpPr>
        <p:spPr>
          <a:xfrm>
            <a:off x="9286769" y="7549562"/>
            <a:ext cx="8086778" cy="2127807"/>
          </a:xfrm>
          <a:custGeom>
            <a:avLst/>
            <a:gdLst/>
            <a:ahLst/>
            <a:cxnLst/>
            <a:rect l="l" t="t" r="r" b="b"/>
            <a:pathLst>
              <a:path w="8086778" h="2127807">
                <a:moveTo>
                  <a:pt x="0" y="0"/>
                </a:moveTo>
                <a:lnTo>
                  <a:pt x="7972478" y="0"/>
                </a:lnTo>
                <a:arcTo hR="114300" wR="114300" stAng="16200000" swAng="5400000"/>
                <a:lnTo>
                  <a:pt x="8086778" y="2013507"/>
                </a:lnTo>
                <a:arcTo hR="114300" wR="114300" stAng="0" swAng="5400000"/>
                <a:lnTo>
                  <a:pt x="0" y="2127807"/>
                </a:lnTo>
                <a:lnTo>
                  <a:pt x="0" y="0"/>
                </a:lnTo>
                <a:close/>
              </a:path>
            </a:pathLst>
          </a:custGeom>
          <a:solidFill>
            <a:srgbClr val="11141A"/>
          </a:solidFill>
          <a:ln/>
        </p:spPr>
      </p:sp>
      <p:sp>
        <p:nvSpPr>
          <p:cNvPr id="31" name="Shape 29"/>
          <p:cNvSpPr/>
          <p:nvPr/>
        </p:nvSpPr>
        <p:spPr>
          <a:xfrm>
            <a:off x="9286769" y="7549562"/>
            <a:ext cx="36230" cy="2127807"/>
          </a:xfrm>
          <a:prstGeom prst="rect">
            <a:avLst/>
          </a:prstGeom>
          <a:solidFill>
            <a:srgbClr val="E8710A"/>
          </a:solidFill>
          <a:ln/>
        </p:spPr>
      </p:sp>
      <p:sp>
        <p:nvSpPr>
          <p:cNvPr id="32" name="Text 30"/>
          <p:cNvSpPr/>
          <p:nvPr/>
        </p:nvSpPr>
        <p:spPr>
          <a:xfrm>
            <a:off x="9646849" y="7835312"/>
            <a:ext cx="7645452" cy="1594407"/>
          </a:xfrm>
          <a:prstGeom prst="rect">
            <a:avLst/>
          </a:prstGeom>
          <a:noFill/>
          <a:ln/>
        </p:spPr>
        <p:txBody>
          <a:bodyPr wrap="square" lIns="25400" tIns="25400" rIns="25400" bIns="25400" rtlCol="0" anchor="t">
            <a:normAutofit/>
          </a:bodyPr>
          <a:lstStyle/>
          <a:p>
            <a:pPr algn="l" indent="0" marL="0">
              <a:lnSpc>
                <a:spcPct val="131453"/>
              </a:lnSpc>
              <a:buNone/>
            </a:pPr>
            <a:r>
              <a:rPr lang="en-US" sz="2100" dirty="0">
                <a:solidFill>
                  <a:srgbClr val="E6E9EF"/>
                </a:solidFill>
                <a:latin typeface="Arial" pitchFamily="34" charset="0"/>
                <a:ea typeface="Arial" pitchFamily="34" charset="-122"/>
                <a:cs typeface="Arial" pitchFamily="34" charset="-120"/>
              </a:rPr>
              <a:t>La métrica que el curso optimiza elige el modelo equivocado para este producto. El F1 por lectura no mide lo que una persona experimenta.</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7BD992"/>
                </a:solidFill>
                <a:latin typeface="Courier New" pitchFamily="34" charset="0"/>
                <a:ea typeface="Courier New" pitchFamily="34" charset="-122"/>
                <a:cs typeface="Courier New" pitchFamily="34" charset="-120"/>
              </a:rPr>
              <a:t>PUNTO 4 · 4.4 MOCKUP DE LA APLICACIÓN</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Consola del gemelo digital · ocho pantallas, en vivo</a:t>
            </a:r>
            <a:endParaRPr lang="en-US" sz="4050" dirty="0"/>
          </a:p>
        </p:txBody>
      </p:sp>
      <p:sp>
        <p:nvSpPr>
          <p:cNvPr id="4" name="Shape 2"/>
          <p:cNvSpPr/>
          <p:nvPr/>
        </p:nvSpPr>
        <p:spPr>
          <a:xfrm>
            <a:off x="914344" y="2690158"/>
            <a:ext cx="9624044" cy="6191972"/>
          </a:xfrm>
          <a:prstGeom prst="roundRect">
            <a:avLst>
              <a:gd name="adj" fmla="val 2154"/>
            </a:avLst>
          </a:prstGeom>
          <a:solidFill>
            <a:srgbClr val="151920"/>
          </a:solidFill>
          <a:ln w="7246">
            <a:solidFill>
              <a:srgbClr val="232833"/>
            </a:solidFill>
            <a:prstDash val="solid"/>
          </a:ln>
        </p:spPr>
      </p:sp>
      <p:pic>
        <p:nvPicPr>
          <p:cNvPr id="5" name="Image 0" descr="preencoded.png">    </p:cNvPr>
          <p:cNvPicPr>
            <a:picLocks noChangeAspect="1"/>
          </p:cNvPicPr>
          <p:nvPr/>
        </p:nvPicPr>
        <p:blipFill>
          <a:blip r:embed="rId1"/>
          <a:stretch>
            <a:fillRect/>
          </a:stretch>
        </p:blipFill>
        <p:spPr>
          <a:xfrm>
            <a:off x="921590" y="2697404"/>
            <a:ext cx="9609552" cy="6177480"/>
          </a:xfrm>
          <a:prstGeom prst="rect">
            <a:avLst/>
          </a:prstGeom>
        </p:spPr>
      </p:pic>
      <p:sp>
        <p:nvSpPr>
          <p:cNvPr id="6" name="Text 3"/>
          <p:cNvSpPr/>
          <p:nvPr/>
        </p:nvSpPr>
        <p:spPr>
          <a:xfrm>
            <a:off x="10957404" y="1907486"/>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01</a:t>
            </a:r>
            <a:endParaRPr lang="en-US" sz="1650" dirty="0"/>
          </a:p>
        </p:txBody>
      </p:sp>
      <p:sp>
        <p:nvSpPr>
          <p:cNvPr id="7" name="Text 4"/>
          <p:cNvSpPr/>
          <p:nvPr/>
        </p:nvSpPr>
        <p:spPr>
          <a:xfrm>
            <a:off x="11399293" y="1907486"/>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Panel principal — flujo de lecturas cada 10 min</a:t>
            </a:r>
            <a:endParaRPr lang="en-US" sz="1800" dirty="0"/>
          </a:p>
        </p:txBody>
      </p:sp>
      <p:sp>
        <p:nvSpPr>
          <p:cNvPr id="8" name="Text 5"/>
          <p:cNvSpPr/>
          <p:nvPr/>
        </p:nvSpPr>
        <p:spPr>
          <a:xfrm>
            <a:off x="10957404" y="2360696"/>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02</a:t>
            </a:r>
            <a:endParaRPr lang="en-US" sz="1650" dirty="0"/>
          </a:p>
        </p:txBody>
      </p:sp>
      <p:sp>
        <p:nvSpPr>
          <p:cNvPr id="9" name="Text 6"/>
          <p:cNvSpPr/>
          <p:nvPr/>
        </p:nvSpPr>
        <p:spPr>
          <a:xfrm>
            <a:off x="11399293" y="2360696"/>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Alerta explicada — la ruta real del árbol</a:t>
            </a:r>
            <a:endParaRPr lang="en-US" sz="1800" dirty="0"/>
          </a:p>
        </p:txBody>
      </p:sp>
      <p:sp>
        <p:nvSpPr>
          <p:cNvPr id="10" name="Text 7"/>
          <p:cNvSpPr/>
          <p:nvPr/>
        </p:nvSpPr>
        <p:spPr>
          <a:xfrm>
            <a:off x="10957404" y="2813905"/>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03</a:t>
            </a:r>
            <a:endParaRPr lang="en-US" sz="1650" dirty="0"/>
          </a:p>
        </p:txBody>
      </p:sp>
      <p:sp>
        <p:nvSpPr>
          <p:cNvPr id="11" name="Text 8"/>
          <p:cNvSpPr/>
          <p:nvPr/>
        </p:nvSpPr>
        <p:spPr>
          <a:xfrm>
            <a:off x="11399293" y="2813905"/>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Acción propuesta — aprobar · ajustar · rechazar</a:t>
            </a:r>
            <a:endParaRPr lang="en-US" sz="1800" dirty="0"/>
          </a:p>
        </p:txBody>
      </p:sp>
      <p:sp>
        <p:nvSpPr>
          <p:cNvPr id="12" name="Text 9"/>
          <p:cNvSpPr/>
          <p:nvPr/>
        </p:nvSpPr>
        <p:spPr>
          <a:xfrm>
            <a:off x="10957404" y="3267114"/>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04</a:t>
            </a:r>
            <a:endParaRPr lang="en-US" sz="1650" dirty="0"/>
          </a:p>
        </p:txBody>
      </p:sp>
      <p:sp>
        <p:nvSpPr>
          <p:cNvPr id="13" name="Text 10"/>
          <p:cNvSpPr/>
          <p:nvPr/>
        </p:nvSpPr>
        <p:spPr>
          <a:xfrm>
            <a:off x="11399293" y="3267114"/>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Umbral de decisión — el control del usuario</a:t>
            </a:r>
            <a:endParaRPr lang="en-US" sz="1800" dirty="0"/>
          </a:p>
        </p:txBody>
      </p:sp>
      <p:sp>
        <p:nvSpPr>
          <p:cNvPr id="14" name="Text 11"/>
          <p:cNvSpPr/>
          <p:nvPr/>
        </p:nvSpPr>
        <p:spPr>
          <a:xfrm>
            <a:off x="10957404" y="3720323"/>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05</a:t>
            </a:r>
            <a:endParaRPr lang="en-US" sz="1650" dirty="0"/>
          </a:p>
        </p:txBody>
      </p:sp>
      <p:sp>
        <p:nvSpPr>
          <p:cNvPr id="15" name="Text 12"/>
          <p:cNvSpPr/>
          <p:nvPr/>
        </p:nvSpPr>
        <p:spPr>
          <a:xfrm>
            <a:off x="11399293" y="3720323"/>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Entrada manual — ejecuta el simulador real</a:t>
            </a:r>
            <a:endParaRPr lang="en-US" sz="1800" dirty="0"/>
          </a:p>
        </p:txBody>
      </p:sp>
      <p:sp>
        <p:nvSpPr>
          <p:cNvPr id="16" name="Text 13"/>
          <p:cNvSpPr/>
          <p:nvPr/>
        </p:nvSpPr>
        <p:spPr>
          <a:xfrm>
            <a:off x="10957404" y="4173532"/>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06</a:t>
            </a:r>
            <a:endParaRPr lang="en-US" sz="1650" dirty="0"/>
          </a:p>
        </p:txBody>
      </p:sp>
      <p:sp>
        <p:nvSpPr>
          <p:cNvPr id="17" name="Text 14"/>
          <p:cNvSpPr/>
          <p:nvPr/>
        </p:nvSpPr>
        <p:spPr>
          <a:xfrm>
            <a:off x="11399293" y="4173532"/>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Histórico — detectados, perdidos y falsas alarmas</a:t>
            </a:r>
            <a:endParaRPr lang="en-US" sz="1800" dirty="0"/>
          </a:p>
        </p:txBody>
      </p:sp>
      <p:sp>
        <p:nvSpPr>
          <p:cNvPr id="18" name="Text 15"/>
          <p:cNvSpPr/>
          <p:nvPr/>
        </p:nvSpPr>
        <p:spPr>
          <a:xfrm>
            <a:off x="10957404" y="4626742"/>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07</a:t>
            </a:r>
            <a:endParaRPr lang="en-US" sz="1650" dirty="0"/>
          </a:p>
        </p:txBody>
      </p:sp>
      <p:sp>
        <p:nvSpPr>
          <p:cNvPr id="19" name="Text 16"/>
          <p:cNvSpPr/>
          <p:nvPr/>
        </p:nvSpPr>
        <p:spPr>
          <a:xfrm>
            <a:off x="11399293" y="4626742"/>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Baja confianza — deriva y salvaguardas</a:t>
            </a:r>
            <a:endParaRPr lang="en-US" sz="1800" dirty="0"/>
          </a:p>
        </p:txBody>
      </p:sp>
      <p:sp>
        <p:nvSpPr>
          <p:cNvPr id="20" name="Text 17"/>
          <p:cNvSpPr/>
          <p:nvPr/>
        </p:nvSpPr>
        <p:spPr>
          <a:xfrm>
            <a:off x="10957404" y="5079951"/>
            <a:ext cx="327656" cy="358052"/>
          </a:xfrm>
          <a:prstGeom prst="rect">
            <a:avLst/>
          </a:prstGeom>
          <a:noFill/>
          <a:ln/>
        </p:spPr>
        <p:txBody>
          <a:bodyPr wrap="square" lIns="25400" tIns="25400" rIns="25400" bIns="25400" rtlCol="0" anchor="t">
            <a:normAutofit/>
          </a:bodyPr>
          <a:lstStyle/>
          <a:p>
            <a:pPr algn="l" indent="0" marL="0">
              <a:buNone/>
            </a:pPr>
            <a:r>
              <a:rPr lang="en-US" sz="1650" dirty="0">
                <a:solidFill>
                  <a:srgbClr val="188038"/>
                </a:solidFill>
                <a:latin typeface="Courier New" pitchFamily="34" charset="0"/>
                <a:ea typeface="Courier New" pitchFamily="34" charset="-122"/>
                <a:cs typeface="Courier New" pitchFamily="34" charset="-120"/>
              </a:rPr>
              <a:t>08</a:t>
            </a:r>
            <a:endParaRPr lang="en-US" sz="1650" dirty="0"/>
          </a:p>
        </p:txBody>
      </p:sp>
      <p:sp>
        <p:nvSpPr>
          <p:cNvPr id="21" name="Text 18"/>
          <p:cNvSpPr/>
          <p:nvPr/>
        </p:nvSpPr>
        <p:spPr>
          <a:xfrm>
            <a:off x="11399293" y="5079951"/>
            <a:ext cx="6571556" cy="358052"/>
          </a:xfrm>
          <a:prstGeom prst="rect">
            <a:avLst/>
          </a:prstGeom>
          <a:noFill/>
          <a:ln/>
        </p:spPr>
        <p:txBody>
          <a:bodyPr wrap="square" lIns="25400" tIns="25400" rIns="25400" bIns="25400" rtlCol="0" anchor="t">
            <a:normAutofit/>
          </a:bodyPr>
          <a:lstStyle/>
          <a:p>
            <a:pPr algn="l" indent="0" marL="0">
              <a:lnSpc>
                <a:spcPct val="119374"/>
              </a:lnSpc>
              <a:buNone/>
            </a:pPr>
            <a:r>
              <a:rPr lang="en-US" sz="1800" dirty="0">
                <a:solidFill>
                  <a:srgbClr val="C9D1DE"/>
                </a:solidFill>
                <a:latin typeface="Arial" pitchFamily="34" charset="0"/>
                <a:ea typeface="Arial" pitchFamily="34" charset="-122"/>
                <a:cs typeface="Arial" pitchFamily="34" charset="-120"/>
              </a:rPr>
              <a:t>Modo degradado — hogar con pocos sensores</a:t>
            </a:r>
            <a:endParaRPr lang="en-US" sz="1800" dirty="0"/>
          </a:p>
        </p:txBody>
      </p:sp>
      <p:sp>
        <p:nvSpPr>
          <p:cNvPr id="22" name="Shape 19"/>
          <p:cNvSpPr/>
          <p:nvPr/>
        </p:nvSpPr>
        <p:spPr>
          <a:xfrm>
            <a:off x="10957404" y="5704684"/>
            <a:ext cx="6416029" cy="2776204"/>
          </a:xfrm>
          <a:prstGeom prst="roundRect">
            <a:avLst>
              <a:gd name="adj" fmla="val 4117"/>
            </a:avLst>
          </a:prstGeom>
          <a:solidFill>
            <a:srgbClr val="1A2A1E"/>
          </a:solidFill>
          <a:ln w="7246">
            <a:solidFill>
              <a:srgbClr val="2C5233"/>
            </a:solidFill>
            <a:prstDash val="solid"/>
          </a:ln>
        </p:spPr>
      </p:sp>
      <p:sp>
        <p:nvSpPr>
          <p:cNvPr id="23" name="Text 20"/>
          <p:cNvSpPr/>
          <p:nvPr/>
        </p:nvSpPr>
        <p:spPr>
          <a:xfrm>
            <a:off x="11269432" y="5978557"/>
            <a:ext cx="6371172" cy="335182"/>
          </a:xfrm>
          <a:prstGeom prst="rect">
            <a:avLst/>
          </a:prstGeom>
          <a:noFill/>
          <a:ln/>
        </p:spPr>
        <p:txBody>
          <a:bodyPr wrap="square" lIns="25400" tIns="25400" rIns="25400" bIns="25400" rtlCol="0" anchor="t">
            <a:normAutofit/>
          </a:bodyPr>
          <a:lstStyle/>
          <a:p>
            <a:pPr algn="l" indent="0" marL="0">
              <a:buNone/>
            </a:pPr>
            <a:r>
              <a:rPr lang="en-US" sz="2025" b="1" dirty="0">
                <a:solidFill>
                  <a:srgbClr val="7BD992"/>
                </a:solidFill>
                <a:latin typeface="Arial" pitchFamily="34" charset="0"/>
                <a:ea typeface="Arial" pitchFamily="34" charset="-122"/>
                <a:cs typeface="Arial" pitchFamily="34" charset="-120"/>
              </a:rPr>
              <a:t>Demostración en vivo</a:t>
            </a:r>
            <a:endParaRPr lang="en-US" sz="2025" dirty="0"/>
          </a:p>
        </p:txBody>
      </p:sp>
      <p:sp>
        <p:nvSpPr>
          <p:cNvPr id="24" name="Text 21"/>
          <p:cNvSpPr/>
          <p:nvPr/>
        </p:nvSpPr>
        <p:spPr>
          <a:xfrm>
            <a:off x="11269432" y="6370855"/>
            <a:ext cx="5965734" cy="1100872"/>
          </a:xfrm>
          <a:prstGeom prst="rect">
            <a:avLst/>
          </a:prstGeom>
          <a:noFill/>
          <a:ln/>
        </p:spPr>
        <p:txBody>
          <a:bodyPr wrap="square" lIns="25400" tIns="25400" rIns="25400" bIns="25400" rtlCol="0" anchor="t">
            <a:normAutofit/>
          </a:bodyPr>
          <a:lstStyle/>
          <a:p>
            <a:pPr algn="l" indent="0" marL="0">
              <a:lnSpc>
                <a:spcPct val="132164"/>
              </a:lnSpc>
              <a:buNone/>
            </a:pPr>
            <a:r>
              <a:rPr lang="en-US" sz="1800" dirty="0">
                <a:solidFill>
                  <a:srgbClr val="C9D1DE"/>
                </a:solidFill>
                <a:latin typeface="Arial" pitchFamily="34" charset="0"/>
                <a:ea typeface="Arial" pitchFamily="34" charset="-122"/>
                <a:cs typeface="Arial" pitchFamily="34" charset="-120"/>
              </a:rPr>
              <a:t>No es una maqueta estática: el umbral se mueve y las cifras cambian, la predicción se calcula con los coeficientes reales y las decisiones quedan registradas.</a:t>
            </a:r>
            <a:endParaRPr lang="en-US" sz="1800" dirty="0"/>
          </a:p>
        </p:txBody>
      </p:sp>
      <p:sp>
        <p:nvSpPr>
          <p:cNvPr id="25" name="Text 22"/>
          <p:cNvSpPr/>
          <p:nvPr/>
        </p:nvSpPr>
        <p:spPr>
          <a:xfrm>
            <a:off x="11269432" y="7566884"/>
            <a:ext cx="5965734" cy="678231"/>
          </a:xfrm>
          <a:prstGeom prst="rect">
            <a:avLst/>
          </a:prstGeom>
          <a:noFill/>
          <a:ln/>
        </p:spPr>
        <p:txBody>
          <a:bodyPr wrap="square" lIns="25400" tIns="25400" rIns="25400" bIns="25400" rtlCol="0" anchor="t">
            <a:normAutofit/>
          </a:bodyPr>
          <a:lstStyle/>
          <a:p>
            <a:pPr algn="l" indent="0" marL="0">
              <a:lnSpc>
                <a:spcPct val="142479"/>
              </a:lnSpc>
              <a:buNone/>
            </a:pPr>
            <a:r>
              <a:rPr lang="en-US" sz="1575" dirty="0">
                <a:solidFill>
                  <a:srgbClr val="6F7787"/>
                </a:solidFill>
                <a:latin typeface="Courier New" pitchFamily="34" charset="0"/>
                <a:ea typeface="Courier New" pitchFamily="34" charset="-122"/>
                <a:cs typeface="Courier New" pitchFamily="34" charset="-120"/>
              </a:rPr>
              <a:t>Mockup_Shiro_Twin.html · sin dependencias, sin conexión</a:t>
            </a:r>
            <a:endParaRPr lang="en-US" sz="1575" dirty="0"/>
          </a:p>
        </p:txBody>
      </p:sp>
      <p:sp>
        <p:nvSpPr>
          <p:cNvPr id="26" name="Text 23"/>
          <p:cNvSpPr/>
          <p:nvPr/>
        </p:nvSpPr>
        <p:spPr>
          <a:xfrm>
            <a:off x="10957404" y="8690340"/>
            <a:ext cx="6608510" cy="1012562"/>
          </a:xfrm>
          <a:prstGeom prst="rect">
            <a:avLst/>
          </a:prstGeom>
          <a:noFill/>
          <a:ln/>
        </p:spPr>
        <p:txBody>
          <a:bodyPr wrap="square" lIns="25400" tIns="25400" rIns="25400" bIns="25400" rtlCol="0" anchor="t">
            <a:normAutofit/>
          </a:bodyPr>
          <a:lstStyle/>
          <a:p>
            <a:pPr algn="l" indent="0" marL="0">
              <a:lnSpc>
                <a:spcPct val="135835"/>
              </a:lnSpc>
              <a:buNone/>
            </a:pPr>
            <a:r>
              <a:rPr lang="en-US" sz="1650" dirty="0">
                <a:solidFill>
                  <a:srgbClr val="8B93A3"/>
                </a:solidFill>
                <a:latin typeface="Arial" pitchFamily="34" charset="0"/>
                <a:ea typeface="Arial" pitchFamily="34" charset="-122"/>
                <a:cs typeface="Arial" pitchFamily="34" charset="-120"/>
              </a:rPr>
              <a:t>Todo dato en pantalla procede del cuaderno y es reproducible con random_state = 42. La única serie sintética es el consumo en vivo que anima la gráfica, y así se declara.</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F13"/>
        </a:solidFill>
      </p:bgPr>
    </p:bg>
    <p:spTree>
      <p:nvGrpSpPr>
        <p:cNvPr id="1" name=""/>
        <p:cNvGrpSpPr/>
        <p:nvPr/>
      </p:nvGrpSpPr>
      <p:grpSpPr>
        <a:xfrm>
          <a:off x="0" y="0"/>
          <a:ext cx="0" cy="0"/>
          <a:chOff x="0" y="0"/>
          <a:chExt cx="0" cy="0"/>
        </a:xfrm>
      </p:grpSpPr>
      <p:sp>
        <p:nvSpPr>
          <p:cNvPr id="2" name="Text 0"/>
          <p:cNvSpPr/>
          <p:nvPr/>
        </p:nvSpPr>
        <p:spPr>
          <a:xfrm>
            <a:off x="914344" y="609562"/>
            <a:ext cx="18105124" cy="262723"/>
          </a:xfrm>
          <a:prstGeom prst="rect">
            <a:avLst/>
          </a:prstGeom>
          <a:noFill/>
          <a:ln/>
        </p:spPr>
        <p:txBody>
          <a:bodyPr wrap="square" lIns="25400" tIns="25400" rIns="25400" bIns="25400" rtlCol="0" anchor="t">
            <a:normAutofit/>
          </a:bodyPr>
          <a:lstStyle/>
          <a:p>
            <a:pPr algn="l" indent="0" marL="0">
              <a:buNone/>
            </a:pPr>
            <a:r>
              <a:rPr lang="en-US" sz="1350" spc="105" kern="0" dirty="0">
                <a:solidFill>
                  <a:srgbClr val="6F7787"/>
                </a:solidFill>
                <a:latin typeface="Courier New" pitchFamily="34" charset="0"/>
                <a:ea typeface="Courier New" pitchFamily="34" charset="-122"/>
                <a:cs typeface="Courier New" pitchFamily="34" charset="-120"/>
              </a:rPr>
              <a:t>CIERRE</a:t>
            </a:r>
            <a:endParaRPr lang="en-US" sz="1350" dirty="0"/>
          </a:p>
        </p:txBody>
      </p:sp>
      <p:sp>
        <p:nvSpPr>
          <p:cNvPr id="3" name="Text 1"/>
          <p:cNvSpPr/>
          <p:nvPr/>
        </p:nvSpPr>
        <p:spPr>
          <a:xfrm>
            <a:off x="914344" y="967443"/>
            <a:ext cx="18105124" cy="603847"/>
          </a:xfrm>
          <a:prstGeom prst="rect">
            <a:avLst/>
          </a:prstGeom>
          <a:noFill/>
          <a:ln/>
        </p:spPr>
        <p:txBody>
          <a:bodyPr wrap="square" lIns="25400" tIns="25400" rIns="25400" bIns="25400" rtlCol="0" anchor="t">
            <a:normAutofit/>
          </a:bodyPr>
          <a:lstStyle/>
          <a:p>
            <a:pPr algn="l" indent="0" marL="0">
              <a:lnSpc>
                <a:spcPct val="96399"/>
              </a:lnSpc>
              <a:buNone/>
            </a:pPr>
            <a:r>
              <a:rPr lang="en-US" sz="4050" b="1" spc="-98" kern="0" dirty="0">
                <a:solidFill>
                  <a:srgbClr val="E6E9EF"/>
                </a:solidFill>
                <a:latin typeface="Arial" pitchFamily="34" charset="0"/>
                <a:ea typeface="Arial" pitchFamily="34" charset="-122"/>
                <a:cs typeface="Arial" pitchFamily="34" charset="-120"/>
              </a:rPr>
              <a:t>Qué cambia en el diseño de Shiro por causa de este parcial</a:t>
            </a:r>
            <a:endParaRPr lang="en-US" sz="4050" dirty="0"/>
          </a:p>
        </p:txBody>
      </p:sp>
      <p:sp>
        <p:nvSpPr>
          <p:cNvPr id="4" name="Text 2"/>
          <p:cNvSpPr/>
          <p:nvPr/>
        </p:nvSpPr>
        <p:spPr>
          <a:xfrm>
            <a:off x="914344" y="1914166"/>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1</a:t>
            </a:r>
            <a:endParaRPr lang="en-US" sz="2250" dirty="0"/>
          </a:p>
        </p:txBody>
      </p:sp>
      <p:sp>
        <p:nvSpPr>
          <p:cNvPr id="5" name="Text 3"/>
          <p:cNvSpPr/>
          <p:nvPr/>
        </p:nvSpPr>
        <p:spPr>
          <a:xfrm>
            <a:off x="1466618" y="1914166"/>
            <a:ext cx="7740831" cy="1116609"/>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La función de transición ya tiene modelo, y no es el que ganó.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Regresión lineal con retardos: R² 0,557 y MAE 28,17 Wh sobre un mes nunca visto.</a:t>
            </a:r>
            <a:endParaRPr lang="en-US" sz="1875" dirty="0"/>
          </a:p>
        </p:txBody>
      </p:sp>
      <p:sp>
        <p:nvSpPr>
          <p:cNvPr id="6" name="Text 4"/>
          <p:cNvSpPr/>
          <p:nvPr/>
        </p:nvSpPr>
        <p:spPr>
          <a:xfrm>
            <a:off x="9305790" y="1914166"/>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2</a:t>
            </a:r>
            <a:endParaRPr lang="en-US" sz="2250" dirty="0"/>
          </a:p>
        </p:txBody>
      </p:sp>
      <p:sp>
        <p:nvSpPr>
          <p:cNvPr id="7" name="Text 5"/>
          <p:cNvSpPr/>
          <p:nvPr/>
        </p:nvSpPr>
        <p:spPr>
          <a:xfrm>
            <a:off x="9858065" y="1914166"/>
            <a:ext cx="7740948" cy="1116609"/>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El criterio de validación pesa más que el algoritmo.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De aquí en adelante toda decisión de arquitectura se toma sobre validación temporal.</a:t>
            </a:r>
            <a:endParaRPr lang="en-US" sz="1875" dirty="0"/>
          </a:p>
        </p:txBody>
      </p:sp>
      <p:sp>
        <p:nvSpPr>
          <p:cNvPr id="8" name="Text 6"/>
          <p:cNvSpPr/>
          <p:nvPr/>
        </p:nvSpPr>
        <p:spPr>
          <a:xfrm>
            <a:off x="914344" y="3202127"/>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3</a:t>
            </a:r>
            <a:endParaRPr lang="en-US" sz="2250" dirty="0"/>
          </a:p>
        </p:txBody>
      </p:sp>
      <p:sp>
        <p:nvSpPr>
          <p:cNvPr id="9" name="Text 7"/>
          <p:cNvSpPr/>
          <p:nvPr/>
        </p:nvSpPr>
        <p:spPr>
          <a:xfrm>
            <a:off x="1466618" y="3202127"/>
            <a:ext cx="7740831" cy="1116609"/>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La capa de detección se adelanta en el orden del proyecto.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F1 de 0,167 a 0,580; 86,9 % de eventos con 3 avisos diarios. Shiro Guardian, que era opcional, es hoy lo más sólido.</a:t>
            </a:r>
            <a:endParaRPr lang="en-US" sz="1875" dirty="0"/>
          </a:p>
        </p:txBody>
      </p:sp>
      <p:sp>
        <p:nvSpPr>
          <p:cNvPr id="10" name="Text 8"/>
          <p:cNvSpPr/>
          <p:nvPr/>
        </p:nvSpPr>
        <p:spPr>
          <a:xfrm>
            <a:off x="9305790" y="3202127"/>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4</a:t>
            </a:r>
            <a:endParaRPr lang="en-US" sz="2250" dirty="0"/>
          </a:p>
        </p:txBody>
      </p:sp>
      <p:sp>
        <p:nvSpPr>
          <p:cNvPr id="11" name="Text 9"/>
          <p:cNvSpPr/>
          <p:nvPr/>
        </p:nvSpPr>
        <p:spPr>
          <a:xfrm>
            <a:off x="9858065" y="3202127"/>
            <a:ext cx="7740948" cy="759521"/>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La incertidumbre debe ser función de la hora.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MAE de 7,34 Wh de madrugada a 42,12 en la mañana.</a:t>
            </a:r>
            <a:endParaRPr lang="en-US" sz="1875" dirty="0"/>
          </a:p>
        </p:txBody>
      </p:sp>
      <p:sp>
        <p:nvSpPr>
          <p:cNvPr id="12" name="Text 10"/>
          <p:cNvSpPr/>
          <p:nvPr/>
        </p:nvSpPr>
        <p:spPr>
          <a:xfrm>
            <a:off x="914344" y="4490088"/>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5</a:t>
            </a:r>
            <a:endParaRPr lang="en-US" sz="2250" dirty="0"/>
          </a:p>
        </p:txBody>
      </p:sp>
      <p:sp>
        <p:nvSpPr>
          <p:cNvPr id="13" name="Text 11"/>
          <p:cNvSpPr/>
          <p:nvPr/>
        </p:nvSpPr>
        <p:spPr>
          <a:xfrm>
            <a:off x="1466618" y="4490088"/>
            <a:ext cx="7740831" cy="759521"/>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El criterio de anomalía debe recalibrarse.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El percentil 90 cae de 250 a 150 Wh entre enero y mayo.</a:t>
            </a:r>
            <a:endParaRPr lang="en-US" sz="1875" dirty="0"/>
          </a:p>
        </p:txBody>
      </p:sp>
      <p:sp>
        <p:nvSpPr>
          <p:cNvPr id="14" name="Text 12"/>
          <p:cNvSpPr/>
          <p:nvPr/>
        </p:nvSpPr>
        <p:spPr>
          <a:xfrm>
            <a:off x="9305790" y="4490088"/>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6</a:t>
            </a:r>
            <a:endParaRPr lang="en-US" sz="2250" dirty="0"/>
          </a:p>
        </p:txBody>
      </p:sp>
      <p:sp>
        <p:nvSpPr>
          <p:cNvPr id="15" name="Text 13"/>
          <p:cNvSpPr/>
          <p:nvPr/>
        </p:nvSpPr>
        <p:spPr>
          <a:xfrm>
            <a:off x="9858065" y="4490088"/>
            <a:ext cx="7740948" cy="759521"/>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El clasificador debe medirse por episodio, no por lectura.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Con F1 por lectura se elegiría un modelo que detecta 17 puntos menos.</a:t>
            </a:r>
            <a:endParaRPr lang="en-US" sz="1875" dirty="0"/>
          </a:p>
        </p:txBody>
      </p:sp>
      <p:sp>
        <p:nvSpPr>
          <p:cNvPr id="16" name="Text 14"/>
          <p:cNvSpPr/>
          <p:nvPr/>
        </p:nvSpPr>
        <p:spPr>
          <a:xfrm>
            <a:off x="914344" y="5420962"/>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7</a:t>
            </a:r>
            <a:endParaRPr lang="en-US" sz="2250" dirty="0"/>
          </a:p>
        </p:txBody>
      </p:sp>
      <p:sp>
        <p:nvSpPr>
          <p:cNvPr id="17" name="Text 15"/>
          <p:cNvSpPr/>
          <p:nvPr/>
        </p:nvSpPr>
        <p:spPr>
          <a:xfrm>
            <a:off x="1466618" y="5420962"/>
            <a:ext cx="7740831" cy="759521"/>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lights merece más peso del que el modelo le da solo.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Es el proxy de ocupación y pesa apenas 2,9 %; el Caso B falló teniéndolo delante.</a:t>
            </a:r>
            <a:endParaRPr lang="en-US" sz="1875" dirty="0"/>
          </a:p>
        </p:txBody>
      </p:sp>
      <p:sp>
        <p:nvSpPr>
          <p:cNvPr id="18" name="Text 16"/>
          <p:cNvSpPr/>
          <p:nvPr/>
        </p:nvSpPr>
        <p:spPr>
          <a:xfrm>
            <a:off x="9305790" y="5420962"/>
            <a:ext cx="438043" cy="364166"/>
          </a:xfrm>
          <a:prstGeom prst="rect">
            <a:avLst/>
          </a:prstGeom>
          <a:noFill/>
          <a:ln/>
        </p:spPr>
        <p:txBody>
          <a:bodyPr wrap="square" lIns="25400" tIns="25400" rIns="25400" bIns="25400" rtlCol="0" anchor="t">
            <a:normAutofit/>
          </a:bodyPr>
          <a:lstStyle/>
          <a:p>
            <a:pPr algn="l" indent="0" marL="0">
              <a:buNone/>
            </a:pPr>
            <a:r>
              <a:rPr lang="en-US" sz="2250" b="1" dirty="0">
                <a:solidFill>
                  <a:srgbClr val="188038"/>
                </a:solidFill>
                <a:latin typeface="Courier New" pitchFamily="34" charset="0"/>
                <a:ea typeface="Courier New" pitchFamily="34" charset="-122"/>
                <a:cs typeface="Courier New" pitchFamily="34" charset="-120"/>
              </a:rPr>
              <a:t>8</a:t>
            </a:r>
            <a:endParaRPr lang="en-US" sz="2250" dirty="0"/>
          </a:p>
        </p:txBody>
      </p:sp>
      <p:sp>
        <p:nvSpPr>
          <p:cNvPr id="19" name="Text 17"/>
          <p:cNvSpPr/>
          <p:nvPr/>
        </p:nvSpPr>
        <p:spPr>
          <a:xfrm>
            <a:off x="9858065" y="5420962"/>
            <a:ext cx="7740948" cy="759521"/>
          </a:xfrm>
          <a:prstGeom prst="rect">
            <a:avLst/>
          </a:prstGeom>
          <a:noFill/>
          <a:ln/>
        </p:spPr>
        <p:txBody>
          <a:bodyPr wrap="square" lIns="25400" tIns="25400" rIns="25400" bIns="25400" rtlCol="0" anchor="t">
            <a:normAutofit/>
          </a:bodyPr>
          <a:lstStyle/>
          <a:p>
            <a:pPr algn="l" indent="0" marL="0">
              <a:lnSpc>
                <a:spcPct val="129724"/>
              </a:lnSpc>
              <a:buNone/>
            </a:pPr>
            <a:r>
              <a:rPr lang="en-US" sz="1875" b="1" dirty="0">
                <a:solidFill>
                  <a:srgbClr val="E6E9EF"/>
                </a:solidFill>
                <a:latin typeface="Arial" pitchFamily="34" charset="0"/>
                <a:ea typeface="Arial" pitchFamily="34" charset="-122"/>
                <a:cs typeface="Arial" pitchFamily="34" charset="-120"/>
              </a:rPr>
              <a:t>El modo degradado es una configuración defendible. </a:t>
            </a:r>
            <a:pPr algn="l" indent="0" marL="0">
              <a:lnSpc>
                <a:spcPct val="129724"/>
              </a:lnSpc>
              <a:buNone/>
            </a:pPr>
            <a:r>
              <a:rPr lang="en-US" sz="1875" dirty="0">
                <a:solidFill>
                  <a:srgbClr val="C9D1DE"/>
                </a:solidFill>
                <a:latin typeface="Arial" pitchFamily="34" charset="0"/>
                <a:ea typeface="Arial" pitchFamily="34" charset="-122"/>
                <a:cs typeface="Arial" pitchFamily="34" charset="-120"/>
              </a:rPr>
              <a:t>Importancia no es coste de pérdida: 9,5 puntos de cobertura, cero de simulador.</a:t>
            </a:r>
            <a:endParaRPr lang="en-US" sz="1875" dirty="0"/>
          </a:p>
        </p:txBody>
      </p:sp>
      <p:sp>
        <p:nvSpPr>
          <p:cNvPr id="20" name="Shape 18"/>
          <p:cNvSpPr/>
          <p:nvPr/>
        </p:nvSpPr>
        <p:spPr>
          <a:xfrm>
            <a:off x="914344" y="7569714"/>
            <a:ext cx="16459203" cy="9525"/>
          </a:xfrm>
          <a:prstGeom prst="rect">
            <a:avLst/>
          </a:prstGeom>
          <a:solidFill>
            <a:srgbClr val="232833"/>
          </a:solidFill>
          <a:ln/>
        </p:spPr>
      </p:sp>
      <p:sp>
        <p:nvSpPr>
          <p:cNvPr id="21" name="Text 19"/>
          <p:cNvSpPr/>
          <p:nvPr/>
        </p:nvSpPr>
        <p:spPr>
          <a:xfrm>
            <a:off x="914344" y="7862608"/>
            <a:ext cx="10292411" cy="262723"/>
          </a:xfrm>
          <a:prstGeom prst="rect">
            <a:avLst/>
          </a:prstGeom>
          <a:noFill/>
          <a:ln/>
        </p:spPr>
        <p:txBody>
          <a:bodyPr wrap="square" lIns="25400" tIns="25400" rIns="25400" bIns="25400" rtlCol="0" anchor="t">
            <a:normAutofit/>
          </a:bodyPr>
          <a:lstStyle/>
          <a:p>
            <a:pPr algn="l" indent="0" marL="0">
              <a:buNone/>
            </a:pPr>
            <a:r>
              <a:rPr lang="en-US" sz="1350" spc="90" kern="0" dirty="0">
                <a:solidFill>
                  <a:srgbClr val="7BD992"/>
                </a:solidFill>
                <a:latin typeface="Courier New" pitchFamily="34" charset="0"/>
                <a:ea typeface="Courier New" pitchFamily="34" charset="-122"/>
                <a:cs typeface="Courier New" pitchFamily="34" charset="-120"/>
              </a:rPr>
              <a:t>LO QUE SIGUE · 2.º CORTE</a:t>
            </a:r>
            <a:endParaRPr lang="en-US" sz="1350" dirty="0"/>
          </a:p>
        </p:txBody>
      </p:sp>
      <p:sp>
        <p:nvSpPr>
          <p:cNvPr id="22" name="Text 20"/>
          <p:cNvSpPr/>
          <p:nvPr/>
        </p:nvSpPr>
        <p:spPr>
          <a:xfrm>
            <a:off x="914344" y="8201467"/>
            <a:ext cx="9637440" cy="1514002"/>
          </a:xfrm>
          <a:prstGeom prst="rect">
            <a:avLst/>
          </a:prstGeom>
          <a:noFill/>
          <a:ln/>
        </p:spPr>
        <p:txBody>
          <a:bodyPr wrap="square" lIns="25400" tIns="25400" rIns="25400" bIns="25400" rtlCol="0" anchor="t">
            <a:normAutofit/>
          </a:bodyPr>
          <a:lstStyle/>
          <a:p>
            <a:pPr algn="l" indent="0" marL="0">
              <a:lnSpc>
                <a:spcPct val="134048"/>
              </a:lnSpc>
              <a:buNone/>
            </a:pPr>
            <a:r>
              <a:rPr lang="en-US" sz="1875" dirty="0">
                <a:solidFill>
                  <a:srgbClr val="C9D1DE"/>
                </a:solidFill>
                <a:latin typeface="Arial" pitchFamily="34" charset="0"/>
                <a:ea typeface="Arial" pitchFamily="34" charset="-122"/>
                <a:cs typeface="Arial" pitchFamily="34" charset="-120"/>
              </a:rPr>
              <a:t>Construir el entorno de simulación pasa de </a:t>
            </a:r>
            <a:pPr algn="l" indent="0" marL="0">
              <a:lnSpc>
                <a:spcPct val="134048"/>
              </a:lnSpc>
              <a:buNone/>
            </a:pPr>
            <a:r>
              <a:rPr lang="en-US" sz="1875" dirty="0">
                <a:solidFill>
                  <a:srgbClr val="F28B82"/>
                </a:solidFill>
                <a:latin typeface="Arial" pitchFamily="34" charset="0"/>
                <a:ea typeface="Arial" pitchFamily="34" charset="-122"/>
                <a:cs typeface="Arial" pitchFamily="34" charset="-120"/>
              </a:rPr>
              <a:t>bloqueado </a:t>
            </a:r>
            <a:pPr algn="l" indent="0" marL="0">
              <a:lnSpc>
                <a:spcPct val="134048"/>
              </a:lnSpc>
              <a:buNone/>
            </a:pPr>
            <a:r>
              <a:rPr lang="en-US" sz="1875" dirty="0">
                <a:solidFill>
                  <a:srgbClr val="C9D1DE"/>
                </a:solidFill>
                <a:latin typeface="Arial" pitchFamily="34" charset="0"/>
                <a:ea typeface="Arial" pitchFamily="34" charset="-122"/>
                <a:cs typeface="Arial" pitchFamily="34" charset="-120"/>
              </a:rPr>
              <a:t>a </a:t>
            </a:r>
            <a:pPr algn="l" indent="0" marL="0">
              <a:lnSpc>
                <a:spcPct val="134048"/>
              </a:lnSpc>
              <a:buNone/>
            </a:pPr>
            <a:r>
              <a:rPr lang="en-US" sz="1875" dirty="0">
                <a:solidFill>
                  <a:srgbClr val="7BD992"/>
                </a:solidFill>
                <a:latin typeface="Arial" pitchFamily="34" charset="0"/>
                <a:ea typeface="Arial" pitchFamily="34" charset="-122"/>
                <a:cs typeface="Arial" pitchFamily="34" charset="-120"/>
              </a:rPr>
              <a:t>viable </a:t>
            </a:r>
            <a:pPr algn="l" indent="0" marL="0">
              <a:lnSpc>
                <a:spcPct val="134048"/>
              </a:lnSpc>
              <a:buNone/>
            </a:pPr>
            <a:r>
              <a:rPr lang="en-US" sz="1875" dirty="0">
                <a:solidFill>
                  <a:srgbClr val="C9D1DE"/>
                </a:solidFill>
                <a:latin typeface="Arial" pitchFamily="34" charset="0"/>
                <a:ea typeface="Arial" pitchFamily="34" charset="-122"/>
                <a:cs typeface="Arial" pitchFamily="34" charset="-120"/>
              </a:rPr>
              <a:t>, con la especificación ya decidida: lineal con retardos como función de transición, incertidumbre por franja y validación temporal obligatoria. A eso se suman el clustering de rutinas y la formalización del MDP.</a:t>
            </a:r>
            <a:endParaRPr lang="en-US" sz="1875" dirty="0"/>
          </a:p>
        </p:txBody>
      </p:sp>
      <p:sp>
        <p:nvSpPr>
          <p:cNvPr id="23" name="Text 21"/>
          <p:cNvSpPr/>
          <p:nvPr/>
        </p:nvSpPr>
        <p:spPr>
          <a:xfrm>
            <a:off x="10690099" y="7862608"/>
            <a:ext cx="6883836" cy="1852861"/>
          </a:xfrm>
          <a:prstGeom prst="rect">
            <a:avLst/>
          </a:prstGeom>
          <a:noFill/>
          <a:ln/>
        </p:spPr>
        <p:txBody>
          <a:bodyPr wrap="square" lIns="25400" tIns="25400" rIns="25400" bIns="25400" rtlCol="0" anchor="t">
            <a:normAutofit/>
          </a:bodyPr>
          <a:lstStyle/>
          <a:p>
            <a:pPr algn="l" indent="0" marL="0">
              <a:lnSpc>
                <a:spcPct val="142279"/>
              </a:lnSpc>
              <a:buNone/>
            </a:pPr>
            <a:r>
              <a:rPr lang="en-US" sz="1725" dirty="0">
                <a:solidFill>
                  <a:srgbClr val="8B93A3"/>
                </a:solidFill>
                <a:latin typeface="Arial" pitchFamily="34" charset="0"/>
                <a:ea typeface="Arial" pitchFamily="34" charset="-122"/>
                <a:cs typeface="Arial" pitchFamily="34" charset="-120"/>
              </a:rPr>
              <a:t>Sigue pendiente incorporar UCI Household (#235) para medir la caída al cambiar de vivienda — la única debilidad declarada que este parcial no pudo cuantificar.</a:t>
            </a:r>
            <a:endParaRPr lang="en-US" sz="17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2026-09-09T20:30:36Z</dcterms:created>
  <dcterms:modified xsi:type="dcterms:W3CDTF">2026-09-09T20:30:36Z</dcterms:modified>
</cp:coreProperties>
</file>